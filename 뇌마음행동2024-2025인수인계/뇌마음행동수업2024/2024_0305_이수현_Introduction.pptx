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9" r:id="rId3"/>
    <p:sldId id="257" r:id="rId4"/>
    <p:sldId id="258" r:id="rId5"/>
    <p:sldId id="261" r:id="rId6"/>
    <p:sldId id="267" r:id="rId7"/>
    <p:sldId id="262" r:id="rId8"/>
    <p:sldId id="263" r:id="rId9"/>
    <p:sldId id="264" r:id="rId10"/>
    <p:sldId id="265" r:id="rId11"/>
    <p:sldId id="266" r:id="rId12"/>
    <p:sldId id="260" r:id="rId1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1"/>
    <p:restoredTop sz="94684"/>
  </p:normalViewPr>
  <p:slideViewPr>
    <p:cSldViewPr snapToGrid="0">
      <p:cViewPr varScale="1">
        <p:scale>
          <a:sx n="132" d="100"/>
          <a:sy n="132" d="100"/>
        </p:scale>
        <p:origin x="184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C3F12D-161F-E943-9179-A1FD0627C504}" type="datetimeFigureOut">
              <a:rPr lang="en-KR" smtClean="0"/>
              <a:t>3/4/24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B522F-83D4-5C42-8D72-1293E879724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59513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pixabay.com</a:t>
            </a:r>
            <a:r>
              <a:rPr lang="en-US" dirty="0"/>
              <a:t>/illustrations/brain-head-psychology-closed-mind-2146156/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B522F-83D4-5C42-8D72-1293E879724B}" type="slidenum">
              <a:rPr lang="en-KR" smtClean="0"/>
              <a:t>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98379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pixabay.com</a:t>
            </a:r>
            <a:r>
              <a:rPr lang="en-US" dirty="0"/>
              <a:t>/illustrations/mindset-mindfulness-meditation-743166/</a:t>
            </a:r>
            <a:endParaRPr lang="en-KR" dirty="0"/>
          </a:p>
          <a:p>
            <a:r>
              <a:rPr lang="ko-KR" altLang="en-US" dirty="0"/>
              <a:t>마음이란</a:t>
            </a:r>
            <a:r>
              <a:rPr lang="en-US" altLang="ko-KR" dirty="0"/>
              <a:t>?</a:t>
            </a:r>
            <a:r>
              <a:rPr lang="ko-KR" altLang="en-US" dirty="0"/>
              <a:t> 행동이란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뇌와 어떤 연관</a:t>
            </a:r>
            <a:r>
              <a:rPr lang="en-US" altLang="ko-KR" dirty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B522F-83D4-5C42-8D72-1293E879724B}" type="slidenum">
              <a:rPr lang="en-KR" smtClean="0"/>
              <a:t>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4817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pixabay.com</a:t>
            </a:r>
            <a:r>
              <a:rPr lang="en-US" dirty="0"/>
              <a:t>/vectors/hearing-listening-ear-communication-30097/</a:t>
            </a:r>
          </a:p>
          <a:p>
            <a:r>
              <a:rPr lang="en-US" dirty="0"/>
              <a:t>https://</a:t>
            </a:r>
            <a:r>
              <a:rPr lang="en-US" dirty="0" err="1"/>
              <a:t>pixabay.com</a:t>
            </a:r>
            <a:r>
              <a:rPr lang="en-US" dirty="0"/>
              <a:t>/vectors/brain-cranium-head-psychology-1299830/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B522F-83D4-5C42-8D72-1293E879724B}" type="slidenum">
              <a:rPr lang="en-KR" smtClean="0"/>
              <a:t>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6227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pixabay.com</a:t>
            </a:r>
            <a:r>
              <a:rPr lang="en-US" dirty="0"/>
              <a:t>/vectors/disorder-anxiety-burnout-4073570/</a:t>
            </a:r>
          </a:p>
          <a:p>
            <a:r>
              <a:rPr lang="en-US" dirty="0"/>
              <a:t>https://</a:t>
            </a:r>
            <a:r>
              <a:rPr lang="en-US" dirty="0" err="1"/>
              <a:t>pixabay.com</a:t>
            </a:r>
            <a:r>
              <a:rPr lang="en-US" dirty="0"/>
              <a:t>/vectors/mental-counseling-brain-therapy-7018783/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B522F-83D4-5C42-8D72-1293E879724B}" type="slidenum">
              <a:rPr lang="en-KR" smtClean="0"/>
              <a:t>10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26471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pixabay.com</a:t>
            </a:r>
            <a:r>
              <a:rPr lang="en-US" dirty="0"/>
              <a:t>/vectors/android-robot-150407/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B522F-83D4-5C42-8D72-1293E879724B}" type="slidenum">
              <a:rPr lang="en-KR" smtClean="0"/>
              <a:t>11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112220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D4F60-3B00-4DB4-90A4-67F8107A0900}" type="datetime1">
              <a:rPr lang="en-US" smtClean="0"/>
              <a:t>3/4/24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92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E685-1B6F-4D7C-AEF2-C9AD71EC467A}" type="datetime1">
              <a:rPr lang="en-US" smtClean="0"/>
              <a:t>3/4/24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99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0BAB-D1DB-4DC1-908A-9B5E73715905}" type="datetime1">
              <a:rPr lang="en-US" smtClean="0"/>
              <a:t>3/4/24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69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2DD5A-C337-4F22-BED0-547AFC68CFD6}" type="datetime1">
              <a:rPr lang="en-US" smtClean="0"/>
              <a:t>3/4/24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3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DFBF-4DB8-447F-A740-22B1B0F7DDD8}" type="datetime1">
              <a:rPr lang="en-US" smtClean="0"/>
              <a:t>3/4/24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2435-B87A-4434-B86A-1406D5D81959}" type="datetime1">
              <a:rPr lang="en-US" smtClean="0"/>
              <a:t>3/4/24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46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850E0-9242-469C-9FA7-447D7E43FF29}" type="datetime1">
              <a:rPr lang="en-US" smtClean="0"/>
              <a:t>3/4/24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54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84C1-634B-4D2F-90E1-C39B48114444}" type="datetime1">
              <a:rPr lang="en-US" smtClean="0"/>
              <a:t>3/4/24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94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A4FC1-9CCD-4E4B-AB4D-5CAEC19C950B}" type="datetime1">
              <a:rPr lang="en-US" smtClean="0"/>
              <a:t>3/4/24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39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12018-AE0B-45B3-8833-1C61B747ADFD}" type="datetime1">
              <a:rPr lang="en-US" smtClean="0"/>
              <a:t>3/4/24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98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74D72-DF44-407D-AEE5-0273DD00D922}" type="datetime1">
              <a:rPr lang="en-US" smtClean="0"/>
              <a:t>3/4/24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FBA78304-8938-479D-8111-AA943458A814}" type="datetime1">
              <a:rPr lang="en-US" smtClean="0"/>
              <a:t>3/4/24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672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중앙에 한 조각이 없는 하트 모양의 퍼즐">
            <a:extLst>
              <a:ext uri="{FF2B5EF4-FFF2-40B4-BE49-F238E27FC236}">
                <a16:creationId xmlns:a16="http://schemas.microsoft.com/office/drawing/2014/main" id="{60EB1B8A-7D06-4648-1327-E503207C2B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30" r="30015" b="-1"/>
          <a:stretch/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0C1DD9-DA8C-8E35-9899-415CE61DA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pPr algn="ctr"/>
            <a:r>
              <a:rPr lang="ko-KR" altLang="en-US" dirty="0"/>
              <a:t>뇌</a:t>
            </a:r>
            <a:r>
              <a:rPr lang="en-US" altLang="ko-KR" dirty="0"/>
              <a:t>-</a:t>
            </a:r>
            <a:r>
              <a:rPr lang="ko-KR" altLang="en-US" dirty="0"/>
              <a:t>마음</a:t>
            </a:r>
            <a:r>
              <a:rPr lang="en-US" altLang="ko-KR" dirty="0"/>
              <a:t>-</a:t>
            </a:r>
            <a:r>
              <a:rPr lang="ko-KR" altLang="en-US" dirty="0"/>
              <a:t>행동</a:t>
            </a:r>
            <a:endParaRPr lang="en-K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E41A1-0356-CEB8-D3A8-B5B694EB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pPr algn="ctr"/>
            <a:r>
              <a:rPr lang="ko-KR" altLang="en-US" sz="2700" b="1" dirty="0">
                <a:latin typeface="Gulim" panose="020B0600000101010101" pitchFamily="34" charset="-127"/>
                <a:ea typeface="Gulim" panose="020B0600000101010101" pitchFamily="34" charset="-127"/>
              </a:rPr>
              <a:t>담당교수</a:t>
            </a:r>
            <a:r>
              <a:rPr lang="en-US" altLang="ko-KR" sz="2700" b="1" dirty="0">
                <a:latin typeface="Gulim" panose="020B0600000101010101" pitchFamily="34" charset="-127"/>
                <a:ea typeface="Gulim" panose="020B0600000101010101" pitchFamily="34" charset="-127"/>
              </a:rPr>
              <a:t>:</a:t>
            </a:r>
            <a:r>
              <a:rPr lang="ko-KR" altLang="en-US" sz="2800" b="1" dirty="0">
                <a:latin typeface="Gulim" panose="020B0600000101010101" pitchFamily="34" charset="-127"/>
                <a:ea typeface="Gulim" panose="020B0600000101010101" pitchFamily="34" charset="-127"/>
              </a:rPr>
              <a:t> 심리학과 이수현</a:t>
            </a:r>
            <a:endParaRPr lang="en-KR" sz="2800" b="1" dirty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E1CF5F-9880-D71D-19E7-86AA008BEC51}"/>
              </a:ext>
            </a:extLst>
          </p:cNvPr>
          <p:cNvSpPr txBox="1"/>
          <p:nvPr/>
        </p:nvSpPr>
        <p:spPr>
          <a:xfrm>
            <a:off x="2185782" y="1884267"/>
            <a:ext cx="2143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latin typeface="Gulim" panose="020B0600000101010101" pitchFamily="34" charset="-127"/>
                <a:ea typeface="Gulim" panose="020B0600000101010101" pitchFamily="34" charset="-127"/>
              </a:rPr>
              <a:t>2024</a:t>
            </a:r>
            <a:r>
              <a:rPr lang="ko-KR" altLang="en-US" sz="2400" b="1" dirty="0">
                <a:latin typeface="Gulim" panose="020B0600000101010101" pitchFamily="34" charset="-127"/>
                <a:ea typeface="Gulim" panose="020B0600000101010101" pitchFamily="34" charset="-127"/>
              </a:rPr>
              <a:t>년 </a:t>
            </a:r>
            <a:r>
              <a:rPr lang="en-US" altLang="ko-KR" sz="2400" b="1" dirty="0">
                <a:latin typeface="Gulim" panose="020B0600000101010101" pitchFamily="34" charset="-127"/>
                <a:ea typeface="Gulim" panose="020B0600000101010101" pitchFamily="34" charset="-127"/>
              </a:rPr>
              <a:t>1</a:t>
            </a:r>
            <a:r>
              <a:rPr lang="ko-KR" altLang="en-US" sz="2400" b="1" dirty="0">
                <a:latin typeface="Gulim" panose="020B0600000101010101" pitchFamily="34" charset="-127"/>
                <a:ea typeface="Gulim" panose="020B0600000101010101" pitchFamily="34" charset="-127"/>
              </a:rPr>
              <a:t>학기</a:t>
            </a:r>
            <a:endParaRPr lang="en-KR" sz="2400" b="1" dirty="0"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0757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뇌</a:t>
            </a:r>
            <a:r>
              <a:rPr lang="en-US" altLang="ko-KR" dirty="0"/>
              <a:t>-</a:t>
            </a:r>
            <a:r>
              <a:rPr lang="ko-KR" altLang="en-US" dirty="0"/>
              <a:t>마음</a:t>
            </a:r>
            <a:r>
              <a:rPr lang="en-US" altLang="ko-KR" dirty="0"/>
              <a:t>-</a:t>
            </a:r>
            <a:r>
              <a:rPr lang="ko-KR" altLang="en-US" dirty="0"/>
              <a:t>행동</a:t>
            </a:r>
            <a:endParaRPr lang="en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B9328-15B8-1AEC-764A-5A2C4E16CA2C}"/>
              </a:ext>
            </a:extLst>
          </p:cNvPr>
          <p:cNvSpPr txBox="1"/>
          <p:nvPr/>
        </p:nvSpPr>
        <p:spPr>
          <a:xfrm>
            <a:off x="1760148" y="1860639"/>
            <a:ext cx="9631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Gill Sans"/>
                <a:cs typeface="Gill Sans"/>
              </a:rPr>
              <a:t>강의 목적</a:t>
            </a:r>
            <a:endParaRPr lang="en-US" sz="2000" b="1" dirty="0">
              <a:latin typeface="Gill Sans"/>
              <a:cs typeface="Gill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016568-A3C1-83F1-36D6-C108B433D189}"/>
              </a:ext>
            </a:extLst>
          </p:cNvPr>
          <p:cNvSpPr txBox="1"/>
          <p:nvPr/>
        </p:nvSpPr>
        <p:spPr>
          <a:xfrm>
            <a:off x="2125760" y="2414709"/>
            <a:ext cx="96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ill Sans"/>
                <a:cs typeface="Gill Sans"/>
              </a:rPr>
              <a:t>-</a:t>
            </a:r>
            <a:r>
              <a:rPr lang="ko-KR" altLang="en-US" b="1" dirty="0">
                <a:latin typeface="Gill Sans"/>
                <a:cs typeface="Gill Sans"/>
              </a:rPr>
              <a:t> 뇌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마음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행동의 다양한 연구분야에 대한 기초적인 이해</a:t>
            </a:r>
            <a:endParaRPr lang="en-US" b="1" dirty="0">
              <a:latin typeface="Gill Sans"/>
              <a:cs typeface="Gill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2947B-E74C-2FD0-846A-5B00A861BFAA}"/>
              </a:ext>
            </a:extLst>
          </p:cNvPr>
          <p:cNvSpPr txBox="1"/>
          <p:nvPr/>
        </p:nvSpPr>
        <p:spPr>
          <a:xfrm>
            <a:off x="2125760" y="2961191"/>
            <a:ext cx="96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ill Sans"/>
                <a:cs typeface="Gill Sans"/>
              </a:rPr>
              <a:t>-</a:t>
            </a:r>
            <a:r>
              <a:rPr lang="ko-KR" altLang="en-US" b="1" dirty="0">
                <a:latin typeface="Gill Sans"/>
                <a:cs typeface="Gill Sans"/>
              </a:rPr>
              <a:t> 뇌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마음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행동 연계 과정에서의 전공 과목들을 선택하고</a:t>
            </a:r>
            <a:endParaRPr lang="en-US" b="1" dirty="0">
              <a:latin typeface="Gill Sans"/>
              <a:cs typeface="Gill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6B731-AFAC-FF05-8024-3E8F09603B74}"/>
              </a:ext>
            </a:extLst>
          </p:cNvPr>
          <p:cNvSpPr txBox="1"/>
          <p:nvPr/>
        </p:nvSpPr>
        <p:spPr>
          <a:xfrm>
            <a:off x="2125760" y="3493419"/>
            <a:ext cx="96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Gill Sans"/>
                <a:cs typeface="Gill Sans"/>
              </a:rPr>
              <a:t>-</a:t>
            </a:r>
            <a:r>
              <a:rPr lang="ko-KR" altLang="en-US" b="1" dirty="0">
                <a:latin typeface="Gill Sans"/>
                <a:cs typeface="Gill Sans"/>
              </a:rPr>
              <a:t> 뇌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마음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행동 개별 연구 수업을 위한 연구주제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지도교수</a:t>
            </a:r>
            <a:r>
              <a:rPr lang="en-US" altLang="ko-KR" b="1" dirty="0">
                <a:latin typeface="Gill Sans"/>
                <a:cs typeface="Gill Sans"/>
              </a:rPr>
              <a:t>,</a:t>
            </a:r>
            <a:r>
              <a:rPr lang="ko-KR" altLang="en-US" b="1" dirty="0">
                <a:latin typeface="Gill Sans"/>
                <a:cs typeface="Gill Sans"/>
              </a:rPr>
              <a:t> 랩을 선택하도록 도움</a:t>
            </a:r>
            <a:endParaRPr lang="en-US" b="1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33715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뇌</a:t>
            </a:r>
            <a:r>
              <a:rPr lang="en-US" altLang="ko-KR" dirty="0"/>
              <a:t>-</a:t>
            </a:r>
            <a:r>
              <a:rPr lang="ko-KR" altLang="en-US" dirty="0"/>
              <a:t>마음</a:t>
            </a:r>
            <a:r>
              <a:rPr lang="en-US" altLang="ko-KR" dirty="0"/>
              <a:t>-</a:t>
            </a:r>
            <a:r>
              <a:rPr lang="ko-KR" altLang="en-US" dirty="0"/>
              <a:t>행동</a:t>
            </a:r>
            <a:endParaRPr lang="en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05E1C-726C-512B-FD38-CE5860DF04C2}"/>
              </a:ext>
            </a:extLst>
          </p:cNvPr>
          <p:cNvSpPr txBox="1"/>
          <p:nvPr/>
        </p:nvSpPr>
        <p:spPr>
          <a:xfrm>
            <a:off x="1846646" y="4357479"/>
            <a:ext cx="2428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"/>
                <a:cs typeface="Gill Sans"/>
              </a:rPr>
              <a:t>Assessment / Evaluation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BB9328-15B8-1AEC-764A-5A2C4E16CA2C}"/>
              </a:ext>
            </a:extLst>
          </p:cNvPr>
          <p:cNvSpPr txBox="1"/>
          <p:nvPr/>
        </p:nvSpPr>
        <p:spPr>
          <a:xfrm>
            <a:off x="1846646" y="2293126"/>
            <a:ext cx="63355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"/>
                <a:cs typeface="Gill Sans"/>
              </a:rPr>
              <a:t>Prof. Name: </a:t>
            </a:r>
            <a:r>
              <a:rPr lang="ko-KR" altLang="en-US" dirty="0">
                <a:latin typeface="Gill Sans"/>
                <a:cs typeface="Gill Sans"/>
              </a:rPr>
              <a:t>이수현</a:t>
            </a:r>
            <a:endParaRPr lang="en-US" dirty="0">
              <a:latin typeface="Gill Sans"/>
              <a:cs typeface="Gill Sans"/>
            </a:endParaRPr>
          </a:p>
          <a:p>
            <a:r>
              <a:rPr lang="en-US" dirty="0">
                <a:latin typeface="Gill Sans"/>
                <a:cs typeface="Gill Sans"/>
              </a:rPr>
              <a:t>                  (Office: Bldg. </a:t>
            </a:r>
            <a:r>
              <a:rPr lang="en-US" altLang="ko-KR" dirty="0">
                <a:latin typeface="Gill Sans"/>
                <a:cs typeface="Gill Sans"/>
              </a:rPr>
              <a:t>16</a:t>
            </a:r>
            <a:r>
              <a:rPr lang="en-US" dirty="0">
                <a:latin typeface="Gill Sans"/>
                <a:cs typeface="Gill Sans"/>
              </a:rPr>
              <a:t>, Rm. M408, Email: </a:t>
            </a:r>
            <a:r>
              <a:rPr lang="en-US" dirty="0" err="1">
                <a:latin typeface="Gill Sans"/>
                <a:cs typeface="Gill Sans"/>
              </a:rPr>
              <a:t>suehlee@snu.ac.kr</a:t>
            </a:r>
            <a:r>
              <a:rPr lang="en-US" dirty="0">
                <a:latin typeface="Gill Sans"/>
                <a:cs typeface="Gill Sans"/>
              </a:rPr>
              <a:t>)</a:t>
            </a:r>
          </a:p>
          <a:p>
            <a:endParaRPr lang="en-US" dirty="0">
              <a:latin typeface="Gill Sans"/>
              <a:cs typeface="Gill Sans"/>
            </a:endParaRPr>
          </a:p>
          <a:p>
            <a:r>
              <a:rPr lang="en-US" dirty="0">
                <a:latin typeface="Gill Sans"/>
                <a:cs typeface="Gill Sans"/>
              </a:rPr>
              <a:t>Lecture: Tue/Thu 10:30 – 11:50 (Credit: 3 units)</a:t>
            </a:r>
          </a:p>
          <a:p>
            <a:r>
              <a:rPr lang="en-US" dirty="0">
                <a:latin typeface="Gill Sans"/>
                <a:cs typeface="Gill Sans"/>
              </a:rPr>
              <a:t>Place: Bldg. 58(SK</a:t>
            </a:r>
            <a:r>
              <a:rPr lang="ko-KR" altLang="en-US" dirty="0">
                <a:latin typeface="Gill Sans"/>
                <a:cs typeface="Gill Sans"/>
              </a:rPr>
              <a:t>경영관</a:t>
            </a:r>
            <a:r>
              <a:rPr lang="en-US" altLang="ko-KR" dirty="0">
                <a:latin typeface="Gill Sans"/>
                <a:cs typeface="Gill Sans"/>
              </a:rPr>
              <a:t>)</a:t>
            </a:r>
            <a:r>
              <a:rPr lang="en-US" dirty="0">
                <a:latin typeface="Gill Sans"/>
                <a:cs typeface="Gill Sans"/>
              </a:rPr>
              <a:t>, Rm. 218</a:t>
            </a:r>
          </a:p>
          <a:p>
            <a:endParaRPr lang="en-US" dirty="0">
              <a:latin typeface="Gill Sans"/>
              <a:cs typeface="Gill Sans"/>
            </a:endParaRPr>
          </a:p>
          <a:p>
            <a:r>
              <a:rPr lang="en-US" dirty="0">
                <a:latin typeface="Gill Sans"/>
                <a:cs typeface="Gill Sans"/>
              </a:rPr>
              <a:t>TA:  </a:t>
            </a:r>
            <a:r>
              <a:rPr lang="ko-KR" altLang="en-US" dirty="0">
                <a:latin typeface="Gill Sans"/>
                <a:cs typeface="Gill Sans"/>
              </a:rPr>
              <a:t>한재원 </a:t>
            </a:r>
            <a:r>
              <a:rPr lang="en-US" altLang="ko-KR" dirty="0">
                <a:latin typeface="Gill Sans"/>
                <a:cs typeface="Gill Sans"/>
              </a:rPr>
              <a:t>(</a:t>
            </a:r>
            <a:r>
              <a:rPr lang="en-US" b="0" i="0" dirty="0">
                <a:solidFill>
                  <a:srgbClr val="222222"/>
                </a:solidFill>
                <a:effectLst/>
                <a:latin typeface="-apple-system"/>
              </a:rPr>
              <a:t>jw981127@snu.ac.kr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)</a:t>
            </a:r>
            <a:endParaRPr lang="en-US" dirty="0">
              <a:latin typeface="Gill Sans"/>
              <a:cs typeface="Gill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B1597B-FBEC-4DF9-CE99-FF3EE5490E5E}"/>
              </a:ext>
            </a:extLst>
          </p:cNvPr>
          <p:cNvSpPr/>
          <p:nvPr/>
        </p:nvSpPr>
        <p:spPr>
          <a:xfrm>
            <a:off x="2357280" y="477215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Gill Sans"/>
                <a:cs typeface="Gill Sans"/>
              </a:rPr>
              <a:t>Attendance (</a:t>
            </a:r>
            <a:r>
              <a:rPr lang="en-US" altLang="ko-KR" dirty="0">
                <a:latin typeface="Gill Sans"/>
                <a:cs typeface="Gill Sans"/>
              </a:rPr>
              <a:t>2</a:t>
            </a:r>
            <a:r>
              <a:rPr lang="en-US" dirty="0">
                <a:latin typeface="Gill Sans"/>
                <a:cs typeface="Gill Sans"/>
              </a:rPr>
              <a:t>0%)</a:t>
            </a:r>
          </a:p>
          <a:p>
            <a:r>
              <a:rPr lang="en-US" dirty="0">
                <a:latin typeface="Gill Sans"/>
                <a:cs typeface="Gill Sans"/>
              </a:rPr>
              <a:t>Midterm Exam (40%)</a:t>
            </a:r>
          </a:p>
          <a:p>
            <a:r>
              <a:rPr lang="en-US" dirty="0">
                <a:latin typeface="Gill Sans"/>
                <a:cs typeface="Gill Sans"/>
              </a:rPr>
              <a:t>Final exam (40%)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D24288-BADC-CADA-A8EA-3482F93B5D8D}"/>
              </a:ext>
            </a:extLst>
          </p:cNvPr>
          <p:cNvSpPr txBox="1"/>
          <p:nvPr/>
        </p:nvSpPr>
        <p:spPr>
          <a:xfrm>
            <a:off x="1414158" y="1845426"/>
            <a:ext cx="9631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Gill Sans"/>
                <a:cs typeface="Gill Sans"/>
              </a:rPr>
              <a:t>강의 계획</a:t>
            </a:r>
            <a:endParaRPr lang="en-US" sz="2000" b="1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784633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807850"/>
          </a:xfrm>
        </p:spPr>
        <p:txBody>
          <a:bodyPr/>
          <a:lstStyle/>
          <a:p>
            <a:r>
              <a:rPr lang="ko-KR" altLang="en-US" dirty="0"/>
              <a:t>강의 스케줄</a:t>
            </a:r>
            <a:endParaRPr lang="en-KR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40BDBA-F8CD-106D-43E6-0AC1E0FBB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633109"/>
              </p:ext>
            </p:extLst>
          </p:nvPr>
        </p:nvGraphicFramePr>
        <p:xfrm>
          <a:off x="1668525" y="750727"/>
          <a:ext cx="8854948" cy="5951284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769996">
                  <a:extLst>
                    <a:ext uri="{9D8B030D-6E8A-4147-A177-3AD203B41FA5}">
                      <a16:colId xmlns:a16="http://schemas.microsoft.com/office/drawing/2014/main" val="3392162254"/>
                    </a:ext>
                  </a:extLst>
                </a:gridCol>
                <a:gridCol w="688249">
                  <a:extLst>
                    <a:ext uri="{9D8B030D-6E8A-4147-A177-3AD203B41FA5}">
                      <a16:colId xmlns:a16="http://schemas.microsoft.com/office/drawing/2014/main" val="425148960"/>
                    </a:ext>
                  </a:extLst>
                </a:gridCol>
                <a:gridCol w="688249">
                  <a:extLst>
                    <a:ext uri="{9D8B030D-6E8A-4147-A177-3AD203B41FA5}">
                      <a16:colId xmlns:a16="http://schemas.microsoft.com/office/drawing/2014/main" val="2237413491"/>
                    </a:ext>
                  </a:extLst>
                </a:gridCol>
                <a:gridCol w="1568043">
                  <a:extLst>
                    <a:ext uri="{9D8B030D-6E8A-4147-A177-3AD203B41FA5}">
                      <a16:colId xmlns:a16="http://schemas.microsoft.com/office/drawing/2014/main" val="23143292"/>
                    </a:ext>
                  </a:extLst>
                </a:gridCol>
                <a:gridCol w="5140411">
                  <a:extLst>
                    <a:ext uri="{9D8B030D-6E8A-4147-A177-3AD203B41FA5}">
                      <a16:colId xmlns:a16="http://schemas.microsoft.com/office/drawing/2014/main" val="3499991471"/>
                    </a:ext>
                  </a:extLst>
                </a:gridCol>
              </a:tblGrid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날짜</a:t>
                      </a:r>
                      <a:endParaRPr lang="ko-KR" altLang="en-US" sz="11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요일</a:t>
                      </a:r>
                      <a:endParaRPr lang="ko-KR" altLang="en-US" sz="11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참여교수</a:t>
                      </a:r>
                      <a:endParaRPr lang="ko-KR" altLang="en-US" sz="11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학과</a:t>
                      </a:r>
                      <a:endParaRPr lang="ko-KR" altLang="en-US" sz="11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주제</a:t>
                      </a:r>
                      <a:endParaRPr lang="ko-KR" altLang="en-US" sz="11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828041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3/5/24</a:t>
                      </a:r>
                      <a:endParaRPr lang="en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이수현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심리학과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마음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행동 강좌 및 연사 소개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500517354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3/7/24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한소원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심리학과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Human Factor Psychology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570425382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3/12/24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김형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생명과학부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영장류를 이용한 인지신경생물학과 영장류의 기억회로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546732483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3/14/24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이인아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뇌인지과학과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해마의 학습과 기억 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Hippocampal learning and memory)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123213520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3/19/24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이수현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심리학과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Memory Retrieval Processes in the Brain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956950939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3/21/24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박한선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인류학과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문화인류학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문화의 정신건강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178852129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3/26/24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안우영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심리학과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계산정신의학</a:t>
                      </a:r>
                      <a:r>
                        <a:rPr lang="en-US" altLang="ko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Value-based decision-making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513876245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3/28/24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김용대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통계학과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인지과학을 위한 베이지안 방법론 소개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ctr"/>
                </a:tc>
                <a:extLst>
                  <a:ext uri="{0D108BD9-81ED-4DB2-BD59-A6C34878D82A}">
                    <a16:rowId xmlns:a16="http://schemas.microsoft.com/office/drawing/2014/main" val="3166221642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4/2/24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차지욱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심리학과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Data science of human neuroscience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1876829271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4/4/24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신혜영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생명과학부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Neural Implementation of Perceptual inference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608459512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4/9/24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곽지현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뇌인지과학과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The Neural Basis of Spatial Navigation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4043829658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4/11/24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김성연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화학부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몸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 의사소통과 기본적 행동의 신경생물학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810757055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4/16/24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중간고사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071879333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4/18/24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802506157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4/23/24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김유겸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체육교육과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마음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운동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827010974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4/25/24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이상아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뇌인지과학과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Cognitive development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650936420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4/30/24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이석재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철학과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TBD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992215825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5/2/24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장원철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통계학과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Statistical Issues in Neural Data Analysis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135070154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5/7/24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최승주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경제학부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Limits of Economic Rationality and their Consequences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423668458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5/9/24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이상훈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뇌인지과학과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Perceptual Decision Making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305456271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5/14/24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이우람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철학과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믿음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의심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탐구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Belief, Doubt, Inquiry)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1332351291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5/16/24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이철주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언론정보학과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헬스커뮤니케이션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1362937445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5/21/24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정우진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언어학과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Questions, disjunction, and mental models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193403615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5/23/24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이교구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융합과학기술대학원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말하고 노래하는 인공지능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4069886122"/>
                  </a:ext>
                </a:extLst>
              </a:tr>
              <a:tr h="341584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5/28/24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오민환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데이터사이언스대학원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Reinforcement Learning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551090032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5/30/24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장병탁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컴퓨터공학부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컴퓨터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인공지능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ctr"/>
                </a:tc>
                <a:extLst>
                  <a:ext uri="{0D108BD9-81ED-4DB2-BD59-A6C34878D82A}">
                    <a16:rowId xmlns:a16="http://schemas.microsoft.com/office/drawing/2014/main" val="729612296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6/4/24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임하진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언론정보학과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Human-computer interaction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916783689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6/6/24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No class (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현충일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950119852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6/11/24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기말고사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641874243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6/13/24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1847293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294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뇌</a:t>
            </a:r>
            <a:r>
              <a:rPr lang="en-US" altLang="ko-KR" dirty="0"/>
              <a:t>-</a:t>
            </a:r>
            <a:r>
              <a:rPr lang="ko-KR" altLang="en-US" dirty="0"/>
              <a:t>마음</a:t>
            </a:r>
            <a:r>
              <a:rPr lang="en-US" altLang="ko-KR" dirty="0"/>
              <a:t>-</a:t>
            </a:r>
            <a:r>
              <a:rPr lang="ko-KR" altLang="en-US" dirty="0"/>
              <a:t>행동</a:t>
            </a:r>
            <a:r>
              <a:rPr lang="en-US" altLang="ko-KR" dirty="0"/>
              <a:t> </a:t>
            </a:r>
            <a:r>
              <a:rPr lang="ko-KR" altLang="en-US" dirty="0"/>
              <a:t>개별연구</a:t>
            </a:r>
            <a:r>
              <a:rPr lang="en-US" altLang="ko-KR" dirty="0"/>
              <a:t>(2</a:t>
            </a:r>
            <a:r>
              <a:rPr lang="ko-KR" altLang="en-US" dirty="0"/>
              <a:t>학기</a:t>
            </a:r>
            <a:r>
              <a:rPr lang="en-US" altLang="ko-KR" dirty="0"/>
              <a:t>)</a:t>
            </a:r>
            <a:endParaRPr lang="en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D24288-BADC-CADA-A8EA-3482F93B5D8D}"/>
              </a:ext>
            </a:extLst>
          </p:cNvPr>
          <p:cNvSpPr txBox="1"/>
          <p:nvPr/>
        </p:nvSpPr>
        <p:spPr>
          <a:xfrm>
            <a:off x="800100" y="2077632"/>
            <a:ext cx="1059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Gill Sans"/>
                <a:cs typeface="Gill Sans"/>
              </a:rPr>
              <a:t>~</a:t>
            </a:r>
            <a:r>
              <a:rPr lang="ko-KR" altLang="en-US" sz="2000" b="1" dirty="0">
                <a:latin typeface="Gill Sans"/>
                <a:cs typeface="Gill Sans"/>
              </a:rPr>
              <a:t> </a:t>
            </a:r>
            <a:r>
              <a:rPr lang="en-US" altLang="ko-KR" sz="2000" b="1" dirty="0">
                <a:latin typeface="Gill Sans"/>
                <a:cs typeface="Gill Sans"/>
              </a:rPr>
              <a:t>2</a:t>
            </a:r>
            <a:r>
              <a:rPr lang="ko-KR" altLang="en-US" sz="2000" b="1" dirty="0">
                <a:latin typeface="Gill Sans"/>
                <a:cs typeface="Gill Sans"/>
              </a:rPr>
              <a:t>학기 개강 전</a:t>
            </a:r>
            <a:r>
              <a:rPr lang="en-US" altLang="ko-KR" sz="2000" b="1" dirty="0">
                <a:latin typeface="Gill Sans"/>
                <a:cs typeface="Gill Sans"/>
              </a:rPr>
              <a:t>:</a:t>
            </a:r>
            <a:r>
              <a:rPr lang="ko-KR" altLang="en-US" sz="2000" b="1" dirty="0">
                <a:latin typeface="Gill Sans"/>
                <a:cs typeface="Gill Sans"/>
              </a:rPr>
              <a:t> 희망 개별연구 </a:t>
            </a:r>
            <a:r>
              <a:rPr lang="en-US" altLang="ko-KR" sz="2000" b="1" dirty="0">
                <a:latin typeface="Gill Sans"/>
                <a:cs typeface="Gill Sans"/>
              </a:rPr>
              <a:t>Lab</a:t>
            </a:r>
            <a:r>
              <a:rPr lang="ko-KR" altLang="en-US" sz="2000" b="1" dirty="0">
                <a:latin typeface="Gill Sans"/>
                <a:cs typeface="Gill Sans"/>
              </a:rPr>
              <a:t> </a:t>
            </a:r>
            <a:r>
              <a:rPr lang="en-US" altLang="ko-KR" sz="2000" b="1" dirty="0">
                <a:latin typeface="Gill Sans"/>
                <a:cs typeface="Gill Sans"/>
              </a:rPr>
              <a:t>Contact </a:t>
            </a:r>
            <a:r>
              <a:rPr lang="ko-KR" altLang="en-US" sz="2000" b="1" dirty="0">
                <a:latin typeface="Gill Sans"/>
                <a:cs typeface="Gill Sans"/>
              </a:rPr>
              <a:t> </a:t>
            </a:r>
            <a:endParaRPr lang="en-US" sz="2000" b="1" dirty="0">
              <a:latin typeface="Gill Sans"/>
              <a:cs typeface="Gill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1E2F5-91E7-35E2-D7C5-F68C8E549BC9}"/>
              </a:ext>
            </a:extLst>
          </p:cNvPr>
          <p:cNvSpPr txBox="1"/>
          <p:nvPr/>
        </p:nvSpPr>
        <p:spPr>
          <a:xfrm>
            <a:off x="800100" y="3014866"/>
            <a:ext cx="10591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Gill Sans"/>
                <a:cs typeface="Gill Sans"/>
              </a:rPr>
              <a:t>2</a:t>
            </a:r>
            <a:r>
              <a:rPr lang="ko-KR" altLang="en-US" sz="2000" b="1" dirty="0">
                <a:latin typeface="Gill Sans"/>
                <a:cs typeface="Gill Sans"/>
              </a:rPr>
              <a:t>학기 </a:t>
            </a:r>
            <a:r>
              <a:rPr lang="en-US" altLang="ko-KR" sz="2000" b="1" dirty="0">
                <a:latin typeface="Gill Sans"/>
                <a:cs typeface="Gill Sans"/>
              </a:rPr>
              <a:t>1</a:t>
            </a:r>
            <a:r>
              <a:rPr lang="ko-KR" altLang="en-US" sz="2000" b="1" dirty="0">
                <a:latin typeface="Gill Sans"/>
                <a:cs typeface="Gill Sans"/>
              </a:rPr>
              <a:t>주</a:t>
            </a:r>
            <a:r>
              <a:rPr lang="en-US" altLang="ko-KR" sz="2000" b="1" dirty="0">
                <a:latin typeface="Gill Sans"/>
                <a:cs typeface="Gill Sans"/>
              </a:rPr>
              <a:t>:</a:t>
            </a:r>
            <a:r>
              <a:rPr lang="ko-KR" altLang="en-US" sz="2000" b="1" dirty="0">
                <a:latin typeface="Gill Sans"/>
                <a:cs typeface="Gill Sans"/>
              </a:rPr>
              <a:t> 개별연구 주제 선정 및 제출</a:t>
            </a:r>
            <a:r>
              <a:rPr lang="en-US" altLang="ko-KR" sz="2000" b="1" dirty="0">
                <a:latin typeface="Gill Sans"/>
                <a:cs typeface="Gill Sans"/>
              </a:rPr>
              <a:t> </a:t>
            </a:r>
            <a:r>
              <a:rPr lang="ko-KR" altLang="en-US" sz="2000" b="1" dirty="0">
                <a:latin typeface="Gill Sans"/>
                <a:cs typeface="Gill Sans"/>
              </a:rPr>
              <a:t> </a:t>
            </a:r>
            <a:endParaRPr lang="en-US" sz="2000" b="1" dirty="0">
              <a:latin typeface="Gill Sans"/>
              <a:cs typeface="Gill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A62470-C4DC-C1AC-DC97-50FE3F5170C3}"/>
              </a:ext>
            </a:extLst>
          </p:cNvPr>
          <p:cNvSpPr txBox="1"/>
          <p:nvPr/>
        </p:nvSpPr>
        <p:spPr>
          <a:xfrm>
            <a:off x="800098" y="3936104"/>
            <a:ext cx="10591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Gill Sans"/>
                <a:cs typeface="Gill Sans"/>
              </a:rPr>
              <a:t>2</a:t>
            </a:r>
            <a:r>
              <a:rPr lang="ko-KR" altLang="en-US" sz="2000" b="1" dirty="0">
                <a:latin typeface="Gill Sans"/>
                <a:cs typeface="Gill Sans"/>
              </a:rPr>
              <a:t>학기 중</a:t>
            </a:r>
            <a:r>
              <a:rPr lang="en-US" altLang="ko-KR" sz="2000" b="1" dirty="0">
                <a:latin typeface="Gill Sans"/>
                <a:cs typeface="Gill Sans"/>
              </a:rPr>
              <a:t>:</a:t>
            </a:r>
            <a:r>
              <a:rPr lang="ko-KR" altLang="en-US" sz="2000" b="1" dirty="0">
                <a:latin typeface="Gill Sans"/>
                <a:cs typeface="Gill Sans"/>
              </a:rPr>
              <a:t> 개별연구 수행</a:t>
            </a:r>
            <a:r>
              <a:rPr lang="en-US" altLang="ko-KR" sz="2000" b="1" dirty="0">
                <a:latin typeface="Gill Sans"/>
                <a:cs typeface="Gill Sans"/>
              </a:rPr>
              <a:t> </a:t>
            </a:r>
            <a:r>
              <a:rPr lang="ko-KR" altLang="en-US" sz="2000" b="1" dirty="0">
                <a:latin typeface="Gill Sans"/>
                <a:cs typeface="Gill Sans"/>
              </a:rPr>
              <a:t> </a:t>
            </a:r>
            <a:endParaRPr lang="en-US" sz="2000" b="1" dirty="0">
              <a:latin typeface="Gill Sans"/>
              <a:cs typeface="Gill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3CF8C-F25C-B51E-B462-3A954A4E00AA}"/>
              </a:ext>
            </a:extLst>
          </p:cNvPr>
          <p:cNvSpPr txBox="1"/>
          <p:nvPr/>
        </p:nvSpPr>
        <p:spPr>
          <a:xfrm>
            <a:off x="750367" y="4857342"/>
            <a:ext cx="10591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Gill Sans"/>
                <a:cs typeface="Gill Sans"/>
              </a:rPr>
              <a:t>2</a:t>
            </a:r>
            <a:r>
              <a:rPr lang="ko-KR" altLang="en-US" sz="2000" b="1" dirty="0">
                <a:latin typeface="Gill Sans"/>
                <a:cs typeface="Gill Sans"/>
              </a:rPr>
              <a:t>학기 학기말</a:t>
            </a:r>
            <a:r>
              <a:rPr lang="en-US" altLang="ko-KR" sz="2000" b="1" dirty="0">
                <a:latin typeface="Gill Sans"/>
                <a:cs typeface="Gill Sans"/>
              </a:rPr>
              <a:t>:</a:t>
            </a:r>
            <a:r>
              <a:rPr lang="ko-KR" altLang="en-US" sz="2000" b="1" dirty="0">
                <a:latin typeface="Gill Sans"/>
                <a:cs typeface="Gill Sans"/>
              </a:rPr>
              <a:t> 개별연구 발표회 및 수상</a:t>
            </a:r>
            <a:r>
              <a:rPr lang="en-US" altLang="ko-KR" sz="2000" b="1" dirty="0">
                <a:latin typeface="Gill Sans"/>
                <a:cs typeface="Gill Sans"/>
              </a:rPr>
              <a:t>,</a:t>
            </a:r>
            <a:r>
              <a:rPr lang="ko-KR" altLang="en-US" sz="2000" b="1" dirty="0">
                <a:latin typeface="Gill Sans"/>
                <a:cs typeface="Gill Sans"/>
              </a:rPr>
              <a:t> 보고서 제출</a:t>
            </a:r>
            <a:r>
              <a:rPr lang="en-US" altLang="ko-KR" sz="2000" b="1" dirty="0">
                <a:latin typeface="Gill Sans"/>
                <a:cs typeface="Gill Sans"/>
              </a:rPr>
              <a:t> </a:t>
            </a:r>
            <a:r>
              <a:rPr lang="ko-KR" altLang="en-US" sz="2000" b="1" dirty="0">
                <a:latin typeface="Gill Sans"/>
                <a:cs typeface="Gill Sans"/>
              </a:rPr>
              <a:t> </a:t>
            </a:r>
            <a:endParaRPr lang="en-US" sz="2000" b="1" dirty="0">
              <a:latin typeface="Gill Sans"/>
              <a:cs typeface="Gill Sans"/>
            </a:endParaRP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7DFAF3B6-A968-68C7-4480-F174E5CEBDFD}"/>
              </a:ext>
            </a:extLst>
          </p:cNvPr>
          <p:cNvSpPr/>
          <p:nvPr/>
        </p:nvSpPr>
        <p:spPr>
          <a:xfrm>
            <a:off x="5864991" y="2604985"/>
            <a:ext cx="462012" cy="310555"/>
          </a:xfrm>
          <a:prstGeom prst="down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853EE713-24EF-16EE-397C-FE0858CF47B6}"/>
              </a:ext>
            </a:extLst>
          </p:cNvPr>
          <p:cNvSpPr/>
          <p:nvPr/>
        </p:nvSpPr>
        <p:spPr>
          <a:xfrm>
            <a:off x="5864991" y="3520262"/>
            <a:ext cx="462012" cy="310555"/>
          </a:xfrm>
          <a:prstGeom prst="down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3AB9D663-1F63-B3DD-17C4-B15F0AFF96F1}"/>
              </a:ext>
            </a:extLst>
          </p:cNvPr>
          <p:cNvSpPr/>
          <p:nvPr/>
        </p:nvSpPr>
        <p:spPr>
          <a:xfrm>
            <a:off x="5864991" y="4441500"/>
            <a:ext cx="462012" cy="310555"/>
          </a:xfrm>
          <a:prstGeom prst="downArrow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2155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6" y="65212"/>
            <a:ext cx="10691265" cy="1371030"/>
          </a:xfrm>
        </p:spPr>
        <p:txBody>
          <a:bodyPr/>
          <a:lstStyle/>
          <a:p>
            <a:r>
              <a:rPr lang="ko-KR" altLang="en-US" dirty="0"/>
              <a:t>뇌</a:t>
            </a:r>
            <a:r>
              <a:rPr lang="en-US" altLang="ko-KR" dirty="0"/>
              <a:t>-</a:t>
            </a:r>
            <a:r>
              <a:rPr lang="ko-KR" altLang="en-US" dirty="0"/>
              <a:t>마음</a:t>
            </a:r>
            <a:r>
              <a:rPr lang="en-US" altLang="ko-KR" dirty="0"/>
              <a:t>-</a:t>
            </a:r>
            <a:r>
              <a:rPr lang="ko-KR" altLang="en-US" dirty="0"/>
              <a:t>행동</a:t>
            </a:r>
            <a:r>
              <a:rPr lang="en-US" altLang="ko-KR" dirty="0"/>
              <a:t> </a:t>
            </a:r>
            <a:r>
              <a:rPr lang="ko-KR" altLang="en-US" dirty="0"/>
              <a:t>개별연구</a:t>
            </a:r>
            <a:r>
              <a:rPr lang="en-US" altLang="ko-KR" dirty="0"/>
              <a:t> LABs</a:t>
            </a:r>
            <a:endParaRPr lang="en-K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8EEB5D-6FE2-EF53-AF4A-F45C69280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86285"/>
              </p:ext>
            </p:extLst>
          </p:nvPr>
        </p:nvGraphicFramePr>
        <p:xfrm>
          <a:off x="1668525" y="750727"/>
          <a:ext cx="8854948" cy="5951284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769996">
                  <a:extLst>
                    <a:ext uri="{9D8B030D-6E8A-4147-A177-3AD203B41FA5}">
                      <a16:colId xmlns:a16="http://schemas.microsoft.com/office/drawing/2014/main" val="3392162254"/>
                    </a:ext>
                  </a:extLst>
                </a:gridCol>
                <a:gridCol w="688249">
                  <a:extLst>
                    <a:ext uri="{9D8B030D-6E8A-4147-A177-3AD203B41FA5}">
                      <a16:colId xmlns:a16="http://schemas.microsoft.com/office/drawing/2014/main" val="425148960"/>
                    </a:ext>
                  </a:extLst>
                </a:gridCol>
                <a:gridCol w="688249">
                  <a:extLst>
                    <a:ext uri="{9D8B030D-6E8A-4147-A177-3AD203B41FA5}">
                      <a16:colId xmlns:a16="http://schemas.microsoft.com/office/drawing/2014/main" val="2237413491"/>
                    </a:ext>
                  </a:extLst>
                </a:gridCol>
                <a:gridCol w="1568043">
                  <a:extLst>
                    <a:ext uri="{9D8B030D-6E8A-4147-A177-3AD203B41FA5}">
                      <a16:colId xmlns:a16="http://schemas.microsoft.com/office/drawing/2014/main" val="23143292"/>
                    </a:ext>
                  </a:extLst>
                </a:gridCol>
                <a:gridCol w="5140411">
                  <a:extLst>
                    <a:ext uri="{9D8B030D-6E8A-4147-A177-3AD203B41FA5}">
                      <a16:colId xmlns:a16="http://schemas.microsoft.com/office/drawing/2014/main" val="3499991471"/>
                    </a:ext>
                  </a:extLst>
                </a:gridCol>
              </a:tblGrid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날짜</a:t>
                      </a:r>
                      <a:endParaRPr lang="ko-KR" altLang="en-US" sz="11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요일</a:t>
                      </a:r>
                      <a:endParaRPr lang="ko-KR" altLang="en-US" sz="11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참여교수</a:t>
                      </a:r>
                      <a:endParaRPr lang="ko-KR" altLang="en-US" sz="11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학과</a:t>
                      </a:r>
                      <a:endParaRPr lang="ko-KR" altLang="en-US" sz="11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주제</a:t>
                      </a:r>
                      <a:endParaRPr lang="ko-KR" altLang="en-US" sz="1100" b="0" i="0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828041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3/5/24</a:t>
                      </a:r>
                      <a:endParaRPr lang="en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이수현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심리학과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마음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행동 강좌 및 연사 소개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500517354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3/7/24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한소원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심리학과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Human Factor Psychology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570425382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3/12/24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김형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생명과학부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영장류를 이용한 인지신경생물학과 영장류의 기억회로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546732483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3/14/24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이인아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뇌인지과학과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해마의 학습과 기억 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Hippocampal learning and memory)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123213520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3/19/24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이수현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심리학과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Memory Retrieval Processes in the Brain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956950939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3/21/24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박한선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인류학과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문화인류학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문화의 정신건강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178852129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3/26/24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안우영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심리학과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계산정신의학</a:t>
                      </a:r>
                      <a:r>
                        <a:rPr lang="en-US" altLang="ko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Value-based decision-making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513876245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3/28/24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김용대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통계학과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인지과학을 위한 베이지안 방법론 소개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ctr"/>
                </a:tc>
                <a:extLst>
                  <a:ext uri="{0D108BD9-81ED-4DB2-BD59-A6C34878D82A}">
                    <a16:rowId xmlns:a16="http://schemas.microsoft.com/office/drawing/2014/main" val="3166221642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4/2/24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차지욱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심리학과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Data science of human neuroscience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1876829271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4/4/24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신혜영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생명과학부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Neural Implementation of Perceptual inference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608459512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4/9/24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곽지현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뇌인지과학과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The Neural Basis of Spatial Navigation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4043829658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4/11/24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김성연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화학부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몸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 의사소통과 기본적 행동의 신경생물학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810757055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4/16/24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중간고사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071879333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4/18/24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802506157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4/23/24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김유겸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체육교육과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마음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운동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827010974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4/25/24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이상아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뇌인지과학과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Cognitive development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650936420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4/30/24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이석재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철학과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TBD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992215825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5/2/24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장원철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통계학과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Statistical Issues in Neural Data Analysis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135070154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5/7/24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최승주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경제학부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Limits of Economic Rationality and their Consequences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423668458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5/9/24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이상훈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뇌인지과학과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Perceptual Decision Making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305456271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5/14/24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이우람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철학과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믿음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의심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탐구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Belief, Doubt, Inquiry)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1332351291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5/16/24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이철주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언론정보학과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헬스커뮤니케이션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1362937445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5/21/24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정우진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언어학과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Questions, disjunction, and mental models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193403615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5/23/24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이교구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융합과학기술대학원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말하고 노래하는 인공지능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4069886122"/>
                  </a:ext>
                </a:extLst>
              </a:tr>
              <a:tr h="341584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5/28/24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오민환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데이터사이언스대학원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Reinforcement Learning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551090032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5/30/24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장병탁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컴퓨터공학부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뇌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컴퓨터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인공지능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ctr"/>
                </a:tc>
                <a:extLst>
                  <a:ext uri="{0D108BD9-81ED-4DB2-BD59-A6C34878D82A}">
                    <a16:rowId xmlns:a16="http://schemas.microsoft.com/office/drawing/2014/main" val="729612296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6/4/24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임하진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언론정보학과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Human-computer interaction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916783689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6/6/24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No class (</a:t>
                      </a:r>
                      <a:r>
                        <a:rPr lang="ko-KR" altLang="en-US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현충일</a:t>
                      </a:r>
                      <a:r>
                        <a:rPr lang="en-US" altLang="ko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 hMerge="1">
                  <a:txBody>
                    <a:bodyPr/>
                    <a:lstStyle/>
                    <a:p>
                      <a:endParaRPr lang="en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3950119852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6/11/24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화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기말고사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2641874243"/>
                  </a:ext>
                </a:extLst>
              </a:tr>
              <a:tr h="186990"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6/13/24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목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KR" sz="1100" b="0" i="0" u="none" strike="noStrike" dirty="0">
                          <a:effectLst/>
                          <a:latin typeface="Arial" panose="020B0604020202020204" pitchFamily="34" charset="0"/>
                          <a:ea typeface="Gulim" panose="020B0600000101010101" pitchFamily="34" charset="-127"/>
                          <a:cs typeface="Arial" panose="020B0604020202020204" pitchFamily="34" charset="0"/>
                        </a:rPr>
                        <a:t> </a:t>
                      </a:r>
                      <a:endParaRPr lang="en-K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marL="3666" marR="3666" marT="3666" marB="0" anchor="b"/>
                </a:tc>
                <a:extLst>
                  <a:ext uri="{0D108BD9-81ED-4DB2-BD59-A6C34878D82A}">
                    <a16:rowId xmlns:a16="http://schemas.microsoft.com/office/drawing/2014/main" val="1847293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065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/>
              <a:t>뇌</a:t>
            </a:r>
            <a:r>
              <a:rPr lang="en-US" altLang="ko-KR" sz="4400" b="1" dirty="0"/>
              <a:t>, </a:t>
            </a:r>
            <a:r>
              <a:rPr lang="ko-KR" altLang="en-US" sz="4400" b="1" dirty="0"/>
              <a:t>마음</a:t>
            </a:r>
            <a:r>
              <a:rPr lang="en-US" altLang="ko-KR" sz="4400" b="1" dirty="0"/>
              <a:t>,</a:t>
            </a:r>
            <a:r>
              <a:rPr lang="ko-KR" altLang="en-US" sz="4400" b="1" dirty="0"/>
              <a:t> 행동의 연구</a:t>
            </a:r>
            <a:endParaRPr lang="en-KR" sz="4400" b="1" dirty="0"/>
          </a:p>
        </p:txBody>
      </p:sp>
      <p:pic>
        <p:nvPicPr>
          <p:cNvPr id="8" name="Picture 7" descr="A brain and heart on a scale&#10;&#10;Description automatically generated">
            <a:extLst>
              <a:ext uri="{FF2B5EF4-FFF2-40B4-BE49-F238E27FC236}">
                <a16:creationId xmlns:a16="http://schemas.microsoft.com/office/drawing/2014/main" id="{79717790-EE23-314C-AACB-7B610D628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940405"/>
            <a:ext cx="7772400" cy="399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226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/>
              <a:t>뇌</a:t>
            </a:r>
            <a:r>
              <a:rPr lang="en-US" altLang="ko-KR" sz="4400" b="1" dirty="0"/>
              <a:t>, </a:t>
            </a:r>
            <a:r>
              <a:rPr lang="ko-KR" altLang="en-US" sz="4400" b="1" dirty="0"/>
              <a:t>마음</a:t>
            </a:r>
            <a:r>
              <a:rPr lang="en-US" altLang="ko-KR" sz="4400" b="1" dirty="0"/>
              <a:t>,</a:t>
            </a:r>
            <a:r>
              <a:rPr lang="ko-KR" altLang="en-US" sz="4400" b="1" dirty="0"/>
              <a:t> 행동의 연구</a:t>
            </a:r>
            <a:endParaRPr lang="en-KR" sz="4400" b="1" dirty="0"/>
          </a:p>
        </p:txBody>
      </p:sp>
      <p:pic>
        <p:nvPicPr>
          <p:cNvPr id="4" name="Picture 3" descr="A silhouette of a person's head with words in the brain&#10;&#10;Description automatically generated">
            <a:extLst>
              <a:ext uri="{FF2B5EF4-FFF2-40B4-BE49-F238E27FC236}">
                <a16:creationId xmlns:a16="http://schemas.microsoft.com/office/drawing/2014/main" id="{1717FADB-FFAC-AEBD-01AA-09954F9C4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427" y="1607611"/>
            <a:ext cx="3443573" cy="446130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725340AC-7560-0A7C-6A06-27D7F8627492}"/>
              </a:ext>
            </a:extLst>
          </p:cNvPr>
          <p:cNvSpPr/>
          <p:nvPr/>
        </p:nvSpPr>
        <p:spPr>
          <a:xfrm>
            <a:off x="6670365" y="1452058"/>
            <a:ext cx="2081252" cy="123203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12CFD3C-2B6C-47A2-48D3-B9D4C22601FA}"/>
              </a:ext>
            </a:extLst>
          </p:cNvPr>
          <p:cNvSpPr/>
          <p:nvPr/>
        </p:nvSpPr>
        <p:spPr>
          <a:xfrm>
            <a:off x="8751617" y="2370421"/>
            <a:ext cx="2081252" cy="123203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EBF2527-F739-F9F1-B0C0-96954ECAD47F}"/>
              </a:ext>
            </a:extLst>
          </p:cNvPr>
          <p:cNvSpPr/>
          <p:nvPr/>
        </p:nvSpPr>
        <p:spPr>
          <a:xfrm>
            <a:off x="9028252" y="3935465"/>
            <a:ext cx="2081252" cy="1232034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EEBB24-35A4-6BF3-B5C1-2A0BAD12C538}"/>
              </a:ext>
            </a:extLst>
          </p:cNvPr>
          <p:cNvSpPr/>
          <p:nvPr/>
        </p:nvSpPr>
        <p:spPr>
          <a:xfrm>
            <a:off x="6591267" y="3369351"/>
            <a:ext cx="2081252" cy="1232034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A9B356-C45B-8D33-01A4-747A7F67B952}"/>
              </a:ext>
            </a:extLst>
          </p:cNvPr>
          <p:cNvSpPr txBox="1"/>
          <p:nvPr/>
        </p:nvSpPr>
        <p:spPr>
          <a:xfrm>
            <a:off x="7026599" y="363142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  <a:cs typeface="Arial" panose="020B0604020202020204" pitchFamily="34" charset="0"/>
              </a:rPr>
              <a:t>기억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F70A39-56E6-B340-94AB-7D49D9A7D412}"/>
              </a:ext>
            </a:extLst>
          </p:cNvPr>
          <p:cNvSpPr txBox="1"/>
          <p:nvPr/>
        </p:nvSpPr>
        <p:spPr>
          <a:xfrm>
            <a:off x="8964598" y="4210932"/>
            <a:ext cx="23791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  <a:cs typeface="Arial" panose="020B0604020202020204" pitchFamily="34" charset="0"/>
              </a:rPr>
              <a:t>의사결정 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7D04FF-7688-4107-2FE6-74DB1488EEB9}"/>
              </a:ext>
            </a:extLst>
          </p:cNvPr>
          <p:cNvSpPr txBox="1"/>
          <p:nvPr/>
        </p:nvSpPr>
        <p:spPr>
          <a:xfrm>
            <a:off x="7105697" y="174063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  <a:cs typeface="Arial" panose="020B0604020202020204" pitchFamily="34" charset="0"/>
              </a:rPr>
              <a:t>지각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FEE579-7795-2EFF-8749-C1C7F49EC0D6}"/>
              </a:ext>
            </a:extLst>
          </p:cNvPr>
          <p:cNvSpPr txBox="1"/>
          <p:nvPr/>
        </p:nvSpPr>
        <p:spPr>
          <a:xfrm>
            <a:off x="9186949" y="266146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  <a:cs typeface="Arial" panose="020B0604020202020204" pitchFamily="34" charset="0"/>
              </a:rPr>
              <a:t>감정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36B28E-E698-E8BE-11AC-795440434068}"/>
              </a:ext>
            </a:extLst>
          </p:cNvPr>
          <p:cNvSpPr/>
          <p:nvPr/>
        </p:nvSpPr>
        <p:spPr>
          <a:xfrm>
            <a:off x="7275659" y="4876852"/>
            <a:ext cx="2081252" cy="12320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lt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2816F6-EDDD-4A5C-16AE-D53CEFD8040B}"/>
              </a:ext>
            </a:extLst>
          </p:cNvPr>
          <p:cNvSpPr txBox="1"/>
          <p:nvPr/>
        </p:nvSpPr>
        <p:spPr>
          <a:xfrm>
            <a:off x="7465797" y="5138926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  <a:cs typeface="Arial" panose="020B0604020202020204" pitchFamily="34" charset="0"/>
              </a:rPr>
              <a:t>사회성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562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/>
              <a:t>외부세계와 내부세계</a:t>
            </a:r>
            <a:r>
              <a:rPr lang="en-US" altLang="ko-KR" sz="4400" b="1" dirty="0"/>
              <a:t>,</a:t>
            </a:r>
            <a:r>
              <a:rPr lang="ko-KR" altLang="en-US" sz="4400" b="1" dirty="0"/>
              <a:t> 변화하는 뇌</a:t>
            </a:r>
            <a:endParaRPr lang="en-KR" sz="4400" b="1" dirty="0"/>
          </a:p>
        </p:txBody>
      </p:sp>
      <p:pic>
        <p:nvPicPr>
          <p:cNvPr id="5" name="Picture 4" descr="A cartoon of a monkey with ears&#10;&#10;Description automatically generated">
            <a:extLst>
              <a:ext uri="{FF2B5EF4-FFF2-40B4-BE49-F238E27FC236}">
                <a16:creationId xmlns:a16="http://schemas.microsoft.com/office/drawing/2014/main" id="{8C4F5BFC-0145-A3F4-2F43-473B50D79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326" y="1859433"/>
            <a:ext cx="5292825" cy="3903458"/>
          </a:xfrm>
          <a:prstGeom prst="rect">
            <a:avLst/>
          </a:prstGeo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037E2BC-671D-7415-9EB5-0A94EE1BC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24610">
            <a:off x="2378509" y="2032446"/>
            <a:ext cx="2273212" cy="13710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BEF122-2C7B-EF3D-FC24-D47CD6C8F306}"/>
              </a:ext>
            </a:extLst>
          </p:cNvPr>
          <p:cNvSpPr txBox="1"/>
          <p:nvPr/>
        </p:nvSpPr>
        <p:spPr>
          <a:xfrm>
            <a:off x="8183727" y="1768242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  <a:cs typeface="Arial" panose="020B0604020202020204" pitchFamily="34" charset="0"/>
              </a:rPr>
              <a:t>외부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FEB4E-AEA1-69B5-C86A-B2769608579E}"/>
              </a:ext>
            </a:extLst>
          </p:cNvPr>
          <p:cNvSpPr txBox="1"/>
          <p:nvPr/>
        </p:nvSpPr>
        <p:spPr>
          <a:xfrm>
            <a:off x="4293516" y="3954642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latin typeface="+mj-ea"/>
                <a:ea typeface="+mj-ea"/>
                <a:cs typeface="Arial" panose="020B0604020202020204" pitchFamily="34" charset="0"/>
              </a:rPr>
              <a:t>내부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353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 b="1" dirty="0"/>
              <a:t>뇌의 병</a:t>
            </a:r>
            <a:r>
              <a:rPr lang="en-US" altLang="ko-KR" sz="4400" b="1" dirty="0"/>
              <a:t>,</a:t>
            </a:r>
            <a:r>
              <a:rPr lang="ko-KR" altLang="en-US" sz="4400" b="1" dirty="0"/>
              <a:t> 마음의 병</a:t>
            </a:r>
            <a:endParaRPr lang="en-KR" sz="4400" b="1" dirty="0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A9033AE-147A-A65C-42D9-CFB7FA250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686" y="2118659"/>
            <a:ext cx="3927915" cy="3363277"/>
          </a:xfrm>
          <a:prstGeom prst="rect">
            <a:avLst/>
          </a:prstGeom>
        </p:spPr>
      </p:pic>
      <p:pic>
        <p:nvPicPr>
          <p:cNvPr id="6" name="Picture 5" descr="A person drawing a brain with a wire attached to a human head&#10;&#10;Description automatically generated">
            <a:extLst>
              <a:ext uri="{FF2B5EF4-FFF2-40B4-BE49-F238E27FC236}">
                <a16:creationId xmlns:a16="http://schemas.microsoft.com/office/drawing/2014/main" id="{8A1847E5-1031-272B-41A2-CF050E248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651" y="2293126"/>
            <a:ext cx="4847967" cy="336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6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HI vs. AI</a:t>
            </a:r>
            <a:endParaRPr lang="en-KR" sz="4400" b="1" dirty="0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0FBB67B-1FC9-F8B8-1525-0ECB83EF9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632" y="1366787"/>
            <a:ext cx="2363265" cy="4653815"/>
          </a:xfrm>
          <a:prstGeom prst="rect">
            <a:avLst/>
          </a:prstGeom>
        </p:spPr>
      </p:pic>
      <p:pic>
        <p:nvPicPr>
          <p:cNvPr id="6" name="Picture 5" descr="A cartoon of a robot&#10;&#10;Description automatically generated">
            <a:extLst>
              <a:ext uri="{FF2B5EF4-FFF2-40B4-BE49-F238E27FC236}">
                <a16:creationId xmlns:a16="http://schemas.microsoft.com/office/drawing/2014/main" id="{FD9AF59E-EA4E-093E-C00E-FDFEB250A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109" y="1607419"/>
            <a:ext cx="2424709" cy="42399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D1CFC0-B557-AD77-388B-00A9CC8EE27D}"/>
              </a:ext>
            </a:extLst>
          </p:cNvPr>
          <p:cNvSpPr txBox="1"/>
          <p:nvPr/>
        </p:nvSpPr>
        <p:spPr>
          <a:xfrm>
            <a:off x="5724001" y="3250932"/>
            <a:ext cx="8980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+mj-ea"/>
                <a:ea typeface="+mj-ea"/>
                <a:cs typeface="Arial" panose="020B0604020202020204" pitchFamily="34" charset="0"/>
              </a:rPr>
              <a:t>vs.</a:t>
            </a:r>
            <a:endParaRPr lang="en-KR" sz="4000" b="1" dirty="0"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130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5F8E-C0EC-A762-5DED-6B630666F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2743485"/>
            <a:ext cx="10691265" cy="1371030"/>
          </a:xfrm>
        </p:spPr>
        <p:txBody>
          <a:bodyPr>
            <a:noAutofit/>
          </a:bodyPr>
          <a:lstStyle/>
          <a:p>
            <a:pPr algn="ctr"/>
            <a:r>
              <a:rPr lang="en-US" sz="8800" dirty="0"/>
              <a:t>Q&amp;A</a:t>
            </a:r>
            <a:endParaRPr lang="en-KR" sz="8800" dirty="0"/>
          </a:p>
        </p:txBody>
      </p:sp>
    </p:spTree>
    <p:extLst>
      <p:ext uri="{BB962C8B-B14F-4D97-AF65-F5344CB8AC3E}">
        <p14:creationId xmlns:p14="http://schemas.microsoft.com/office/powerpoint/2010/main" val="228582867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RegularSeedRightStep">
      <a:dk1>
        <a:srgbClr val="000000"/>
      </a:dk1>
      <a:lt1>
        <a:srgbClr val="FFFFFF"/>
      </a:lt1>
      <a:dk2>
        <a:srgbClr val="412D24"/>
      </a:dk2>
      <a:lt2>
        <a:srgbClr val="E2E8E5"/>
      </a:lt2>
      <a:accent1>
        <a:srgbClr val="E72990"/>
      </a:accent1>
      <a:accent2>
        <a:srgbClr val="D5172F"/>
      </a:accent2>
      <a:accent3>
        <a:srgbClr val="E76029"/>
      </a:accent3>
      <a:accent4>
        <a:srgbClr val="CF9917"/>
      </a:accent4>
      <a:accent5>
        <a:srgbClr val="9AAB1E"/>
      </a:accent5>
      <a:accent6>
        <a:srgbClr val="5FB714"/>
      </a:accent6>
      <a:hlink>
        <a:srgbClr val="31935D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833</Words>
  <Application>Microsoft Macintosh PowerPoint</Application>
  <PresentationFormat>Widescreen</PresentationFormat>
  <Paragraphs>358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-apple-system</vt:lpstr>
      <vt:lpstr>Gulim</vt:lpstr>
      <vt:lpstr>Aptos</vt:lpstr>
      <vt:lpstr>Arial</vt:lpstr>
      <vt:lpstr>Calisto MT</vt:lpstr>
      <vt:lpstr>Gill Sans</vt:lpstr>
      <vt:lpstr>Univers Condensed</vt:lpstr>
      <vt:lpstr>ChronicleVTI</vt:lpstr>
      <vt:lpstr>뇌-마음-행동</vt:lpstr>
      <vt:lpstr>뇌-마음-행동</vt:lpstr>
      <vt:lpstr>뇌-마음-행동</vt:lpstr>
      <vt:lpstr>강의 스케줄</vt:lpstr>
      <vt:lpstr>뇌-마음-행동 개별연구(2학기)</vt:lpstr>
      <vt:lpstr>뇌-마음-행동 개별연구 LABs</vt:lpstr>
      <vt:lpstr>뇌, 마음, 행동의 연구</vt:lpstr>
      <vt:lpstr>뇌, 마음, 행동의 연구</vt:lpstr>
      <vt:lpstr>외부세계와 내부세계, 변화하는 뇌</vt:lpstr>
      <vt:lpstr>뇌의 병, 마음의 병</vt:lpstr>
      <vt:lpstr>HI vs. AI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뇌-마음-행동</dc:title>
  <dc:creator>Sue-Hyun Lee</dc:creator>
  <cp:lastModifiedBy>Sue-Hyun Lee</cp:lastModifiedBy>
  <cp:revision>30</cp:revision>
  <dcterms:created xsi:type="dcterms:W3CDTF">2024-03-04T06:52:09Z</dcterms:created>
  <dcterms:modified xsi:type="dcterms:W3CDTF">2024-03-04T10:20:14Z</dcterms:modified>
</cp:coreProperties>
</file>