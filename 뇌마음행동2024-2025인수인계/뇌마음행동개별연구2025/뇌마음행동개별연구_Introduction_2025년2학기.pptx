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00" r:id="rId1"/>
  </p:sldMasterIdLst>
  <p:notesMasterIdLst>
    <p:notesMasterId r:id="rId9"/>
  </p:notesMasterIdLst>
  <p:sldIdLst>
    <p:sldId id="256" r:id="rId2"/>
    <p:sldId id="306" r:id="rId3"/>
    <p:sldId id="295" r:id="rId4"/>
    <p:sldId id="307" r:id="rId5"/>
    <p:sldId id="308" r:id="rId6"/>
    <p:sldId id="309" r:id="rId7"/>
    <p:sldId id="305" r:id="rId8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25"/>
    <p:restoredTop sz="92993"/>
  </p:normalViewPr>
  <p:slideViewPr>
    <p:cSldViewPr snapToGrid="0" snapToObjects="1">
      <p:cViewPr varScale="1">
        <p:scale>
          <a:sx n="119" d="100"/>
          <a:sy n="119" d="100"/>
        </p:scale>
        <p:origin x="7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FA65EF-7F76-3C42-A6E3-115693756AA7}" type="datetimeFigureOut">
              <a:rPr lang="en-US" smtClean="0"/>
              <a:t>9/2/25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0C8DAE-0E51-304E-9F8C-3AE4F286FB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251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8336E-BC03-6C84-9C48-DE0FBBA503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0C40E0-D457-DC84-BA4B-02BAD1C72B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7EF9F-99A1-42C9-0CB2-7826BC349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8770C-8747-F75C-262E-3FCB29377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651FB-EF24-C0DC-788C-AC491D16D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323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461D6-B3B1-CA58-FE7B-11B2E9155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8EF90-5E43-EABB-635B-279EAC7D6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40FCA-1751-E542-5B72-31E961985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FEF62-1605-92A8-7F3D-04CFD7F0A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C13CC-ED21-ADA5-5B49-4E72AC8AB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602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843CF-FD43-EC6F-FC66-574A967D8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8C621A-C8C3-CE67-2351-AAAF70A20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EE1F9-5244-C8B7-9842-560B5DD88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0F693-6AD8-C5E7-B999-44EA7BD01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05F4A-AC2D-8E3A-E35A-639EA8C48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676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CFBCB-43B7-E900-07AB-920217A56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1E334-0D8E-5D50-4823-F0817CEF38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DD4D69-DD04-B657-B384-2DCE92019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352E2-E78A-E00D-F34D-E9E00B1E0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5B5250-5CE7-E4C2-38C9-FE675F936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C7C6C-B99C-770D-3AAB-4D42A86DD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945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FD87D-9810-2E23-749C-1403052DF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E5A15-32D7-FB70-CEE7-BDB5A2741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678440-C80B-8FE1-61F0-4D55EF7663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FBA6A-6735-A08E-5627-9E59D93B5B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9A57B5-7268-2970-D9EA-78AE8952BA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860905-C99C-DDCB-D77F-C1B899B82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F0FB15-7094-CBF1-29BB-392F309F4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2385A1-B0FC-4602-A166-E1568A80F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56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A36D5-3745-B9C5-4E19-3CDDB7C14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940086-A7B8-EBEF-2351-7A6174402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17BE20-9BAB-8F2D-847A-CC9416F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E4C80-7251-1AAC-230F-AF7970AA1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266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283122-8B65-3893-A65D-B92B659FC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6DD92F-FADA-A92B-AF29-C602E7A60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1F80F-189E-5D0B-3C35-F6CA2E667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666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B564B-4333-4248-134D-2FA430C51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4D761-3678-E7D4-B28B-F52D79D38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4A321D-A6C7-3591-0D8D-143B5AA90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5AAF11-7A6C-009B-4349-92E9C41D4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7D287-D924-F8C9-845E-FE17EA1A3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73605E-FDF4-1AC7-C7B7-53535EFDB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74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94804-CDBF-EB26-EFDA-B60E664D1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405707-85AE-CD5B-B64F-30750022EA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E7B51C-99DE-B915-E2AE-A3BD8338DE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6F1F8-C824-C9CF-4E5A-9B276FDD6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03E62-EBD0-D1AB-3BE1-2D9603959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B1AB92-E97F-27C6-F17B-52887B7CB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211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CBAF5-CD83-DCC8-E83A-B88C5BE6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2E2D7E-6E4F-71B5-AD73-77D267E7B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539DD-793C-4C6C-F1DD-A36333C19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1B484-236C-9AB5-F963-1D58E40C7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1A557-FF0B-A9A4-4DD9-3970584A7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935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7ECA42-DCD8-2042-EFE6-4180F4F786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031149-AA56-7C4C-82EB-AD5BFC456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B6C7E-5250-CBB2-D321-0AC7F7A57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91C8B-1826-B043-51E8-D65852D6D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02E93-8E7D-7D0F-4C15-B66CB1FC8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185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73A89B-2F68-391F-45D5-673F28DC7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269E6-EF10-161B-5941-A5013B8A5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4AB5A-55D3-822E-22E3-38874E4162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B631B-2526-AA47-8291-64BA95FA363D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62160-435C-DE44-6A10-DBABE0D4C3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B7969-8C21-17A0-B9D2-87ECE185B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85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1" r:id="rId1"/>
    <p:sldLayoutId id="2147484202" r:id="rId2"/>
    <p:sldLayoutId id="2147484203" r:id="rId3"/>
    <p:sldLayoutId id="2147484204" r:id="rId4"/>
    <p:sldLayoutId id="2147484205" r:id="rId5"/>
    <p:sldLayoutId id="2147484206" r:id="rId6"/>
    <p:sldLayoutId id="2147484207" r:id="rId7"/>
    <p:sldLayoutId id="2147484208" r:id="rId8"/>
    <p:sldLayoutId id="2147484209" r:id="rId9"/>
    <p:sldLayoutId id="2147484210" r:id="rId10"/>
    <p:sldLayoutId id="214748421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3001AFEA-2442-4A9F-BA37-8C469F306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4FA0E-1C60-E840-AF4E-19BB653B0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0908" y="637046"/>
            <a:ext cx="5174207" cy="2971473"/>
          </a:xfrm>
        </p:spPr>
        <p:txBody>
          <a:bodyPr>
            <a:normAutofit/>
          </a:bodyPr>
          <a:lstStyle/>
          <a:p>
            <a:pPr algn="l"/>
            <a:r>
              <a:rPr lang="ko-KR" altLang="en-US">
                <a:solidFill>
                  <a:srgbClr val="FFFFFF"/>
                </a:solidFill>
              </a:rPr>
              <a:t>뇌</a:t>
            </a:r>
            <a:r>
              <a:rPr lang="en-US" altLang="ko-KR">
                <a:solidFill>
                  <a:srgbClr val="FFFFFF"/>
                </a:solidFill>
              </a:rPr>
              <a:t>-</a:t>
            </a:r>
            <a:r>
              <a:rPr lang="ko-KR" altLang="en-US">
                <a:solidFill>
                  <a:srgbClr val="FFFFFF"/>
                </a:solidFill>
              </a:rPr>
              <a:t>마음</a:t>
            </a:r>
            <a:r>
              <a:rPr lang="en-US" altLang="ko-KR">
                <a:solidFill>
                  <a:srgbClr val="FFFFFF"/>
                </a:solidFill>
              </a:rPr>
              <a:t>-</a:t>
            </a:r>
            <a:r>
              <a:rPr lang="ko-KR" altLang="en-US">
                <a:solidFill>
                  <a:srgbClr val="FFFFFF"/>
                </a:solidFill>
              </a:rPr>
              <a:t>행동</a:t>
            </a:r>
            <a:br>
              <a:rPr lang="en-US">
                <a:solidFill>
                  <a:srgbClr val="FFFFFF"/>
                </a:solidFill>
              </a:rPr>
            </a:br>
            <a:br>
              <a:rPr lang="en-US">
                <a:solidFill>
                  <a:srgbClr val="FFFFFF"/>
                </a:solidFill>
              </a:rPr>
            </a:br>
            <a:r>
              <a:rPr lang="ko-KR" altLang="en-US" b="1">
                <a:solidFill>
                  <a:srgbClr val="FFFFFF"/>
                </a:solidFill>
              </a:rPr>
              <a:t>개별연구</a:t>
            </a:r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BD79F7-D101-7C4B-B484-66B7EA6C47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1805" y="3933225"/>
            <a:ext cx="5174207" cy="1963486"/>
          </a:xfrm>
        </p:spPr>
        <p:txBody>
          <a:bodyPr>
            <a:normAutofit/>
          </a:bodyPr>
          <a:lstStyle/>
          <a:p>
            <a:pPr algn="l"/>
            <a:r>
              <a:rPr lang="ko-KR" altLang="en-US">
                <a:solidFill>
                  <a:srgbClr val="FFFFFF"/>
                </a:solidFill>
              </a:rPr>
              <a:t>이수현  교수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Block Arc 65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872052">
            <a:off x="6113252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191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1849D0-0C07-41CA-D9F6-D9496A4114A5}"/>
              </a:ext>
            </a:extLst>
          </p:cNvPr>
          <p:cNvSpPr txBox="1"/>
          <p:nvPr/>
        </p:nvSpPr>
        <p:spPr>
          <a:xfrm>
            <a:off x="819912" y="1191596"/>
            <a:ext cx="1041196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en-KR" dirty="0"/>
              <a:t>개강 1주 이내에 수강생이 직접 희망 지도교수에게 접촉하여 개별연구 의사를 밝히고 논의하여 개별연구 진행여부를 결정해야 합니다(되도록 여름방학 중 미리 접촉을 시도하는 것을 추천합니다)</a:t>
            </a:r>
            <a:r>
              <a:rPr lang="en-US" altLang="ko-KR" dirty="0"/>
              <a:t>.</a:t>
            </a:r>
          </a:p>
          <a:p>
            <a:endParaRPr lang="en-KR" dirty="0"/>
          </a:p>
          <a:p>
            <a:r>
              <a:rPr lang="en-KR" dirty="0"/>
              <a:t>2) 가능한 지도교수 목록은 뇌-마음-행동 연계전공 홈페이지 교수진(</a:t>
            </a:r>
            <a:r>
              <a:rPr lang="en-KR" dirty="0">
                <a:solidFill>
                  <a:srgbClr val="0563C1"/>
                </a:solidFill>
              </a:rPr>
              <a:t>http://bmb.psych.snu.ac.kr/bbs/board.php?tbl=bbs12</a:t>
            </a:r>
            <a:r>
              <a:rPr lang="en-KR" dirty="0"/>
              <a:t>)</a:t>
            </a:r>
            <a:r>
              <a:rPr lang="ko-KR" altLang="en-US" dirty="0">
                <a:solidFill>
                  <a:srgbClr val="0563C1"/>
                </a:solidFill>
              </a:rPr>
              <a:t> </a:t>
            </a:r>
            <a:r>
              <a:rPr lang="en-KR" dirty="0"/>
              <a:t>을 참고하세요.</a:t>
            </a:r>
          </a:p>
          <a:p>
            <a:endParaRPr lang="en-KR" dirty="0"/>
          </a:p>
          <a:p>
            <a:r>
              <a:rPr lang="en-KR" dirty="0"/>
              <a:t>3) eTL</a:t>
            </a:r>
            <a:r>
              <a:rPr lang="ko-KR" altLang="en-US" dirty="0" err="1"/>
              <a:t>에</a:t>
            </a:r>
            <a:r>
              <a:rPr lang="ko-KR" altLang="en-US" dirty="0"/>
              <a:t> 업로드 되어 있는 </a:t>
            </a:r>
            <a:r>
              <a:rPr lang="en-KR" dirty="0"/>
              <a:t>‘개별연구 신청서’ 양식을 지도교수</a:t>
            </a:r>
            <a:r>
              <a:rPr lang="ko-KR" altLang="en-US" dirty="0"/>
              <a:t> 지도 하에</a:t>
            </a:r>
            <a:r>
              <a:rPr lang="en-KR" dirty="0"/>
              <a:t> 작성하여 9월 </a:t>
            </a:r>
            <a:r>
              <a:rPr lang="en-US" altLang="ko-KR" dirty="0"/>
              <a:t>19</a:t>
            </a:r>
            <a:r>
              <a:rPr lang="en-KR" dirty="0"/>
              <a:t>일(금)까지 eTL</a:t>
            </a:r>
            <a:r>
              <a:rPr lang="ko-KR" altLang="en-US" dirty="0"/>
              <a:t> 정해진 폴더</a:t>
            </a:r>
            <a:r>
              <a:rPr lang="en-KR" dirty="0"/>
              <a:t>에 제출합니다.</a:t>
            </a:r>
            <a:r>
              <a:rPr lang="ko-KR" altLang="en-US" dirty="0"/>
              <a:t> 이 때</a:t>
            </a:r>
            <a:r>
              <a:rPr lang="en-US" altLang="ko-KR" dirty="0"/>
              <a:t>,</a:t>
            </a:r>
            <a:r>
              <a:rPr lang="ko-KR" altLang="en-US" dirty="0"/>
              <a:t> 신청서에 본인 서명과 지도교수 서명이 반드시 포함되어야 합니다</a:t>
            </a:r>
            <a:r>
              <a:rPr lang="en-US" altLang="ko-KR" dirty="0"/>
              <a:t>.</a:t>
            </a:r>
            <a:endParaRPr lang="en-KR" dirty="0"/>
          </a:p>
          <a:p>
            <a:endParaRPr lang="en-KR" dirty="0"/>
          </a:p>
          <a:p>
            <a:r>
              <a:rPr lang="en-KR" dirty="0"/>
              <a:t>4) 제출한 연구 내용을 중심으로 한 개별연구를 지도교수 지도하에 한 학기 동안 진행합니다.</a:t>
            </a:r>
          </a:p>
          <a:p>
            <a:r>
              <a:rPr lang="ko-KR" altLang="en-US" dirty="0"/>
              <a:t>      </a:t>
            </a:r>
            <a:r>
              <a:rPr lang="en-US" altLang="ko-KR" dirty="0"/>
              <a:t>-</a:t>
            </a:r>
            <a:r>
              <a:rPr lang="ko-KR" altLang="en-US" dirty="0"/>
              <a:t> 지도교수님께 적어도 한 학기 </a:t>
            </a:r>
            <a:r>
              <a:rPr lang="en-US" altLang="ko-KR" dirty="0"/>
              <a:t>3</a:t>
            </a:r>
            <a:r>
              <a:rPr lang="ko-KR" altLang="en-US" dirty="0"/>
              <a:t>회</a:t>
            </a:r>
            <a:r>
              <a:rPr lang="en-US" altLang="ko-KR" dirty="0"/>
              <a:t>(</a:t>
            </a:r>
            <a:r>
              <a:rPr lang="ko-KR" altLang="en-US" dirty="0"/>
              <a:t>개별연구 신청서 제출 전</a:t>
            </a:r>
            <a:r>
              <a:rPr lang="en-US" altLang="ko-KR" dirty="0"/>
              <a:t>,</a:t>
            </a:r>
            <a:r>
              <a:rPr lang="ko-KR" altLang="en-US" dirty="0"/>
              <a:t> 학기 중간에 </a:t>
            </a:r>
            <a:r>
              <a:rPr lang="en-US" altLang="ko-KR" dirty="0"/>
              <a:t>1</a:t>
            </a:r>
            <a:r>
              <a:rPr lang="ko-KR" altLang="en-US" dirty="0"/>
              <a:t>회 이상</a:t>
            </a:r>
            <a:r>
              <a:rPr lang="en-US" altLang="ko-KR" dirty="0"/>
              <a:t>,</a:t>
            </a:r>
            <a:r>
              <a:rPr lang="ko-KR" altLang="en-US" dirty="0"/>
              <a:t> 보고서 제출 전</a:t>
            </a:r>
            <a:r>
              <a:rPr lang="en-US" altLang="ko-KR" dirty="0"/>
              <a:t>)</a:t>
            </a:r>
            <a:r>
              <a:rPr lang="ko-KR" altLang="en-US" dirty="0"/>
              <a:t>  </a:t>
            </a:r>
            <a:endParaRPr lang="en-US" altLang="ko-KR" dirty="0"/>
          </a:p>
          <a:p>
            <a:r>
              <a:rPr lang="ko-KR" altLang="en-US" dirty="0"/>
              <a:t>       이상 면담을 요청하여 연구 방향에 대해 지도를 받도록 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KR" dirty="0"/>
          </a:p>
          <a:p>
            <a:endParaRPr lang="en-KR" dirty="0"/>
          </a:p>
          <a:p>
            <a:r>
              <a:rPr lang="en-KR" dirty="0"/>
              <a:t>5) 12월 1</a:t>
            </a:r>
            <a:r>
              <a:rPr lang="en-US" altLang="ko-KR" dirty="0"/>
              <a:t>2</a:t>
            </a:r>
            <a:r>
              <a:rPr lang="en-KR" dirty="0"/>
              <a:t>일(금)까지 연구보고서 및 발표 포스터(파일)를 제출합니다. 양식은 추후 공지 예정입니다.</a:t>
            </a:r>
          </a:p>
          <a:p>
            <a:r>
              <a:rPr lang="ko-KR" altLang="en-US" dirty="0"/>
              <a:t>이 때</a:t>
            </a:r>
            <a:r>
              <a:rPr lang="en-US" altLang="ko-KR" dirty="0"/>
              <a:t>,</a:t>
            </a:r>
            <a:r>
              <a:rPr lang="ko-KR" altLang="en-US" dirty="0"/>
              <a:t> 보고서에 지도교수 서명을 반드시 받아야 합니다</a:t>
            </a:r>
            <a:r>
              <a:rPr lang="en-US" altLang="ko-KR" dirty="0"/>
              <a:t>.</a:t>
            </a:r>
            <a:endParaRPr lang="en-KR" dirty="0"/>
          </a:p>
          <a:p>
            <a:endParaRPr lang="en-KR" dirty="0"/>
          </a:p>
          <a:p>
            <a:r>
              <a:rPr lang="en-KR" dirty="0"/>
              <a:t>6) 12월 1</a:t>
            </a:r>
            <a:r>
              <a:rPr lang="en-US" altLang="ko-KR" dirty="0"/>
              <a:t>8</a:t>
            </a:r>
            <a:r>
              <a:rPr lang="en-KR" dirty="0"/>
              <a:t>일(목) 연구결과를 포스터 형식으로 제작하여 발표하는 발표회가 있을 예정입니다. 발표회 때 우수 연구를 선정하여 수상할 예정입니다. 자세한 일정은 추후 공지하겠습니다.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449B95-A8F0-0B9E-F9C5-84803190EF23}"/>
              </a:ext>
            </a:extLst>
          </p:cNvPr>
          <p:cNvSpPr txBox="1"/>
          <p:nvPr/>
        </p:nvSpPr>
        <p:spPr>
          <a:xfrm>
            <a:off x="0" y="299966"/>
            <a:ext cx="120517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KR" sz="2800" b="1" dirty="0"/>
              <a:t>진행 안내</a:t>
            </a:r>
          </a:p>
        </p:txBody>
      </p:sp>
    </p:spTree>
    <p:extLst>
      <p:ext uri="{BB962C8B-B14F-4D97-AF65-F5344CB8AC3E}">
        <p14:creationId xmlns:p14="http://schemas.microsoft.com/office/powerpoint/2010/main" val="2314938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B3AF502-D3D0-7A9E-5B79-65A062F5C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570" y="0"/>
            <a:ext cx="5812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516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F14739C-5D8B-656C-73C9-287065363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418" y="643466"/>
            <a:ext cx="516716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454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54EDDA-6B7A-E039-EB6F-0532A5F00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1402" y="0"/>
            <a:ext cx="61491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91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E0E5C8D-4C63-5860-B6B7-D930C5D30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585" y="0"/>
            <a:ext cx="65308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47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606CC4-5104-1F4D-A810-C0D6EFF68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 &amp; A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0264FB-A67D-AE1A-FA0B-BF5E41824005}"/>
              </a:ext>
            </a:extLst>
          </p:cNvPr>
          <p:cNvSpPr txBox="1"/>
          <p:nvPr/>
        </p:nvSpPr>
        <p:spPr>
          <a:xfrm>
            <a:off x="3413958" y="4628009"/>
            <a:ext cx="5361036" cy="11187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ko-KR" altLang="en-US" sz="2000" b="1" kern="1200" dirty="0">
                <a:solidFill>
                  <a:schemeClr val="bg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문의</a:t>
            </a:r>
            <a:r>
              <a:rPr lang="en-US" altLang="ko-KR" sz="2000" b="1" kern="1200" dirty="0">
                <a:solidFill>
                  <a:schemeClr val="bg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: </a:t>
            </a:r>
            <a:r>
              <a:rPr lang="ko-KR" altLang="en-US" sz="2000" b="1" dirty="0">
                <a:solidFill>
                  <a:schemeClr val="bg1">
                    <a:alpha val="70000"/>
                  </a:schemeClr>
                </a:solidFill>
              </a:rPr>
              <a:t>조수빈</a:t>
            </a:r>
            <a:r>
              <a:rPr lang="ko-KR" altLang="en-US" sz="2000" b="1" kern="1200" dirty="0">
                <a:solidFill>
                  <a:schemeClr val="bg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 조교 </a:t>
            </a:r>
            <a:r>
              <a:rPr lang="en-US" altLang="ko-KR" sz="2000" b="1" kern="1200" dirty="0">
                <a:solidFill>
                  <a:schemeClr val="bg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2000" b="1" dirty="0" err="1">
                <a:solidFill>
                  <a:schemeClr val="bg1">
                    <a:alpha val="70000"/>
                  </a:schemeClr>
                </a:solidFill>
              </a:rPr>
              <a:t>mendelssohn@snu.ac.kr</a:t>
            </a:r>
            <a:r>
              <a:rPr lang="en-US" altLang="ko-KR" sz="2000" b="1" kern="1200" dirty="0">
                <a:solidFill>
                  <a:schemeClr val="bg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)</a:t>
            </a:r>
            <a:endParaRPr lang="en-US" sz="2000" b="1" kern="1200" dirty="0">
              <a:solidFill>
                <a:schemeClr val="bg1">
                  <a:alpha val="7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7985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</TotalTime>
  <Words>255</Words>
  <Application>Microsoft Macintosh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뇌-마음-행동  개별연구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Sue-Hyun Lee</dc:creator>
  <cp:lastModifiedBy>Sue-Hyun Lee</cp:lastModifiedBy>
  <cp:revision>92</cp:revision>
  <dcterms:created xsi:type="dcterms:W3CDTF">2020-04-27T08:21:55Z</dcterms:created>
  <dcterms:modified xsi:type="dcterms:W3CDTF">2025-09-02T07:47:26Z</dcterms:modified>
</cp:coreProperties>
</file>