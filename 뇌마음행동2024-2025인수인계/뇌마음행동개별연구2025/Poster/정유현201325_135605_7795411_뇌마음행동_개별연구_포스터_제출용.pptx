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32399288" cy="43200638"/>
  <p:notesSz cx="7099300" cy="102346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2227320" y="40040640"/>
            <a:ext cx="7289640" cy="22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rPr>
              <a:t>&lt;날짜/시간&gt;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10732320" y="40040640"/>
            <a:ext cx="10934280" cy="22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rPr>
              <a:t>&lt;바닥글&gt;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22881960" y="40040640"/>
            <a:ext cx="7289640" cy="22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4009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51BE9C6-B912-41AD-9D81-F1817DCDFACA}" type="slidenum">
              <a:rPr b="0" lang="en-US" sz="4009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&lt;숫자&gt;</a:t>
            </a:fld>
            <a:endParaRPr b="0" lang="en-US" sz="4009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2227320" y="2300040"/>
            <a:ext cx="27943920" cy="834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ko-KR" sz="1456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제목 텍스트의 서식을 편집하려면 클릭하십시오</a:t>
            </a:r>
            <a:r>
              <a:rPr b="0" lang="en-US" sz="1456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b="0" lang="en-US" sz="14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 rot="5400000">
            <a:off x="2494800" y="11233080"/>
            <a:ext cx="27410040" cy="2794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개요 텍스트의 서식을 편집하려면 클릭하십시오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4"/>
          </p:nvPr>
        </p:nvSpPr>
        <p:spPr>
          <a:xfrm>
            <a:off x="2227320" y="40040640"/>
            <a:ext cx="7289640" cy="22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rPr>
              <a:t>&lt;날짜/시간&gt;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5"/>
          </p:nvPr>
        </p:nvSpPr>
        <p:spPr>
          <a:xfrm>
            <a:off x="10732320" y="40040640"/>
            <a:ext cx="10934280" cy="22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rPr>
              <a:t>&lt;바닥글&gt;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6"/>
          </p:nvPr>
        </p:nvSpPr>
        <p:spPr>
          <a:xfrm>
            <a:off x="22881960" y="40040640"/>
            <a:ext cx="7289640" cy="22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4009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923A35B-BCA2-46BF-8B6F-8674696AEB34}" type="slidenum">
              <a:rPr b="0" lang="en-US" sz="4009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&lt;숫자&gt;</a:t>
            </a:fld>
            <a:endParaRPr b="0" lang="en-US" sz="4009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 rot="5400000">
            <a:off x="8373600" y="17112240"/>
            <a:ext cx="36610200" cy="698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ko-KR" sz="1456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제목 텍스트의 서식을 편집하려면 클릭하십시오</a:t>
            </a:r>
            <a:r>
              <a:rPr b="0" lang="en-US" sz="1456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b="0" lang="en-US" sz="14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 rot="5400000">
            <a:off x="-5800680" y="10328400"/>
            <a:ext cx="36610200" cy="2055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개요 텍스트의 서식을 편집하려면 클릭하십시오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7"/>
          </p:nvPr>
        </p:nvSpPr>
        <p:spPr>
          <a:xfrm>
            <a:off x="2227320" y="40040640"/>
            <a:ext cx="7289640" cy="22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rPr>
              <a:t>&lt;날짜/시간&gt;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ftr" idx="8"/>
          </p:nvPr>
        </p:nvSpPr>
        <p:spPr>
          <a:xfrm>
            <a:off x="10732320" y="40040640"/>
            <a:ext cx="10934280" cy="22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rPr>
              <a:t>&lt;바닥글&gt;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9"/>
          </p:nvPr>
        </p:nvSpPr>
        <p:spPr>
          <a:xfrm>
            <a:off x="22881960" y="40040640"/>
            <a:ext cx="7289640" cy="22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4009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B2CAAD8-A033-4CEF-B90D-F52B3E81BD25}" type="slidenum">
              <a:rPr b="0" lang="en-US" sz="4009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&lt;숫자&gt;</a:t>
            </a:fld>
            <a:endParaRPr b="0" lang="en-US" sz="4009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2430000" y="7070040"/>
            <a:ext cx="27538920" cy="1503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ko-KR" sz="200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제목 텍스트의 서식을 편집하려면 클릭하십시오</a:t>
            </a:r>
            <a:r>
              <a:rPr b="0" lang="en-US" sz="200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b="0" lang="en-US" sz="20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dt" idx="10"/>
          </p:nvPr>
        </p:nvSpPr>
        <p:spPr>
          <a:xfrm>
            <a:off x="2227320" y="40040640"/>
            <a:ext cx="7289640" cy="22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rPr>
              <a:t>&lt;날짜/시간&gt;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11"/>
          </p:nvPr>
        </p:nvSpPr>
        <p:spPr>
          <a:xfrm>
            <a:off x="10732320" y="40040640"/>
            <a:ext cx="10934280" cy="22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rPr>
              <a:t>&lt;바닥글&gt;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2"/>
          </p:nvPr>
        </p:nvSpPr>
        <p:spPr>
          <a:xfrm>
            <a:off x="22881960" y="40040640"/>
            <a:ext cx="7289640" cy="22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4009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EEA9A55-6322-4016-BBAA-9B1DB573245F}" type="slidenum">
              <a:rPr b="0" lang="en-US" sz="4009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&lt;숫자&gt;</a:t>
            </a:fld>
            <a:endParaRPr b="0" lang="en-US" sz="4009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227320" y="2300040"/>
            <a:ext cx="27943920" cy="834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ko-KR" sz="1456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제목 텍스트의 서식을 편집하려면 클릭하십시오</a:t>
            </a:r>
            <a:r>
              <a:rPr b="0" lang="en-US" sz="1456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b="0" lang="en-US" sz="14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2227320" y="11500200"/>
            <a:ext cx="27943920" cy="2741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개요 텍스트의 서식을 편집하려면 클릭하십시오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3"/>
          </p:nvPr>
        </p:nvSpPr>
        <p:spPr>
          <a:xfrm>
            <a:off x="2227320" y="40040640"/>
            <a:ext cx="7289640" cy="22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rPr>
              <a:t>&lt;날짜/시간&gt;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4"/>
          </p:nvPr>
        </p:nvSpPr>
        <p:spPr>
          <a:xfrm>
            <a:off x="10732320" y="40040640"/>
            <a:ext cx="10934280" cy="22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rPr>
              <a:t>&lt;바닥글&gt;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5"/>
          </p:nvPr>
        </p:nvSpPr>
        <p:spPr>
          <a:xfrm>
            <a:off x="22881960" y="40040640"/>
            <a:ext cx="7289640" cy="22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4009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EF166FE-49C7-4E88-A5BE-DF719AA521FE}" type="slidenum">
              <a:rPr b="0" lang="en-US" sz="4009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&lt;숫자&gt;</a:t>
            </a:fld>
            <a:endParaRPr b="0" lang="en-US" sz="4009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210400" y="10770120"/>
            <a:ext cx="27943920" cy="1796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ko-KR" sz="200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제목 텍스트의 서식을 편집하려면 클릭하십시오</a:t>
            </a:r>
            <a:r>
              <a:rPr b="0" lang="en-US" sz="200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b="0" lang="en-US" sz="20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2210400" y="28910520"/>
            <a:ext cx="27943920" cy="94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8019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개요 텍스트의 서식을 편집하려면 클릭하십시오</a:t>
            </a:r>
            <a:endParaRPr b="0" lang="en-US" sz="801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8019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b="0" lang="ko-KR" sz="8019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801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8019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b="0" lang="ko-KR" sz="8019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801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8019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b="0" lang="ko-KR" sz="8019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801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8019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b="0" lang="ko-KR" sz="8019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801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8019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b="0" lang="ko-KR" sz="8019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801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8019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b="0" lang="ko-KR" sz="8019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801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6"/>
          </p:nvPr>
        </p:nvSpPr>
        <p:spPr>
          <a:xfrm>
            <a:off x="2227320" y="40040640"/>
            <a:ext cx="7289640" cy="22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rPr>
              <a:t>&lt;날짜/시간&gt;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7"/>
          </p:nvPr>
        </p:nvSpPr>
        <p:spPr>
          <a:xfrm>
            <a:off x="10732320" y="40040640"/>
            <a:ext cx="10934280" cy="22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rPr>
              <a:t>&lt;바닥글&gt;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8"/>
          </p:nvPr>
        </p:nvSpPr>
        <p:spPr>
          <a:xfrm>
            <a:off x="22881960" y="40040640"/>
            <a:ext cx="7289640" cy="22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4009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FEFA23D-0898-407C-ABC8-8C1ADCCE0029}" type="slidenum">
              <a:rPr b="0" lang="en-US" sz="4009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&lt;숫자&gt;</a:t>
            </a:fld>
            <a:endParaRPr b="0" lang="en-US" sz="4009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2227320" y="2300040"/>
            <a:ext cx="27943920" cy="834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ko-KR" sz="1456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제목 텍스트의 서식을 편집하려면 클릭하십시오</a:t>
            </a:r>
            <a:r>
              <a:rPr b="0" lang="en-US" sz="1456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b="0" lang="en-US" sz="14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2227320" y="11500200"/>
            <a:ext cx="13769280" cy="2741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개요 텍스트의 서식을 편집하려면 클릭하십시오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16401960" y="11500200"/>
            <a:ext cx="13769280" cy="2741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개요 텍스트의 서식을 편집하려면 클릭하십시오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9"/>
          </p:nvPr>
        </p:nvSpPr>
        <p:spPr>
          <a:xfrm>
            <a:off x="2227320" y="40040640"/>
            <a:ext cx="7289640" cy="22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rPr>
              <a:t>&lt;날짜/시간&gt;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20"/>
          </p:nvPr>
        </p:nvSpPr>
        <p:spPr>
          <a:xfrm>
            <a:off x="10732320" y="40040640"/>
            <a:ext cx="10934280" cy="22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rPr>
              <a:t>&lt;바닥글&gt;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21"/>
          </p:nvPr>
        </p:nvSpPr>
        <p:spPr>
          <a:xfrm>
            <a:off x="22881960" y="40040640"/>
            <a:ext cx="7289640" cy="22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4009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BC284EC-1C5E-4730-AEDA-B43A94749633}" type="slidenum">
              <a:rPr b="0" lang="en-US" sz="4009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&lt;숫자&gt;</a:t>
            </a:fld>
            <a:endParaRPr b="0" lang="en-US" sz="4009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2231640" y="2300040"/>
            <a:ext cx="27943920" cy="834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ko-KR" sz="1456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제목 텍스트의 서식을 편집하려면 클릭하십시오</a:t>
            </a:r>
            <a:r>
              <a:rPr b="0" lang="en-US" sz="1456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b="0" lang="en-US" sz="14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2231640" y="10590120"/>
            <a:ext cx="13705920" cy="51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8019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개요 텍스트의 서식을 편집하려면 클릭하십시오</a:t>
            </a:r>
            <a:endParaRPr b="0" lang="en-US" sz="801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8019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b="0" lang="ko-KR" sz="8019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801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8019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b="0" lang="ko-KR" sz="8019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801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8019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b="0" lang="ko-KR" sz="8019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801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8019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b="0" lang="ko-KR" sz="8019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801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8019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b="0" lang="ko-KR" sz="8019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801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8019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b="0" lang="ko-KR" sz="8019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801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2231640" y="15780240"/>
            <a:ext cx="13705920" cy="2320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개요 텍스트의 서식을 편집하려면 클릭하십시오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16402320" y="10590120"/>
            <a:ext cx="13773600" cy="51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8019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개요 텍스트의 서식을 편집하려면 클릭하십시오</a:t>
            </a:r>
            <a:endParaRPr b="0" lang="en-US" sz="801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8019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b="0" lang="ko-KR" sz="8019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801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8019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b="0" lang="ko-KR" sz="8019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801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8019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b="0" lang="ko-KR" sz="8019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801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8019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b="0" lang="ko-KR" sz="8019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801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8019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b="0" lang="ko-KR" sz="8019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801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8019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b="0" lang="ko-KR" sz="8019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801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16402320" y="15780240"/>
            <a:ext cx="13773600" cy="2320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개요 텍스트의 서식을 편집하려면 클릭하십시오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b="0" lang="ko-KR" sz="92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9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22"/>
          </p:nvPr>
        </p:nvSpPr>
        <p:spPr>
          <a:xfrm>
            <a:off x="2227320" y="40040640"/>
            <a:ext cx="7289640" cy="22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rPr>
              <a:t>&lt;날짜/시간&gt;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3"/>
          </p:nvPr>
        </p:nvSpPr>
        <p:spPr>
          <a:xfrm>
            <a:off x="10732320" y="40040640"/>
            <a:ext cx="10934280" cy="22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rPr>
              <a:t>&lt;바닥글&gt;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4"/>
          </p:nvPr>
        </p:nvSpPr>
        <p:spPr>
          <a:xfrm>
            <a:off x="22881960" y="40040640"/>
            <a:ext cx="7289640" cy="22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4009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8A38101-F354-4189-9A79-7F13AFD38DD7}" type="slidenum">
              <a:rPr b="0" lang="en-US" sz="4009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&lt;숫자&gt;</a:t>
            </a:fld>
            <a:endParaRPr b="0" lang="en-US" sz="4009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2227320" y="2300040"/>
            <a:ext cx="27943920" cy="834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ko-KR" sz="1456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제목 텍스트의 서식을 편집하려면 클릭하십시오</a:t>
            </a:r>
            <a:r>
              <a:rPr b="0" lang="en-US" sz="1456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b="0" lang="en-US" sz="14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5"/>
          </p:nvPr>
        </p:nvSpPr>
        <p:spPr>
          <a:xfrm>
            <a:off x="2227320" y="40040640"/>
            <a:ext cx="7289640" cy="22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rPr>
              <a:t>&lt;날짜/시간&gt;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6"/>
          </p:nvPr>
        </p:nvSpPr>
        <p:spPr>
          <a:xfrm>
            <a:off x="10732320" y="40040640"/>
            <a:ext cx="10934280" cy="22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rPr>
              <a:t>&lt;바닥글&gt;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7"/>
          </p:nvPr>
        </p:nvSpPr>
        <p:spPr>
          <a:xfrm>
            <a:off x="22881960" y="40040640"/>
            <a:ext cx="7289640" cy="22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4009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555BE98-C322-4B2A-B5EE-A65E595FDA60}" type="slidenum">
              <a:rPr b="0" lang="en-US" sz="4009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&lt;숫자&gt;</a:t>
            </a:fld>
            <a:endParaRPr b="0" lang="en-US" sz="4009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2231640" y="2880000"/>
            <a:ext cx="10449360" cy="1007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ko-KR" sz="10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제목 텍스트의 서식을 편집하려면 클릭하십시오</a:t>
            </a:r>
            <a:r>
              <a:rPr b="0" lang="en-US" sz="10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b="0" lang="en-US" sz="10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13773960" y="6220080"/>
            <a:ext cx="16401960" cy="3070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10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개요 텍스트의 서식을 편집하려면 클릭하십시오</a:t>
            </a:r>
            <a:endParaRPr b="0" lang="en-US" sz="10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0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b="0" lang="ko-KR" sz="10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10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b="0" lang="ko-KR" sz="10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10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0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b="0" lang="ko-KR" sz="10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10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b="0" lang="ko-KR" sz="10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10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b="0" lang="ko-KR" sz="10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10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b="0" lang="ko-KR" sz="10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10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2231640" y="12960360"/>
            <a:ext cx="10449360" cy="2400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53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개요 텍스트의 서식을 편집하려면 클릭하십시오</a:t>
            </a:r>
            <a:endParaRPr b="0" lang="en-US" sz="5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3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b="0" lang="ko-KR" sz="53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5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3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b="0" lang="ko-KR" sz="53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5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3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b="0" lang="ko-KR" sz="53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5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3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b="0" lang="ko-KR" sz="53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5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3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b="0" lang="ko-KR" sz="53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5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3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b="0" lang="ko-KR" sz="53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5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28"/>
          </p:nvPr>
        </p:nvSpPr>
        <p:spPr>
          <a:xfrm>
            <a:off x="2227320" y="40040640"/>
            <a:ext cx="7289640" cy="22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rPr>
              <a:t>&lt;날짜/시간&gt;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ftr" idx="29"/>
          </p:nvPr>
        </p:nvSpPr>
        <p:spPr>
          <a:xfrm>
            <a:off x="10732320" y="40040640"/>
            <a:ext cx="10934280" cy="22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rPr>
              <a:t>&lt;바닥글&gt;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sldNum" idx="30"/>
          </p:nvPr>
        </p:nvSpPr>
        <p:spPr>
          <a:xfrm>
            <a:off x="22881960" y="40040640"/>
            <a:ext cx="7289640" cy="22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4009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A9EFB0C-5E5C-437A-878E-A2FA0F5B0536}" type="slidenum">
              <a:rPr b="0" lang="en-US" sz="4009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&lt;숫자&gt;</a:t>
            </a:fld>
            <a:endParaRPr b="0" lang="en-US" sz="4009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2231640" y="2880000"/>
            <a:ext cx="10449360" cy="1007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ko-KR" sz="10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제목 텍스트의 서식을 편집하려면 클릭하십시오</a:t>
            </a:r>
            <a:r>
              <a:rPr b="0" lang="en-US" sz="10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b="0" lang="en-US" sz="10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13773960" y="6220080"/>
            <a:ext cx="16401960" cy="3070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개요 텍스트의 서식을 편집하려면 클릭하십시오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b="0" lang="ko-K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b="0" lang="ko-K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b="0" lang="ko-K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b="0" lang="ko-K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b="0" lang="ko-K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b="0" lang="ko-K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2231640" y="12960360"/>
            <a:ext cx="10449360" cy="2400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53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개요 텍스트의 서식을 편집하려면 클릭하십시오</a:t>
            </a:r>
            <a:endParaRPr b="0" lang="en-US" sz="5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3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b="0" lang="ko-KR" sz="53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5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3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b="0" lang="ko-KR" sz="53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5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3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b="0" lang="ko-KR" sz="53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5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3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b="0" lang="ko-KR" sz="53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5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3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b="0" lang="ko-KR" sz="53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5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3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b="0" lang="ko-KR" sz="53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번째 개요 수준</a:t>
            </a:r>
            <a:endParaRPr b="0" lang="en-US" sz="5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31"/>
          </p:nvPr>
        </p:nvSpPr>
        <p:spPr>
          <a:xfrm>
            <a:off x="2227320" y="40040640"/>
            <a:ext cx="7289640" cy="22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rPr>
              <a:t>&lt;날짜/시간&gt;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32"/>
          </p:nvPr>
        </p:nvSpPr>
        <p:spPr>
          <a:xfrm>
            <a:off x="10732320" y="40040640"/>
            <a:ext cx="10934280" cy="22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anumGothic"/>
              </a:rPr>
              <a:t>&lt;바닥글&gt;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3"/>
          </p:nvPr>
        </p:nvSpPr>
        <p:spPr>
          <a:xfrm>
            <a:off x="22881960" y="40040640"/>
            <a:ext cx="7289640" cy="22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4009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B884F1E-6D0F-4D1B-92B0-8F8F40BC0EE9}" type="slidenum">
              <a:rPr b="0" lang="en-US" sz="4009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&lt;숫자&gt;</a:t>
            </a:fld>
            <a:endParaRPr b="0" lang="en-US" sz="4009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3.png"/><Relationship Id="rId10" Type="http://schemas.openxmlformats.org/officeDocument/2006/relationships/image" Target="../media/image9.png"/><Relationship Id="rId1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84;p1"/>
          <p:cNvSpPr/>
          <p:nvPr/>
        </p:nvSpPr>
        <p:spPr>
          <a:xfrm>
            <a:off x="6473520" y="1106280"/>
            <a:ext cx="19422720" cy="46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 algn="ctr">
              <a:lnSpc>
                <a:spcPct val="100000"/>
              </a:lnSpc>
            </a:pPr>
            <a:endParaRPr b="0" lang="en-US" sz="146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pPr algn="ctr">
              <a:lnSpc>
                <a:spcPct val="100000"/>
              </a:lnSpc>
            </a:pPr>
            <a:endParaRPr b="0" lang="en-US" sz="283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pPr algn="ctr">
              <a:lnSpc>
                <a:spcPct val="100000"/>
              </a:lnSpc>
            </a:pPr>
            <a:endParaRPr b="0" lang="en-US" sz="146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pPr algn="ctr">
              <a:lnSpc>
                <a:spcPct val="100000"/>
              </a:lnSpc>
            </a:pPr>
            <a:endParaRPr b="0" lang="en-US" sz="242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pPr algn="ctr">
              <a:lnSpc>
                <a:spcPct val="100000"/>
              </a:lnSpc>
            </a:pPr>
            <a:endParaRPr b="0" lang="en-US" sz="363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pPr algn="ctr">
              <a:lnSpc>
                <a:spcPct val="100000"/>
              </a:lnSpc>
            </a:pPr>
            <a:endParaRPr b="0" lang="en-US" sz="363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pPr algn="ctr">
              <a:lnSpc>
                <a:spcPct val="100000"/>
              </a:lnSpc>
            </a:pPr>
            <a:endParaRPr b="0" lang="en-US" sz="363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  <p:pic>
        <p:nvPicPr>
          <p:cNvPr id="58" name="Google Shape;85;p1" descr=""/>
          <p:cNvPicPr/>
          <p:nvPr/>
        </p:nvPicPr>
        <p:blipFill>
          <a:blip r:embed="rId1"/>
          <a:stretch/>
        </p:blipFill>
        <p:spPr>
          <a:xfrm>
            <a:off x="2586960" y="754200"/>
            <a:ext cx="4364640" cy="44758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9" name="Google Shape;86;p1"/>
          <p:cNvGrpSpPr/>
          <p:nvPr/>
        </p:nvGrpSpPr>
        <p:grpSpPr>
          <a:xfrm>
            <a:off x="1638360" y="6288840"/>
            <a:ext cx="14169960" cy="8831160"/>
            <a:chOff x="1638360" y="6288840"/>
            <a:chExt cx="14169960" cy="8831160"/>
          </a:xfrm>
        </p:grpSpPr>
        <p:sp>
          <p:nvSpPr>
            <p:cNvPr id="60" name="Google Shape;87;p1"/>
            <p:cNvSpPr/>
            <p:nvPr/>
          </p:nvSpPr>
          <p:spPr>
            <a:xfrm>
              <a:off x="1638360" y="7054560"/>
              <a:ext cx="14168520" cy="806544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rgbClr val="0f0f7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2160" rIns="92160" tIns="46080" bIns="46080" anchor="t">
              <a:noAutofit/>
            </a:bodyPr>
            <a:p>
              <a:pPr algn="just">
                <a:lnSpc>
                  <a:spcPct val="100000"/>
                </a:lnSpc>
              </a:pPr>
              <a:endParaRPr b="0" lang="en-US" sz="1450" strike="noStrike" u="none">
                <a:solidFill>
                  <a:srgbClr val="000000"/>
                </a:solidFill>
                <a:effectLst/>
                <a:uFillTx/>
                <a:latin typeface="NanumGothic"/>
              </a:endParaRPr>
            </a:p>
          </p:txBody>
        </p:sp>
        <p:sp>
          <p:nvSpPr>
            <p:cNvPr id="61" name="Google Shape;88;p1"/>
            <p:cNvSpPr/>
            <p:nvPr/>
          </p:nvSpPr>
          <p:spPr>
            <a:xfrm>
              <a:off x="1638360" y="6288840"/>
              <a:ext cx="14169960" cy="765360"/>
            </a:xfrm>
            <a:prstGeom prst="rect">
              <a:avLst/>
            </a:prstGeom>
            <a:solidFill>
              <a:srgbClr val="0f0f70"/>
            </a:solidFill>
            <a:ln w="12700">
              <a:solidFill>
                <a:srgbClr val="0f0f7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2160" rIns="92160" tIns="46080" bIns="4608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en-US" sz="545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rPr>
                <a:t>INTRODUCTION</a:t>
              </a:r>
              <a:endParaRPr b="0" lang="en-US" sz="5450" strike="noStrike" u="none">
                <a:solidFill>
                  <a:srgbClr val="ffffff"/>
                </a:solidFill>
                <a:effectLst/>
                <a:uFillTx/>
                <a:latin typeface="NanumGothic"/>
              </a:endParaRPr>
            </a:p>
          </p:txBody>
        </p:sp>
      </p:grpSp>
      <p:grpSp>
        <p:nvGrpSpPr>
          <p:cNvPr id="62" name="Google Shape;89;p1"/>
          <p:cNvGrpSpPr/>
          <p:nvPr/>
        </p:nvGrpSpPr>
        <p:grpSpPr>
          <a:xfrm>
            <a:off x="1631880" y="27955440"/>
            <a:ext cx="14176440" cy="13801320"/>
            <a:chOff x="1631880" y="27955440"/>
            <a:chExt cx="14176440" cy="13801320"/>
          </a:xfrm>
        </p:grpSpPr>
        <p:sp>
          <p:nvSpPr>
            <p:cNvPr id="63" name="Google Shape;90;p1"/>
            <p:cNvSpPr/>
            <p:nvPr/>
          </p:nvSpPr>
          <p:spPr>
            <a:xfrm>
              <a:off x="1638360" y="29032200"/>
              <a:ext cx="14169960" cy="1272456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rgbClr val="0f0f7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2160" rIns="92160" tIns="46080" bIns="46080" anchor="t">
              <a:noAutofit/>
            </a:bodyPr>
            <a:p>
              <a:pPr algn="just">
                <a:lnSpc>
                  <a:spcPct val="171000"/>
                </a:lnSpc>
              </a:pPr>
              <a:endParaRPr b="0" lang="en-US" sz="3230" strike="noStrike" u="none">
                <a:solidFill>
                  <a:srgbClr val="000000"/>
                </a:solidFill>
                <a:effectLst/>
                <a:uFillTx/>
                <a:latin typeface="NanumGothic"/>
              </a:endParaRPr>
            </a:p>
            <a:p>
              <a:pPr algn="just">
                <a:lnSpc>
                  <a:spcPct val="171000"/>
                </a:lnSpc>
              </a:pPr>
              <a:endParaRPr b="0" lang="en-US" sz="3230" strike="noStrike" u="none">
                <a:solidFill>
                  <a:srgbClr val="000000"/>
                </a:solidFill>
                <a:effectLst/>
                <a:uFillTx/>
                <a:latin typeface="NanumGothic"/>
              </a:endParaRPr>
            </a:p>
          </p:txBody>
        </p:sp>
        <p:sp>
          <p:nvSpPr>
            <p:cNvPr id="64" name="Google Shape;91;p1"/>
            <p:cNvSpPr/>
            <p:nvPr/>
          </p:nvSpPr>
          <p:spPr>
            <a:xfrm>
              <a:off x="1631880" y="27955440"/>
              <a:ext cx="14169960" cy="1076400"/>
            </a:xfrm>
            <a:prstGeom prst="rect">
              <a:avLst/>
            </a:prstGeom>
            <a:solidFill>
              <a:srgbClr val="0f0f70"/>
            </a:solidFill>
            <a:ln w="19050">
              <a:solidFill>
                <a:srgbClr val="0f0f7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2160" rIns="92160" tIns="46080" bIns="4608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en-US" sz="545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METHODS</a:t>
              </a:r>
              <a:endParaRPr b="0" lang="en-US" sz="5450" strike="noStrike" u="none">
                <a:solidFill>
                  <a:srgbClr val="ffffff"/>
                </a:solidFill>
                <a:effectLst/>
                <a:uFillTx/>
                <a:latin typeface="NanumGothic"/>
              </a:endParaRPr>
            </a:p>
          </p:txBody>
        </p:sp>
      </p:grpSp>
      <p:grpSp>
        <p:nvGrpSpPr>
          <p:cNvPr id="65" name="Google Shape;92;p1"/>
          <p:cNvGrpSpPr/>
          <p:nvPr/>
        </p:nvGrpSpPr>
        <p:grpSpPr>
          <a:xfrm>
            <a:off x="16560000" y="27900000"/>
            <a:ext cx="14179320" cy="9748080"/>
            <a:chOff x="16560000" y="27900000"/>
            <a:chExt cx="14179320" cy="9748080"/>
          </a:xfrm>
        </p:grpSpPr>
        <p:sp>
          <p:nvSpPr>
            <p:cNvPr id="66" name="Google Shape;93;p1"/>
            <p:cNvSpPr/>
            <p:nvPr/>
          </p:nvSpPr>
          <p:spPr>
            <a:xfrm>
              <a:off x="16569360" y="27900000"/>
              <a:ext cx="14169960" cy="974808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rgbClr val="0f0f7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2160" rIns="92160" tIns="46080" bIns="46080" anchor="t">
              <a:noAutofit/>
            </a:bodyPr>
            <a:p>
              <a:pPr algn="just">
                <a:lnSpc>
                  <a:spcPct val="156000"/>
                </a:lnSpc>
              </a:pPr>
              <a:endParaRPr b="0" lang="en-US" sz="323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67" name="Google Shape;94;p1"/>
            <p:cNvSpPr/>
            <p:nvPr/>
          </p:nvSpPr>
          <p:spPr>
            <a:xfrm>
              <a:off x="16560000" y="27900000"/>
              <a:ext cx="14169960" cy="1089720"/>
            </a:xfrm>
            <a:prstGeom prst="rect">
              <a:avLst/>
            </a:prstGeom>
            <a:solidFill>
              <a:srgbClr val="0f0f70"/>
            </a:solidFill>
            <a:ln w="19050">
              <a:solidFill>
                <a:srgbClr val="0f0f7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2160" rIns="92160" tIns="46080" bIns="4608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en-US" sz="545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rPr>
                <a:t>CONCLUSIONS</a:t>
              </a:r>
              <a:endParaRPr b="0" lang="en-US" sz="5450" strike="noStrike" u="none">
                <a:solidFill>
                  <a:srgbClr val="ffffff"/>
                </a:solidFill>
                <a:effectLst/>
                <a:uFillTx/>
                <a:latin typeface="NanumGothic"/>
              </a:endParaRPr>
            </a:p>
          </p:txBody>
        </p:sp>
      </p:grpSp>
      <p:grpSp>
        <p:nvGrpSpPr>
          <p:cNvPr id="68" name="Google Shape;95;p1"/>
          <p:cNvGrpSpPr/>
          <p:nvPr/>
        </p:nvGrpSpPr>
        <p:grpSpPr>
          <a:xfrm>
            <a:off x="16545240" y="6281280"/>
            <a:ext cx="14169960" cy="21078720"/>
            <a:chOff x="16545240" y="6281280"/>
            <a:chExt cx="14169960" cy="21078720"/>
          </a:xfrm>
        </p:grpSpPr>
        <p:sp>
          <p:nvSpPr>
            <p:cNvPr id="69" name="Google Shape;96;p1"/>
            <p:cNvSpPr/>
            <p:nvPr/>
          </p:nvSpPr>
          <p:spPr>
            <a:xfrm>
              <a:off x="16545240" y="6604560"/>
              <a:ext cx="14169960" cy="2075544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rgbClr val="0f0f7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2160" rIns="92160" tIns="46080" bIns="460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323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70" name="Google Shape;97;p1"/>
            <p:cNvSpPr/>
            <p:nvPr/>
          </p:nvSpPr>
          <p:spPr>
            <a:xfrm>
              <a:off x="16545240" y="6281280"/>
              <a:ext cx="14169960" cy="1109160"/>
            </a:xfrm>
            <a:prstGeom prst="rect">
              <a:avLst/>
            </a:prstGeom>
            <a:solidFill>
              <a:srgbClr val="0f0f70"/>
            </a:solidFill>
            <a:ln w="12700">
              <a:solidFill>
                <a:srgbClr val="0f0f7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2160" rIns="92160" tIns="46080" bIns="4608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en-US" sz="545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rPr>
                <a:t>RESULTS</a:t>
              </a:r>
              <a:endParaRPr b="0" lang="en-US" sz="5450" strike="noStrike" u="none">
                <a:solidFill>
                  <a:srgbClr val="ffffff"/>
                </a:solidFill>
                <a:effectLst/>
                <a:uFillTx/>
                <a:latin typeface="NanumGothic"/>
              </a:endParaRPr>
            </a:p>
          </p:txBody>
        </p:sp>
      </p:grpSp>
      <p:grpSp>
        <p:nvGrpSpPr>
          <p:cNvPr id="71" name="Google Shape;98;p1"/>
          <p:cNvGrpSpPr/>
          <p:nvPr/>
        </p:nvGrpSpPr>
        <p:grpSpPr>
          <a:xfrm>
            <a:off x="1620000" y="15660000"/>
            <a:ext cx="14183640" cy="11769120"/>
            <a:chOff x="1620000" y="15660000"/>
            <a:chExt cx="14183640" cy="11769120"/>
          </a:xfrm>
        </p:grpSpPr>
        <p:sp>
          <p:nvSpPr>
            <p:cNvPr id="72" name="Google Shape;99;p1"/>
            <p:cNvSpPr/>
            <p:nvPr/>
          </p:nvSpPr>
          <p:spPr>
            <a:xfrm>
              <a:off x="1633680" y="15660000"/>
              <a:ext cx="14169960" cy="1176912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rgbClr val="0f0f7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2160" rIns="92160" tIns="46080" bIns="46080" anchor="t">
              <a:noAutofit/>
            </a:bodyPr>
            <a:p>
              <a:pPr algn="just">
                <a:lnSpc>
                  <a:spcPct val="171000"/>
                </a:lnSpc>
              </a:pPr>
              <a:endParaRPr b="0" lang="en-US" sz="3230" strike="noStrike" u="none">
                <a:solidFill>
                  <a:srgbClr val="000000"/>
                </a:solidFill>
                <a:effectLst/>
                <a:uFillTx/>
                <a:latin typeface="NanumGothic"/>
              </a:endParaRPr>
            </a:p>
            <a:p>
              <a:pPr algn="just">
                <a:lnSpc>
                  <a:spcPct val="171000"/>
                </a:lnSpc>
              </a:pPr>
              <a:endParaRPr b="0" lang="en-US" sz="3230" strike="noStrike" u="none">
                <a:solidFill>
                  <a:srgbClr val="000000"/>
                </a:solidFill>
                <a:effectLst/>
                <a:uFillTx/>
                <a:latin typeface="NanumGothic"/>
              </a:endParaRPr>
            </a:p>
          </p:txBody>
        </p:sp>
        <p:sp>
          <p:nvSpPr>
            <p:cNvPr id="73" name="Google Shape;100;p1"/>
            <p:cNvSpPr/>
            <p:nvPr/>
          </p:nvSpPr>
          <p:spPr>
            <a:xfrm>
              <a:off x="1620000" y="15660000"/>
              <a:ext cx="14169960" cy="1175040"/>
            </a:xfrm>
            <a:prstGeom prst="rect">
              <a:avLst/>
            </a:prstGeom>
            <a:solidFill>
              <a:srgbClr val="0f0f70"/>
            </a:solidFill>
            <a:ln w="19050">
              <a:solidFill>
                <a:srgbClr val="0f0f7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2160" rIns="92160" tIns="46080" bIns="4608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en-US" sz="545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OBJECTIVES</a:t>
              </a:r>
              <a:endParaRPr b="0" lang="en-US" sz="5450" strike="noStrike" u="none">
                <a:solidFill>
                  <a:srgbClr val="ffffff"/>
                </a:solidFill>
                <a:effectLst/>
                <a:uFillTx/>
                <a:latin typeface="NanumGothic"/>
              </a:endParaRPr>
            </a:p>
          </p:txBody>
        </p:sp>
      </p:grpSp>
      <p:grpSp>
        <p:nvGrpSpPr>
          <p:cNvPr id="74" name="Google Shape;101;p1"/>
          <p:cNvGrpSpPr/>
          <p:nvPr/>
        </p:nvGrpSpPr>
        <p:grpSpPr>
          <a:xfrm>
            <a:off x="16545240" y="38076840"/>
            <a:ext cx="14182200" cy="3679920"/>
            <a:chOff x="16545240" y="38076840"/>
            <a:chExt cx="14182200" cy="3679920"/>
          </a:xfrm>
        </p:grpSpPr>
        <p:sp>
          <p:nvSpPr>
            <p:cNvPr id="75" name="Google Shape;102;p1"/>
            <p:cNvSpPr/>
            <p:nvPr/>
          </p:nvSpPr>
          <p:spPr>
            <a:xfrm>
              <a:off x="16569360" y="39260880"/>
              <a:ext cx="14157720" cy="249588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rgbClr val="0f0f7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2160" rIns="92160" tIns="46080" bIns="4608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1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76" name="Google Shape;103;p1"/>
            <p:cNvSpPr/>
            <p:nvPr/>
          </p:nvSpPr>
          <p:spPr>
            <a:xfrm>
              <a:off x="16545240" y="38076840"/>
              <a:ext cx="14182200" cy="1183680"/>
            </a:xfrm>
            <a:prstGeom prst="rect">
              <a:avLst/>
            </a:prstGeom>
            <a:solidFill>
              <a:srgbClr val="0f0f70"/>
            </a:solidFill>
            <a:ln w="19050">
              <a:solidFill>
                <a:srgbClr val="0f0f7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2160" rIns="92160" tIns="46080" bIns="4608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en-US" sz="545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rPr>
                <a:t>REFERENCES</a:t>
              </a:r>
              <a:endParaRPr b="0" lang="en-US" sz="5450" strike="noStrike" u="none">
                <a:solidFill>
                  <a:srgbClr val="ffffff"/>
                </a:solidFill>
                <a:effectLst/>
                <a:uFillTx/>
                <a:latin typeface="NanumGothic"/>
              </a:endParaRPr>
            </a:p>
          </p:txBody>
        </p:sp>
      </p:grpSp>
      <p:pic>
        <p:nvPicPr>
          <p:cNvPr id="77" name="Google Shape;104;p1" descr=""/>
          <p:cNvPicPr/>
          <p:nvPr/>
        </p:nvPicPr>
        <p:blipFill>
          <a:blip r:embed="rId2"/>
          <a:srcRect l="0" t="85808" r="0" b="0"/>
          <a:stretch/>
        </p:blipFill>
        <p:spPr>
          <a:xfrm>
            <a:off x="24434640" y="42067440"/>
            <a:ext cx="7037280" cy="82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Box 104"/>
          <p:cNvSpPr/>
          <p:nvPr/>
        </p:nvSpPr>
        <p:spPr>
          <a:xfrm>
            <a:off x="1828800" y="1371600"/>
            <a:ext cx="283460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ko-KR" sz="6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딥러닝 기반 수학 풀이 과정 오류 탐지 시스템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  <p:sp>
        <p:nvSpPr>
          <p:cNvPr id="79" name="TextBox 105"/>
          <p:cNvSpPr/>
          <p:nvPr/>
        </p:nvSpPr>
        <p:spPr>
          <a:xfrm>
            <a:off x="1828800" y="3200400"/>
            <a:ext cx="283460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Deep Learning-based Error Detection System for Mathematical Problem Solving Process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  <p:sp>
        <p:nvSpPr>
          <p:cNvPr id="80" name="TextBox 106"/>
          <p:cNvSpPr/>
          <p:nvPr/>
        </p:nvSpPr>
        <p:spPr>
          <a:xfrm>
            <a:off x="1828800" y="4190400"/>
            <a:ext cx="28346040" cy="174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ko-KR" sz="363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서울대학교 의류학과</a:t>
            </a:r>
            <a:endParaRPr b="0" lang="en-US" sz="363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pPr algn="ctr">
              <a:lnSpc>
                <a:spcPct val="100000"/>
              </a:lnSpc>
            </a:pPr>
            <a:r>
              <a:rPr b="0" lang="ko-KR" sz="363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정유현</a:t>
            </a:r>
            <a:endParaRPr b="0" lang="en-US" sz="363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pPr algn="ctr">
              <a:lnSpc>
                <a:spcPct val="100000"/>
              </a:lnSpc>
            </a:pPr>
            <a:r>
              <a:rPr b="0" lang="en-US" sz="363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bbabba9436@snu.ac.kr</a:t>
            </a:r>
            <a:endParaRPr b="0" lang="en-US" sz="363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  <p:sp>
        <p:nvSpPr>
          <p:cNvPr id="81" name="TextBox 108"/>
          <p:cNvSpPr/>
          <p:nvPr/>
        </p:nvSpPr>
        <p:spPr>
          <a:xfrm>
            <a:off x="1836360" y="7314840"/>
            <a:ext cx="13823640" cy="420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• 기존 자동 채점 시스템의 한계</a:t>
            </a: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: </a:t>
            </a:r>
            <a:r>
              <a:rPr b="0" lang="ko-KR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최종 답만 평가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endParaRPr b="0" lang="en-US" sz="30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• 오류 위치 특정의 필요성 </a:t>
            </a: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: </a:t>
            </a:r>
            <a:r>
              <a:rPr b="0" lang="ko-KR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개념오류로 착각되는 계산오류의 존재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endParaRPr b="0" lang="en-US" sz="30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• 로컬 </a:t>
            </a: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llm</a:t>
            </a:r>
            <a:r>
              <a:rPr b="0" lang="ko-KR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과 연동하여 저렴하고 빠른 개별 맞춤형 피드백 제공 목표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endParaRPr b="0" lang="en-US" sz="30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r>
              <a:rPr b="1" lang="ko-KR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연구 목표</a:t>
            </a:r>
            <a:r>
              <a:rPr b="1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: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endParaRPr b="0" lang="en-US" sz="30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r>
              <a:rPr b="1" lang="ko-KR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풀이 과정의 각 단계를 분석</a:t>
            </a:r>
            <a:r>
              <a:rPr b="1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, </a:t>
            </a:r>
            <a:r>
              <a:rPr b="1" lang="ko-KR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오류 발생 지점을 특정하는 딥러닝 기반 시스템 개발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  <p:pic>
        <p:nvPicPr>
          <p:cNvPr id="82" name="Picture 109" descr="dataset_info.png"/>
          <p:cNvPicPr/>
          <p:nvPr/>
        </p:nvPicPr>
        <p:blipFill>
          <a:blip r:embed="rId3"/>
          <a:srcRect l="0" t="34559" r="0" b="26584"/>
          <a:stretch/>
        </p:blipFill>
        <p:spPr>
          <a:xfrm>
            <a:off x="1980000" y="17854920"/>
            <a:ext cx="8640000" cy="2485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Picture 111" descr="system_overview.png"/>
          <p:cNvPicPr/>
          <p:nvPr/>
        </p:nvPicPr>
        <p:blipFill>
          <a:blip r:embed="rId4"/>
          <a:stretch/>
        </p:blipFill>
        <p:spPr>
          <a:xfrm>
            <a:off x="1677600" y="29520000"/>
            <a:ext cx="8096040" cy="504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TextBox 112"/>
          <p:cNvSpPr/>
          <p:nvPr/>
        </p:nvSpPr>
        <p:spPr>
          <a:xfrm>
            <a:off x="9900000" y="29372760"/>
            <a:ext cx="5580000" cy="37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ko-KR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핵심 기술</a:t>
            </a:r>
            <a:r>
              <a:rPr b="1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: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endParaRPr b="0" lang="en-US" sz="30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① latex2sympy2: </a:t>
            </a:r>
            <a:r>
              <a:rPr b="0" lang="ko-KR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수식 파싱 </a:t>
            </a: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&amp; </a:t>
            </a:r>
            <a:r>
              <a:rPr b="0" lang="ko-KR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도출 가능성 검사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② MAMUT-MPBERT: </a:t>
            </a:r>
            <a:r>
              <a:rPr b="0" lang="ko-KR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수학 특화 딥러닝 모델 파인튜닝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pPr>
              <a:lnSpc>
                <a:spcPct val="100000"/>
              </a:lnSpc>
            </a:pP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③ 슬라이딩 윈도우</a:t>
            </a: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: </a:t>
            </a:r>
            <a:r>
              <a:rPr b="0" lang="ko-KR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연속 </a:t>
            </a: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4</a:t>
            </a:r>
            <a:r>
              <a:rPr b="0" lang="ko-KR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단계 분석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  <p:pic>
        <p:nvPicPr>
          <p:cNvPr id="85" name="Picture 114" descr="sliding_window.png"/>
          <p:cNvPicPr/>
          <p:nvPr/>
        </p:nvPicPr>
        <p:blipFill>
          <a:blip r:embed="rId5"/>
          <a:stretch/>
        </p:blipFill>
        <p:spPr>
          <a:xfrm>
            <a:off x="1980000" y="20700000"/>
            <a:ext cx="8820000" cy="502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TextBox 115"/>
          <p:cNvSpPr/>
          <p:nvPr/>
        </p:nvSpPr>
        <p:spPr>
          <a:xfrm>
            <a:off x="1980000" y="25723440"/>
            <a:ext cx="914364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• 문제 포함 연속 </a:t>
            </a: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4</a:t>
            </a:r>
            <a:r>
              <a:rPr b="0" lang="ko-KR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개 단계를 하나의 윈도우로 구성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• 오류 단계 포함 시 확률 급상승</a:t>
            </a: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, </a:t>
            </a:r>
            <a:r>
              <a:rPr b="0" lang="ko-KR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이탈 시 확률 하락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pPr>
              <a:lnSpc>
                <a:spcPct val="100000"/>
              </a:lnSpc>
            </a:pP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→ 급상승 및 하락 지점 분석으로 정확한 위치 특정 시도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  <p:pic>
        <p:nvPicPr>
          <p:cNvPr id="87" name="Picture 117" descr="error_probability.png"/>
          <p:cNvPicPr/>
          <p:nvPr/>
        </p:nvPicPr>
        <p:blipFill>
          <a:blip r:embed="rId6"/>
          <a:stretch/>
        </p:blipFill>
        <p:spPr>
          <a:xfrm>
            <a:off x="1800000" y="35100000"/>
            <a:ext cx="7740000" cy="618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Box 118"/>
          <p:cNvSpPr/>
          <p:nvPr/>
        </p:nvSpPr>
        <p:spPr>
          <a:xfrm>
            <a:off x="9720000" y="39420000"/>
            <a:ext cx="914364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• 각 단계별 오류 확률 시각적 표시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• 빨간색</a:t>
            </a: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: </a:t>
            </a:r>
            <a:r>
              <a:rPr b="0" lang="ko-KR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오류 의심 구간 </a:t>
            </a: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(P &gt; 0.5)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pPr>
              <a:lnSpc>
                <a:spcPct val="100000"/>
              </a:lnSpc>
            </a:pP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• 확률 패턴으로 오류 영역 파악 가능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  <p:pic>
        <p:nvPicPr>
          <p:cNvPr id="89" name="Picture 120" descr="performance_results.png"/>
          <p:cNvPicPr/>
          <p:nvPr/>
        </p:nvPicPr>
        <p:blipFill>
          <a:blip r:embed="rId7"/>
          <a:stretch/>
        </p:blipFill>
        <p:spPr>
          <a:xfrm>
            <a:off x="16920000" y="15300000"/>
            <a:ext cx="13320000" cy="439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TextBox 121"/>
          <p:cNvSpPr/>
          <p:nvPr/>
        </p:nvSpPr>
        <p:spPr>
          <a:xfrm>
            <a:off x="17316360" y="20304360"/>
            <a:ext cx="9143640" cy="23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ko-KR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핵심 성과</a:t>
            </a:r>
            <a:r>
              <a:rPr b="1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: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• 윈도우 분류 </a:t>
            </a: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ROC-AUC: 87.4%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• 오류 위치 정확 일치</a:t>
            </a: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: 48.6%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• ±1 </a:t>
            </a:r>
            <a:r>
              <a:rPr b="0" lang="ko-KR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단계 이내 탐지</a:t>
            </a: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: 71.4%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pPr>
              <a:lnSpc>
                <a:spcPct val="100000"/>
              </a:lnSpc>
            </a:pP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• 탐지 성공률</a:t>
            </a: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: 100%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  <p:sp>
        <p:nvSpPr>
          <p:cNvPr id="91" name="TextBox 123"/>
          <p:cNvSpPr/>
          <p:nvPr/>
        </p:nvSpPr>
        <p:spPr>
          <a:xfrm>
            <a:off x="17316360" y="33300000"/>
            <a:ext cx="9143640" cy="19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ko-KR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연구 의의</a:t>
            </a:r>
            <a:r>
              <a:rPr b="1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: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• 기호 연산 </a:t>
            </a: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+ </a:t>
            </a:r>
            <a:r>
              <a:rPr b="0" lang="ko-KR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딥러닝의 효과적 결합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• 오류 </a:t>
            </a: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"</a:t>
            </a:r>
            <a:r>
              <a:rPr b="0" lang="ko-KR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위치</a:t>
            </a: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" </a:t>
            </a:r>
            <a:r>
              <a:rPr b="0" lang="ko-KR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특정의 새로운 접근법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pPr>
              <a:lnSpc>
                <a:spcPct val="100000"/>
              </a:lnSpc>
            </a:pP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• 교육 현장 적용 가능성 제시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  <p:pic>
        <p:nvPicPr>
          <p:cNvPr id="92" name="Picture 124" descr="future_direction.png"/>
          <p:cNvPicPr/>
          <p:nvPr/>
        </p:nvPicPr>
        <p:blipFill>
          <a:blip r:embed="rId8"/>
          <a:srcRect l="0" t="11898" r="0" b="27819"/>
          <a:stretch/>
        </p:blipFill>
        <p:spPr>
          <a:xfrm>
            <a:off x="16920000" y="29520000"/>
            <a:ext cx="13500000" cy="345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Box 125"/>
          <p:cNvSpPr/>
          <p:nvPr/>
        </p:nvSpPr>
        <p:spPr>
          <a:xfrm>
            <a:off x="23760000" y="33300000"/>
            <a:ext cx="9143640" cy="23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ko-KR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향후 발전</a:t>
            </a:r>
            <a:r>
              <a:rPr b="1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: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r>
              <a:rPr b="0" lang="ko-KR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디지털 풀이 입력 시스템 결합 시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• OCR </a:t>
            </a:r>
            <a:r>
              <a:rPr b="0" lang="ko-KR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오류 제거 → 정확도 향상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• 풀이 흐름</a:t>
            </a: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(</a:t>
            </a:r>
            <a:r>
              <a:rPr b="0" lang="ko-KR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시간</a:t>
            </a: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/</a:t>
            </a:r>
            <a:r>
              <a:rPr b="0" lang="ko-KR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수정 이력</a:t>
            </a: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) </a:t>
            </a:r>
            <a:r>
              <a:rPr b="0" lang="ko-KR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추적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pPr>
              <a:lnSpc>
                <a:spcPct val="100000"/>
              </a:lnSpc>
            </a:pP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• 학생 사고과정 분석 </a:t>
            </a: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&amp; </a:t>
            </a:r>
            <a:r>
              <a:rPr b="0" lang="ko-KR" sz="30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맞춤형 학습 지원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  <p:sp>
        <p:nvSpPr>
          <p:cNvPr id="94" name="TextBox 126"/>
          <p:cNvSpPr/>
          <p:nvPr/>
        </p:nvSpPr>
        <p:spPr>
          <a:xfrm>
            <a:off x="16920000" y="39420000"/>
            <a:ext cx="29260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ko-KR" sz="3200" strike="noStrike" u="none">
                <a:solidFill>
                  <a:srgbClr val="1a237e"/>
                </a:solidFill>
                <a:effectLst/>
                <a:uFillTx/>
                <a:latin typeface="맑은 고딕"/>
                <a:ea typeface="Arial"/>
              </a:rPr>
              <a:t>참고문헌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  <p:sp>
        <p:nvSpPr>
          <p:cNvPr id="95" name="TextBox 127"/>
          <p:cNvSpPr/>
          <p:nvPr/>
        </p:nvSpPr>
        <p:spPr>
          <a:xfrm>
            <a:off x="16920000" y="40334400"/>
            <a:ext cx="292604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[1] </a:t>
            </a:r>
            <a:r>
              <a:rPr b="0" lang="ko-KR" sz="1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김성수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(2019). </a:t>
            </a:r>
            <a:r>
              <a:rPr b="0" lang="ko-KR" sz="1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수포자의 수학 학습 포기 경험에 대한 교육과정 사회학적 해석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. </a:t>
            </a:r>
            <a:r>
              <a:rPr b="0" lang="ko-KR" sz="1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한국교육과정학회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, 37(2), 1-23.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[2] </a:t>
            </a:r>
            <a:r>
              <a:rPr b="0" lang="ko-KR" sz="1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한경민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(2013). </a:t>
            </a:r>
            <a:r>
              <a:rPr b="0" lang="ko-KR" sz="1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원의 방정식에서의 오류 유형 분석과 오류 극복 학습에 관한 방안 연구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. </a:t>
            </a:r>
            <a:r>
              <a:rPr b="0" lang="ko-KR" sz="1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단국대학교 석사학위논문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[3] </a:t>
            </a:r>
            <a:r>
              <a:rPr b="0" lang="ko-KR" sz="1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권오병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(2013). </a:t>
            </a:r>
            <a:r>
              <a:rPr b="0" lang="ko-KR" sz="1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기초 개념의 이해 및 계산 과정에서 나타나는 수학 학습 부진 학생들의 오류 분석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. </a:t>
            </a:r>
            <a:r>
              <a:rPr b="0" lang="ko-KR" sz="1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서원대학교 석사학위논문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Arial"/>
              </a:rPr>
              <a:t>...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  <p:pic>
        <p:nvPicPr>
          <p:cNvPr id="96" name="Picture 1" descr="dataset_info.png"/>
          <p:cNvPicPr/>
          <p:nvPr/>
        </p:nvPicPr>
        <p:blipFill>
          <a:blip r:embed="rId9"/>
          <a:srcRect l="0" t="-7" r="0" b="94679"/>
          <a:stretch/>
        </p:blipFill>
        <p:spPr>
          <a:xfrm>
            <a:off x="2412360" y="17322480"/>
            <a:ext cx="8063640" cy="31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" name="" descr=""/>
          <p:cNvPicPr/>
          <p:nvPr/>
        </p:nvPicPr>
        <p:blipFill>
          <a:blip r:embed="rId10"/>
          <a:stretch/>
        </p:blipFill>
        <p:spPr>
          <a:xfrm>
            <a:off x="16920000" y="7740000"/>
            <a:ext cx="9720000" cy="723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"/>
          <p:cNvSpPr txBox="1"/>
          <p:nvPr/>
        </p:nvSpPr>
        <p:spPr>
          <a:xfrm>
            <a:off x="1980000" y="11880000"/>
            <a:ext cx="13500000" cy="281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just"/>
            <a:r>
              <a:rPr b="0" lang="ko-KR" sz="1800" strike="noStrike" u="none">
                <a:solidFill>
                  <a:srgbClr val="666666"/>
                </a:solidFill>
                <a:effectLst/>
                <a:uFillTx/>
                <a:latin typeface="맑은 고딕"/>
                <a:ea typeface="맑은 고딕"/>
              </a:rPr>
              <a:t>수학 교육에서 학생들의 풀이 과정을 평가하고 피드백을 제공하는 것은 학습 효과를 높이는 핵심 요소이다</a:t>
            </a:r>
            <a:r>
              <a:rPr b="0" lang="en-US" sz="1800" strike="noStrike" u="none">
                <a:solidFill>
                  <a:srgbClr val="666666"/>
                </a:solidFill>
                <a:effectLst/>
                <a:uFillTx/>
                <a:latin typeface="맑은 고딕"/>
                <a:ea typeface="맑은 고딕"/>
              </a:rPr>
              <a:t>. </a:t>
            </a:r>
            <a:r>
              <a:rPr b="0" lang="ko-KR" sz="1800" strike="noStrike" u="none">
                <a:solidFill>
                  <a:srgbClr val="666666"/>
                </a:solidFill>
                <a:effectLst/>
                <a:uFillTx/>
                <a:latin typeface="맑은 고딕"/>
                <a:ea typeface="맑은 고딕"/>
              </a:rPr>
              <a:t>그러나 교사 </a:t>
            </a:r>
            <a:r>
              <a:rPr b="0" lang="en-US" sz="1800" strike="noStrike" u="none">
                <a:solidFill>
                  <a:srgbClr val="666666"/>
                </a:solidFill>
                <a:effectLst/>
                <a:uFillTx/>
                <a:latin typeface="맑은 고딕"/>
                <a:ea typeface="맑은 고딕"/>
              </a:rPr>
              <a:t>1</a:t>
            </a:r>
            <a:r>
              <a:rPr b="0" lang="ko-KR" sz="1800" strike="noStrike" u="none">
                <a:solidFill>
                  <a:srgbClr val="666666"/>
                </a:solidFill>
                <a:effectLst/>
                <a:uFillTx/>
                <a:latin typeface="맑은 고딕"/>
                <a:ea typeface="맑은 고딕"/>
              </a:rPr>
              <a:t>인당 담당 학생 수가 많은 현실에서 개별 학생의 풀이 과정을 세밀하게 분석하고 맞춤형 피드백을 제공하기란 쉽지 않다</a:t>
            </a:r>
            <a:r>
              <a:rPr b="0" lang="en-US" sz="1800" strike="noStrike" u="none">
                <a:solidFill>
                  <a:srgbClr val="666666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b="0" lang="en-US" sz="1800" strike="noStrike" u="none">
              <a:solidFill>
                <a:srgbClr val="666666"/>
              </a:solidFill>
              <a:effectLst/>
              <a:uFillTx/>
              <a:latin typeface="맑은 고딕"/>
              <a:ea typeface="맑은 고딕"/>
            </a:endParaRPr>
          </a:p>
          <a:p>
            <a:pPr algn="just"/>
            <a:endParaRPr b="0" lang="en-US" sz="1800" strike="noStrike" u="none">
              <a:solidFill>
                <a:srgbClr val="666666"/>
              </a:solidFill>
              <a:effectLst/>
              <a:uFillTx/>
              <a:latin typeface="맑은 고딕"/>
              <a:ea typeface="맑은 고딕"/>
            </a:endParaRPr>
          </a:p>
          <a:p>
            <a:pPr algn="just"/>
            <a:r>
              <a:rPr b="0" lang="ko-KR" sz="1800" strike="noStrike" u="none">
                <a:solidFill>
                  <a:srgbClr val="666666"/>
                </a:solidFill>
                <a:effectLst/>
                <a:uFillTx/>
                <a:latin typeface="맑은 고딕"/>
                <a:ea typeface="맑은 고딕"/>
              </a:rPr>
              <a:t>선행연구에 따르면</a:t>
            </a:r>
            <a:r>
              <a:rPr b="0" lang="en-US" sz="1800" strike="noStrike" u="none">
                <a:solidFill>
                  <a:srgbClr val="666666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b="0" lang="ko-KR" sz="1800" strike="noStrike" u="none">
                <a:solidFill>
                  <a:srgbClr val="666666"/>
                </a:solidFill>
                <a:effectLst/>
                <a:uFillTx/>
                <a:latin typeface="맑은 고딕"/>
                <a:ea typeface="맑은 고딕"/>
              </a:rPr>
              <a:t>중위권 학생들의 경우 문제 풀이 초반에 발생하는 계산 오류로 인해 답을 구하지 못하고</a:t>
            </a:r>
            <a:r>
              <a:rPr b="0" lang="en-US" sz="1800" strike="noStrike" u="none">
                <a:solidFill>
                  <a:srgbClr val="666666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b="0" lang="ko-KR" sz="1800" strike="noStrike" u="none">
                <a:solidFill>
                  <a:srgbClr val="666666"/>
                </a:solidFill>
                <a:effectLst/>
                <a:uFillTx/>
                <a:latin typeface="맑은 고딕"/>
                <a:ea typeface="맑은 고딕"/>
              </a:rPr>
              <a:t>이를 </a:t>
            </a:r>
            <a:r>
              <a:rPr b="0" lang="en-US" sz="1800" strike="noStrike" u="none">
                <a:solidFill>
                  <a:srgbClr val="666666"/>
                </a:solidFill>
                <a:effectLst/>
                <a:uFillTx/>
                <a:latin typeface="맑은 고딕"/>
                <a:ea typeface="맑은 고딕"/>
              </a:rPr>
              <a:t>"</a:t>
            </a:r>
            <a:r>
              <a:rPr b="0" lang="ko-KR" sz="1800" strike="noStrike" u="none">
                <a:solidFill>
                  <a:srgbClr val="666666"/>
                </a:solidFill>
                <a:effectLst/>
                <a:uFillTx/>
                <a:latin typeface="맑은 고딕"/>
                <a:ea typeface="맑은 고딕"/>
              </a:rPr>
              <a:t>개념을 모른다</a:t>
            </a:r>
            <a:r>
              <a:rPr b="0" lang="en-US" sz="1800" strike="noStrike" u="none">
                <a:solidFill>
                  <a:srgbClr val="666666"/>
                </a:solidFill>
                <a:effectLst/>
                <a:uFillTx/>
                <a:latin typeface="맑은 고딕"/>
                <a:ea typeface="맑은 고딕"/>
              </a:rPr>
              <a:t>"</a:t>
            </a:r>
            <a:r>
              <a:rPr b="0" lang="ko-KR" sz="1800" strike="noStrike" u="none">
                <a:solidFill>
                  <a:srgbClr val="666666"/>
                </a:solidFill>
                <a:effectLst/>
                <a:uFillTx/>
                <a:latin typeface="맑은 고딕"/>
                <a:ea typeface="맑은 고딕"/>
              </a:rPr>
              <a:t>고 착각하여 수학 학습에서 부정적 경험을 하게 된다</a:t>
            </a:r>
            <a:r>
              <a:rPr b="0" lang="en-US" sz="1800" strike="noStrike" u="none">
                <a:solidFill>
                  <a:srgbClr val="666666"/>
                </a:solidFill>
                <a:effectLst/>
                <a:uFillTx/>
                <a:latin typeface="맑은 고딕"/>
                <a:ea typeface="맑은 고딕"/>
              </a:rPr>
              <a:t>. </a:t>
            </a:r>
            <a:r>
              <a:rPr b="0" lang="ko-KR" sz="1800" strike="noStrike" u="none">
                <a:solidFill>
                  <a:srgbClr val="666666"/>
                </a:solidFill>
                <a:effectLst/>
                <a:uFillTx/>
                <a:latin typeface="맑은 고딕"/>
                <a:ea typeface="맑은 고딕"/>
              </a:rPr>
              <a:t>본 시스템은 이러한 오류를 조기에 탐지하여 학생들에게 적절한 피드백을 제공함으로써 수학 학습 포기를 예방하고자 한다</a:t>
            </a:r>
            <a:r>
              <a:rPr b="0" lang="en-US" sz="1800" strike="noStrike" u="none">
                <a:solidFill>
                  <a:srgbClr val="666666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b="0" lang="en-US" sz="1800" strike="noStrike" u="none">
              <a:solidFill>
                <a:srgbClr val="666666"/>
              </a:solidFill>
              <a:effectLst/>
              <a:uFillTx/>
              <a:latin typeface="맑은 고딕"/>
              <a:ea typeface="맑은 고딕"/>
            </a:endParaRPr>
          </a:p>
          <a:p>
            <a:pPr algn="just"/>
            <a:endParaRPr b="0" lang="en-US" sz="1800" strike="noStrike" u="none">
              <a:solidFill>
                <a:srgbClr val="666666"/>
              </a:solidFill>
              <a:effectLst/>
              <a:uFillTx/>
              <a:latin typeface="맑은 고딕"/>
              <a:ea typeface="맑은 고딕"/>
            </a:endParaRPr>
          </a:p>
          <a:p>
            <a:pPr algn="just"/>
            <a:r>
              <a:rPr b="0" lang="ko-KR" sz="1800" strike="noStrike" u="none">
                <a:solidFill>
                  <a:srgbClr val="666666"/>
                </a:solidFill>
                <a:effectLst/>
                <a:uFillTx/>
                <a:latin typeface="맑은 고딕"/>
                <a:ea typeface="맑은 고딕"/>
              </a:rPr>
              <a:t>기존의 자동 채점 시스템은 대부분 최종 답안의 정오만을 판단하여</a:t>
            </a:r>
            <a:r>
              <a:rPr b="0" lang="en-US" sz="1800" strike="noStrike" u="none">
                <a:solidFill>
                  <a:srgbClr val="666666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b="0" lang="ko-KR" sz="1800" strike="noStrike" u="none">
                <a:solidFill>
                  <a:srgbClr val="666666"/>
                </a:solidFill>
                <a:effectLst/>
                <a:uFillTx/>
                <a:latin typeface="맑은 고딕"/>
                <a:ea typeface="맑은 고딕"/>
              </a:rPr>
              <a:t>학생이 어느 단계에서 어떤 오류를 범했는지 파악하기 어렵다</a:t>
            </a:r>
            <a:r>
              <a:rPr b="0" lang="en-US" sz="1800" strike="noStrike" u="none">
                <a:solidFill>
                  <a:srgbClr val="666666"/>
                </a:solidFill>
                <a:effectLst/>
                <a:uFillTx/>
                <a:latin typeface="맑은 고딕"/>
                <a:ea typeface="맑은 고딕"/>
              </a:rPr>
              <a:t>. </a:t>
            </a:r>
            <a:r>
              <a:rPr b="0" lang="ko-KR" sz="1800" strike="noStrike" u="none">
                <a:solidFill>
                  <a:srgbClr val="666666"/>
                </a:solidFill>
                <a:effectLst/>
                <a:uFillTx/>
                <a:latin typeface="맑은 고딕"/>
                <a:ea typeface="맑은 고딕"/>
              </a:rPr>
              <a:t>이에 본 연구에서는 풀이 과정의 각 단계를 분석하여 오류 발생 지점을 정확히 특정하는 딥러닝 기반 시스템을 개발하고자 한다</a:t>
            </a:r>
            <a:r>
              <a:rPr b="0" lang="en-US" sz="1800" strike="noStrike" u="none">
                <a:solidFill>
                  <a:srgbClr val="666666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b="0" lang="en-US" sz="1800" strike="noStrike" u="none">
              <a:solidFill>
                <a:srgbClr val="666666"/>
              </a:solidFill>
              <a:effectLst/>
              <a:uFillTx/>
              <a:latin typeface="맑은 고딕"/>
              <a:ea typeface="맑은 고딕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11160000" y="18180000"/>
            <a:ext cx="4320000" cy="16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</a:rPr>
              <a:t>본 연구에서는 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</a:rPr>
              <a:t>AI Hub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</a:rPr>
              <a:t>의 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</a:rPr>
              <a:t>"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</a:rPr>
              <a:t>수학 과목 자동 풀이 데이터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</a:rPr>
              <a:t>"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</a:rPr>
              <a:t>를 활용하였다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</a:rPr>
              <a:t>. 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</a:rPr>
              <a:t>해당 데이터셋은 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중학교 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3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학년 부터 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</a:rPr>
              <a:t>고등학교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 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1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학년 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</a:rPr>
              <a:t>수준의 수학 문제에 대한 손글씨 풀이를 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</a:rPr>
              <a:t>OCR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</a:rPr>
              <a:t>로 인식한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 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json 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</a:rPr>
              <a:t>텍스트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이다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b="0" lang="en-US" sz="1800" strike="noStrike" u="none">
              <a:solidFill>
                <a:srgbClr val="808080"/>
              </a:solidFill>
              <a:effectLst/>
              <a:uFillTx/>
              <a:latin typeface="맑은 고딕"/>
              <a:ea typeface="맑은 고딕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11160000" y="20160000"/>
            <a:ext cx="4320000" cy="645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latex2sympy2 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라이브러리를 활용하여 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LaTeX 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수식을 파싱하고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이전 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3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개 단계의 수치값들로부터 현재 단계가 도출 가능한지 검사한다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. 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도출 가능성 판단 기준은 다음과 같다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:</a:t>
            </a:r>
            <a:endParaRPr b="0" lang="en-US" sz="1800" strike="noStrike" u="none">
              <a:solidFill>
                <a:srgbClr val="808080"/>
              </a:solidFill>
              <a:effectLst/>
              <a:uFillTx/>
              <a:latin typeface="맑은 고딕"/>
              <a:ea typeface="맑은 고딕"/>
            </a:endParaRPr>
          </a:p>
          <a:p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• 동일 값 존재 여부</a:t>
            </a:r>
            <a:endParaRPr b="0" lang="en-US" sz="1800" strike="noStrike" u="none">
              <a:solidFill>
                <a:srgbClr val="808080"/>
              </a:solidFill>
              <a:effectLst/>
              <a:uFillTx/>
              <a:latin typeface="맑은 고딕"/>
              <a:ea typeface="맑은 고딕"/>
            </a:endParaRPr>
          </a:p>
          <a:p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• 사칙연산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(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합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차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곱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몫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) 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결과 일치 여부</a:t>
            </a:r>
            <a:endParaRPr b="0" lang="en-US" sz="1800" strike="noStrike" u="none">
              <a:solidFill>
                <a:srgbClr val="808080"/>
              </a:solidFill>
              <a:effectLst/>
              <a:uFillTx/>
              <a:latin typeface="맑은 고딕"/>
              <a:ea typeface="맑은 고딕"/>
            </a:endParaRPr>
          </a:p>
          <a:p>
            <a:endParaRPr b="0" lang="en-US" sz="1800" strike="noStrike" u="none">
              <a:solidFill>
                <a:srgbClr val="808080"/>
              </a:solidFill>
              <a:effectLst/>
              <a:uFillTx/>
              <a:latin typeface="맑은 고딕"/>
              <a:ea typeface="맑은 고딕"/>
            </a:endParaRPr>
          </a:p>
          <a:p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MAMUT-MPBERT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는 수학 텍스트에 특화되어 사전학습된 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BERT 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모델로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수학 기호 및 표현에 대한 이해도가 높다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. 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본 연구에서는 이 모델을 이진 분류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(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오류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/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정상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)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용으로 파인튜닝하였다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b="0" lang="en-US" sz="1800" strike="noStrike" u="none">
              <a:solidFill>
                <a:srgbClr val="808080"/>
              </a:solidFill>
              <a:effectLst/>
              <a:uFillTx/>
              <a:latin typeface="맑은 고딕"/>
              <a:ea typeface="맑은 고딕"/>
            </a:endParaRPr>
          </a:p>
          <a:p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• 모델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: aieng-lab/math_pretrained_bert_mamut</a:t>
            </a:r>
            <a:endParaRPr b="0" lang="en-US" sz="1800" strike="noStrike" u="none">
              <a:solidFill>
                <a:srgbClr val="808080"/>
              </a:solidFill>
              <a:effectLst/>
              <a:uFillTx/>
              <a:latin typeface="맑은 고딕"/>
              <a:ea typeface="맑은 고딕"/>
            </a:endParaRPr>
          </a:p>
          <a:p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• 입력 형식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: [Step k-3] [SEP] [Step k-2] [SEP] [Step k-1] [SEP] [Step k]</a:t>
            </a:r>
            <a:endParaRPr b="0" lang="en-US" sz="1800" strike="noStrike" u="none">
              <a:solidFill>
                <a:srgbClr val="808080"/>
              </a:solidFill>
              <a:effectLst/>
              <a:uFillTx/>
              <a:latin typeface="맑은 고딕"/>
              <a:ea typeface="맑은 고딕"/>
            </a:endParaRPr>
          </a:p>
          <a:p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• 출력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: 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현재 윈도우에 오류가 포함될 확률 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P(error)</a:t>
            </a:r>
            <a:endParaRPr b="0" lang="en-US" sz="1800" strike="noStrike" u="none">
              <a:solidFill>
                <a:srgbClr val="808080"/>
              </a:solidFill>
              <a:effectLst/>
              <a:uFillTx/>
              <a:latin typeface="맑은 고딕"/>
              <a:ea typeface="맑은 고딕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9900000" y="33207120"/>
            <a:ext cx="5760000" cy="803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ko-KR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원본 </a:t>
            </a:r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json</a:t>
            </a:r>
            <a:r>
              <a:rPr b="0" lang="ko-KR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을 분리한 </a:t>
            </a:r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window </a:t>
            </a:r>
            <a:r>
              <a:rPr b="0" lang="ko-KR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단위로 </a:t>
            </a:r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claud</a:t>
            </a:r>
            <a:r>
              <a:rPr b="0" lang="ko-KR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와 </a:t>
            </a:r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codex</a:t>
            </a:r>
            <a:r>
              <a:rPr b="0" lang="ko-KR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를 통해 </a:t>
            </a:r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labeling </a:t>
            </a:r>
            <a:r>
              <a:rPr b="0" lang="ko-KR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하였다</a:t>
            </a:r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endParaRPr b="0" lang="en-US" sz="13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r>
              <a:rPr b="0" lang="ko-KR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당신은 수학 풀이 오류 감지 전문가입니다</a:t>
            </a:r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endParaRPr b="0" lang="en-US" sz="13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  {question}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  {model_answer}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  [Step 0] ...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  [Step 1] …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endParaRPr b="0" lang="en-US" sz="13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  [</a:t>
            </a:r>
            <a:r>
              <a:rPr b="0" lang="ko-KR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분석할 윈도우</a:t>
            </a:r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]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  Window 0: [k-3] -&gt; [k-2] -&gt; [k-1] -&gt; [k] (</a:t>
            </a:r>
            <a:r>
              <a:rPr b="0" lang="ko-KR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현재 </a:t>
            </a:r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step: 0)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  Window 1: [k-3] -&gt; [k-2] -&gt; [k-1] -&gt; [k] (</a:t>
            </a:r>
            <a:r>
              <a:rPr b="0" lang="ko-KR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현재 </a:t>
            </a:r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step: 1)...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endParaRPr b="0" lang="en-US" sz="13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  각 윈도우에 대해 </a:t>
            </a:r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"</a:t>
            </a:r>
            <a:r>
              <a:rPr b="0" lang="ko-KR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현재 </a:t>
            </a:r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step"(k)</a:t>
            </a:r>
            <a:r>
              <a:rPr b="0" lang="ko-KR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에서 오류 발생 여부를 판단하세요</a:t>
            </a:r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 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  각 윈도우에 대해 </a:t>
            </a:r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JSON </a:t>
            </a:r>
            <a:r>
              <a:rPr b="0" lang="ko-KR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형식으로 응답하세요</a:t>
            </a:r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: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  ```json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  [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    {"window_idx": 0, "k_idx": 0, "has_error": true/false}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  ]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endParaRPr b="0" lang="en-US" sz="13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  핵심 포인트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  - **</a:t>
            </a:r>
            <a:r>
              <a:rPr b="0" lang="ko-KR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입력</a:t>
            </a:r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**: </a:t>
            </a:r>
            <a:r>
              <a:rPr b="0" lang="ko-KR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문제 </a:t>
            </a:r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+ </a:t>
            </a:r>
            <a:r>
              <a:rPr b="0" lang="ko-KR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모범답안 </a:t>
            </a:r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+ </a:t>
            </a:r>
            <a:r>
              <a:rPr b="0" lang="ko-KR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학생 풀이 단계 </a:t>
            </a:r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+ </a:t>
            </a:r>
            <a:r>
              <a:rPr b="0" lang="ko-KR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슬라이딩 윈도우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  - **</a:t>
            </a:r>
            <a:r>
              <a:rPr b="0" lang="ko-KR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출력</a:t>
            </a:r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**: </a:t>
            </a:r>
            <a:r>
              <a:rPr b="0" lang="ko-KR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각 윈도우별 오류 여부 </a:t>
            </a:r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(has_error), </a:t>
            </a:r>
            <a:r>
              <a:rPr b="0" lang="ko-KR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오류 유형</a:t>
            </a:r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b="0" lang="ko-KR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이유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  - **</a:t>
            </a:r>
            <a:r>
              <a:rPr b="0" lang="ko-KR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오류 유형</a:t>
            </a:r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**: </a:t>
            </a:r>
            <a:r>
              <a:rPr b="0" lang="ko-KR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계산 오류</a:t>
            </a:r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b="0" lang="ko-KR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개념 오류</a:t>
            </a:r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b="0" lang="ko-KR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논리 오류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  <a:p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  - **</a:t>
            </a:r>
            <a:r>
              <a:rPr b="0" lang="ko-KR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판단 기준</a:t>
            </a:r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**: </a:t>
            </a:r>
            <a:r>
              <a:rPr b="0" lang="ko-KR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현재 </a:t>
            </a:r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step(k)</a:t>
            </a:r>
            <a:r>
              <a:rPr b="0" lang="ko-KR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이 이전 </a:t>
            </a:r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step</a:t>
            </a:r>
            <a:r>
              <a:rPr b="0" lang="ko-KR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들</a:t>
            </a:r>
            <a:r>
              <a:rPr b="0" lang="en-US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(k-3, k-2, k-1)</a:t>
            </a:r>
            <a:r>
              <a:rPr b="0" lang="ko-KR" sz="13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로부터 올바르게 도출되었는지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NanumGothic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17280000" y="36180000"/>
            <a:ext cx="12960000" cy="14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추후 학생들이 태블릿이나 웹 기반 시스템에서 디지털로 풀이를 입력하게 된다면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풀이 흐름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(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시간 순서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수정 이력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)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을 추적할 수 있어 학생의 사고 과정을 분석할 수 있다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. 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이를 통해 단순 오류 탐지를 넘어 학습 패턴 분석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취약점 진단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맞춤형 문제 추천 등 고도화된 학습 지원이 가능해질 것으로 기대된다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b="0" lang="en-US" sz="1800" strike="noStrike" u="none">
              <a:solidFill>
                <a:srgbClr val="808080"/>
              </a:solidFill>
              <a:effectLst/>
              <a:uFillTx/>
              <a:latin typeface="맑은 고딕"/>
              <a:ea typeface="맑은 고딕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16920000" y="23580000"/>
            <a:ext cx="13500000" cy="41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  실용적 해석은 다음과 같다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:</a:t>
            </a:r>
            <a:endParaRPr b="0" lang="en-US" sz="1800" strike="noStrike" u="none">
              <a:solidFill>
                <a:srgbClr val="808080"/>
              </a:solidFill>
              <a:effectLst/>
              <a:uFillTx/>
              <a:latin typeface="맑은 고딕"/>
              <a:ea typeface="맑은 고딕"/>
            </a:endParaRPr>
          </a:p>
          <a:p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  - 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오류가 있는 풀이 중 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84.0%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를 탐지했으며 오류 경고 중 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72.0%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가 실제 오류였고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정상 풀이 중 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35.3%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에 잘못된 경고가 발생하였다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b="0" lang="en-US" sz="1800" strike="noStrike" u="none">
              <a:solidFill>
                <a:srgbClr val="808080"/>
              </a:solidFill>
              <a:effectLst/>
              <a:uFillTx/>
              <a:latin typeface="맑은 고딕"/>
              <a:ea typeface="맑은 고딕"/>
            </a:endParaRPr>
          </a:p>
          <a:p>
            <a:endParaRPr b="0" lang="en-US" sz="1800" strike="noStrike" u="none">
              <a:solidFill>
                <a:srgbClr val="808080"/>
              </a:solidFill>
              <a:effectLst/>
              <a:uFillTx/>
              <a:latin typeface="맑은 고딕"/>
              <a:ea typeface="맑은 고딕"/>
            </a:endParaRPr>
          </a:p>
          <a:p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  latex2sympy2 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도출 가능성 검사와 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BERT 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확률 분석을 결합한 최종 시스템의 오류 위치 탐지 성능은 다음과 같다 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(35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개 테스트</a:t>
            </a:r>
            <a:endParaRPr b="0" lang="en-US" sz="1800" strike="noStrike" u="none">
              <a:solidFill>
                <a:srgbClr val="808080"/>
              </a:solidFill>
              <a:effectLst/>
              <a:uFillTx/>
              <a:latin typeface="맑은 고딕"/>
              <a:ea typeface="맑은 고딕"/>
            </a:endParaRPr>
          </a:p>
          <a:p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  파일 기준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): 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정확 일치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: 48.6% (17/35), ±1 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단계 이내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: 71.4% (25/35), ±2 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단계 이내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: 85.7% (30/35), 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탐지 성공률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: 100% (35/35)</a:t>
            </a:r>
            <a:endParaRPr b="0" lang="en-US" sz="1800" strike="noStrike" u="none">
              <a:solidFill>
                <a:srgbClr val="808080"/>
              </a:solidFill>
              <a:effectLst/>
              <a:uFillTx/>
              <a:latin typeface="맑은 고딕"/>
              <a:ea typeface="맑은 고딕"/>
            </a:endParaRPr>
          </a:p>
          <a:p>
            <a:endParaRPr b="0" lang="en-US" sz="1800" strike="noStrike" u="none">
              <a:solidFill>
                <a:srgbClr val="808080"/>
              </a:solidFill>
              <a:effectLst/>
              <a:uFillTx/>
              <a:latin typeface="맑은 고딕"/>
              <a:ea typeface="맑은 고딕"/>
            </a:endParaRPr>
          </a:p>
          <a:p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  오차 분포는 다음과 같다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:</a:t>
            </a:r>
            <a:endParaRPr b="0" lang="en-US" sz="1800" strike="noStrike" u="none">
              <a:solidFill>
                <a:srgbClr val="808080"/>
              </a:solidFill>
              <a:effectLst/>
              <a:uFillTx/>
              <a:latin typeface="맑은 고딕"/>
              <a:ea typeface="맑은 고딕"/>
            </a:endParaRPr>
          </a:p>
          <a:p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  - 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정확히 맞춤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: 17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개 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(48.6%) : 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직접적인 피드백 제공이 가능하다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b="0" lang="en-US" sz="1800" strike="noStrike" u="none">
              <a:solidFill>
                <a:srgbClr val="808080"/>
              </a:solidFill>
              <a:effectLst/>
              <a:uFillTx/>
              <a:latin typeface="맑은 고딕"/>
              <a:ea typeface="맑은 고딕"/>
            </a:endParaRPr>
          </a:p>
          <a:p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  - 1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단계 오차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: 8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개 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(22.9%) : 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오류 발생 근처를 알려주어 학생이 스스로 찾도록 유도할 수 있다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b="0" lang="en-US" sz="1800" strike="noStrike" u="none">
              <a:solidFill>
                <a:srgbClr val="808080"/>
              </a:solidFill>
              <a:effectLst/>
              <a:uFillTx/>
              <a:latin typeface="맑은 고딕"/>
              <a:ea typeface="맑은 고딕"/>
            </a:endParaRPr>
          </a:p>
          <a:p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  - 2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단계 오차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: 5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개 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(14.3%) : </a:t>
            </a:r>
            <a:r>
              <a:rPr b="0" lang="ko-KR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오류 영역을 대략적으로 파악할 수 있다</a:t>
            </a:r>
            <a:r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b="0" lang="en-US" sz="1800" strike="noStrike" u="none">
              <a:solidFill>
                <a:srgbClr val="808080"/>
              </a:solidFill>
              <a:effectLst/>
              <a:uFillTx/>
              <a:latin typeface="맑은 고딕"/>
              <a:ea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1683</TotalTime>
  <Application>LibreOffice/25.2.7.2$Windows_X86_64 LibreOffice_project/5cbfd1ab6520636bb5f7b99185aa69bd7456825d</Application>
  <AppVersion>15.0000</AppVersion>
  <Words>87</Words>
  <Paragraphs>21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2016-10-11T09:46:40Z</dcterms:created>
  <dc:creator>Brain</dc:creator>
  <dc:description/>
  <dc:language>ko-KR</dc:language>
  <cp:lastModifiedBy/>
  <dcterms:modified xsi:type="dcterms:W3CDTF">2025-12-12T04:13:44Z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사용자 지정</vt:lpwstr>
  </property>
  <property fmtid="{D5CDD505-2E9C-101B-9397-08002B2CF9AE}" pid="4" name="Slides">
    <vt:i4>1</vt:i4>
  </property>
</Properties>
</file>