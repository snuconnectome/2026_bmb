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7" r:id="rId2"/>
  </p:sldIdLst>
  <p:sldSz cx="32399288" cy="43200638"/>
  <p:notesSz cx="7099300" cy="102346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 roundtripDataSignature="AMtx7mgQQex2AJcqbRTXDH5A0xWDSmUdl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D370D"/>
    <a:srgbClr val="FFFFFF"/>
    <a:srgbClr val="5B9C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384"/>
    <p:restoredTop sz="94718"/>
  </p:normalViewPr>
  <p:slideViewPr>
    <p:cSldViewPr snapToGrid="0">
      <p:cViewPr>
        <p:scale>
          <a:sx n="60" d="100"/>
          <a:sy n="60" d="100"/>
        </p:scale>
        <p:origin x="14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customschemas.google.com/relationships/presentationmetadata" Target="metadata"/><Relationship Id="rId10" Type="http://schemas.openxmlformats.org/officeDocument/2006/relationships/tableStyles" Target="tableStyles.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25" y="4861425"/>
            <a:ext cx="56794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48"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09925" y="4861425"/>
            <a:ext cx="56794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2111375"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476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빈 화면"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슬라이드"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2429947" y="7070108"/>
            <a:ext cx="27539395" cy="15040222"/>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4049912" y="22690339"/>
            <a:ext cx="24299466" cy="1043015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42"/>
              </a:spcBef>
              <a:spcAft>
                <a:spcPts val="0"/>
              </a:spcAft>
              <a:buClr>
                <a:schemeClr val="dk1"/>
              </a:buClr>
              <a:buSzPts val="7946"/>
              <a:buNone/>
              <a:defRPr sz="8020"/>
            </a:lvl1pPr>
            <a:lvl2pPr lvl="1" algn="ctr">
              <a:lnSpc>
                <a:spcPct val="90000"/>
              </a:lnSpc>
              <a:spcBef>
                <a:spcPts val="1670"/>
              </a:spcBef>
              <a:spcAft>
                <a:spcPts val="0"/>
              </a:spcAft>
              <a:buClr>
                <a:schemeClr val="dk1"/>
              </a:buClr>
              <a:buSzPts val="6622"/>
              <a:buNone/>
              <a:defRPr sz="6684"/>
            </a:lvl2pPr>
            <a:lvl3pPr lvl="2" algn="ctr">
              <a:lnSpc>
                <a:spcPct val="90000"/>
              </a:lnSpc>
              <a:spcBef>
                <a:spcPts val="1670"/>
              </a:spcBef>
              <a:spcAft>
                <a:spcPts val="0"/>
              </a:spcAft>
              <a:buClr>
                <a:schemeClr val="dk1"/>
              </a:buClr>
              <a:buSzPts val="5960"/>
              <a:buNone/>
              <a:defRPr sz="6015"/>
            </a:lvl3pPr>
            <a:lvl4pPr lvl="3" algn="ctr">
              <a:lnSpc>
                <a:spcPct val="90000"/>
              </a:lnSpc>
              <a:spcBef>
                <a:spcPts val="1670"/>
              </a:spcBef>
              <a:spcAft>
                <a:spcPts val="0"/>
              </a:spcAft>
              <a:buClr>
                <a:schemeClr val="dk1"/>
              </a:buClr>
              <a:buSzPts val="5297"/>
              <a:buNone/>
              <a:defRPr sz="5346"/>
            </a:lvl4pPr>
            <a:lvl5pPr lvl="4" algn="ctr">
              <a:lnSpc>
                <a:spcPct val="90000"/>
              </a:lnSpc>
              <a:spcBef>
                <a:spcPts val="1670"/>
              </a:spcBef>
              <a:spcAft>
                <a:spcPts val="0"/>
              </a:spcAft>
              <a:buClr>
                <a:schemeClr val="dk1"/>
              </a:buClr>
              <a:buSzPts val="5297"/>
              <a:buNone/>
              <a:defRPr sz="5346"/>
            </a:lvl5pPr>
            <a:lvl6pPr lvl="5" algn="ctr">
              <a:lnSpc>
                <a:spcPct val="90000"/>
              </a:lnSpc>
              <a:spcBef>
                <a:spcPts val="1670"/>
              </a:spcBef>
              <a:spcAft>
                <a:spcPts val="0"/>
              </a:spcAft>
              <a:buClr>
                <a:schemeClr val="dk1"/>
              </a:buClr>
              <a:buSzPts val="5297"/>
              <a:buNone/>
              <a:defRPr sz="5346"/>
            </a:lvl6pPr>
            <a:lvl7pPr lvl="6" algn="ctr">
              <a:lnSpc>
                <a:spcPct val="90000"/>
              </a:lnSpc>
              <a:spcBef>
                <a:spcPts val="1670"/>
              </a:spcBef>
              <a:spcAft>
                <a:spcPts val="0"/>
              </a:spcAft>
              <a:buClr>
                <a:schemeClr val="dk1"/>
              </a:buClr>
              <a:buSzPts val="5297"/>
              <a:buNone/>
              <a:defRPr sz="5346"/>
            </a:lvl7pPr>
            <a:lvl8pPr lvl="7" algn="ctr">
              <a:lnSpc>
                <a:spcPct val="90000"/>
              </a:lnSpc>
              <a:spcBef>
                <a:spcPts val="1670"/>
              </a:spcBef>
              <a:spcAft>
                <a:spcPts val="0"/>
              </a:spcAft>
              <a:buClr>
                <a:schemeClr val="dk1"/>
              </a:buClr>
              <a:buSzPts val="5297"/>
              <a:buNone/>
              <a:defRPr sz="5346"/>
            </a:lvl8pPr>
            <a:lvl9pPr lvl="8" algn="ctr">
              <a:lnSpc>
                <a:spcPct val="90000"/>
              </a:lnSpc>
              <a:spcBef>
                <a:spcPts val="1670"/>
              </a:spcBef>
              <a:spcAft>
                <a:spcPts val="0"/>
              </a:spcAft>
              <a:buClr>
                <a:schemeClr val="dk1"/>
              </a:buClr>
              <a:buSzPts val="5297"/>
              <a:buNone/>
              <a:defRPr sz="5346"/>
            </a:lvl9pPr>
          </a:lstStyle>
          <a:p>
            <a:endParaRPr/>
          </a:p>
        </p:txBody>
      </p:sp>
      <p:sp>
        <p:nvSpPr>
          <p:cNvPr id="18" name="Google Shape;18;p4"/>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제목 및 내용"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구역 머리글"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2210578" y="10770173"/>
            <a:ext cx="27944386" cy="179702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9865"/>
              <a:buFont typeface="Calibri"/>
              <a:buNone/>
              <a:defRPr sz="2005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2210578" y="28910440"/>
            <a:ext cx="27944386" cy="9450136"/>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7946"/>
              <a:buNone/>
              <a:defRPr sz="8020">
                <a:solidFill>
                  <a:schemeClr val="dk1"/>
                </a:solidFill>
              </a:defRPr>
            </a:lvl1pPr>
            <a:lvl2pPr marL="922904" lvl="1" indent="-230726" algn="l">
              <a:lnSpc>
                <a:spcPct val="90000"/>
              </a:lnSpc>
              <a:spcBef>
                <a:spcPts val="1670"/>
              </a:spcBef>
              <a:spcAft>
                <a:spcPts val="0"/>
              </a:spcAft>
              <a:buClr>
                <a:srgbClr val="888888"/>
              </a:buClr>
              <a:buSzPts val="6622"/>
              <a:buNone/>
              <a:defRPr sz="6684">
                <a:solidFill>
                  <a:srgbClr val="888888"/>
                </a:solidFill>
              </a:defRPr>
            </a:lvl2pPr>
            <a:lvl3pPr marL="1384356" lvl="2" indent="-230726" algn="l">
              <a:lnSpc>
                <a:spcPct val="90000"/>
              </a:lnSpc>
              <a:spcBef>
                <a:spcPts val="1670"/>
              </a:spcBef>
              <a:spcAft>
                <a:spcPts val="0"/>
              </a:spcAft>
              <a:buClr>
                <a:srgbClr val="888888"/>
              </a:buClr>
              <a:buSzPts val="5960"/>
              <a:buNone/>
              <a:defRPr sz="6015">
                <a:solidFill>
                  <a:srgbClr val="888888"/>
                </a:solidFill>
              </a:defRPr>
            </a:lvl3pPr>
            <a:lvl4pPr marL="1845808" lvl="3" indent="-230726" algn="l">
              <a:lnSpc>
                <a:spcPct val="90000"/>
              </a:lnSpc>
              <a:spcBef>
                <a:spcPts val="1670"/>
              </a:spcBef>
              <a:spcAft>
                <a:spcPts val="0"/>
              </a:spcAft>
              <a:buClr>
                <a:srgbClr val="888888"/>
              </a:buClr>
              <a:buSzPts val="5297"/>
              <a:buNone/>
              <a:defRPr sz="5346">
                <a:solidFill>
                  <a:srgbClr val="888888"/>
                </a:solidFill>
              </a:defRPr>
            </a:lvl4pPr>
            <a:lvl5pPr marL="2307260" lvl="4" indent="-230726" algn="l">
              <a:lnSpc>
                <a:spcPct val="90000"/>
              </a:lnSpc>
              <a:spcBef>
                <a:spcPts val="1670"/>
              </a:spcBef>
              <a:spcAft>
                <a:spcPts val="0"/>
              </a:spcAft>
              <a:buClr>
                <a:srgbClr val="888888"/>
              </a:buClr>
              <a:buSzPts val="5297"/>
              <a:buNone/>
              <a:defRPr sz="5346">
                <a:solidFill>
                  <a:srgbClr val="888888"/>
                </a:solidFill>
              </a:defRPr>
            </a:lvl5pPr>
            <a:lvl6pPr marL="2768712" lvl="5" indent="-230726" algn="l">
              <a:lnSpc>
                <a:spcPct val="90000"/>
              </a:lnSpc>
              <a:spcBef>
                <a:spcPts val="1670"/>
              </a:spcBef>
              <a:spcAft>
                <a:spcPts val="0"/>
              </a:spcAft>
              <a:buClr>
                <a:srgbClr val="888888"/>
              </a:buClr>
              <a:buSzPts val="5297"/>
              <a:buNone/>
              <a:defRPr sz="5346">
                <a:solidFill>
                  <a:srgbClr val="888888"/>
                </a:solidFill>
              </a:defRPr>
            </a:lvl6pPr>
            <a:lvl7pPr marL="3230164" lvl="6" indent="-230726" algn="l">
              <a:lnSpc>
                <a:spcPct val="90000"/>
              </a:lnSpc>
              <a:spcBef>
                <a:spcPts val="1670"/>
              </a:spcBef>
              <a:spcAft>
                <a:spcPts val="0"/>
              </a:spcAft>
              <a:buClr>
                <a:srgbClr val="888888"/>
              </a:buClr>
              <a:buSzPts val="5297"/>
              <a:buNone/>
              <a:defRPr sz="5346">
                <a:solidFill>
                  <a:srgbClr val="888888"/>
                </a:solidFill>
              </a:defRPr>
            </a:lvl7pPr>
            <a:lvl8pPr marL="3691616" lvl="7" indent="-230726" algn="l">
              <a:lnSpc>
                <a:spcPct val="90000"/>
              </a:lnSpc>
              <a:spcBef>
                <a:spcPts val="1670"/>
              </a:spcBef>
              <a:spcAft>
                <a:spcPts val="0"/>
              </a:spcAft>
              <a:buClr>
                <a:srgbClr val="888888"/>
              </a:buClr>
              <a:buSzPts val="5297"/>
              <a:buNone/>
              <a:defRPr sz="5346">
                <a:solidFill>
                  <a:srgbClr val="888888"/>
                </a:solidFill>
              </a:defRPr>
            </a:lvl8pPr>
            <a:lvl9pPr marL="4153068" lvl="8" indent="-230726" algn="l">
              <a:lnSpc>
                <a:spcPct val="90000"/>
              </a:lnSpc>
              <a:spcBef>
                <a:spcPts val="1670"/>
              </a:spcBef>
              <a:spcAft>
                <a:spcPts val="0"/>
              </a:spcAft>
              <a:buClr>
                <a:srgbClr val="888888"/>
              </a:buClr>
              <a:buSzPts val="5297"/>
              <a:buNone/>
              <a:defRPr sz="5346">
                <a:solidFill>
                  <a:srgbClr val="888888"/>
                </a:solidFill>
              </a:defRPr>
            </a:lvl9pPr>
          </a:lstStyle>
          <a:p>
            <a:endParaRPr/>
          </a:p>
        </p:txBody>
      </p:sp>
      <p:sp>
        <p:nvSpPr>
          <p:cNvPr id="30" name="Google Shape;30;p6"/>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콘텐츠 2개"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227451"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6" name="Google Shape;36;p7"/>
          <p:cNvSpPr txBox="1">
            <a:spLocks noGrp="1"/>
          </p:cNvSpPr>
          <p:nvPr>
            <p:ph type="body" idx="2"/>
          </p:nvPr>
        </p:nvSpPr>
        <p:spPr>
          <a:xfrm>
            <a:off x="16402139" y="11500169"/>
            <a:ext cx="13769698" cy="2741040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37" name="Google Shape;37;p7"/>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비교"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2231671"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2231675" y="10590160"/>
            <a:ext cx="13706415"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3" name="Google Shape;43;p8"/>
          <p:cNvSpPr txBox="1">
            <a:spLocks noGrp="1"/>
          </p:cNvSpPr>
          <p:nvPr>
            <p:ph type="body" idx="2"/>
          </p:nvPr>
        </p:nvSpPr>
        <p:spPr>
          <a:xfrm>
            <a:off x="2231675" y="15780234"/>
            <a:ext cx="13706415"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4" name="Google Shape;44;p8"/>
          <p:cNvSpPr txBox="1">
            <a:spLocks noGrp="1"/>
          </p:cNvSpPr>
          <p:nvPr>
            <p:ph type="body" idx="3"/>
          </p:nvPr>
        </p:nvSpPr>
        <p:spPr>
          <a:xfrm>
            <a:off x="16402141" y="10590160"/>
            <a:ext cx="13773918" cy="5190073"/>
          </a:xfrm>
          <a:prstGeom prst="rect">
            <a:avLst/>
          </a:prstGeom>
          <a:noFill/>
          <a:ln>
            <a:noFill/>
          </a:ln>
        </p:spPr>
        <p:txBody>
          <a:bodyPr spcFirstLastPara="1" wrap="square" lIns="91425" tIns="45700" rIns="91425" bIns="45700" anchor="b" anchorCtr="0">
            <a:normAutofit/>
          </a:bodyPr>
          <a:lstStyle>
            <a:lvl1pPr marL="461452" lvl="0" indent="-230726" algn="l">
              <a:lnSpc>
                <a:spcPct val="90000"/>
              </a:lnSpc>
              <a:spcBef>
                <a:spcPts val="3342"/>
              </a:spcBef>
              <a:spcAft>
                <a:spcPts val="0"/>
              </a:spcAft>
              <a:buClr>
                <a:schemeClr val="dk1"/>
              </a:buClr>
              <a:buSzPts val="7946"/>
              <a:buNone/>
              <a:defRPr sz="8020" b="1"/>
            </a:lvl1pPr>
            <a:lvl2pPr marL="922904" lvl="1" indent="-230726" algn="l">
              <a:lnSpc>
                <a:spcPct val="90000"/>
              </a:lnSpc>
              <a:spcBef>
                <a:spcPts val="1670"/>
              </a:spcBef>
              <a:spcAft>
                <a:spcPts val="0"/>
              </a:spcAft>
              <a:buClr>
                <a:schemeClr val="dk1"/>
              </a:buClr>
              <a:buSzPts val="6622"/>
              <a:buNone/>
              <a:defRPr sz="6684" b="1"/>
            </a:lvl2pPr>
            <a:lvl3pPr marL="1384356" lvl="2" indent="-230726" algn="l">
              <a:lnSpc>
                <a:spcPct val="90000"/>
              </a:lnSpc>
              <a:spcBef>
                <a:spcPts val="1670"/>
              </a:spcBef>
              <a:spcAft>
                <a:spcPts val="0"/>
              </a:spcAft>
              <a:buClr>
                <a:schemeClr val="dk1"/>
              </a:buClr>
              <a:buSzPts val="5960"/>
              <a:buNone/>
              <a:defRPr sz="6015" b="1"/>
            </a:lvl3pPr>
            <a:lvl4pPr marL="1845808" lvl="3" indent="-230726" algn="l">
              <a:lnSpc>
                <a:spcPct val="90000"/>
              </a:lnSpc>
              <a:spcBef>
                <a:spcPts val="1670"/>
              </a:spcBef>
              <a:spcAft>
                <a:spcPts val="0"/>
              </a:spcAft>
              <a:buClr>
                <a:schemeClr val="dk1"/>
              </a:buClr>
              <a:buSzPts val="5297"/>
              <a:buNone/>
              <a:defRPr sz="5346" b="1"/>
            </a:lvl4pPr>
            <a:lvl5pPr marL="2307260" lvl="4" indent="-230726" algn="l">
              <a:lnSpc>
                <a:spcPct val="90000"/>
              </a:lnSpc>
              <a:spcBef>
                <a:spcPts val="1670"/>
              </a:spcBef>
              <a:spcAft>
                <a:spcPts val="0"/>
              </a:spcAft>
              <a:buClr>
                <a:schemeClr val="dk1"/>
              </a:buClr>
              <a:buSzPts val="5297"/>
              <a:buNone/>
              <a:defRPr sz="5346" b="1"/>
            </a:lvl5pPr>
            <a:lvl6pPr marL="2768712" lvl="5" indent="-230726" algn="l">
              <a:lnSpc>
                <a:spcPct val="90000"/>
              </a:lnSpc>
              <a:spcBef>
                <a:spcPts val="1670"/>
              </a:spcBef>
              <a:spcAft>
                <a:spcPts val="0"/>
              </a:spcAft>
              <a:buClr>
                <a:schemeClr val="dk1"/>
              </a:buClr>
              <a:buSzPts val="5297"/>
              <a:buNone/>
              <a:defRPr sz="5346" b="1"/>
            </a:lvl6pPr>
            <a:lvl7pPr marL="3230164" lvl="6" indent="-230726" algn="l">
              <a:lnSpc>
                <a:spcPct val="90000"/>
              </a:lnSpc>
              <a:spcBef>
                <a:spcPts val="1670"/>
              </a:spcBef>
              <a:spcAft>
                <a:spcPts val="0"/>
              </a:spcAft>
              <a:buClr>
                <a:schemeClr val="dk1"/>
              </a:buClr>
              <a:buSzPts val="5297"/>
              <a:buNone/>
              <a:defRPr sz="5346" b="1"/>
            </a:lvl7pPr>
            <a:lvl8pPr marL="3691616" lvl="7" indent="-230726" algn="l">
              <a:lnSpc>
                <a:spcPct val="90000"/>
              </a:lnSpc>
              <a:spcBef>
                <a:spcPts val="1670"/>
              </a:spcBef>
              <a:spcAft>
                <a:spcPts val="0"/>
              </a:spcAft>
              <a:buClr>
                <a:schemeClr val="dk1"/>
              </a:buClr>
              <a:buSzPts val="5297"/>
              <a:buNone/>
              <a:defRPr sz="5346" b="1"/>
            </a:lvl8pPr>
            <a:lvl9pPr marL="4153068" lvl="8" indent="-230726" algn="l">
              <a:lnSpc>
                <a:spcPct val="90000"/>
              </a:lnSpc>
              <a:spcBef>
                <a:spcPts val="1670"/>
              </a:spcBef>
              <a:spcAft>
                <a:spcPts val="0"/>
              </a:spcAft>
              <a:buClr>
                <a:schemeClr val="dk1"/>
              </a:buClr>
              <a:buSzPts val="5297"/>
              <a:buNone/>
              <a:defRPr sz="5346" b="1"/>
            </a:lvl9pPr>
          </a:lstStyle>
          <a:p>
            <a:endParaRPr/>
          </a:p>
        </p:txBody>
      </p:sp>
      <p:sp>
        <p:nvSpPr>
          <p:cNvPr id="45" name="Google Shape;45;p8"/>
          <p:cNvSpPr txBox="1">
            <a:spLocks noGrp="1"/>
          </p:cNvSpPr>
          <p:nvPr>
            <p:ph type="body" idx="4"/>
          </p:nvPr>
        </p:nvSpPr>
        <p:spPr>
          <a:xfrm>
            <a:off x="16402141" y="15780234"/>
            <a:ext cx="13773918" cy="23210345"/>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46" name="Google Shape;46;p8"/>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제목만"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13773918" y="6220102"/>
            <a:ext cx="16402140" cy="30700453"/>
          </a:xfrm>
          <a:prstGeom prst="rect">
            <a:avLst/>
          </a:prstGeom>
          <a:noFill/>
          <a:ln>
            <a:noFill/>
          </a:ln>
        </p:spPr>
        <p:txBody>
          <a:bodyPr spcFirstLastPara="1" wrap="square" lIns="91425" tIns="45700" rIns="91425" bIns="45700" anchor="t" anchorCtr="0">
            <a:normAutofit/>
          </a:bodyPr>
          <a:lstStyle>
            <a:lvl1pPr marL="461452" lvl="0" indent="-909765" algn="l">
              <a:lnSpc>
                <a:spcPct val="90000"/>
              </a:lnSpc>
              <a:spcBef>
                <a:spcPts val="3342"/>
              </a:spcBef>
              <a:spcAft>
                <a:spcPts val="0"/>
              </a:spcAft>
              <a:buClr>
                <a:schemeClr val="dk1"/>
              </a:buClr>
              <a:buSzPts val="10595"/>
              <a:buChar char="•"/>
              <a:defRPr sz="10694"/>
            </a:lvl1pPr>
            <a:lvl2pPr marL="922904" lvl="1" indent="-824909" algn="l">
              <a:lnSpc>
                <a:spcPct val="90000"/>
              </a:lnSpc>
              <a:spcBef>
                <a:spcPts val="1670"/>
              </a:spcBef>
              <a:spcAft>
                <a:spcPts val="0"/>
              </a:spcAft>
              <a:buClr>
                <a:schemeClr val="dk1"/>
              </a:buClr>
              <a:buSzPts val="9271"/>
              <a:buChar char="•"/>
              <a:defRPr sz="9357"/>
            </a:lvl2pPr>
            <a:lvl3pPr marL="1384356" lvl="2" indent="-739989" algn="l">
              <a:lnSpc>
                <a:spcPct val="90000"/>
              </a:lnSpc>
              <a:spcBef>
                <a:spcPts val="1670"/>
              </a:spcBef>
              <a:spcAft>
                <a:spcPts val="0"/>
              </a:spcAft>
              <a:buClr>
                <a:schemeClr val="dk1"/>
              </a:buClr>
              <a:buSzPts val="7946"/>
              <a:buChar char="•"/>
              <a:defRPr sz="8020"/>
            </a:lvl3pPr>
            <a:lvl4pPr marL="1845808" lvl="3" indent="-655134" algn="l">
              <a:lnSpc>
                <a:spcPct val="90000"/>
              </a:lnSpc>
              <a:spcBef>
                <a:spcPts val="1670"/>
              </a:spcBef>
              <a:spcAft>
                <a:spcPts val="0"/>
              </a:spcAft>
              <a:buClr>
                <a:schemeClr val="dk1"/>
              </a:buClr>
              <a:buSzPts val="6622"/>
              <a:buChar char="•"/>
              <a:defRPr sz="6684"/>
            </a:lvl4pPr>
            <a:lvl5pPr marL="2307260" lvl="4" indent="-655134" algn="l">
              <a:lnSpc>
                <a:spcPct val="90000"/>
              </a:lnSpc>
              <a:spcBef>
                <a:spcPts val="1670"/>
              </a:spcBef>
              <a:spcAft>
                <a:spcPts val="0"/>
              </a:spcAft>
              <a:buClr>
                <a:schemeClr val="dk1"/>
              </a:buClr>
              <a:buSzPts val="6622"/>
              <a:buChar char="•"/>
              <a:defRPr sz="6684"/>
            </a:lvl5pPr>
            <a:lvl6pPr marL="2768712" lvl="5" indent="-655134" algn="l">
              <a:lnSpc>
                <a:spcPct val="90000"/>
              </a:lnSpc>
              <a:spcBef>
                <a:spcPts val="1670"/>
              </a:spcBef>
              <a:spcAft>
                <a:spcPts val="0"/>
              </a:spcAft>
              <a:buClr>
                <a:schemeClr val="dk1"/>
              </a:buClr>
              <a:buSzPts val="6622"/>
              <a:buChar char="•"/>
              <a:defRPr sz="6684"/>
            </a:lvl6pPr>
            <a:lvl7pPr marL="3230164" lvl="6" indent="-655134" algn="l">
              <a:lnSpc>
                <a:spcPct val="90000"/>
              </a:lnSpc>
              <a:spcBef>
                <a:spcPts val="1670"/>
              </a:spcBef>
              <a:spcAft>
                <a:spcPts val="0"/>
              </a:spcAft>
              <a:buClr>
                <a:schemeClr val="dk1"/>
              </a:buClr>
              <a:buSzPts val="6622"/>
              <a:buChar char="•"/>
              <a:defRPr sz="6684"/>
            </a:lvl7pPr>
            <a:lvl8pPr marL="3691616" lvl="7" indent="-655134" algn="l">
              <a:lnSpc>
                <a:spcPct val="90000"/>
              </a:lnSpc>
              <a:spcBef>
                <a:spcPts val="1670"/>
              </a:spcBef>
              <a:spcAft>
                <a:spcPts val="0"/>
              </a:spcAft>
              <a:buClr>
                <a:schemeClr val="dk1"/>
              </a:buClr>
              <a:buSzPts val="6622"/>
              <a:buChar char="•"/>
              <a:defRPr sz="6684"/>
            </a:lvl8pPr>
            <a:lvl9pPr marL="4153068" lvl="8" indent="-655133" algn="l">
              <a:lnSpc>
                <a:spcPct val="90000"/>
              </a:lnSpc>
              <a:spcBef>
                <a:spcPts val="1670"/>
              </a:spcBef>
              <a:spcAft>
                <a:spcPts val="0"/>
              </a:spcAft>
              <a:buClr>
                <a:schemeClr val="dk1"/>
              </a:buClr>
              <a:buSzPts val="6622"/>
              <a:buChar char="•"/>
              <a:defRPr sz="6684"/>
            </a:lvl9pPr>
          </a:lstStyle>
          <a:p>
            <a:endParaRPr/>
          </a:p>
        </p:txBody>
      </p:sp>
      <p:sp>
        <p:nvSpPr>
          <p:cNvPr id="57" name="Google Shape;57;p10"/>
          <p:cNvSpPr txBox="1">
            <a:spLocks noGrp="1"/>
          </p:cNvSpPr>
          <p:nvPr>
            <p:ph type="body" idx="2"/>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58" name="Google Shape;58;p10"/>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캡션 있는 그림"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231671" y="2880043"/>
            <a:ext cx="10449613" cy="100801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0595"/>
              <a:buFont typeface="Calibri"/>
              <a:buNone/>
              <a:defRPr sz="10694"/>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3773918" y="6220102"/>
            <a:ext cx="16402140" cy="30700453"/>
          </a:xfrm>
          <a:prstGeom prst="rect">
            <a:avLst/>
          </a:prstGeom>
          <a:noFill/>
          <a:ln>
            <a:noFill/>
          </a:ln>
        </p:spPr>
      </p:sp>
      <p:sp>
        <p:nvSpPr>
          <p:cNvPr id="64" name="Google Shape;64;p11"/>
          <p:cNvSpPr txBox="1">
            <a:spLocks noGrp="1"/>
          </p:cNvSpPr>
          <p:nvPr>
            <p:ph type="body" idx="1"/>
          </p:nvPr>
        </p:nvSpPr>
        <p:spPr>
          <a:xfrm>
            <a:off x="2231671" y="12960192"/>
            <a:ext cx="10449613" cy="24010358"/>
          </a:xfrm>
          <a:prstGeom prst="rect">
            <a:avLst/>
          </a:prstGeom>
          <a:noFill/>
          <a:ln>
            <a:noFill/>
          </a:ln>
        </p:spPr>
        <p:txBody>
          <a:bodyPr spcFirstLastPara="1" wrap="square" lIns="91425" tIns="45700" rIns="91425" bIns="45700" anchor="t" anchorCtr="0">
            <a:normAutofit/>
          </a:bodyPr>
          <a:lstStyle>
            <a:lvl1pPr marL="461452" lvl="0" indent="-230726" algn="l">
              <a:lnSpc>
                <a:spcPct val="90000"/>
              </a:lnSpc>
              <a:spcBef>
                <a:spcPts val="3342"/>
              </a:spcBef>
              <a:spcAft>
                <a:spcPts val="0"/>
              </a:spcAft>
              <a:buClr>
                <a:schemeClr val="dk1"/>
              </a:buClr>
              <a:buSzPts val="5297"/>
              <a:buNone/>
              <a:defRPr sz="5346"/>
            </a:lvl1pPr>
            <a:lvl2pPr marL="922904" lvl="1" indent="-230726" algn="l">
              <a:lnSpc>
                <a:spcPct val="90000"/>
              </a:lnSpc>
              <a:spcBef>
                <a:spcPts val="1670"/>
              </a:spcBef>
              <a:spcAft>
                <a:spcPts val="0"/>
              </a:spcAft>
              <a:buClr>
                <a:schemeClr val="dk1"/>
              </a:buClr>
              <a:buSzPts val="4635"/>
              <a:buNone/>
              <a:defRPr sz="4678"/>
            </a:lvl2pPr>
            <a:lvl3pPr marL="1384356" lvl="2" indent="-230726" algn="l">
              <a:lnSpc>
                <a:spcPct val="90000"/>
              </a:lnSpc>
              <a:spcBef>
                <a:spcPts val="1670"/>
              </a:spcBef>
              <a:spcAft>
                <a:spcPts val="0"/>
              </a:spcAft>
              <a:buClr>
                <a:schemeClr val="dk1"/>
              </a:buClr>
              <a:buSzPts val="3973"/>
              <a:buNone/>
              <a:defRPr sz="4010"/>
            </a:lvl3pPr>
            <a:lvl4pPr marL="1845808" lvl="3" indent="-230726" algn="l">
              <a:lnSpc>
                <a:spcPct val="90000"/>
              </a:lnSpc>
              <a:spcBef>
                <a:spcPts val="1670"/>
              </a:spcBef>
              <a:spcAft>
                <a:spcPts val="0"/>
              </a:spcAft>
              <a:buClr>
                <a:schemeClr val="dk1"/>
              </a:buClr>
              <a:buSzPts val="3311"/>
              <a:buNone/>
              <a:defRPr sz="3342"/>
            </a:lvl4pPr>
            <a:lvl5pPr marL="2307260" lvl="4" indent="-230726" algn="l">
              <a:lnSpc>
                <a:spcPct val="90000"/>
              </a:lnSpc>
              <a:spcBef>
                <a:spcPts val="1670"/>
              </a:spcBef>
              <a:spcAft>
                <a:spcPts val="0"/>
              </a:spcAft>
              <a:buClr>
                <a:schemeClr val="dk1"/>
              </a:buClr>
              <a:buSzPts val="3311"/>
              <a:buNone/>
              <a:defRPr sz="3342"/>
            </a:lvl5pPr>
            <a:lvl6pPr marL="2768712" lvl="5" indent="-230726" algn="l">
              <a:lnSpc>
                <a:spcPct val="90000"/>
              </a:lnSpc>
              <a:spcBef>
                <a:spcPts val="1670"/>
              </a:spcBef>
              <a:spcAft>
                <a:spcPts val="0"/>
              </a:spcAft>
              <a:buClr>
                <a:schemeClr val="dk1"/>
              </a:buClr>
              <a:buSzPts val="3311"/>
              <a:buNone/>
              <a:defRPr sz="3342"/>
            </a:lvl6pPr>
            <a:lvl7pPr marL="3230164" lvl="6" indent="-230726" algn="l">
              <a:lnSpc>
                <a:spcPct val="90000"/>
              </a:lnSpc>
              <a:spcBef>
                <a:spcPts val="1670"/>
              </a:spcBef>
              <a:spcAft>
                <a:spcPts val="0"/>
              </a:spcAft>
              <a:buClr>
                <a:schemeClr val="dk1"/>
              </a:buClr>
              <a:buSzPts val="3311"/>
              <a:buNone/>
              <a:defRPr sz="3342"/>
            </a:lvl7pPr>
            <a:lvl8pPr marL="3691616" lvl="7" indent="-230726" algn="l">
              <a:lnSpc>
                <a:spcPct val="90000"/>
              </a:lnSpc>
              <a:spcBef>
                <a:spcPts val="1670"/>
              </a:spcBef>
              <a:spcAft>
                <a:spcPts val="0"/>
              </a:spcAft>
              <a:buClr>
                <a:schemeClr val="dk1"/>
              </a:buClr>
              <a:buSzPts val="3311"/>
              <a:buNone/>
              <a:defRPr sz="3342"/>
            </a:lvl8pPr>
            <a:lvl9pPr marL="4153068" lvl="8" indent="-230726" algn="l">
              <a:lnSpc>
                <a:spcPct val="90000"/>
              </a:lnSpc>
              <a:spcBef>
                <a:spcPts val="1670"/>
              </a:spcBef>
              <a:spcAft>
                <a:spcPts val="0"/>
              </a:spcAft>
              <a:buClr>
                <a:schemeClr val="dk1"/>
              </a:buClr>
              <a:buSzPts val="3311"/>
              <a:buNone/>
              <a:defRPr sz="3342"/>
            </a:lvl9pPr>
          </a:lstStyle>
          <a:p>
            <a:endParaRPr/>
          </a:p>
        </p:txBody>
      </p:sp>
      <p:sp>
        <p:nvSpPr>
          <p:cNvPr id="65" name="Google Shape;65;p11"/>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제목 및 세로 텍스트"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494441" y="11233180"/>
            <a:ext cx="27410408" cy="27944386"/>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세로 제목 및 텍스트"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8373519" y="17112258"/>
            <a:ext cx="36610544" cy="698609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801169" y="10328658"/>
            <a:ext cx="36610544" cy="20553298"/>
          </a:xfrm>
          <a:prstGeom prst="rect">
            <a:avLst/>
          </a:prstGeom>
          <a:noFill/>
          <a:ln>
            <a:noFill/>
          </a:ln>
        </p:spPr>
        <p:txBody>
          <a:bodyPr spcFirstLastPara="1" wrap="square" lIns="91425" tIns="45700" rIns="91425" bIns="45700" anchor="t" anchorCtr="0">
            <a:normAutofit/>
          </a:bodyPr>
          <a:lstStyle>
            <a:lvl1pPr marL="461452" lvl="0" indent="-346089" algn="l">
              <a:lnSpc>
                <a:spcPct val="90000"/>
              </a:lnSpc>
              <a:spcBef>
                <a:spcPts val="3342"/>
              </a:spcBef>
              <a:spcAft>
                <a:spcPts val="0"/>
              </a:spcAft>
              <a:buClr>
                <a:schemeClr val="dk1"/>
              </a:buClr>
              <a:buSzPts val="1800"/>
              <a:buChar char="•"/>
              <a:defRPr/>
            </a:lvl1pPr>
            <a:lvl2pPr marL="922904" lvl="1" indent="-346089" algn="l">
              <a:lnSpc>
                <a:spcPct val="90000"/>
              </a:lnSpc>
              <a:spcBef>
                <a:spcPts val="1670"/>
              </a:spcBef>
              <a:spcAft>
                <a:spcPts val="0"/>
              </a:spcAft>
              <a:buClr>
                <a:schemeClr val="dk1"/>
              </a:buClr>
              <a:buSzPts val="1800"/>
              <a:buChar char="•"/>
              <a:defRPr/>
            </a:lvl2pPr>
            <a:lvl3pPr marL="1384356" lvl="2" indent="-346089" algn="l">
              <a:lnSpc>
                <a:spcPct val="90000"/>
              </a:lnSpc>
              <a:spcBef>
                <a:spcPts val="1670"/>
              </a:spcBef>
              <a:spcAft>
                <a:spcPts val="0"/>
              </a:spcAft>
              <a:buClr>
                <a:schemeClr val="dk1"/>
              </a:buClr>
              <a:buSzPts val="1800"/>
              <a:buChar char="•"/>
              <a:defRPr/>
            </a:lvl3pPr>
            <a:lvl4pPr marL="1845808" lvl="3" indent="-346089" algn="l">
              <a:lnSpc>
                <a:spcPct val="90000"/>
              </a:lnSpc>
              <a:spcBef>
                <a:spcPts val="1670"/>
              </a:spcBef>
              <a:spcAft>
                <a:spcPts val="0"/>
              </a:spcAft>
              <a:buClr>
                <a:schemeClr val="dk1"/>
              </a:buClr>
              <a:buSzPts val="1800"/>
              <a:buChar char="•"/>
              <a:defRPr/>
            </a:lvl4pPr>
            <a:lvl5pPr marL="2307260" lvl="4" indent="-346089" algn="l">
              <a:lnSpc>
                <a:spcPct val="90000"/>
              </a:lnSpc>
              <a:spcBef>
                <a:spcPts val="1670"/>
              </a:spcBef>
              <a:spcAft>
                <a:spcPts val="0"/>
              </a:spcAft>
              <a:buClr>
                <a:schemeClr val="dk1"/>
              </a:buClr>
              <a:buSzPts val="1800"/>
              <a:buChar char="•"/>
              <a:defRPr/>
            </a:lvl5pPr>
            <a:lvl6pPr marL="2768712" lvl="5" indent="-346089" algn="l">
              <a:lnSpc>
                <a:spcPct val="90000"/>
              </a:lnSpc>
              <a:spcBef>
                <a:spcPts val="1670"/>
              </a:spcBef>
              <a:spcAft>
                <a:spcPts val="0"/>
              </a:spcAft>
              <a:buClr>
                <a:schemeClr val="dk1"/>
              </a:buClr>
              <a:buSzPts val="1800"/>
              <a:buChar char="•"/>
              <a:defRPr/>
            </a:lvl6pPr>
            <a:lvl7pPr marL="3230164" lvl="6" indent="-346089" algn="l">
              <a:lnSpc>
                <a:spcPct val="90000"/>
              </a:lnSpc>
              <a:spcBef>
                <a:spcPts val="1670"/>
              </a:spcBef>
              <a:spcAft>
                <a:spcPts val="0"/>
              </a:spcAft>
              <a:buClr>
                <a:schemeClr val="dk1"/>
              </a:buClr>
              <a:buSzPts val="1800"/>
              <a:buChar char="•"/>
              <a:defRPr/>
            </a:lvl7pPr>
            <a:lvl8pPr marL="3691616" lvl="7" indent="-346089" algn="l">
              <a:lnSpc>
                <a:spcPct val="90000"/>
              </a:lnSpc>
              <a:spcBef>
                <a:spcPts val="1670"/>
              </a:spcBef>
              <a:spcAft>
                <a:spcPts val="0"/>
              </a:spcAft>
              <a:buClr>
                <a:schemeClr val="dk1"/>
              </a:buClr>
              <a:buSzPts val="1800"/>
              <a:buChar char="•"/>
              <a:defRPr/>
            </a:lvl8pPr>
            <a:lvl9pPr marL="4153068" lvl="8" indent="-346089" algn="l">
              <a:lnSpc>
                <a:spcPct val="90000"/>
              </a:lnSpc>
              <a:spcBef>
                <a:spcPts val="167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227452" y="2300043"/>
            <a:ext cx="27944386" cy="83501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4568"/>
              <a:buFont typeface="Calibri"/>
              <a:buNone/>
              <a:defRPr sz="1456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2227452" y="11500169"/>
            <a:ext cx="27944386" cy="27410408"/>
          </a:xfrm>
          <a:prstGeom prst="rect">
            <a:avLst/>
          </a:prstGeom>
          <a:noFill/>
          <a:ln>
            <a:noFill/>
          </a:ln>
        </p:spPr>
        <p:txBody>
          <a:bodyPr spcFirstLastPara="1" wrap="square" lIns="91425" tIns="45700" rIns="91425" bIns="45700" anchor="t" anchorCtr="0">
            <a:normAutofit/>
          </a:bodyPr>
          <a:lstStyle>
            <a:lvl1pPr marL="457200" marR="0" lvl="0" indent="-817308" algn="l" rtl="0">
              <a:lnSpc>
                <a:spcPct val="90000"/>
              </a:lnSpc>
              <a:spcBef>
                <a:spcPts val="3311"/>
              </a:spcBef>
              <a:spcAft>
                <a:spcPts val="0"/>
              </a:spcAft>
              <a:buClr>
                <a:schemeClr val="dk1"/>
              </a:buClr>
              <a:buSzPts val="9271"/>
              <a:buFont typeface="Arial"/>
              <a:buChar char="•"/>
              <a:defRPr sz="9271" b="0" i="0" u="none" strike="noStrike" cap="none">
                <a:solidFill>
                  <a:schemeClr val="dk1"/>
                </a:solidFill>
                <a:latin typeface="Calibri"/>
                <a:ea typeface="Calibri"/>
                <a:cs typeface="Calibri"/>
                <a:sym typeface="Calibri"/>
              </a:defRPr>
            </a:lvl1pPr>
            <a:lvl2pPr marL="914400" marR="0" lvl="1" indent="-733171" algn="l" rtl="0">
              <a:lnSpc>
                <a:spcPct val="90000"/>
              </a:lnSpc>
              <a:spcBef>
                <a:spcPts val="1655"/>
              </a:spcBef>
              <a:spcAft>
                <a:spcPts val="0"/>
              </a:spcAft>
              <a:buClr>
                <a:schemeClr val="dk1"/>
              </a:buClr>
              <a:buSzPts val="7946"/>
              <a:buFont typeface="Arial"/>
              <a:buChar char="•"/>
              <a:defRPr sz="7946" b="0" i="0" u="none" strike="noStrike" cap="none">
                <a:solidFill>
                  <a:schemeClr val="dk1"/>
                </a:solidFill>
                <a:latin typeface="Calibri"/>
                <a:ea typeface="Calibri"/>
                <a:cs typeface="Calibri"/>
                <a:sym typeface="Calibri"/>
              </a:defRPr>
            </a:lvl2pPr>
            <a:lvl3pPr marL="1371600" marR="0" lvl="2" indent="-649097" algn="l" rtl="0">
              <a:lnSpc>
                <a:spcPct val="90000"/>
              </a:lnSpc>
              <a:spcBef>
                <a:spcPts val="1655"/>
              </a:spcBef>
              <a:spcAft>
                <a:spcPts val="0"/>
              </a:spcAft>
              <a:buClr>
                <a:schemeClr val="dk1"/>
              </a:buClr>
              <a:buSzPts val="6622"/>
              <a:buFont typeface="Arial"/>
              <a:buChar char="•"/>
              <a:defRPr sz="6622" b="0" i="0" u="none" strike="noStrike" cap="none">
                <a:solidFill>
                  <a:schemeClr val="dk1"/>
                </a:solidFill>
                <a:latin typeface="Calibri"/>
                <a:ea typeface="Calibri"/>
                <a:cs typeface="Calibri"/>
                <a:sym typeface="Calibri"/>
              </a:defRPr>
            </a:lvl3pPr>
            <a:lvl4pPr marL="1828800" marR="0" lvl="3"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4pPr>
            <a:lvl5pPr marL="2286000" marR="0" lvl="4"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5pPr>
            <a:lvl6pPr marL="2743200" marR="0" lvl="5"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6pPr>
            <a:lvl7pPr marL="3200400" marR="0" lvl="6"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7pPr>
            <a:lvl8pPr marL="3657600" marR="0" lvl="7" indent="-607060"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8pPr>
            <a:lvl9pPr marL="4114800" marR="0" lvl="8" indent="-607059" algn="l" rtl="0">
              <a:lnSpc>
                <a:spcPct val="90000"/>
              </a:lnSpc>
              <a:spcBef>
                <a:spcPts val="1655"/>
              </a:spcBef>
              <a:spcAft>
                <a:spcPts val="0"/>
              </a:spcAft>
              <a:buClr>
                <a:schemeClr val="dk1"/>
              </a:buClr>
              <a:buSzPts val="5960"/>
              <a:buFont typeface="Arial"/>
              <a:buChar char="•"/>
              <a:defRPr sz="596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227452" y="40040600"/>
            <a:ext cx="7289840" cy="230003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0732265" y="40040600"/>
            <a:ext cx="10934759" cy="230003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1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17"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2881997" y="40040600"/>
            <a:ext cx="7289840" cy="230003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4010" b="0" i="0" u="none" strike="noStrike" cap="none">
                <a:solidFill>
                  <a:srgbClr val="888888"/>
                </a:solidFill>
                <a:latin typeface="Calibri"/>
                <a:ea typeface="Calibri"/>
                <a:cs typeface="Calibri"/>
                <a:sym typeface="Calibri"/>
              </a:defRPr>
            </a:lvl1pPr>
            <a:lvl2pPr marL="0" marR="0" lvl="1" indent="0" algn="r" rtl="0">
              <a:spcBef>
                <a:spcPts val="0"/>
              </a:spcBef>
              <a:buNone/>
              <a:defRPr sz="4010" b="0" i="0" u="none" strike="noStrike" cap="none">
                <a:solidFill>
                  <a:srgbClr val="888888"/>
                </a:solidFill>
                <a:latin typeface="Calibri"/>
                <a:ea typeface="Calibri"/>
                <a:cs typeface="Calibri"/>
                <a:sym typeface="Calibri"/>
              </a:defRPr>
            </a:lvl2pPr>
            <a:lvl3pPr marL="0" marR="0" lvl="2" indent="0" algn="r" rtl="0">
              <a:spcBef>
                <a:spcPts val="0"/>
              </a:spcBef>
              <a:buNone/>
              <a:defRPr sz="4010" b="0" i="0" u="none" strike="noStrike" cap="none">
                <a:solidFill>
                  <a:srgbClr val="888888"/>
                </a:solidFill>
                <a:latin typeface="Calibri"/>
                <a:ea typeface="Calibri"/>
                <a:cs typeface="Calibri"/>
                <a:sym typeface="Calibri"/>
              </a:defRPr>
            </a:lvl3pPr>
            <a:lvl4pPr marL="0" marR="0" lvl="3" indent="0" algn="r" rtl="0">
              <a:spcBef>
                <a:spcPts val="0"/>
              </a:spcBef>
              <a:buNone/>
              <a:defRPr sz="4010" b="0" i="0" u="none" strike="noStrike" cap="none">
                <a:solidFill>
                  <a:srgbClr val="888888"/>
                </a:solidFill>
                <a:latin typeface="Calibri"/>
                <a:ea typeface="Calibri"/>
                <a:cs typeface="Calibri"/>
                <a:sym typeface="Calibri"/>
              </a:defRPr>
            </a:lvl4pPr>
            <a:lvl5pPr marL="0" marR="0" lvl="4" indent="0" algn="r" rtl="0">
              <a:spcBef>
                <a:spcPts val="0"/>
              </a:spcBef>
              <a:buNone/>
              <a:defRPr sz="4010" b="0" i="0" u="none" strike="noStrike" cap="none">
                <a:solidFill>
                  <a:srgbClr val="888888"/>
                </a:solidFill>
                <a:latin typeface="Calibri"/>
                <a:ea typeface="Calibri"/>
                <a:cs typeface="Calibri"/>
                <a:sym typeface="Calibri"/>
              </a:defRPr>
            </a:lvl5pPr>
            <a:lvl6pPr marL="0" marR="0" lvl="5" indent="0" algn="r" rtl="0">
              <a:spcBef>
                <a:spcPts val="0"/>
              </a:spcBef>
              <a:buNone/>
              <a:defRPr sz="4010" b="0" i="0" u="none" strike="noStrike" cap="none">
                <a:solidFill>
                  <a:srgbClr val="888888"/>
                </a:solidFill>
                <a:latin typeface="Calibri"/>
                <a:ea typeface="Calibri"/>
                <a:cs typeface="Calibri"/>
                <a:sym typeface="Calibri"/>
              </a:defRPr>
            </a:lvl6pPr>
            <a:lvl7pPr marL="0" marR="0" lvl="6" indent="0" algn="r" rtl="0">
              <a:spcBef>
                <a:spcPts val="0"/>
              </a:spcBef>
              <a:buNone/>
              <a:defRPr sz="4010" b="0" i="0" u="none" strike="noStrike" cap="none">
                <a:solidFill>
                  <a:srgbClr val="888888"/>
                </a:solidFill>
                <a:latin typeface="Calibri"/>
                <a:ea typeface="Calibri"/>
                <a:cs typeface="Calibri"/>
                <a:sym typeface="Calibri"/>
              </a:defRPr>
            </a:lvl7pPr>
            <a:lvl8pPr marL="0" marR="0" lvl="7" indent="0" algn="r" rtl="0">
              <a:spcBef>
                <a:spcPts val="0"/>
              </a:spcBef>
              <a:buNone/>
              <a:defRPr sz="4010" b="0" i="0" u="none" strike="noStrike" cap="none">
                <a:solidFill>
                  <a:srgbClr val="888888"/>
                </a:solidFill>
                <a:latin typeface="Calibri"/>
                <a:ea typeface="Calibri"/>
                <a:cs typeface="Calibri"/>
                <a:sym typeface="Calibri"/>
              </a:defRPr>
            </a:lvl8pPr>
            <a:lvl9pPr marL="0" marR="0" lvl="8" indent="0" algn="r" rtl="0">
              <a:spcBef>
                <a:spcPts val="0"/>
              </a:spcBef>
              <a:buNone/>
              <a:defRPr sz="401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1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doi.org/10.1145/3670947.3670974"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7164604" y="1468762"/>
            <a:ext cx="22053665" cy="3989728"/>
          </a:xfrm>
          <a:prstGeom prst="rect">
            <a:avLst/>
          </a:prstGeom>
          <a:noFill/>
          <a:ln>
            <a:noFill/>
          </a:ln>
        </p:spPr>
        <p:txBody>
          <a:bodyPr spcFirstLastPara="1" wrap="square" lIns="92273" tIns="46124" rIns="92273" bIns="46124" anchor="t" anchorCtr="0">
            <a:spAutoFit/>
          </a:bodyPr>
          <a:lstStyle/>
          <a:p>
            <a:pPr algn="ctr"/>
            <a:r>
              <a:rPr lang="ko-KR" altLang="ko-KR" sz="6000" b="1" dirty="0">
                <a:solidFill>
                  <a:schemeClr val="dk1"/>
                </a:solidFill>
                <a:latin typeface="NanumGothic" panose="020D0604000000000000" pitchFamily="34" charset="-127"/>
                <a:ea typeface="NanumGothic" panose="020D0604000000000000" pitchFamily="34" charset="-127"/>
              </a:rPr>
              <a:t>생성형</a:t>
            </a:r>
            <a:r>
              <a:rPr lang="en-US" altLang="ko-KR" sz="6000" b="1" dirty="0">
                <a:solidFill>
                  <a:schemeClr val="dk1"/>
                </a:solidFill>
                <a:latin typeface="NanumGothic" panose="020D0604000000000000" pitchFamily="34" charset="-127"/>
                <a:ea typeface="NanumGothic" panose="020D0604000000000000" pitchFamily="34" charset="-127"/>
              </a:rPr>
              <a:t> AI</a:t>
            </a:r>
            <a:r>
              <a:rPr lang="ko-KR" altLang="ko-KR" sz="6000" b="1" dirty="0" err="1">
                <a:solidFill>
                  <a:schemeClr val="dk1"/>
                </a:solidFill>
                <a:latin typeface="NanumGothic" panose="020D0604000000000000" pitchFamily="34" charset="-127"/>
                <a:ea typeface="NanumGothic" panose="020D0604000000000000" pitchFamily="34" charset="-127"/>
              </a:rPr>
              <a:t>와의</a:t>
            </a:r>
            <a:r>
              <a:rPr lang="en-US" altLang="ko-KR" sz="6000" b="1" dirty="0">
                <a:solidFill>
                  <a:schemeClr val="dk1"/>
                </a:solidFill>
                <a:latin typeface="NanumGothic" panose="020D0604000000000000" pitchFamily="34" charset="-127"/>
                <a:ea typeface="NanumGothic" panose="020D0604000000000000" pitchFamily="34" charset="-127"/>
              </a:rPr>
              <a:t> Co-creation </a:t>
            </a:r>
            <a:r>
              <a:rPr lang="ko-KR" altLang="ko-KR" sz="6000" b="1" dirty="0">
                <a:solidFill>
                  <a:schemeClr val="dk1"/>
                </a:solidFill>
                <a:latin typeface="NanumGothic" panose="020D0604000000000000" pitchFamily="34" charset="-127"/>
                <a:ea typeface="NanumGothic" panose="020D0604000000000000" pitchFamily="34" charset="-127"/>
              </a:rPr>
              <a:t>과정에서</a:t>
            </a:r>
            <a:r>
              <a:rPr lang="en-US" altLang="ko-KR" sz="6000" b="1" dirty="0">
                <a:solidFill>
                  <a:schemeClr val="dk1"/>
                </a:solidFill>
                <a:latin typeface="NanumGothic" panose="020D0604000000000000" pitchFamily="34" charset="-127"/>
                <a:ea typeface="NanumGothic" panose="020D0604000000000000" pitchFamily="34" charset="-127"/>
              </a:rPr>
              <a:t> LLM</a:t>
            </a:r>
            <a:r>
              <a:rPr lang="ko-KR" altLang="ko-KR" sz="6000" b="1" dirty="0">
                <a:solidFill>
                  <a:schemeClr val="dk1"/>
                </a:solidFill>
                <a:latin typeface="NanumGothic" panose="020D0604000000000000" pitchFamily="34" charset="-127"/>
                <a:ea typeface="NanumGothic" panose="020D0604000000000000" pitchFamily="34" charset="-127"/>
              </a:rPr>
              <a:t>의 응답 유형이 사용자의 심리와</a:t>
            </a:r>
            <a:r>
              <a:rPr lang="en-US" altLang="ko-KR" sz="6000" b="1" dirty="0">
                <a:solidFill>
                  <a:schemeClr val="dk1"/>
                </a:solidFill>
                <a:latin typeface="NanumGothic" panose="020D0604000000000000" pitchFamily="34" charset="-127"/>
                <a:ea typeface="NanumGothic" panose="020D0604000000000000" pitchFamily="34" charset="-127"/>
              </a:rPr>
              <a:t> '</a:t>
            </a:r>
            <a:r>
              <a:rPr lang="ko-KR" altLang="ko-KR" sz="6000" b="1" dirty="0">
                <a:solidFill>
                  <a:schemeClr val="dk1"/>
                </a:solidFill>
                <a:latin typeface="NanumGothic" panose="020D0604000000000000" pitchFamily="34" charset="-127"/>
                <a:ea typeface="NanumGothic" panose="020D0604000000000000" pitchFamily="34" charset="-127"/>
              </a:rPr>
              <a:t>인지적 고착</a:t>
            </a:r>
            <a:r>
              <a:rPr lang="en-US" altLang="ko-KR" sz="6000" b="1" dirty="0">
                <a:solidFill>
                  <a:schemeClr val="dk1"/>
                </a:solidFill>
                <a:latin typeface="NanumGothic" panose="020D0604000000000000" pitchFamily="34" charset="-127"/>
                <a:ea typeface="NanumGothic" panose="020D0604000000000000" pitchFamily="34" charset="-127"/>
              </a:rPr>
              <a:t>(Cognitive Fixation)'</a:t>
            </a:r>
            <a:r>
              <a:rPr lang="ko-KR" altLang="ko-KR" sz="6000" b="1" dirty="0" err="1">
                <a:solidFill>
                  <a:schemeClr val="dk1"/>
                </a:solidFill>
                <a:latin typeface="NanumGothic" panose="020D0604000000000000" pitchFamily="34" charset="-127"/>
                <a:ea typeface="NanumGothic" panose="020D0604000000000000" pitchFamily="34" charset="-127"/>
              </a:rPr>
              <a:t>에</a:t>
            </a:r>
            <a:r>
              <a:rPr lang="ko-KR" altLang="ko-KR" sz="6000" b="1" dirty="0">
                <a:solidFill>
                  <a:schemeClr val="dk1"/>
                </a:solidFill>
                <a:latin typeface="NanumGothic" panose="020D0604000000000000" pitchFamily="34" charset="-127"/>
                <a:ea typeface="NanumGothic" panose="020D0604000000000000" pitchFamily="34" charset="-127"/>
              </a:rPr>
              <a:t> 미치는 영향 분석 </a:t>
            </a:r>
            <a:endParaRPr lang="ko-KR" altLang="en-US" sz="6000" b="1" dirty="0">
              <a:solidFill>
                <a:schemeClr val="dk1"/>
              </a:solidFill>
              <a:latin typeface="NanumGothic" panose="020D0604000000000000" pitchFamily="34" charset="-127"/>
              <a:ea typeface="NanumGothic" panose="020D0604000000000000" pitchFamily="34" charset="-127"/>
              <a:sym typeface="Calibri"/>
            </a:endParaRPr>
          </a:p>
          <a:p>
            <a:pPr algn="ctr"/>
            <a:endParaRPr lang="en" sz="2422" dirty="0">
              <a:solidFill>
                <a:schemeClr val="dk1"/>
              </a:solidFill>
              <a:latin typeface="Calibri"/>
              <a:ea typeface="Calibri"/>
              <a:cs typeface="Calibri"/>
              <a:sym typeface="Calibri"/>
            </a:endParaRPr>
          </a:p>
          <a:p>
            <a:pPr algn="ctr"/>
            <a:r>
              <a:rPr lang="en-US" sz="3633" dirty="0" err="1">
                <a:solidFill>
                  <a:schemeClr val="dk1"/>
                </a:solidFill>
                <a:latin typeface="Calibri"/>
                <a:ea typeface="Calibri"/>
                <a:cs typeface="Calibri"/>
                <a:sym typeface="Calibri"/>
              </a:rPr>
              <a:t>서울대학교</a:t>
            </a:r>
            <a:r>
              <a:rPr lang="en-US" sz="3633" dirty="0">
                <a:solidFill>
                  <a:schemeClr val="dk1"/>
                </a:solidFill>
                <a:latin typeface="Calibri"/>
                <a:ea typeface="Calibri"/>
                <a:cs typeface="Calibri"/>
                <a:sym typeface="Calibri"/>
              </a:rPr>
              <a:t> </a:t>
            </a:r>
            <a:r>
              <a:rPr lang="en-US" sz="3633" dirty="0" err="1">
                <a:solidFill>
                  <a:schemeClr val="dk1"/>
                </a:solidFill>
                <a:latin typeface="Calibri"/>
                <a:ea typeface="Calibri"/>
                <a:cs typeface="Calibri"/>
                <a:sym typeface="Calibri"/>
              </a:rPr>
              <a:t>인지과학</a:t>
            </a:r>
            <a:r>
              <a:rPr lang="en-US" sz="3633" dirty="0">
                <a:solidFill>
                  <a:schemeClr val="dk1"/>
                </a:solidFill>
                <a:latin typeface="Calibri"/>
                <a:ea typeface="Calibri"/>
                <a:cs typeface="Calibri"/>
                <a:sym typeface="Calibri"/>
              </a:rPr>
              <a:t> </a:t>
            </a:r>
            <a:r>
              <a:rPr lang="en-US" sz="3633" dirty="0" err="1">
                <a:solidFill>
                  <a:schemeClr val="dk1"/>
                </a:solidFill>
                <a:latin typeface="Calibri"/>
                <a:ea typeface="Calibri"/>
                <a:cs typeface="Calibri"/>
                <a:sym typeface="Calibri"/>
              </a:rPr>
              <a:t>협동과정</a:t>
            </a:r>
            <a:endParaRPr lang="en-US" sz="3633" dirty="0">
              <a:solidFill>
                <a:schemeClr val="dk1"/>
              </a:solidFill>
              <a:latin typeface="Calibri"/>
              <a:ea typeface="Calibri"/>
              <a:cs typeface="Calibri"/>
              <a:sym typeface="Calibri"/>
            </a:endParaRPr>
          </a:p>
          <a:p>
            <a:pPr algn="ctr"/>
            <a:r>
              <a:rPr lang="ko-KR" altLang="en-US" sz="3633" dirty="0" err="1">
                <a:solidFill>
                  <a:schemeClr val="dk1"/>
                </a:solidFill>
                <a:latin typeface="Calibri"/>
                <a:ea typeface="Calibri"/>
                <a:cs typeface="Calibri"/>
                <a:sym typeface="Calibri"/>
              </a:rPr>
              <a:t>최지웅</a:t>
            </a:r>
            <a:endParaRPr lang="en-US" altLang="ko-KR" sz="3633" dirty="0">
              <a:solidFill>
                <a:schemeClr val="dk1"/>
              </a:solidFill>
              <a:latin typeface="Calibri"/>
              <a:ea typeface="Calibri"/>
              <a:cs typeface="Calibri"/>
              <a:sym typeface="Calibri"/>
            </a:endParaRPr>
          </a:p>
          <a:p>
            <a:pPr algn="ctr"/>
            <a:r>
              <a:rPr lang="en-US" altLang="ko-KR" sz="3633" dirty="0">
                <a:solidFill>
                  <a:schemeClr val="dk1"/>
                </a:solidFill>
                <a:latin typeface="Calibri"/>
                <a:ea typeface="Calibri"/>
                <a:cs typeface="Calibri"/>
                <a:sym typeface="Calibri"/>
              </a:rPr>
              <a:t>choijiwoogn9</a:t>
            </a:r>
            <a:r>
              <a:rPr lang="en-US" sz="3633" dirty="0">
                <a:solidFill>
                  <a:schemeClr val="dk1"/>
                </a:solidFill>
                <a:latin typeface="Calibri"/>
                <a:ea typeface="Calibri"/>
                <a:cs typeface="Calibri"/>
                <a:sym typeface="Calibri"/>
              </a:rPr>
              <a:t>@snu.ac.kr</a:t>
            </a:r>
            <a:endParaRPr sz="3633" dirty="0">
              <a:solidFill>
                <a:schemeClr val="dk1"/>
              </a:solidFill>
              <a:latin typeface="Calibri"/>
              <a:ea typeface="Calibri"/>
              <a:cs typeface="Calibri"/>
              <a:sym typeface="Calibri"/>
            </a:endParaRPr>
          </a:p>
        </p:txBody>
      </p:sp>
      <p:pic>
        <p:nvPicPr>
          <p:cNvPr id="85" name="Google Shape;85;p1"/>
          <p:cNvPicPr preferRelativeResize="0"/>
          <p:nvPr/>
        </p:nvPicPr>
        <p:blipFill rotWithShape="1">
          <a:blip r:embed="rId3">
            <a:alphaModFix/>
          </a:blip>
          <a:srcRect/>
          <a:stretch/>
        </p:blipFill>
        <p:spPr>
          <a:xfrm>
            <a:off x="2586898" y="754086"/>
            <a:ext cx="4365056" cy="4476197"/>
          </a:xfrm>
          <a:prstGeom prst="rect">
            <a:avLst/>
          </a:prstGeom>
          <a:noFill/>
          <a:ln>
            <a:noFill/>
          </a:ln>
        </p:spPr>
      </p:pic>
      <p:sp>
        <p:nvSpPr>
          <p:cNvPr id="88" name="Google Shape;88;p1"/>
          <p:cNvSpPr>
            <a:spLocks/>
          </p:cNvSpPr>
          <p:nvPr/>
        </p:nvSpPr>
        <p:spPr>
          <a:xfrm>
            <a:off x="1684006" y="6304213"/>
            <a:ext cx="14170178" cy="972000"/>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INTRODUCTION</a:t>
            </a:r>
            <a:endParaRPr sz="5450" b="1" dirty="0">
              <a:solidFill>
                <a:srgbClr val="FFFFFF"/>
              </a:solidFill>
            </a:endParaRPr>
          </a:p>
        </p:txBody>
      </p:sp>
      <p:sp>
        <p:nvSpPr>
          <p:cNvPr id="90" name="Google Shape;90;p1"/>
          <p:cNvSpPr/>
          <p:nvPr/>
        </p:nvSpPr>
        <p:spPr>
          <a:xfrm>
            <a:off x="1636657" y="40160027"/>
            <a:ext cx="14160688" cy="1934278"/>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1)</a:t>
            </a:r>
            <a:r>
              <a:rPr lang="en-US" altLang="ko-KR" sz="1800" kern="100" dirty="0">
                <a:solidFill>
                  <a:srgbClr val="333333"/>
                </a:solidFill>
                <a:effectLst/>
                <a:highlight>
                  <a:srgbClr val="F0F0F0"/>
                </a:highlight>
                <a:latin typeface="NanumGothic" panose="020D0604000000000000" pitchFamily="34" charset="-127"/>
                <a:ea typeface="NanumGothic" panose="020D0604000000000000" pitchFamily="34" charset="-127"/>
                <a:cs typeface="Courier New" panose="02070309020205020404" pitchFamily="49" charset="0"/>
              </a:rPr>
              <a:t>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Samangi</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Wadinambiarachchi</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Ryan M. Kelly, Saumya Pareek,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Qiushi</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Zhou, and Eduardo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Velloso</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2024. The Effects of Generative AI on Design Fixation and Divergent Thinking. In Proceedings of the 2024 CHI Conference on Human Factors in Computing Systems (CHI '24). Association for Computing Machinery, New York, NY, USA, Article 380, 1–18. https://</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doi.org</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/10.1145/3613904.3642919 </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2)</a:t>
            </a:r>
            <a:r>
              <a:rPr lang="en-US"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rPr>
              <a:t> </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Wan, Yun &amp; Kalman, Yoram. (2025). Using Generative AI Personas Increases Collective Diversity in Human Ideation. 10.48550/arXiv.2504.13868.</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3)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Polimetla</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Tejaswi &amp; Gero, Katy. (2025). A Paradigm for Creative Ownership. 10.48550/arXiv.2505.15971.</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p:txBody>
      </p:sp>
      <p:sp>
        <p:nvSpPr>
          <p:cNvPr id="91" name="Google Shape;91;p1"/>
          <p:cNvSpPr/>
          <p:nvPr/>
        </p:nvSpPr>
        <p:spPr>
          <a:xfrm>
            <a:off x="1631975" y="39437585"/>
            <a:ext cx="29102028" cy="746913"/>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REFERENCE</a:t>
            </a:r>
            <a:endParaRPr sz="4441" b="1" dirty="0">
              <a:solidFill>
                <a:schemeClr val="lt1"/>
              </a:solidFill>
            </a:endParaRPr>
          </a:p>
        </p:txBody>
      </p:sp>
      <p:sp>
        <p:nvSpPr>
          <p:cNvPr id="94" name="Google Shape;94;p1"/>
          <p:cNvSpPr/>
          <p:nvPr/>
        </p:nvSpPr>
        <p:spPr>
          <a:xfrm>
            <a:off x="16569401" y="24001948"/>
            <a:ext cx="14170178" cy="972000"/>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RESULTS</a:t>
            </a:r>
            <a:endParaRPr sz="5450" b="1" dirty="0">
              <a:solidFill>
                <a:srgbClr val="FFFFFF"/>
              </a:solidFill>
            </a:endParaRPr>
          </a:p>
        </p:txBody>
      </p:sp>
      <p:sp>
        <p:nvSpPr>
          <p:cNvPr id="97" name="Google Shape;97;p1"/>
          <p:cNvSpPr/>
          <p:nvPr/>
        </p:nvSpPr>
        <p:spPr>
          <a:xfrm>
            <a:off x="16545105" y="6281419"/>
            <a:ext cx="14170177" cy="972000"/>
          </a:xfrm>
          <a:prstGeom prst="rect">
            <a:avLst/>
          </a:prstGeom>
          <a:solidFill>
            <a:srgbClr val="0F0F70"/>
          </a:solidFill>
          <a:ln w="1270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latin typeface="Calibri"/>
                <a:ea typeface="Calibri"/>
                <a:cs typeface="Calibri"/>
                <a:sym typeface="Calibri"/>
              </a:rPr>
              <a:t>METHOD</a:t>
            </a:r>
            <a:endParaRPr sz="4441" b="1" dirty="0">
              <a:solidFill>
                <a:schemeClr val="lt1"/>
              </a:solidFill>
              <a:latin typeface="Calibri"/>
              <a:ea typeface="Calibri"/>
              <a:cs typeface="Calibri"/>
              <a:sym typeface="Calibri"/>
            </a:endParaRPr>
          </a:p>
        </p:txBody>
      </p:sp>
      <p:sp>
        <p:nvSpPr>
          <p:cNvPr id="100" name="Google Shape;100;p1"/>
          <p:cNvSpPr/>
          <p:nvPr/>
        </p:nvSpPr>
        <p:spPr>
          <a:xfrm>
            <a:off x="1633577" y="19684939"/>
            <a:ext cx="14170178" cy="972000"/>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chemeClr val="lt1"/>
                </a:solidFill>
              </a:rPr>
              <a:t>OBJECTIVES</a:t>
            </a:r>
            <a:endParaRPr sz="5450" b="1" dirty="0">
              <a:solidFill>
                <a:schemeClr val="lt1"/>
              </a:solidFill>
            </a:endParaRPr>
          </a:p>
        </p:txBody>
      </p:sp>
      <p:sp>
        <p:nvSpPr>
          <p:cNvPr id="102" name="Google Shape;102;p1"/>
          <p:cNvSpPr/>
          <p:nvPr/>
        </p:nvSpPr>
        <p:spPr>
          <a:xfrm>
            <a:off x="1625565" y="36723781"/>
            <a:ext cx="29102028" cy="2621310"/>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ctr" anchorCtr="0">
            <a:noAutofit/>
          </a:bodyPr>
          <a:lstStyle/>
          <a:p>
            <a:pPr marL="457200" indent="-457200">
              <a:buFont typeface="Wingdings" pitchFamily="2" charset="2"/>
              <a:buChar char="§"/>
            </a:pPr>
            <a:r>
              <a:rPr lang="ko-KR" altLang="en-US" sz="3100" b="1" dirty="0">
                <a:latin typeface="NanumGothic" panose="020D0604000000000000" pitchFamily="34" charset="-127"/>
                <a:ea typeface="NanumGothic" panose="020D0604000000000000" pitchFamily="34" charset="-127"/>
              </a:rPr>
              <a:t>생성형 </a:t>
            </a:r>
            <a:r>
              <a:rPr lang="en" altLang="ko-KR" sz="3100" b="1" dirty="0">
                <a:latin typeface="NanumGothic" panose="020D0604000000000000" pitchFamily="34" charset="-127"/>
                <a:ea typeface="NanumGothic" panose="020D0604000000000000" pitchFamily="34" charset="-127"/>
              </a:rPr>
              <a:t>AI</a:t>
            </a:r>
            <a:r>
              <a:rPr lang="ko-KR" altLang="en-US" sz="3100" b="1" dirty="0">
                <a:latin typeface="NanumGothic" panose="020D0604000000000000" pitchFamily="34" charset="-127"/>
                <a:ea typeface="NanumGothic" panose="020D0604000000000000" pitchFamily="34" charset="-127"/>
              </a:rPr>
              <a:t>는 어떤 답을 </a:t>
            </a:r>
            <a:r>
              <a:rPr lang="ko-KR" altLang="en-US" sz="3100" b="1" dirty="0" err="1">
                <a:latin typeface="NanumGothic" panose="020D0604000000000000" pitchFamily="34" charset="-127"/>
                <a:ea typeface="NanumGothic" panose="020D0604000000000000" pitchFamily="34" charset="-127"/>
              </a:rPr>
              <a:t>주느냐보다</a:t>
            </a:r>
            <a:r>
              <a:rPr lang="en-US" altLang="ko-KR" sz="3100" b="1" dirty="0">
                <a:latin typeface="NanumGothic" panose="020D0604000000000000" pitchFamily="34" charset="-127"/>
                <a:ea typeface="NanumGothic" panose="020D0604000000000000" pitchFamily="34" charset="-127"/>
              </a:rPr>
              <a:t>, </a:t>
            </a:r>
            <a:r>
              <a:rPr lang="ko-KR" altLang="en-US" sz="3100" b="1" dirty="0">
                <a:latin typeface="NanumGothic" panose="020D0604000000000000" pitchFamily="34" charset="-127"/>
                <a:ea typeface="NanumGothic" panose="020D0604000000000000" pitchFamily="34" charset="-127"/>
              </a:rPr>
              <a:t>어떻게 사고를 유도하느냐가 더 중요함</a:t>
            </a:r>
          </a:p>
          <a:p>
            <a:pPr marL="984250" indent="-222250">
              <a:buFont typeface="Wingdings" pitchFamily="2" charset="2"/>
              <a:buChar char="§"/>
            </a:pPr>
            <a:r>
              <a:rPr lang="ko-KR" altLang="en-US" sz="3100" dirty="0">
                <a:latin typeface="NanumGothic" panose="020D0604000000000000" pitchFamily="34" charset="-127"/>
                <a:ea typeface="NanumGothic" panose="020D0604000000000000" pitchFamily="34" charset="-127"/>
              </a:rPr>
              <a:t>구체적 예시</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Concrete) </a:t>
            </a:r>
            <a:r>
              <a:rPr lang="ko-KR" altLang="en-US" sz="3100" dirty="0">
                <a:latin typeface="NanumGothic" panose="020D0604000000000000" pitchFamily="34" charset="-127"/>
                <a:ea typeface="NanumGothic" panose="020D0604000000000000" pitchFamily="34" charset="-127"/>
              </a:rPr>
              <a:t>는 효율을 높이지만 사고 고착과 </a:t>
            </a:r>
            <a:r>
              <a:rPr lang="ko-KR" altLang="en-US" sz="3100" dirty="0" err="1">
                <a:latin typeface="NanumGothic" panose="020D0604000000000000" pitchFamily="34" charset="-127"/>
                <a:ea typeface="NanumGothic" panose="020D0604000000000000" pitchFamily="34" charset="-127"/>
              </a:rPr>
              <a:t>소유감</a:t>
            </a:r>
            <a:r>
              <a:rPr lang="ko-KR" altLang="en-US" sz="3100" dirty="0">
                <a:latin typeface="NanumGothic" panose="020D0604000000000000" pitchFamily="34" charset="-127"/>
                <a:ea typeface="NanumGothic" panose="020D0604000000000000" pitchFamily="34" charset="-127"/>
              </a:rPr>
              <a:t> 저하를 유발할 수 있음</a:t>
            </a:r>
          </a:p>
          <a:p>
            <a:pPr marL="984250" indent="-222250">
              <a:buFont typeface="Wingdings" pitchFamily="2" charset="2"/>
              <a:buChar char="§"/>
            </a:pPr>
            <a:r>
              <a:rPr lang="ko-KR" altLang="en-US" sz="3100" dirty="0">
                <a:latin typeface="NanumGothic" panose="020D0604000000000000" pitchFamily="34" charset="-127"/>
                <a:ea typeface="NanumGothic" panose="020D0604000000000000" pitchFamily="34" charset="-127"/>
              </a:rPr>
              <a:t>추상적 스키마</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Schema)</a:t>
            </a:r>
            <a:r>
              <a:rPr lang="ko-KR" altLang="en-US" sz="3100" dirty="0">
                <a:latin typeface="NanumGothic" panose="020D0604000000000000" pitchFamily="34" charset="-127"/>
                <a:ea typeface="NanumGothic" panose="020D0604000000000000" pitchFamily="34" charset="-127"/>
              </a:rPr>
              <a:t>와 반사실적 질문</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Counterfactual)</a:t>
            </a:r>
            <a:r>
              <a:rPr lang="ko-KR" altLang="en-US" sz="3100" dirty="0">
                <a:latin typeface="NanumGothic" panose="020D0604000000000000" pitchFamily="34" charset="-127"/>
                <a:ea typeface="NanumGothic" panose="020D0604000000000000" pitchFamily="34" charset="-127"/>
              </a:rPr>
              <a:t>은 사고의 속도를 늦추고 긍정적 마찰</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Positive Friction)</a:t>
            </a:r>
            <a:r>
              <a:rPr lang="ko-KR" altLang="en-US" sz="3100" dirty="0">
                <a:latin typeface="NanumGothic" panose="020D0604000000000000" pitchFamily="34" charset="-127"/>
                <a:ea typeface="NanumGothic" panose="020D0604000000000000" pitchFamily="34" charset="-127"/>
              </a:rPr>
              <a:t>을 만들어 아이디어 변형과 탐색을 촉진함</a:t>
            </a:r>
          </a:p>
          <a:p>
            <a:pPr marL="457200" indent="-457200">
              <a:buFont typeface="Wingdings" pitchFamily="2" charset="2"/>
              <a:buChar char="§"/>
            </a:pPr>
            <a:r>
              <a:rPr lang="ko-KR" altLang="en-US" sz="3100" b="1" dirty="0">
                <a:latin typeface="NanumGothic" panose="020D0604000000000000" pitchFamily="34" charset="-127"/>
                <a:ea typeface="NanumGothic" panose="020D0604000000000000" pitchFamily="34" charset="-127"/>
              </a:rPr>
              <a:t>동일한 </a:t>
            </a:r>
            <a:r>
              <a:rPr lang="en" altLang="ko-KR" sz="3100" b="1" dirty="0">
                <a:latin typeface="NanumGothic" panose="020D0604000000000000" pitchFamily="34" charset="-127"/>
                <a:ea typeface="NanumGothic" panose="020D0604000000000000" pitchFamily="34" charset="-127"/>
              </a:rPr>
              <a:t>AI </a:t>
            </a:r>
            <a:r>
              <a:rPr lang="ko-KR" altLang="en-US" sz="3100" b="1" dirty="0">
                <a:latin typeface="NanumGothic" panose="020D0604000000000000" pitchFamily="34" charset="-127"/>
                <a:ea typeface="NanumGothic" panose="020D0604000000000000" pitchFamily="34" charset="-127"/>
              </a:rPr>
              <a:t>모델이라도 업무 목적과 창의 단계에 따라 </a:t>
            </a:r>
            <a:r>
              <a:rPr lang="ko-KR" altLang="en-US" sz="3100" b="1" dirty="0" err="1">
                <a:latin typeface="NanumGothic" panose="020D0604000000000000" pitchFamily="34" charset="-127"/>
                <a:ea typeface="NanumGothic" panose="020D0604000000000000" pitchFamily="34" charset="-127"/>
              </a:rPr>
              <a:t>프레이밍을</a:t>
            </a:r>
            <a:r>
              <a:rPr lang="ko-KR" altLang="en-US" sz="3100" b="1" dirty="0">
                <a:latin typeface="NanumGothic" panose="020D0604000000000000" pitchFamily="34" charset="-127"/>
                <a:ea typeface="NanumGothic" panose="020D0604000000000000" pitchFamily="34" charset="-127"/>
              </a:rPr>
              <a:t> 달리 설계해야 함</a:t>
            </a:r>
          </a:p>
          <a:p>
            <a:pPr marL="457200" indent="-457200">
              <a:buFont typeface="Wingdings" pitchFamily="2" charset="2"/>
              <a:buChar char="§"/>
            </a:pPr>
            <a:r>
              <a:rPr lang="ko-KR" altLang="en-US" sz="3100" b="1" dirty="0">
                <a:latin typeface="NanumGothic" panose="020D0604000000000000" pitchFamily="34" charset="-127"/>
                <a:ea typeface="NanumGothic" panose="020D0604000000000000" pitchFamily="34" charset="-127"/>
              </a:rPr>
              <a:t>생성형 </a:t>
            </a:r>
            <a:r>
              <a:rPr lang="en" altLang="ko-KR" sz="3100" b="1" dirty="0">
                <a:latin typeface="NanumGothic" panose="020D0604000000000000" pitchFamily="34" charset="-127"/>
                <a:ea typeface="NanumGothic" panose="020D0604000000000000" pitchFamily="34" charset="-127"/>
              </a:rPr>
              <a:t>AI</a:t>
            </a:r>
            <a:r>
              <a:rPr lang="ko-KR" altLang="en-US" sz="3100" b="1" dirty="0" err="1">
                <a:latin typeface="NanumGothic" panose="020D0604000000000000" pitchFamily="34" charset="-127"/>
                <a:ea typeface="NanumGothic" panose="020D0604000000000000" pitchFamily="34" charset="-127"/>
              </a:rPr>
              <a:t>를</a:t>
            </a:r>
            <a:r>
              <a:rPr lang="ko-KR" altLang="en-US" sz="3100" b="1" dirty="0">
                <a:latin typeface="NanumGothic" panose="020D0604000000000000" pitchFamily="34" charset="-127"/>
                <a:ea typeface="NanumGothic" panose="020D0604000000000000" pitchFamily="34" charset="-127"/>
              </a:rPr>
              <a:t> 결과 생성기에서 사고 촉진 </a:t>
            </a:r>
            <a:r>
              <a:rPr lang="ko-KR" altLang="en-US" sz="3100" b="1" dirty="0" err="1">
                <a:latin typeface="NanumGothic" panose="020D0604000000000000" pitchFamily="34" charset="-127"/>
                <a:ea typeface="NanumGothic" panose="020D0604000000000000" pitchFamily="34" charset="-127"/>
              </a:rPr>
              <a:t>퍼실리테이터로</a:t>
            </a:r>
            <a:r>
              <a:rPr lang="ko-KR" altLang="en-US" sz="3100" b="1" dirty="0">
                <a:latin typeface="NanumGothic" panose="020D0604000000000000" pitchFamily="34" charset="-127"/>
                <a:ea typeface="NanumGothic" panose="020D0604000000000000" pitchFamily="34" charset="-127"/>
              </a:rPr>
              <a:t> 재정의할 필요성 제시</a:t>
            </a:r>
          </a:p>
        </p:txBody>
      </p:sp>
      <p:sp>
        <p:nvSpPr>
          <p:cNvPr id="103" name="Google Shape;103;p1"/>
          <p:cNvSpPr/>
          <p:nvPr/>
        </p:nvSpPr>
        <p:spPr>
          <a:xfrm>
            <a:off x="1631975" y="35751780"/>
            <a:ext cx="29095619" cy="972000"/>
          </a:xfrm>
          <a:prstGeom prst="rect">
            <a:avLst/>
          </a:prstGeom>
          <a:solidFill>
            <a:srgbClr val="0F0F70"/>
          </a:solidFill>
          <a:ln w="19050" cap="flat" cmpd="sng">
            <a:solidFill>
              <a:srgbClr val="0F0F70"/>
            </a:solidFill>
            <a:prstDash val="solid"/>
            <a:miter lim="800000"/>
            <a:headEnd type="none" w="sm" len="sm"/>
            <a:tailEnd type="none" w="sm" len="sm"/>
          </a:ln>
        </p:spPr>
        <p:txBody>
          <a:bodyPr spcFirstLastPara="1" wrap="square" lIns="92273" tIns="46124" rIns="92273" bIns="46124" anchor="ctr" anchorCtr="0">
            <a:noAutofit/>
          </a:bodyPr>
          <a:lstStyle/>
          <a:p>
            <a:pPr algn="ctr"/>
            <a:r>
              <a:rPr lang="en-US" sz="5450" b="1" dirty="0">
                <a:solidFill>
                  <a:srgbClr val="FFFFFF"/>
                </a:solidFill>
              </a:rPr>
              <a:t>CONCLUSION</a:t>
            </a:r>
            <a:endParaRPr sz="4441" b="1" dirty="0">
              <a:solidFill>
                <a:srgbClr val="FFFFFF"/>
              </a:solidFill>
            </a:endParaRPr>
          </a:p>
        </p:txBody>
      </p:sp>
      <p:pic>
        <p:nvPicPr>
          <p:cNvPr id="104" name="Google Shape;104;p1"/>
          <p:cNvPicPr preferRelativeResize="0"/>
          <p:nvPr/>
        </p:nvPicPr>
        <p:blipFill rotWithShape="1">
          <a:blip r:embed="rId4">
            <a:alphaModFix/>
          </a:blip>
          <a:srcRect t="85800"/>
          <a:stretch/>
        </p:blipFill>
        <p:spPr>
          <a:xfrm>
            <a:off x="24434800" y="42067545"/>
            <a:ext cx="7037733" cy="825426"/>
          </a:xfrm>
          <a:prstGeom prst="rect">
            <a:avLst/>
          </a:prstGeom>
          <a:noFill/>
          <a:ln>
            <a:noFill/>
          </a:ln>
        </p:spPr>
      </p:pic>
      <p:sp>
        <p:nvSpPr>
          <p:cNvPr id="2" name="직사각형 1">
            <a:extLst>
              <a:ext uri="{FF2B5EF4-FFF2-40B4-BE49-F238E27FC236}">
                <a16:creationId xmlns:a16="http://schemas.microsoft.com/office/drawing/2014/main" id="{374DF909-465D-2611-EA67-52591FB83086}"/>
              </a:ext>
            </a:extLst>
          </p:cNvPr>
          <p:cNvSpPr/>
          <p:nvPr/>
        </p:nvSpPr>
        <p:spPr>
          <a:xfrm>
            <a:off x="1690413" y="7251236"/>
            <a:ext cx="14163771" cy="103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ko-KR" altLang="en-US" sz="3400" b="1" dirty="0">
                <a:solidFill>
                  <a:srgbClr val="0056B3"/>
                </a:solidFill>
                <a:effectLst/>
                <a:latin typeface="NanumGothic" panose="020D0604000000000000" pitchFamily="34" charset="-127"/>
                <a:ea typeface="NanumGothic" panose="020D0604000000000000" pitchFamily="34" charset="-127"/>
              </a:rPr>
              <a:t>연구 배경</a:t>
            </a:r>
            <a:endParaRPr lang="en-US" altLang="ko-KR" sz="3400" b="1" dirty="0">
              <a:solidFill>
                <a:srgbClr val="0056B3"/>
              </a:solidFill>
              <a:effectLst/>
              <a:latin typeface="NanumGothic" panose="020D0604000000000000" pitchFamily="34" charset="-127"/>
              <a:ea typeface="NanumGothic" panose="020D0604000000000000" pitchFamily="34" charset="-127"/>
            </a:endParaRPr>
          </a:p>
        </p:txBody>
      </p:sp>
      <p:cxnSp>
        <p:nvCxnSpPr>
          <p:cNvPr id="5" name="직선 연결선[R] 4">
            <a:extLst>
              <a:ext uri="{FF2B5EF4-FFF2-40B4-BE49-F238E27FC236}">
                <a16:creationId xmlns:a16="http://schemas.microsoft.com/office/drawing/2014/main" id="{2DB4AA5B-EA4A-DDFE-8AF0-B98EE3259A76}"/>
              </a:ext>
            </a:extLst>
          </p:cNvPr>
          <p:cNvCxnSpPr>
            <a:cxnSpLocks/>
          </p:cNvCxnSpPr>
          <p:nvPr/>
        </p:nvCxnSpPr>
        <p:spPr>
          <a:xfrm>
            <a:off x="1860491" y="8192816"/>
            <a:ext cx="13713146" cy="0"/>
          </a:xfrm>
          <a:prstGeom prst="line">
            <a:avLst/>
          </a:prstGeom>
          <a:ln w="53975"/>
        </p:spPr>
        <p:style>
          <a:lnRef idx="1">
            <a:schemeClr val="accent1"/>
          </a:lnRef>
          <a:fillRef idx="0">
            <a:schemeClr val="accent1"/>
          </a:fillRef>
          <a:effectRef idx="0">
            <a:schemeClr val="accent1"/>
          </a:effectRef>
          <a:fontRef idx="minor">
            <a:schemeClr val="tx1"/>
          </a:fontRef>
        </p:style>
      </p:cxnSp>
      <p:sp>
        <p:nvSpPr>
          <p:cNvPr id="7" name="Google Shape;87;p1">
            <a:extLst>
              <a:ext uri="{FF2B5EF4-FFF2-40B4-BE49-F238E27FC236}">
                <a16:creationId xmlns:a16="http://schemas.microsoft.com/office/drawing/2014/main" id="{E8C6935C-58D5-D3CC-4B9A-96F8A790B124}"/>
              </a:ext>
            </a:extLst>
          </p:cNvPr>
          <p:cNvSpPr>
            <a:spLocks/>
          </p:cNvSpPr>
          <p:nvPr/>
        </p:nvSpPr>
        <p:spPr>
          <a:xfrm>
            <a:off x="1807718" y="8396679"/>
            <a:ext cx="13765919" cy="4626718"/>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r>
              <a:rPr lang="ko-KR" altLang="en-US" sz="3100" b="1" dirty="0">
                <a:latin typeface="NanumGothic" panose="020D0604000000000000" pitchFamily="34" charset="-127"/>
                <a:ea typeface="NanumGothic" panose="020D0604000000000000" pitchFamily="34" charset="-127"/>
              </a:rPr>
              <a:t>생성형 </a:t>
            </a:r>
            <a:r>
              <a:rPr lang="en" altLang="ko-KR" sz="3100" b="1" dirty="0">
                <a:latin typeface="NanumGothic" panose="020D0604000000000000" pitchFamily="34" charset="-127"/>
                <a:ea typeface="NanumGothic" panose="020D0604000000000000" pitchFamily="34" charset="-127"/>
              </a:rPr>
              <a:t>AI</a:t>
            </a:r>
            <a:r>
              <a:rPr lang="ko-KR" altLang="en-US" sz="3100" b="1" dirty="0">
                <a:latin typeface="NanumGothic" panose="020D0604000000000000" pitchFamily="34" charset="-127"/>
                <a:ea typeface="NanumGothic" panose="020D0604000000000000" pitchFamily="34" charset="-127"/>
              </a:rPr>
              <a:t>의 확산과 창의적 업무의 딜레마</a:t>
            </a:r>
            <a:r>
              <a:rPr lang="ko-KR" altLang="en-US" sz="3100" b="1" kern="0" dirty="0">
                <a:effectLst/>
                <a:latin typeface="NanumGothic" panose="020D0604000000000000" pitchFamily="34" charset="-127"/>
                <a:ea typeface="NanumGothic" panose="020D0604000000000000" pitchFamily="34" charset="-127"/>
                <a:cs typeface="굴림" panose="020B0600000101010101" pitchFamily="34" charset="-127"/>
              </a:rPr>
              <a:t> </a:t>
            </a:r>
            <a:br>
              <a:rPr lang="en-US" altLang="ko-KR" sz="3100" b="1" kern="0" dirty="0">
                <a:effectLst/>
                <a:latin typeface="NanumGothic" panose="020D0604000000000000" pitchFamily="34" charset="-127"/>
                <a:ea typeface="NanumGothic" panose="020D0604000000000000" pitchFamily="34" charset="-127"/>
                <a:cs typeface="굴림" panose="020B0600000101010101" pitchFamily="34" charset="-127"/>
              </a:rPr>
            </a:br>
            <a:endParaRPr lang="en-US" altLang="ko-KR" sz="3100" b="1" kern="0" dirty="0">
              <a:effectLst/>
              <a:latin typeface="NanumGothic" panose="020D0604000000000000" pitchFamily="34" charset="-127"/>
              <a:ea typeface="NanumGothic" panose="020D0604000000000000" pitchFamily="34" charset="-127"/>
              <a:cs typeface="굴림" panose="020B0600000101010101" pitchFamily="34" charset="-127"/>
            </a:endParaRPr>
          </a:p>
          <a:p>
            <a:pPr marL="503238" indent="-263525">
              <a:lnSpc>
                <a:spcPts val="4120"/>
              </a:lnSpc>
              <a:buFont typeface="Wingdings" pitchFamily="2" charset="2"/>
              <a:buChar char="§"/>
            </a:pPr>
            <a:r>
              <a:rPr lang="ko-KR" altLang="en-US" sz="3100" dirty="0">
                <a:latin typeface="NanumGothic" panose="020D0604000000000000" pitchFamily="34" charset="-127"/>
                <a:ea typeface="NanumGothic" panose="020D0604000000000000" pitchFamily="34" charset="-127"/>
              </a:rPr>
              <a:t>생성형 </a:t>
            </a:r>
            <a:r>
              <a:rPr lang="en" altLang="ko-KR" sz="3100" dirty="0">
                <a:latin typeface="NanumGothic" panose="020D0604000000000000" pitchFamily="34" charset="-127"/>
                <a:ea typeface="NanumGothic" panose="020D0604000000000000" pitchFamily="34" charset="-127"/>
              </a:rPr>
              <a:t>AI</a:t>
            </a:r>
            <a:r>
              <a:rPr lang="ko-KR" altLang="en-US" sz="3100" dirty="0">
                <a:latin typeface="NanumGothic" panose="020D0604000000000000" pitchFamily="34" charset="-127"/>
                <a:ea typeface="NanumGothic" panose="020D0604000000000000" pitchFamily="34" charset="-127"/>
              </a:rPr>
              <a:t>는 디자인</a:t>
            </a:r>
            <a:r>
              <a:rPr lang="en-US" altLang="ko-KR" sz="3100" dirty="0">
                <a:latin typeface="NanumGothic" panose="020D0604000000000000" pitchFamily="34" charset="-127"/>
                <a:ea typeface="NanumGothic" panose="020D0604000000000000" pitchFamily="34" charset="-127"/>
              </a:rPr>
              <a:t>·</a:t>
            </a:r>
            <a:r>
              <a:rPr lang="ko-KR" altLang="en-US" sz="3100" dirty="0">
                <a:latin typeface="NanumGothic" panose="020D0604000000000000" pitchFamily="34" charset="-127"/>
                <a:ea typeface="NanumGothic" panose="020D0604000000000000" pitchFamily="34" charset="-127"/>
              </a:rPr>
              <a:t>기획</a:t>
            </a:r>
            <a:r>
              <a:rPr lang="en-US" altLang="ko-KR" sz="3100" dirty="0">
                <a:latin typeface="NanumGothic" panose="020D0604000000000000" pitchFamily="34" charset="-127"/>
                <a:ea typeface="NanumGothic" panose="020D0604000000000000" pitchFamily="34" charset="-127"/>
              </a:rPr>
              <a:t>·</a:t>
            </a:r>
            <a:r>
              <a:rPr lang="ko-KR" altLang="en-US" sz="3100" dirty="0">
                <a:latin typeface="NanumGothic" panose="020D0604000000000000" pitchFamily="34" charset="-127"/>
                <a:ea typeface="NanumGothic" panose="020D0604000000000000" pitchFamily="34" charset="-127"/>
              </a:rPr>
              <a:t>마케팅 등 아이디어 발산이 중요한 업무 환경에서</a:t>
            </a:r>
            <a:br>
              <a:rPr lang="ko-KR" altLang="en-US" sz="3100" dirty="0">
                <a:latin typeface="NanumGothic" panose="020D0604000000000000" pitchFamily="34" charset="-127"/>
                <a:ea typeface="NanumGothic" panose="020D0604000000000000" pitchFamily="34" charset="-127"/>
              </a:rPr>
            </a:br>
            <a:r>
              <a:rPr lang="ko-KR" altLang="en-US" sz="3100" dirty="0">
                <a:latin typeface="NanumGothic" panose="020D0604000000000000" pitchFamily="34" charset="-127"/>
                <a:ea typeface="NanumGothic" panose="020D0604000000000000" pitchFamily="34" charset="-127"/>
              </a:rPr>
              <a:t>초기 </a:t>
            </a:r>
            <a:r>
              <a:rPr lang="ko-KR" altLang="en-US" sz="3100" dirty="0" err="1">
                <a:latin typeface="NanumGothic" panose="020D0604000000000000" pitchFamily="34" charset="-127"/>
                <a:ea typeface="NanumGothic" panose="020D0604000000000000" pitchFamily="34" charset="-127"/>
              </a:rPr>
              <a:t>아이데이션의</a:t>
            </a:r>
            <a:r>
              <a:rPr lang="ko-KR" altLang="en-US" sz="3100" dirty="0">
                <a:latin typeface="NanumGothic" panose="020D0604000000000000" pitchFamily="34" charset="-127"/>
                <a:ea typeface="NanumGothic" panose="020D0604000000000000" pitchFamily="34" charset="-127"/>
              </a:rPr>
              <a:t> 속도와 효율을 크게 향상시킴</a:t>
            </a:r>
          </a:p>
          <a:p>
            <a:pPr marL="503238" indent="-263525">
              <a:lnSpc>
                <a:spcPts val="4120"/>
              </a:lnSpc>
              <a:buFont typeface="Wingdings" pitchFamily="2" charset="2"/>
              <a:buChar char="§"/>
            </a:pPr>
            <a:r>
              <a:rPr lang="ko-KR" altLang="en-US" sz="3100" kern="0" dirty="0">
                <a:effectLst/>
                <a:latin typeface="NanumGothic" panose="020D0604000000000000" pitchFamily="34" charset="-127"/>
                <a:ea typeface="NanumGothic" panose="020D0604000000000000" pitchFamily="34" charset="-127"/>
                <a:cs typeface="굴림" panose="020B0600000101010101" pitchFamily="34" charset="-127"/>
              </a:rPr>
              <a:t>그러나 </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확률적으로 높은 빈도의</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 '</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평균적 답변</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을 </a:t>
            </a:r>
            <a:r>
              <a:rPr lang="ko-KR" altLang="ko-KR" sz="3100" kern="0" dirty="0" err="1">
                <a:effectLst/>
                <a:latin typeface="NanumGothic" panose="020D0604000000000000" pitchFamily="34" charset="-127"/>
                <a:ea typeface="NanumGothic" panose="020D0604000000000000" pitchFamily="34" charset="-127"/>
                <a:cs typeface="굴림" panose="020B0600000101010101" pitchFamily="34" charset="-127"/>
              </a:rPr>
              <a:t>제공함</a:t>
            </a:r>
            <a:r>
              <a:rPr lang="ko-KR" altLang="en-US" sz="3100" kern="0" dirty="0" err="1">
                <a:effectLst/>
                <a:latin typeface="NanumGothic" panose="020D0604000000000000" pitchFamily="34" charset="-127"/>
                <a:ea typeface="NanumGothic" panose="020D0604000000000000" pitchFamily="34" charset="-127"/>
                <a:cs typeface="굴림" panose="020B0600000101010101" pitchFamily="34" charset="-127"/>
              </a:rPr>
              <a:t>기에</a:t>
            </a:r>
            <a:br>
              <a:rPr lang="en-US" altLang="ko-KR" sz="3100" dirty="0">
                <a:latin typeface="NanumGothic" panose="020D0604000000000000" pitchFamily="34" charset="-127"/>
                <a:ea typeface="NanumGothic" panose="020D0604000000000000" pitchFamily="34" charset="-127"/>
                <a:cs typeface="굴림" panose="020B0600000101010101" pitchFamily="34" charset="-127"/>
              </a:rPr>
            </a:b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사용자의 사고를 </a:t>
            </a:r>
            <a:r>
              <a:rPr lang="ko-KR" altLang="ko-KR" sz="3100" kern="0" dirty="0" err="1">
                <a:effectLst/>
                <a:latin typeface="NanumGothic" panose="020D0604000000000000" pitchFamily="34" charset="-127"/>
                <a:ea typeface="NanumGothic" panose="020D0604000000000000" pitchFamily="34" charset="-127"/>
                <a:cs typeface="굴림" panose="020B0600000101010101" pitchFamily="34" charset="-127"/>
              </a:rPr>
              <a:t>획일화하</a:t>
            </a:r>
            <a:r>
              <a:rPr lang="ko-KR" altLang="en-US" sz="3100" kern="0" dirty="0" err="1">
                <a:effectLst/>
                <a:latin typeface="NanumGothic" panose="020D0604000000000000" pitchFamily="34" charset="-127"/>
                <a:ea typeface="NanumGothic" panose="020D0604000000000000" pitchFamily="34" charset="-127"/>
                <a:cs typeface="굴림" panose="020B0600000101010101" pitchFamily="34" charset="-127"/>
              </a:rPr>
              <a:t>거나</a:t>
            </a:r>
            <a:r>
              <a:rPr lang="ko-KR" altLang="en-US" sz="3100" kern="0" dirty="0">
                <a:effectLst/>
                <a:latin typeface="NanumGothic" panose="020D0604000000000000" pitchFamily="34" charset="-127"/>
                <a:ea typeface="NanumGothic" panose="020D0604000000000000" pitchFamily="34" charset="-127"/>
                <a:cs typeface="굴림" panose="020B0600000101010101" pitchFamily="34" charset="-127"/>
              </a:rPr>
              <a:t> </a:t>
            </a:r>
            <a:r>
              <a:rPr lang="ko-KR" altLang="en-US" sz="3100" dirty="0">
                <a:latin typeface="NanumGothic" panose="020D0604000000000000" pitchFamily="34" charset="-127"/>
                <a:ea typeface="NanumGothic" panose="020D0604000000000000" pitchFamily="34" charset="-127"/>
              </a:rPr>
              <a:t>특정 방향에 고정시키는</a:t>
            </a:r>
            <a:r>
              <a:rPr lang="en-US" altLang="ko-KR" sz="3100" dirty="0">
                <a:latin typeface="NanumGothic" panose="020D0604000000000000" pitchFamily="34" charset="-127"/>
                <a:ea typeface="NanumGothic" panose="020D0604000000000000" pitchFamily="34" charset="-127"/>
              </a:rPr>
              <a:t> </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 </a:t>
            </a:r>
            <a:r>
              <a:rPr lang="ko-KR" altLang="en-US" sz="3100" kern="0" dirty="0">
                <a:effectLst/>
                <a:latin typeface="NanumGothic" panose="020D0604000000000000" pitchFamily="34" charset="-127"/>
                <a:ea typeface="NanumGothic" panose="020D0604000000000000" pitchFamily="34" charset="-127"/>
                <a:cs typeface="굴림" panose="020B0600000101010101" pitchFamily="34" charset="-127"/>
              </a:rPr>
              <a:t>우려가 존재</a:t>
            </a:r>
            <a:endPar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endParaRPr>
          </a:p>
          <a:p>
            <a:pPr marL="503238" indent="-263525">
              <a:lnSpc>
                <a:spcPts val="4120"/>
              </a:lnSpc>
              <a:buFont typeface="Wingdings" pitchFamily="2" charset="2"/>
              <a:buChar char="§"/>
            </a:pP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 </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특히 </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AI</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가 제시한 구체적인 초기 </a:t>
            </a:r>
            <a:r>
              <a:rPr lang="ko-KR" altLang="en-US" sz="3100" kern="0" dirty="0">
                <a:effectLst/>
                <a:latin typeface="NanumGothic" panose="020D0604000000000000" pitchFamily="34" charset="-127"/>
                <a:ea typeface="NanumGothic" panose="020D0604000000000000" pitchFamily="34" charset="-127"/>
                <a:cs typeface="굴림" panose="020B0600000101010101" pitchFamily="34" charset="-127"/>
              </a:rPr>
              <a:t>답변과 예시는 </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결과물에 비판 없이 안주하는 </a:t>
            </a:r>
            <a:r>
              <a:rPr lang="ko-KR" altLang="en-US" sz="3100" dirty="0">
                <a:latin typeface="NanumGothic" panose="020D0604000000000000" pitchFamily="34" charset="-127"/>
                <a:ea typeface="NanumGothic" panose="020D0604000000000000" pitchFamily="34" charset="-127"/>
                <a:cs typeface="굴림" panose="020B0600000101010101" pitchFamily="34" charset="-127"/>
              </a:rPr>
              <a:t> </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인지적 고착</a:t>
            </a:r>
            <a:r>
              <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rPr>
              <a:t>(Cognitive Fixation)' </a:t>
            </a:r>
            <a:r>
              <a:rPr lang="ko-KR" altLang="ko-KR" sz="3100" kern="0" dirty="0">
                <a:effectLst/>
                <a:latin typeface="NanumGothic" panose="020D0604000000000000" pitchFamily="34" charset="-127"/>
                <a:ea typeface="NanumGothic" panose="020D0604000000000000" pitchFamily="34" charset="-127"/>
                <a:cs typeface="굴림" panose="020B0600000101010101" pitchFamily="34" charset="-127"/>
              </a:rPr>
              <a:t>현상을 겪기</a:t>
            </a:r>
            <a:r>
              <a:rPr lang="ko-KR" altLang="en-US" sz="3100" kern="0" dirty="0">
                <a:effectLst/>
                <a:latin typeface="NanumGothic" panose="020D0604000000000000" pitchFamily="34" charset="-127"/>
                <a:ea typeface="NanumGothic" panose="020D0604000000000000" pitchFamily="34" charset="-127"/>
                <a:cs typeface="굴림" panose="020B0600000101010101" pitchFamily="34" charset="-127"/>
              </a:rPr>
              <a:t> 쉬움</a:t>
            </a:r>
            <a:endParaRPr lang="en-US" altLang="ko-KR" sz="3100" kern="0" dirty="0">
              <a:effectLst/>
              <a:latin typeface="NanumGothic" panose="020D0604000000000000" pitchFamily="34" charset="-127"/>
              <a:ea typeface="NanumGothic" panose="020D0604000000000000" pitchFamily="34" charset="-127"/>
              <a:cs typeface="굴림" panose="020B0600000101010101" pitchFamily="34" charset="-127"/>
            </a:endParaRPr>
          </a:p>
          <a:p>
            <a:endParaRPr lang="ko-KR" altLang="ko-KR" sz="3100" kern="100" dirty="0">
              <a:effectLst/>
              <a:latin typeface="NanumGothic" panose="020D0604000000000000" pitchFamily="34" charset="-127"/>
              <a:ea typeface="NanumGothic" panose="020D0604000000000000" pitchFamily="34" charset="-127"/>
              <a:cs typeface="Times New Roman" panose="02020603050405020304" pitchFamily="18" charset="0"/>
            </a:endParaRPr>
          </a:p>
        </p:txBody>
      </p:sp>
      <p:sp>
        <p:nvSpPr>
          <p:cNvPr id="8" name="직사각형 7">
            <a:extLst>
              <a:ext uri="{FF2B5EF4-FFF2-40B4-BE49-F238E27FC236}">
                <a16:creationId xmlns:a16="http://schemas.microsoft.com/office/drawing/2014/main" id="{CF58CE00-780D-A709-E204-03549D7951EC}"/>
              </a:ext>
            </a:extLst>
          </p:cNvPr>
          <p:cNvSpPr/>
          <p:nvPr/>
        </p:nvSpPr>
        <p:spPr>
          <a:xfrm>
            <a:off x="1912522" y="12676653"/>
            <a:ext cx="13713146" cy="1471249"/>
          </a:xfrm>
          <a:prstGeom prst="rect">
            <a:avLst/>
          </a:prstGeom>
          <a:ln>
            <a:solidFill>
              <a:srgbClr val="5B9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39713" algn="ctr"/>
            <a:r>
              <a:rPr lang="ko-KR" altLang="en-US" sz="3100" b="1" dirty="0">
                <a:solidFill>
                  <a:schemeClr val="bg1"/>
                </a:solidFill>
                <a:latin typeface="NanumGothic" panose="020D0604000000000000" pitchFamily="34" charset="-127"/>
                <a:ea typeface="NanumGothic" panose="020D0604000000000000" pitchFamily="34" charset="-127"/>
              </a:rPr>
              <a:t>결과적으로</a:t>
            </a:r>
            <a:r>
              <a:rPr lang="en-US" altLang="ko-KR" sz="3100" b="1" dirty="0">
                <a:solidFill>
                  <a:schemeClr val="bg1"/>
                </a:solidFill>
                <a:latin typeface="NanumGothic" panose="020D0604000000000000" pitchFamily="34" charset="-127"/>
                <a:ea typeface="NanumGothic" panose="020D0604000000000000" pitchFamily="34" charset="-127"/>
              </a:rPr>
              <a:t>, </a:t>
            </a:r>
            <a:r>
              <a:rPr lang="ko-KR" altLang="en-US" sz="3100" b="1" dirty="0">
                <a:solidFill>
                  <a:schemeClr val="bg1"/>
                </a:solidFill>
                <a:latin typeface="NanumGothic" panose="020D0604000000000000" pitchFamily="34" charset="-127"/>
                <a:ea typeface="NanumGothic" panose="020D0604000000000000" pitchFamily="34" charset="-127"/>
              </a:rPr>
              <a:t>개별 아이디어의 완성도는 높아질 수 있으나 </a:t>
            </a:r>
            <a:br>
              <a:rPr lang="en-US" altLang="ko-KR" sz="3100" b="1" dirty="0">
                <a:solidFill>
                  <a:schemeClr val="bg1"/>
                </a:solidFill>
                <a:latin typeface="NanumGothic" panose="020D0604000000000000" pitchFamily="34" charset="-127"/>
                <a:ea typeface="NanumGothic" panose="020D0604000000000000" pitchFamily="34" charset="-127"/>
              </a:rPr>
            </a:br>
            <a:r>
              <a:rPr lang="ko-KR" altLang="en-US" sz="3100" b="1" dirty="0">
                <a:solidFill>
                  <a:schemeClr val="bg1"/>
                </a:solidFill>
                <a:latin typeface="NanumGothic" panose="020D0604000000000000" pitchFamily="34" charset="-127"/>
                <a:ea typeface="NanumGothic" panose="020D0604000000000000" pitchFamily="34" charset="-127"/>
              </a:rPr>
              <a:t>집단적 다양성과 탐색 폭은 감소할 가능성을 제기</a:t>
            </a:r>
          </a:p>
        </p:txBody>
      </p:sp>
      <p:sp>
        <p:nvSpPr>
          <p:cNvPr id="9" name="Google Shape;87;p1">
            <a:extLst>
              <a:ext uri="{FF2B5EF4-FFF2-40B4-BE49-F238E27FC236}">
                <a16:creationId xmlns:a16="http://schemas.microsoft.com/office/drawing/2014/main" id="{B7D2F532-4A9A-6245-0D1C-821D28425742}"/>
              </a:ext>
            </a:extLst>
          </p:cNvPr>
          <p:cNvSpPr>
            <a:spLocks/>
          </p:cNvSpPr>
          <p:nvPr/>
        </p:nvSpPr>
        <p:spPr>
          <a:xfrm>
            <a:off x="1807718" y="14703535"/>
            <a:ext cx="13765919" cy="4626718"/>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r>
              <a:rPr lang="en" altLang="ko-KR" sz="3100" b="1" dirty="0">
                <a:latin typeface="NanumGothic" panose="020D0604000000000000" pitchFamily="34" charset="-127"/>
                <a:ea typeface="NanumGothic" panose="020D0604000000000000" pitchFamily="34" charset="-127"/>
              </a:rPr>
              <a:t>AI </a:t>
            </a:r>
            <a:r>
              <a:rPr lang="ko-KR" altLang="en-US" sz="3100" b="1" dirty="0">
                <a:latin typeface="NanumGothic" panose="020D0604000000000000" pitchFamily="34" charset="-127"/>
                <a:ea typeface="NanumGothic" panose="020D0604000000000000" pitchFamily="34" charset="-127"/>
              </a:rPr>
              <a:t>의존과 심리적 경험의 변화 </a:t>
            </a:r>
            <a:br>
              <a:rPr lang="en-US" altLang="ko-KR" sz="3100" b="1" kern="0" dirty="0">
                <a:effectLst/>
                <a:latin typeface="NanumGothic" panose="020D0604000000000000" pitchFamily="34" charset="-127"/>
                <a:ea typeface="NanumGothic" panose="020D0604000000000000" pitchFamily="34" charset="-127"/>
                <a:cs typeface="굴림" panose="020B0600000101010101" pitchFamily="34" charset="-127"/>
              </a:rPr>
            </a:br>
            <a:endParaRPr lang="en-US" altLang="ko-KR" sz="3100" b="1" kern="0" dirty="0">
              <a:effectLst/>
              <a:latin typeface="NanumGothic" panose="020D0604000000000000" pitchFamily="34" charset="-127"/>
              <a:ea typeface="NanumGothic" panose="020D0604000000000000" pitchFamily="34" charset="-127"/>
              <a:cs typeface="굴림" panose="020B0600000101010101" pitchFamily="34" charset="-127"/>
            </a:endParaRPr>
          </a:p>
          <a:p>
            <a:pPr marL="503238" indent="-263525">
              <a:lnSpc>
                <a:spcPts val="4120"/>
              </a:lnSpc>
              <a:buFont typeface="Wingdings" pitchFamily="2" charset="2"/>
              <a:buChar char="§"/>
            </a:pPr>
            <a:r>
              <a:rPr lang="en-US" altLang="ko-KR" sz="3100" dirty="0">
                <a:latin typeface="NanumGothic" panose="020D0604000000000000" pitchFamily="34" charset="-127"/>
                <a:ea typeface="NanumGothic" panose="020D0604000000000000" pitchFamily="34" charset="-127"/>
              </a:rPr>
              <a:t>AI</a:t>
            </a:r>
            <a:r>
              <a:rPr lang="ko-KR" altLang="en-US" sz="3100" dirty="0">
                <a:latin typeface="NanumGothic" panose="020D0604000000000000" pitchFamily="34" charset="-127"/>
                <a:ea typeface="NanumGothic" panose="020D0604000000000000" pitchFamily="34" charset="-127"/>
              </a:rPr>
              <a:t>가 창작의 노력을 대신할 때</a:t>
            </a:r>
            <a:r>
              <a:rPr lang="en-US" altLang="ko-KR" sz="3100" dirty="0">
                <a:latin typeface="NanumGothic" panose="020D0604000000000000" pitchFamily="34" charset="-127"/>
                <a:ea typeface="NanumGothic" panose="020D0604000000000000" pitchFamily="34" charset="-127"/>
              </a:rPr>
              <a:t>, </a:t>
            </a:r>
            <a:r>
              <a:rPr lang="ko-KR" altLang="en-US" sz="3100" dirty="0">
                <a:latin typeface="NanumGothic" panose="020D0604000000000000" pitchFamily="34" charset="-127"/>
                <a:ea typeface="NanumGothic" panose="020D0604000000000000" pitchFamily="34" charset="-127"/>
              </a:rPr>
              <a:t>결과물에 대한 주인의식이 사라짐</a:t>
            </a:r>
          </a:p>
          <a:p>
            <a:pPr marL="503238" indent="-263525">
              <a:lnSpc>
                <a:spcPts val="4120"/>
              </a:lnSpc>
              <a:buFont typeface="Wingdings" pitchFamily="2" charset="2"/>
              <a:buChar char="§"/>
            </a:pPr>
            <a:r>
              <a:rPr lang="en" altLang="ko-KR" sz="3100" dirty="0">
                <a:latin typeface="NanumGothic" panose="020D0604000000000000" pitchFamily="34" charset="-127"/>
                <a:ea typeface="NanumGothic" panose="020D0604000000000000" pitchFamily="34" charset="-127"/>
              </a:rPr>
              <a:t>AI </a:t>
            </a:r>
            <a:r>
              <a:rPr lang="ko-KR" altLang="en-US" sz="3100" dirty="0">
                <a:latin typeface="NanumGothic" panose="020D0604000000000000" pitchFamily="34" charset="-127"/>
                <a:ea typeface="NanumGothic" panose="020D0604000000000000" pitchFamily="34" charset="-127"/>
              </a:rPr>
              <a:t>의존도가 높아질수록</a:t>
            </a:r>
            <a:r>
              <a:rPr lang="en-US" altLang="ko-KR" sz="3100" dirty="0">
                <a:latin typeface="NanumGothic" panose="020D0604000000000000" pitchFamily="34" charset="-127"/>
                <a:ea typeface="NanumGothic" panose="020D0604000000000000" pitchFamily="34" charset="-127"/>
              </a:rPr>
              <a:t>:</a:t>
            </a:r>
          </a:p>
          <a:p>
            <a:pPr marL="1160463" indent="-263525">
              <a:lnSpc>
                <a:spcPts val="4120"/>
              </a:lnSpc>
              <a:buFont typeface="Wingdings" pitchFamily="2" charset="2"/>
              <a:buChar char="§"/>
            </a:pPr>
            <a:r>
              <a:rPr lang="ko-KR" altLang="en-US" sz="3100" dirty="0">
                <a:latin typeface="NanumGothic" panose="020D0604000000000000" pitchFamily="34" charset="-127"/>
                <a:ea typeface="NanumGothic" panose="020D0604000000000000" pitchFamily="34" charset="-127"/>
              </a:rPr>
              <a:t>아이디어에 대한 심리적 </a:t>
            </a:r>
            <a:r>
              <a:rPr lang="ko-KR" altLang="en-US" sz="3100" dirty="0" err="1">
                <a:latin typeface="NanumGothic" panose="020D0604000000000000" pitchFamily="34" charset="-127"/>
                <a:ea typeface="NanumGothic" panose="020D0604000000000000" pitchFamily="34" charset="-127"/>
              </a:rPr>
              <a:t>소유감</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Psychological Ownership) </a:t>
            </a:r>
            <a:r>
              <a:rPr lang="ko-KR" altLang="en-US" sz="3100" dirty="0">
                <a:latin typeface="NanumGothic" panose="020D0604000000000000" pitchFamily="34" charset="-127"/>
                <a:ea typeface="NanumGothic" panose="020D0604000000000000" pitchFamily="34" charset="-127"/>
              </a:rPr>
              <a:t>감소</a:t>
            </a:r>
            <a:endParaRPr lang="en-US" altLang="ko-KR" sz="3100" dirty="0">
              <a:latin typeface="NanumGothic" panose="020D0604000000000000" pitchFamily="34" charset="-127"/>
              <a:ea typeface="NanumGothic" panose="020D0604000000000000" pitchFamily="34" charset="-127"/>
            </a:endParaRPr>
          </a:p>
          <a:p>
            <a:pPr marL="1160463" indent="-263525">
              <a:lnSpc>
                <a:spcPts val="4120"/>
              </a:lnSpc>
              <a:buFont typeface="Wingdings" pitchFamily="2" charset="2"/>
              <a:buChar char="§"/>
            </a:pPr>
            <a:r>
              <a:rPr lang="ko-KR" altLang="en-US" sz="3100" dirty="0">
                <a:latin typeface="NanumGothic" panose="020D0604000000000000" pitchFamily="34" charset="-127"/>
                <a:ea typeface="NanumGothic" panose="020D0604000000000000" pitchFamily="34" charset="-127"/>
              </a:rPr>
              <a:t>사고를 주도하고 있다는 지각된 자율성</a:t>
            </a:r>
            <a:r>
              <a:rPr lang="en-US" altLang="ko-KR" sz="3100" dirty="0">
                <a:latin typeface="NanumGothic" panose="020D0604000000000000" pitchFamily="34" charset="-127"/>
                <a:ea typeface="NanumGothic" panose="020D0604000000000000" pitchFamily="34" charset="-127"/>
              </a:rPr>
              <a:t>(</a:t>
            </a:r>
            <a:r>
              <a:rPr lang="en" altLang="ko-KR" sz="3100" dirty="0">
                <a:latin typeface="NanumGothic" panose="020D0604000000000000" pitchFamily="34" charset="-127"/>
                <a:ea typeface="NanumGothic" panose="020D0604000000000000" pitchFamily="34" charset="-127"/>
              </a:rPr>
              <a:t>Perceived Autonomy) </a:t>
            </a:r>
            <a:r>
              <a:rPr lang="ko-KR" altLang="en-US" sz="3100" dirty="0">
                <a:latin typeface="NanumGothic" panose="020D0604000000000000" pitchFamily="34" charset="-127"/>
                <a:ea typeface="NanumGothic" panose="020D0604000000000000" pitchFamily="34" charset="-127"/>
              </a:rPr>
              <a:t>저하</a:t>
            </a:r>
          </a:p>
          <a:p>
            <a:endParaRPr lang="ko-KR" altLang="ko-KR" sz="3100" kern="100" dirty="0">
              <a:effectLst/>
              <a:latin typeface="NanumGothic" panose="020D0604000000000000" pitchFamily="34" charset="-127"/>
              <a:ea typeface="NanumGothic" panose="020D0604000000000000" pitchFamily="34" charset="-127"/>
              <a:cs typeface="Times New Roman" panose="02020603050405020304" pitchFamily="18" charset="0"/>
            </a:endParaRPr>
          </a:p>
        </p:txBody>
      </p:sp>
      <p:sp>
        <p:nvSpPr>
          <p:cNvPr id="10" name="직사각형 9">
            <a:extLst>
              <a:ext uri="{FF2B5EF4-FFF2-40B4-BE49-F238E27FC236}">
                <a16:creationId xmlns:a16="http://schemas.microsoft.com/office/drawing/2014/main" id="{14C99EC9-E148-84C2-61AC-9F7983296A85}"/>
              </a:ext>
            </a:extLst>
          </p:cNvPr>
          <p:cNvSpPr/>
          <p:nvPr/>
        </p:nvSpPr>
        <p:spPr>
          <a:xfrm>
            <a:off x="1912522" y="17991040"/>
            <a:ext cx="13713146" cy="1471249"/>
          </a:xfrm>
          <a:prstGeom prst="rect">
            <a:avLst/>
          </a:prstGeom>
          <a:ln>
            <a:solidFill>
              <a:srgbClr val="5B9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39713" algn="ctr"/>
            <a:r>
              <a:rPr lang="ko-KR" altLang="en-US" sz="3100" b="1" dirty="0">
                <a:solidFill>
                  <a:schemeClr val="bg1"/>
                </a:solidFill>
                <a:latin typeface="NanumGothic" panose="020D0604000000000000" pitchFamily="34" charset="-127"/>
                <a:ea typeface="NanumGothic" panose="020D0604000000000000" pitchFamily="34" charset="-127"/>
              </a:rPr>
              <a:t>결과를 대신 만들어주는 존재가 아니라</a:t>
            </a:r>
            <a:br>
              <a:rPr lang="ko-KR" altLang="en-US" sz="3100" b="1" dirty="0">
                <a:solidFill>
                  <a:schemeClr val="bg1"/>
                </a:solidFill>
                <a:latin typeface="NanumGothic" panose="020D0604000000000000" pitchFamily="34" charset="-127"/>
                <a:ea typeface="NanumGothic" panose="020D0604000000000000" pitchFamily="34" charset="-127"/>
              </a:rPr>
            </a:br>
            <a:r>
              <a:rPr lang="ko-KR" altLang="en-US" sz="3100" b="1" dirty="0">
                <a:solidFill>
                  <a:schemeClr val="bg1"/>
                </a:solidFill>
                <a:latin typeface="NanumGothic" panose="020D0604000000000000" pitchFamily="34" charset="-127"/>
                <a:ea typeface="NanumGothic" panose="020D0604000000000000" pitchFamily="34" charset="-127"/>
              </a:rPr>
              <a:t>사용자의 사고를 유지</a:t>
            </a:r>
            <a:r>
              <a:rPr lang="en-US" altLang="ko-KR" sz="3100" b="1" dirty="0">
                <a:solidFill>
                  <a:schemeClr val="bg1"/>
                </a:solidFill>
                <a:latin typeface="NanumGothic" panose="020D0604000000000000" pitchFamily="34" charset="-127"/>
                <a:ea typeface="NanumGothic" panose="020D0604000000000000" pitchFamily="34" charset="-127"/>
              </a:rPr>
              <a:t>·</a:t>
            </a:r>
            <a:r>
              <a:rPr lang="ko-KR" altLang="en-US" sz="3100" b="1" dirty="0">
                <a:solidFill>
                  <a:schemeClr val="bg1"/>
                </a:solidFill>
                <a:latin typeface="NanumGothic" panose="020D0604000000000000" pitchFamily="34" charset="-127"/>
                <a:ea typeface="NanumGothic" panose="020D0604000000000000" pitchFamily="34" charset="-127"/>
              </a:rPr>
              <a:t>확장시키는 파트너로 설계될 필요성 존재</a:t>
            </a:r>
          </a:p>
        </p:txBody>
      </p:sp>
      <p:sp>
        <p:nvSpPr>
          <p:cNvPr id="11" name="직사각형 10">
            <a:extLst>
              <a:ext uri="{FF2B5EF4-FFF2-40B4-BE49-F238E27FC236}">
                <a16:creationId xmlns:a16="http://schemas.microsoft.com/office/drawing/2014/main" id="{9A61CA9F-5ACB-76AC-9995-6E913F42ADF3}"/>
              </a:ext>
            </a:extLst>
          </p:cNvPr>
          <p:cNvSpPr/>
          <p:nvPr/>
        </p:nvSpPr>
        <p:spPr>
          <a:xfrm>
            <a:off x="1807718" y="20613502"/>
            <a:ext cx="14163771" cy="103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ko-KR" altLang="en-US" sz="3400" b="1" dirty="0">
                <a:solidFill>
                  <a:srgbClr val="0056B3"/>
                </a:solidFill>
                <a:effectLst/>
                <a:latin typeface="NanumGothic" panose="020D0604000000000000" pitchFamily="34" charset="-127"/>
                <a:ea typeface="NanumGothic" panose="020D0604000000000000" pitchFamily="34" charset="-127"/>
              </a:rPr>
              <a:t>연구 목적</a:t>
            </a:r>
            <a:endParaRPr lang="en-US" altLang="ko-KR" sz="3400" b="1" dirty="0">
              <a:solidFill>
                <a:srgbClr val="0056B3"/>
              </a:solidFill>
              <a:effectLst/>
              <a:latin typeface="NanumGothic" panose="020D0604000000000000" pitchFamily="34" charset="-127"/>
              <a:ea typeface="NanumGothic" panose="020D0604000000000000" pitchFamily="34" charset="-127"/>
            </a:endParaRPr>
          </a:p>
        </p:txBody>
      </p:sp>
      <p:cxnSp>
        <p:nvCxnSpPr>
          <p:cNvPr id="12" name="직선 연결선[R] 11">
            <a:extLst>
              <a:ext uri="{FF2B5EF4-FFF2-40B4-BE49-F238E27FC236}">
                <a16:creationId xmlns:a16="http://schemas.microsoft.com/office/drawing/2014/main" id="{509A65E3-F44C-0CBE-5DA6-17A379F39FB7}"/>
              </a:ext>
            </a:extLst>
          </p:cNvPr>
          <p:cNvCxnSpPr>
            <a:cxnSpLocks/>
          </p:cNvCxnSpPr>
          <p:nvPr/>
        </p:nvCxnSpPr>
        <p:spPr>
          <a:xfrm>
            <a:off x="1977796" y="21555082"/>
            <a:ext cx="13713146" cy="0"/>
          </a:xfrm>
          <a:prstGeom prst="line">
            <a:avLst/>
          </a:prstGeom>
          <a:ln w="53975"/>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9BA77D8-B29D-D080-EF95-4F427EC1C448}"/>
              </a:ext>
            </a:extLst>
          </p:cNvPr>
          <p:cNvSpPr txBox="1"/>
          <p:nvPr/>
        </p:nvSpPr>
        <p:spPr>
          <a:xfrm>
            <a:off x="1911630" y="21770360"/>
            <a:ext cx="8637424" cy="569387"/>
          </a:xfrm>
          <a:prstGeom prst="rect">
            <a:avLst/>
          </a:prstGeom>
          <a:noFill/>
        </p:spPr>
        <p:txBody>
          <a:bodyPr wrap="square">
            <a:spAutoFit/>
          </a:bodyPr>
          <a:lstStyle/>
          <a:p>
            <a:r>
              <a:rPr lang="ko-KR" altLang="en-US" sz="3100" b="1" dirty="0">
                <a:latin typeface="NanumGothic" panose="020D0604000000000000" pitchFamily="34" charset="-127"/>
                <a:ea typeface="NanumGothic" panose="020D0604000000000000" pitchFamily="34" charset="-127"/>
              </a:rPr>
              <a:t>‘긍정적 마찰</a:t>
            </a:r>
            <a:r>
              <a:rPr lang="en-US" altLang="ko-KR" sz="3100" b="1" dirty="0">
                <a:latin typeface="NanumGothic" panose="020D0604000000000000" pitchFamily="34" charset="-127"/>
                <a:ea typeface="NanumGothic" panose="020D0604000000000000" pitchFamily="34" charset="-127"/>
              </a:rPr>
              <a:t>(</a:t>
            </a:r>
            <a:r>
              <a:rPr lang="en" altLang="ko-KR" sz="3100" b="1" dirty="0">
                <a:latin typeface="NanumGothic" panose="020D0604000000000000" pitchFamily="34" charset="-127"/>
                <a:ea typeface="NanumGothic" panose="020D0604000000000000" pitchFamily="34" charset="-127"/>
              </a:rPr>
              <a:t>Positive Friction)’</a:t>
            </a:r>
            <a:r>
              <a:rPr lang="ko-KR" altLang="en-US" sz="3100" b="1" dirty="0">
                <a:latin typeface="NanumGothic" panose="020D0604000000000000" pitchFamily="34" charset="-127"/>
                <a:ea typeface="NanumGothic" panose="020D0604000000000000" pitchFamily="34" charset="-127"/>
              </a:rPr>
              <a:t>을 통한 사고 촉진</a:t>
            </a:r>
          </a:p>
        </p:txBody>
      </p:sp>
      <p:sp>
        <p:nvSpPr>
          <p:cNvPr id="16" name="TextBox 15">
            <a:extLst>
              <a:ext uri="{FF2B5EF4-FFF2-40B4-BE49-F238E27FC236}">
                <a16:creationId xmlns:a16="http://schemas.microsoft.com/office/drawing/2014/main" id="{3EFF7AEE-1BEA-8193-CB8D-2A70E7FDA821}"/>
              </a:ext>
            </a:extLst>
          </p:cNvPr>
          <p:cNvSpPr txBox="1"/>
          <p:nvPr/>
        </p:nvSpPr>
        <p:spPr>
          <a:xfrm>
            <a:off x="1977796" y="22462522"/>
            <a:ext cx="14046466" cy="7309693"/>
          </a:xfrm>
          <a:prstGeom prst="rect">
            <a:avLst/>
          </a:prstGeom>
          <a:noFill/>
        </p:spPr>
        <p:txBody>
          <a:bodyPr wrap="square">
            <a:spAutoFit/>
          </a:bodyPr>
          <a:lstStyle/>
          <a:p>
            <a:pPr marL="107950"/>
            <a:r>
              <a:rPr lang="en-US" altLang="ko-KR" sz="3100" dirty="0">
                <a:latin typeface="NanumGothic" panose="020D0604000000000000" pitchFamily="34" charset="-127"/>
                <a:ea typeface="NanumGothic" panose="020D0604000000000000" pitchFamily="34" charset="-127"/>
              </a:rPr>
              <a:t>:</a:t>
            </a:r>
            <a:r>
              <a:rPr lang="ko-KR" altLang="en-US" sz="3100" dirty="0">
                <a:latin typeface="NanumGothic" panose="020D0604000000000000" pitchFamily="34" charset="-127"/>
                <a:ea typeface="NanumGothic" panose="020D0604000000000000" pitchFamily="34" charset="-127"/>
              </a:rPr>
              <a:t> 사고의 속도를 의도적으로 늦추고 인지적 노력을 유도하는 ‘긍정적 마찰’ </a:t>
            </a:r>
            <a:r>
              <a:rPr lang="ko-KR" altLang="en-US" sz="3100" dirty="0" err="1">
                <a:latin typeface="NanumGothic" panose="020D0604000000000000" pitchFamily="34" charset="-127"/>
                <a:ea typeface="NanumGothic" panose="020D0604000000000000" pitchFamily="34" charset="-127"/>
              </a:rPr>
              <a:t>에</a:t>
            </a:r>
            <a:r>
              <a:rPr lang="ko-KR" altLang="en-US" sz="3100" dirty="0">
                <a:latin typeface="NanumGothic" panose="020D0604000000000000" pitchFamily="34" charset="-127"/>
                <a:ea typeface="NanumGothic" panose="020D0604000000000000" pitchFamily="34" charset="-127"/>
              </a:rPr>
              <a:t> 주목</a:t>
            </a:r>
            <a:endParaRPr lang="en-US" altLang="ko-KR" sz="3100" dirty="0">
              <a:latin typeface="NanumGothic" panose="020D0604000000000000" pitchFamily="34" charset="-127"/>
              <a:ea typeface="NanumGothic" panose="020D0604000000000000" pitchFamily="34" charset="-127"/>
            </a:endParaRPr>
          </a:p>
          <a:p>
            <a:pPr marL="371475" indent="-263525">
              <a:buFont typeface="Wingdings" pitchFamily="2" charset="2"/>
              <a:buChar char="§"/>
            </a:pPr>
            <a:r>
              <a:rPr lang="ko-KR" altLang="en-US" sz="3100" dirty="0" err="1">
                <a:latin typeface="NanumGothic" panose="020D0604000000000000" pitchFamily="34" charset="-127"/>
                <a:ea typeface="NanumGothic" panose="020D0604000000000000" pitchFamily="34" charset="-127"/>
              </a:rPr>
              <a:t>아이디에이션</a:t>
            </a:r>
            <a:r>
              <a:rPr lang="ko-KR" altLang="en-US" sz="3100" dirty="0">
                <a:latin typeface="NanumGothic" panose="020D0604000000000000" pitchFamily="34" charset="-127"/>
                <a:ea typeface="NanumGothic" panose="020D0604000000000000" pitchFamily="34" charset="-127"/>
              </a:rPr>
              <a:t> 과정에서 </a:t>
            </a:r>
            <a:r>
              <a:rPr lang="en" altLang="ko-KR" sz="3100" dirty="0">
                <a:latin typeface="NanumGothic" panose="020D0604000000000000" pitchFamily="34" charset="-127"/>
                <a:ea typeface="NanumGothic" panose="020D0604000000000000" pitchFamily="34" charset="-127"/>
              </a:rPr>
              <a:t>AI</a:t>
            </a:r>
            <a:r>
              <a:rPr lang="ko-KR" altLang="en-US" sz="3100" dirty="0">
                <a:latin typeface="NanumGothic" panose="020D0604000000000000" pitchFamily="34" charset="-127"/>
                <a:ea typeface="NanumGothic" panose="020D0604000000000000" pitchFamily="34" charset="-127"/>
              </a:rPr>
              <a:t>의  응답 방식이 사용자 경험에 미치는 영향을 비교</a:t>
            </a:r>
            <a:r>
              <a:rPr lang="en-US" altLang="ko-KR" sz="3100" dirty="0">
                <a:latin typeface="NanumGothic" panose="020D0604000000000000" pitchFamily="34" charset="-127"/>
                <a:ea typeface="NanumGothic" panose="020D0604000000000000" pitchFamily="34" charset="-127"/>
              </a:rPr>
              <a:t>:</a:t>
            </a:r>
          </a:p>
          <a:p>
            <a:pPr marL="546100" indent="306388">
              <a:buFont typeface="Wingdings" pitchFamily="2" charset="2"/>
              <a:buChar char="§"/>
            </a:pPr>
            <a:r>
              <a:rPr lang="en" altLang="ko-KR" sz="3200" dirty="0">
                <a:solidFill>
                  <a:schemeClr val="tx1"/>
                </a:solidFill>
                <a:latin typeface="NanumGothic" panose="020D0604000000000000" pitchFamily="34" charset="-127"/>
                <a:ea typeface="NanumGothic" panose="020D0604000000000000" pitchFamily="34" charset="-127"/>
              </a:rPr>
              <a:t>AI</a:t>
            </a:r>
            <a:r>
              <a:rPr lang="ko-KR" altLang="en-US" sz="3200" dirty="0">
                <a:solidFill>
                  <a:schemeClr val="tx1"/>
                </a:solidFill>
                <a:latin typeface="NanumGothic" panose="020D0604000000000000" pitchFamily="34" charset="-127"/>
                <a:ea typeface="NanumGothic" panose="020D0604000000000000" pitchFamily="34" charset="-127"/>
              </a:rPr>
              <a:t>가 정답을 주는 대신 </a:t>
            </a:r>
            <a:br>
              <a:rPr lang="en-US" altLang="ko-KR" sz="3200" dirty="0">
                <a:solidFill>
                  <a:schemeClr val="tx1"/>
                </a:solidFill>
                <a:latin typeface="NanumGothic" panose="020D0604000000000000" pitchFamily="34" charset="-127"/>
                <a:ea typeface="NanumGothic" panose="020D0604000000000000" pitchFamily="34" charset="-127"/>
              </a:rPr>
            </a:br>
            <a:r>
              <a:rPr lang="en-US" altLang="ko-KR" sz="3200" b="1" dirty="0">
                <a:solidFill>
                  <a:schemeClr val="tx1"/>
                </a:solidFill>
                <a:latin typeface="NanumGothic" panose="020D0604000000000000" pitchFamily="34" charset="-127"/>
                <a:ea typeface="NanumGothic" panose="020D0604000000000000" pitchFamily="34" charset="-127"/>
              </a:rPr>
              <a:t>(1)</a:t>
            </a:r>
            <a:r>
              <a:rPr lang="ko-KR" altLang="en-US" sz="3200" b="1" dirty="0">
                <a:solidFill>
                  <a:schemeClr val="tx1"/>
                </a:solidFill>
                <a:latin typeface="NanumGothic" panose="020D0604000000000000" pitchFamily="34" charset="-127"/>
                <a:ea typeface="NanumGothic" panose="020D0604000000000000" pitchFamily="34" charset="-127"/>
              </a:rPr>
              <a:t>사고의 구조를 잡아주거나</a:t>
            </a:r>
            <a:r>
              <a:rPr lang="en-US" altLang="ko-KR" sz="3200" b="1" dirty="0">
                <a:solidFill>
                  <a:schemeClr val="tx1"/>
                </a:solidFill>
                <a:latin typeface="NanumGothic" panose="020D0604000000000000" pitchFamily="34" charset="-127"/>
                <a:ea typeface="NanumGothic" panose="020D0604000000000000" pitchFamily="34" charset="-127"/>
              </a:rPr>
              <a:t>(</a:t>
            </a:r>
            <a:r>
              <a:rPr lang="en" altLang="ko-KR" sz="3200" b="1" dirty="0">
                <a:solidFill>
                  <a:schemeClr val="tx1"/>
                </a:solidFill>
                <a:latin typeface="NanumGothic" panose="020D0604000000000000" pitchFamily="34" charset="-127"/>
                <a:ea typeface="NanumGothic" panose="020D0604000000000000" pitchFamily="34" charset="-127"/>
              </a:rPr>
              <a:t>Schema) - how</a:t>
            </a:r>
            <a:br>
              <a:rPr lang="en" altLang="ko-KR" sz="3200" dirty="0">
                <a:solidFill>
                  <a:schemeClr val="tx1"/>
                </a:solidFill>
                <a:latin typeface="NanumGothic" panose="020D0604000000000000" pitchFamily="34" charset="-127"/>
                <a:ea typeface="NanumGothic" panose="020D0604000000000000" pitchFamily="34" charset="-127"/>
              </a:rPr>
            </a:br>
            <a:r>
              <a:rPr lang="en" altLang="ko-KR" sz="3200" b="1" dirty="0">
                <a:solidFill>
                  <a:schemeClr val="tx1"/>
                </a:solidFill>
                <a:latin typeface="NanumGothic" panose="020D0604000000000000" pitchFamily="34" charset="-127"/>
                <a:ea typeface="NanumGothic" panose="020D0604000000000000" pitchFamily="34" charset="-127"/>
              </a:rPr>
              <a:t>(2)</a:t>
            </a:r>
            <a:r>
              <a:rPr lang="ko-KR" altLang="en-US" sz="3200" b="1" dirty="0">
                <a:solidFill>
                  <a:schemeClr val="tx1"/>
                </a:solidFill>
                <a:latin typeface="NanumGothic" panose="020D0604000000000000" pitchFamily="34" charset="-127"/>
                <a:ea typeface="NanumGothic" panose="020D0604000000000000" pitchFamily="34" charset="-127"/>
              </a:rPr>
              <a:t>고정관념을 깨는 질문을 던질 때</a:t>
            </a:r>
            <a:r>
              <a:rPr lang="en-US" altLang="ko-KR" sz="3200" b="1" dirty="0">
                <a:solidFill>
                  <a:schemeClr val="tx1"/>
                </a:solidFill>
                <a:latin typeface="NanumGothic" panose="020D0604000000000000" pitchFamily="34" charset="-127"/>
                <a:ea typeface="NanumGothic" panose="020D0604000000000000" pitchFamily="34" charset="-127"/>
              </a:rPr>
              <a:t>(</a:t>
            </a:r>
            <a:r>
              <a:rPr lang="en" altLang="ko-KR" sz="3200" b="1" dirty="0">
                <a:solidFill>
                  <a:schemeClr val="tx1"/>
                </a:solidFill>
                <a:latin typeface="NanumGothic" panose="020D0604000000000000" pitchFamily="34" charset="-127"/>
                <a:ea typeface="NanumGothic" panose="020D0604000000000000" pitchFamily="34" charset="-127"/>
              </a:rPr>
              <a:t>Question)</a:t>
            </a:r>
            <a:r>
              <a:rPr lang="en" altLang="ko-KR" sz="3200" dirty="0">
                <a:solidFill>
                  <a:schemeClr val="tx1"/>
                </a:solidFill>
                <a:latin typeface="NanumGothic" panose="020D0604000000000000" pitchFamily="34" charset="-127"/>
                <a:ea typeface="NanumGothic" panose="020D0604000000000000" pitchFamily="34" charset="-127"/>
              </a:rPr>
              <a:t> </a:t>
            </a:r>
            <a:r>
              <a:rPr lang="en" altLang="ko-KR" sz="3200" b="1" dirty="0">
                <a:solidFill>
                  <a:schemeClr val="tx1"/>
                </a:solidFill>
                <a:latin typeface="NanumGothic" panose="020D0604000000000000" pitchFamily="34" charset="-127"/>
                <a:ea typeface="NanumGothic" panose="020D0604000000000000" pitchFamily="34" charset="-127"/>
              </a:rPr>
              <a:t>-</a:t>
            </a:r>
            <a:r>
              <a:rPr lang="en-US" altLang="ko-KR" sz="3200" b="1" dirty="0">
                <a:solidFill>
                  <a:schemeClr val="tx1"/>
                </a:solidFill>
                <a:latin typeface="NanumGothic" panose="020D0604000000000000" pitchFamily="34" charset="-127"/>
                <a:ea typeface="NanumGothic" panose="020D0604000000000000" pitchFamily="34" charset="-127"/>
              </a:rPr>
              <a:t>if</a:t>
            </a:r>
            <a:br>
              <a:rPr lang="en" altLang="ko-KR" sz="3200" dirty="0">
                <a:solidFill>
                  <a:schemeClr val="tx1"/>
                </a:solidFill>
                <a:latin typeface="NanumGothic" panose="020D0604000000000000" pitchFamily="34" charset="-127"/>
                <a:ea typeface="NanumGothic" panose="020D0604000000000000" pitchFamily="34" charset="-127"/>
              </a:rPr>
            </a:br>
            <a:r>
              <a:rPr lang="ko-KR" altLang="en-US" sz="3200" dirty="0">
                <a:solidFill>
                  <a:schemeClr val="tx1"/>
                </a:solidFill>
                <a:latin typeface="NanumGothic" panose="020D0604000000000000" pitchFamily="34" charset="-127"/>
                <a:ea typeface="NanumGothic" panose="020D0604000000000000" pitchFamily="34" charset="-127"/>
              </a:rPr>
              <a:t>사용자의 확산적 사고와 심리적 경험이 어떻게 달라지는지 규명하고자 함</a:t>
            </a:r>
            <a:endParaRPr lang="en-US" altLang="ko-KR" sz="3200" dirty="0">
              <a:solidFill>
                <a:schemeClr val="tx1"/>
              </a:solidFill>
              <a:latin typeface="NanumGothic" panose="020D0604000000000000" pitchFamily="34" charset="-127"/>
              <a:ea typeface="NanumGothic" panose="020D0604000000000000" pitchFamily="34" charset="-127"/>
            </a:endParaRPr>
          </a:p>
          <a:p>
            <a:pPr marL="765175" indent="263525">
              <a:buFont typeface="Wingdings" pitchFamily="2" charset="2"/>
              <a:buChar char="§"/>
            </a:pPr>
            <a:endParaRPr lang="en"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endParaRPr lang="en-US" altLang="ko-KR" sz="3100" dirty="0">
              <a:latin typeface="NanumGothic" panose="020D0604000000000000" pitchFamily="34" charset="-127"/>
              <a:ea typeface="NanumGothic" panose="020D0604000000000000" pitchFamily="34" charset="-127"/>
            </a:endParaRPr>
          </a:p>
          <a:p>
            <a:br>
              <a:rPr lang="en-US" altLang="ko-KR" sz="3100" dirty="0">
                <a:latin typeface="NanumGothic" panose="020D0604000000000000" pitchFamily="34" charset="-127"/>
                <a:ea typeface="NanumGothic" panose="020D0604000000000000" pitchFamily="34" charset="-127"/>
              </a:rPr>
            </a:br>
            <a:r>
              <a:rPr lang="ko-KR" altLang="en-US" sz="3100" b="1" dirty="0">
                <a:latin typeface="NanumGothic" panose="020D0604000000000000" pitchFamily="34" charset="-127"/>
                <a:ea typeface="NanumGothic" panose="020D0604000000000000" pitchFamily="34" charset="-127"/>
              </a:rPr>
              <a:t>목표</a:t>
            </a:r>
            <a:endParaRPr lang="en-US" altLang="ko-KR" sz="3100" b="1" dirty="0">
              <a:latin typeface="NanumGothic" panose="020D0604000000000000" pitchFamily="34" charset="-127"/>
              <a:ea typeface="NanumGothic" panose="020D0604000000000000" pitchFamily="34" charset="-127"/>
            </a:endParaRPr>
          </a:p>
        </p:txBody>
      </p:sp>
      <p:sp>
        <p:nvSpPr>
          <p:cNvPr id="17" name="모서리가 둥근 직사각형 16">
            <a:extLst>
              <a:ext uri="{FF2B5EF4-FFF2-40B4-BE49-F238E27FC236}">
                <a16:creationId xmlns:a16="http://schemas.microsoft.com/office/drawing/2014/main" id="{1635D990-A063-54D2-B848-B65CDBD23871}"/>
              </a:ext>
            </a:extLst>
          </p:cNvPr>
          <p:cNvSpPr/>
          <p:nvPr/>
        </p:nvSpPr>
        <p:spPr>
          <a:xfrm>
            <a:off x="1912076" y="29533386"/>
            <a:ext cx="13714038" cy="1864879"/>
          </a:xfrm>
          <a:prstGeom prst="roundRect">
            <a:avLst>
              <a:gd name="adj" fmla="val 0"/>
            </a:avLst>
          </a:prstGeom>
          <a:noFill/>
          <a:ln w="47625">
            <a:solidFill>
              <a:srgbClr val="5B9CD6">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46100" indent="-306388">
              <a:buFont typeface="Wingdings" pitchFamily="2" charset="2"/>
              <a:buChar char="§"/>
            </a:pPr>
            <a:r>
              <a:rPr lang="en" altLang="ko-KR" sz="3100" dirty="0">
                <a:solidFill>
                  <a:srgbClr val="000000"/>
                </a:solidFill>
                <a:latin typeface="NanumGothic" panose="020D0604000000000000" pitchFamily="34" charset="-127"/>
                <a:ea typeface="NanumGothic" panose="020D0604000000000000" pitchFamily="34" charset="-127"/>
                <a:cs typeface="Arial"/>
              </a:rPr>
              <a:t>AI </a:t>
            </a:r>
            <a:r>
              <a:rPr lang="ko-KR" altLang="en-US" sz="3100" dirty="0">
                <a:solidFill>
                  <a:srgbClr val="000000"/>
                </a:solidFill>
                <a:latin typeface="NanumGothic" panose="020D0604000000000000" pitchFamily="34" charset="-127"/>
                <a:ea typeface="NanumGothic" panose="020D0604000000000000" pitchFamily="34" charset="-127"/>
                <a:cs typeface="Arial"/>
              </a:rPr>
              <a:t>응답방식이 창의적 사고 과정</a:t>
            </a:r>
            <a:r>
              <a:rPr lang="en-US" altLang="ko-KR" sz="3100" dirty="0">
                <a:solidFill>
                  <a:srgbClr val="000000"/>
                </a:solidFill>
                <a:latin typeface="NanumGothic" panose="020D0604000000000000" pitchFamily="34" charset="-127"/>
                <a:ea typeface="NanumGothic" panose="020D0604000000000000" pitchFamily="34" charset="-127"/>
                <a:cs typeface="Arial"/>
              </a:rPr>
              <a:t>, </a:t>
            </a:r>
            <a:r>
              <a:rPr lang="ko-KR" altLang="en-US" sz="3100" dirty="0">
                <a:solidFill>
                  <a:srgbClr val="000000"/>
                </a:solidFill>
                <a:latin typeface="NanumGothic" panose="020D0604000000000000" pitchFamily="34" charset="-127"/>
                <a:ea typeface="NanumGothic" panose="020D0604000000000000" pitchFamily="34" charset="-127"/>
                <a:cs typeface="Arial"/>
              </a:rPr>
              <a:t>아이디어 변형</a:t>
            </a:r>
            <a:r>
              <a:rPr lang="en-US" altLang="ko-KR" sz="3100" dirty="0">
                <a:solidFill>
                  <a:srgbClr val="000000"/>
                </a:solidFill>
                <a:latin typeface="NanumGothic" panose="020D0604000000000000" pitchFamily="34" charset="-127"/>
                <a:ea typeface="NanumGothic" panose="020D0604000000000000" pitchFamily="34" charset="-127"/>
                <a:cs typeface="Arial"/>
              </a:rPr>
              <a:t>/</a:t>
            </a:r>
            <a:r>
              <a:rPr lang="ko-KR" altLang="en-US" sz="3100" dirty="0">
                <a:solidFill>
                  <a:srgbClr val="000000"/>
                </a:solidFill>
                <a:latin typeface="NanumGothic" panose="020D0604000000000000" pitchFamily="34" charset="-127"/>
                <a:ea typeface="NanumGothic" panose="020D0604000000000000" pitchFamily="34" charset="-127"/>
                <a:cs typeface="Arial"/>
              </a:rPr>
              <a:t>고착</a:t>
            </a:r>
            <a:r>
              <a:rPr lang="en-US" altLang="ko-KR" sz="3100" dirty="0">
                <a:solidFill>
                  <a:srgbClr val="000000"/>
                </a:solidFill>
                <a:latin typeface="NanumGothic" panose="020D0604000000000000" pitchFamily="34" charset="-127"/>
                <a:ea typeface="NanumGothic" panose="020D0604000000000000" pitchFamily="34" charset="-127"/>
                <a:cs typeface="Arial"/>
              </a:rPr>
              <a:t>, </a:t>
            </a:r>
            <a:r>
              <a:rPr lang="ko-KR" altLang="en-US" sz="3100" dirty="0">
                <a:solidFill>
                  <a:srgbClr val="000000"/>
                </a:solidFill>
                <a:latin typeface="NanumGothic" panose="020D0604000000000000" pitchFamily="34" charset="-127"/>
                <a:ea typeface="NanumGothic" panose="020D0604000000000000" pitchFamily="34" charset="-127"/>
                <a:cs typeface="Arial"/>
              </a:rPr>
              <a:t>심리적 </a:t>
            </a:r>
            <a:r>
              <a:rPr lang="ko-KR" altLang="en-US" sz="3100" dirty="0" err="1">
                <a:solidFill>
                  <a:srgbClr val="000000"/>
                </a:solidFill>
                <a:latin typeface="NanumGothic" panose="020D0604000000000000" pitchFamily="34" charset="-127"/>
                <a:ea typeface="NanumGothic" panose="020D0604000000000000" pitchFamily="34" charset="-127"/>
                <a:cs typeface="Arial"/>
              </a:rPr>
              <a:t>소유감</a:t>
            </a:r>
            <a:r>
              <a:rPr lang="en-US" altLang="ko-KR" sz="3100" dirty="0">
                <a:solidFill>
                  <a:srgbClr val="000000"/>
                </a:solidFill>
                <a:latin typeface="NanumGothic" panose="020D0604000000000000" pitchFamily="34" charset="-127"/>
                <a:ea typeface="NanumGothic" panose="020D0604000000000000" pitchFamily="34" charset="-127"/>
                <a:cs typeface="Arial"/>
              </a:rPr>
              <a:t>· </a:t>
            </a:r>
            <a:r>
              <a:rPr lang="ko-KR" altLang="en-US" sz="3100" dirty="0">
                <a:solidFill>
                  <a:srgbClr val="000000"/>
                </a:solidFill>
                <a:latin typeface="NanumGothic" panose="020D0604000000000000" pitchFamily="34" charset="-127"/>
                <a:ea typeface="NanumGothic" panose="020D0604000000000000" pitchFamily="34" charset="-127"/>
                <a:cs typeface="Arial"/>
              </a:rPr>
              <a:t>자율성</a:t>
            </a:r>
            <a:br>
              <a:rPr lang="en-US" altLang="ko-KR" sz="3100" dirty="0">
                <a:solidFill>
                  <a:srgbClr val="000000"/>
                </a:solidFill>
                <a:latin typeface="NanumGothic" panose="020D0604000000000000" pitchFamily="34" charset="-127"/>
                <a:ea typeface="NanumGothic" panose="020D0604000000000000" pitchFamily="34" charset="-127"/>
                <a:cs typeface="Arial"/>
              </a:rPr>
            </a:br>
            <a:r>
              <a:rPr lang="en-US" altLang="ko-KR" sz="3100" dirty="0">
                <a:solidFill>
                  <a:srgbClr val="000000"/>
                </a:solidFill>
                <a:latin typeface="NanumGothic" panose="020D0604000000000000" pitchFamily="34" charset="-127"/>
                <a:ea typeface="NanumGothic" panose="020D0604000000000000" pitchFamily="34" charset="-127"/>
                <a:cs typeface="Arial"/>
              </a:rPr>
              <a:t>· </a:t>
            </a:r>
            <a:r>
              <a:rPr lang="ko-KR" altLang="en-US" sz="3100" dirty="0" err="1">
                <a:solidFill>
                  <a:srgbClr val="000000"/>
                </a:solidFill>
                <a:latin typeface="NanumGothic" panose="020D0604000000000000" pitchFamily="34" charset="-127"/>
                <a:ea typeface="NanumGothic" panose="020D0604000000000000" pitchFamily="34" charset="-127"/>
                <a:cs typeface="Arial"/>
              </a:rPr>
              <a:t>자기효능감에</a:t>
            </a:r>
            <a:r>
              <a:rPr lang="ko-KR" altLang="en-US" sz="3100" dirty="0">
                <a:solidFill>
                  <a:srgbClr val="000000"/>
                </a:solidFill>
                <a:latin typeface="NanumGothic" panose="020D0604000000000000" pitchFamily="34" charset="-127"/>
                <a:ea typeface="NanumGothic" panose="020D0604000000000000" pitchFamily="34" charset="-127"/>
                <a:cs typeface="Arial"/>
              </a:rPr>
              <a:t> 미치는 영향 규명</a:t>
            </a:r>
            <a:endParaRPr lang="en-US" altLang="ko-KR" sz="3100" dirty="0">
              <a:solidFill>
                <a:srgbClr val="000000"/>
              </a:solidFill>
              <a:latin typeface="NanumGothic" panose="020D0604000000000000" pitchFamily="34" charset="-127"/>
              <a:ea typeface="NanumGothic" panose="020D0604000000000000" pitchFamily="34" charset="-127"/>
              <a:cs typeface="Arial"/>
            </a:endParaRPr>
          </a:p>
          <a:p>
            <a:pPr marL="546100" indent="-306388">
              <a:buFont typeface="Wingdings" pitchFamily="2" charset="2"/>
              <a:buChar char="§"/>
            </a:pPr>
            <a:r>
              <a:rPr lang="ko-KR" altLang="en-US" sz="3100" dirty="0">
                <a:solidFill>
                  <a:srgbClr val="000000"/>
                </a:solidFill>
                <a:latin typeface="NanumGothic" panose="020D0604000000000000" pitchFamily="34" charset="-127"/>
                <a:ea typeface="NanumGothic" panose="020D0604000000000000" pitchFamily="34" charset="-127"/>
                <a:cs typeface="Arial"/>
              </a:rPr>
              <a:t>창의적 업무 환경을 위한 </a:t>
            </a:r>
            <a:r>
              <a:rPr lang="en" altLang="ko-KR" sz="3100" dirty="0">
                <a:solidFill>
                  <a:srgbClr val="000000"/>
                </a:solidFill>
                <a:latin typeface="NanumGothic" panose="020D0604000000000000" pitchFamily="34" charset="-127"/>
                <a:ea typeface="NanumGothic" panose="020D0604000000000000" pitchFamily="34" charset="-127"/>
                <a:cs typeface="Arial"/>
              </a:rPr>
              <a:t>AI </a:t>
            </a:r>
            <a:r>
              <a:rPr lang="ko-KR" altLang="en-US" sz="3100" dirty="0">
                <a:solidFill>
                  <a:srgbClr val="000000"/>
                </a:solidFill>
                <a:latin typeface="NanumGothic" panose="020D0604000000000000" pitchFamily="34" charset="-127"/>
                <a:ea typeface="NanumGothic" panose="020D0604000000000000" pitchFamily="34" charset="-127"/>
                <a:cs typeface="Arial"/>
              </a:rPr>
              <a:t>인터페이스 및 상호작용 설계 근거 제시</a:t>
            </a:r>
            <a:endParaRPr lang="en-US" altLang="ko-KR" sz="3100" dirty="0">
              <a:solidFill>
                <a:srgbClr val="000000"/>
              </a:solidFill>
              <a:latin typeface="NanumGothic" panose="020D0604000000000000" pitchFamily="34" charset="-127"/>
              <a:ea typeface="NanumGothic" panose="020D0604000000000000" pitchFamily="34" charset="-127"/>
              <a:cs typeface="Arial"/>
            </a:endParaRPr>
          </a:p>
        </p:txBody>
      </p:sp>
      <p:grpSp>
        <p:nvGrpSpPr>
          <p:cNvPr id="34" name="그룹 33">
            <a:extLst>
              <a:ext uri="{FF2B5EF4-FFF2-40B4-BE49-F238E27FC236}">
                <a16:creationId xmlns:a16="http://schemas.microsoft.com/office/drawing/2014/main" id="{B00A3BE9-C741-DD65-4F60-5E470C7DB56D}"/>
              </a:ext>
            </a:extLst>
          </p:cNvPr>
          <p:cNvGrpSpPr/>
          <p:nvPr/>
        </p:nvGrpSpPr>
        <p:grpSpPr>
          <a:xfrm>
            <a:off x="2874898" y="25500918"/>
            <a:ext cx="12205170" cy="3549941"/>
            <a:chOff x="2874898" y="25783724"/>
            <a:chExt cx="12205170" cy="3549941"/>
          </a:xfrm>
        </p:grpSpPr>
        <p:pic>
          <p:nvPicPr>
            <p:cNvPr id="20" name="그림 19">
              <a:extLst>
                <a:ext uri="{FF2B5EF4-FFF2-40B4-BE49-F238E27FC236}">
                  <a16:creationId xmlns:a16="http://schemas.microsoft.com/office/drawing/2014/main" id="{BDCD3616-A365-D9DB-C4B2-7DFC14C72CED}"/>
                </a:ext>
              </a:extLst>
            </p:cNvPr>
            <p:cNvPicPr>
              <a:picLocks noChangeAspect="1"/>
            </p:cNvPicPr>
            <p:nvPr/>
          </p:nvPicPr>
          <p:blipFill>
            <a:blip r:embed="rId5"/>
            <a:stretch>
              <a:fillRect/>
            </a:stretch>
          </p:blipFill>
          <p:spPr>
            <a:xfrm>
              <a:off x="2874900" y="25783724"/>
              <a:ext cx="11631553" cy="3301996"/>
            </a:xfrm>
            <a:prstGeom prst="rect">
              <a:avLst/>
            </a:prstGeom>
          </p:spPr>
        </p:pic>
        <p:sp>
          <p:nvSpPr>
            <p:cNvPr id="21" name="TextBox 20">
              <a:extLst>
                <a:ext uri="{FF2B5EF4-FFF2-40B4-BE49-F238E27FC236}">
                  <a16:creationId xmlns:a16="http://schemas.microsoft.com/office/drawing/2014/main" id="{9BF74301-75C6-CF1D-6D18-181C03DB6036}"/>
                </a:ext>
              </a:extLst>
            </p:cNvPr>
            <p:cNvSpPr txBox="1"/>
            <p:nvPr/>
          </p:nvSpPr>
          <p:spPr>
            <a:xfrm>
              <a:off x="6951954" y="28442012"/>
              <a:ext cx="2103461" cy="553998"/>
            </a:xfrm>
            <a:prstGeom prst="rect">
              <a:avLst/>
            </a:prstGeom>
            <a:solidFill>
              <a:schemeClr val="bg1"/>
            </a:solidFill>
          </p:spPr>
          <p:txBody>
            <a:bodyPr wrap="none" rtlCol="0">
              <a:spAutoFit/>
            </a:bodyPr>
            <a:lstStyle/>
            <a:p>
              <a:r>
                <a:rPr kumimoji="1" lang="ko-KR" altLang="en-US" sz="3000" b="1" dirty="0">
                  <a:solidFill>
                    <a:srgbClr val="BD370D"/>
                  </a:solidFill>
                  <a:latin typeface="NanumGothic" panose="020D0604000000000000" pitchFamily="34" charset="-127"/>
                  <a:ea typeface="NanumGothic" panose="020D0604000000000000" pitchFamily="34" charset="-127"/>
                </a:rPr>
                <a:t>긍정적 마찰</a:t>
              </a:r>
            </a:p>
          </p:txBody>
        </p:sp>
        <p:sp>
          <p:nvSpPr>
            <p:cNvPr id="22" name="TextBox 21">
              <a:extLst>
                <a:ext uri="{FF2B5EF4-FFF2-40B4-BE49-F238E27FC236}">
                  <a16:creationId xmlns:a16="http://schemas.microsoft.com/office/drawing/2014/main" id="{6A1D8B57-4C7C-B9CA-4FB5-6A41E930705F}"/>
                </a:ext>
              </a:extLst>
            </p:cNvPr>
            <p:cNvSpPr txBox="1"/>
            <p:nvPr/>
          </p:nvSpPr>
          <p:spPr>
            <a:xfrm>
              <a:off x="6951954" y="26257545"/>
              <a:ext cx="2036135" cy="538609"/>
            </a:xfrm>
            <a:prstGeom prst="rect">
              <a:avLst/>
            </a:prstGeom>
            <a:solidFill>
              <a:schemeClr val="bg1"/>
            </a:solidFill>
          </p:spPr>
          <p:txBody>
            <a:bodyPr wrap="none" rtlCol="0">
              <a:spAutoFit/>
            </a:bodyPr>
            <a:lstStyle/>
            <a:p>
              <a:r>
                <a:rPr kumimoji="1" lang="ko-KR" altLang="en-US" sz="2900" b="1" dirty="0">
                  <a:solidFill>
                    <a:schemeClr val="tx1"/>
                  </a:solidFill>
                  <a:latin typeface="NanumGothic" panose="020D0604000000000000" pitchFamily="34" charset="-127"/>
                  <a:ea typeface="NanumGothic" panose="020D0604000000000000" pitchFamily="34" charset="-127"/>
                </a:rPr>
                <a:t>구체적 예시</a:t>
              </a:r>
            </a:p>
          </p:txBody>
        </p:sp>
        <p:sp>
          <p:nvSpPr>
            <p:cNvPr id="23" name="TextBox 22">
              <a:extLst>
                <a:ext uri="{FF2B5EF4-FFF2-40B4-BE49-F238E27FC236}">
                  <a16:creationId xmlns:a16="http://schemas.microsoft.com/office/drawing/2014/main" id="{A8517CA1-0D40-4B1E-682D-95E696637056}"/>
                </a:ext>
              </a:extLst>
            </p:cNvPr>
            <p:cNvSpPr txBox="1"/>
            <p:nvPr/>
          </p:nvSpPr>
          <p:spPr>
            <a:xfrm>
              <a:off x="12345024" y="25918621"/>
              <a:ext cx="2735044" cy="538609"/>
            </a:xfrm>
            <a:prstGeom prst="rect">
              <a:avLst/>
            </a:prstGeom>
            <a:solidFill>
              <a:schemeClr val="bg1"/>
            </a:solidFill>
          </p:spPr>
          <p:txBody>
            <a:bodyPr wrap="none" rtlCol="0">
              <a:spAutoFit/>
            </a:bodyPr>
            <a:lstStyle/>
            <a:p>
              <a:r>
                <a:rPr kumimoji="1" lang="ko-KR" altLang="en-US" sz="2900" b="1" dirty="0">
                  <a:solidFill>
                    <a:schemeClr val="tx1"/>
                  </a:solidFill>
                  <a:latin typeface="NanumGothic" panose="020D0604000000000000" pitchFamily="34" charset="-127"/>
                  <a:ea typeface="NanumGothic" panose="020D0604000000000000" pitchFamily="34" charset="-127"/>
                </a:rPr>
                <a:t>획일적 아이디어</a:t>
              </a:r>
            </a:p>
          </p:txBody>
        </p:sp>
        <p:sp>
          <p:nvSpPr>
            <p:cNvPr id="24" name="TextBox 23">
              <a:extLst>
                <a:ext uri="{FF2B5EF4-FFF2-40B4-BE49-F238E27FC236}">
                  <a16:creationId xmlns:a16="http://schemas.microsoft.com/office/drawing/2014/main" id="{85D0C911-A624-D086-A5E2-257DD0F6F6D9}"/>
                </a:ext>
              </a:extLst>
            </p:cNvPr>
            <p:cNvSpPr txBox="1"/>
            <p:nvPr/>
          </p:nvSpPr>
          <p:spPr>
            <a:xfrm>
              <a:off x="11898013" y="28779667"/>
              <a:ext cx="2828018" cy="553998"/>
            </a:xfrm>
            <a:prstGeom prst="rect">
              <a:avLst/>
            </a:prstGeom>
            <a:solidFill>
              <a:schemeClr val="bg1"/>
            </a:solidFill>
          </p:spPr>
          <p:txBody>
            <a:bodyPr wrap="none" rtlCol="0">
              <a:spAutoFit/>
            </a:bodyPr>
            <a:lstStyle/>
            <a:p>
              <a:r>
                <a:rPr kumimoji="1" lang="ko-KR" altLang="en-US" sz="3000" b="1" dirty="0">
                  <a:solidFill>
                    <a:srgbClr val="BD370D"/>
                  </a:solidFill>
                  <a:latin typeface="NanumGothic" panose="020D0604000000000000" pitchFamily="34" charset="-127"/>
                  <a:ea typeface="NanumGothic" panose="020D0604000000000000" pitchFamily="34" charset="-127"/>
                </a:rPr>
                <a:t>다양한 아이디어</a:t>
              </a:r>
            </a:p>
          </p:txBody>
        </p:sp>
        <p:sp>
          <p:nvSpPr>
            <p:cNvPr id="25" name="TextBox 24">
              <a:extLst>
                <a:ext uri="{FF2B5EF4-FFF2-40B4-BE49-F238E27FC236}">
                  <a16:creationId xmlns:a16="http://schemas.microsoft.com/office/drawing/2014/main" id="{A82E180F-76BA-8E62-B3A1-059CB26AFFD5}"/>
                </a:ext>
              </a:extLst>
            </p:cNvPr>
            <p:cNvSpPr txBox="1"/>
            <p:nvPr/>
          </p:nvSpPr>
          <p:spPr>
            <a:xfrm>
              <a:off x="2874898" y="26903195"/>
              <a:ext cx="909223" cy="553998"/>
            </a:xfrm>
            <a:prstGeom prst="rect">
              <a:avLst/>
            </a:prstGeom>
            <a:solidFill>
              <a:schemeClr val="tx1">
                <a:lumMod val="75000"/>
                <a:lumOff val="25000"/>
              </a:schemeClr>
            </a:solidFill>
          </p:spPr>
          <p:txBody>
            <a:bodyPr wrap="none" rtlCol="0">
              <a:spAutoFit/>
            </a:bodyPr>
            <a:lstStyle/>
            <a:p>
              <a:r>
                <a:rPr kumimoji="1" lang="ko-KR" altLang="en-US" sz="3000" b="1" dirty="0">
                  <a:solidFill>
                    <a:schemeClr val="bg1"/>
                  </a:solidFill>
                  <a:latin typeface="NanumGothic" panose="020D0604000000000000" pitchFamily="34" charset="-127"/>
                  <a:ea typeface="NanumGothic" panose="020D0604000000000000" pitchFamily="34" charset="-127"/>
                </a:rPr>
                <a:t>문제</a:t>
              </a:r>
            </a:p>
          </p:txBody>
        </p:sp>
      </p:grpSp>
      <p:sp>
        <p:nvSpPr>
          <p:cNvPr id="28" name="직사각형 27">
            <a:extLst>
              <a:ext uri="{FF2B5EF4-FFF2-40B4-BE49-F238E27FC236}">
                <a16:creationId xmlns:a16="http://schemas.microsoft.com/office/drawing/2014/main" id="{AFECFC9E-BA35-0FC5-4655-DF4453C7626D}"/>
              </a:ext>
            </a:extLst>
          </p:cNvPr>
          <p:cNvSpPr/>
          <p:nvPr/>
        </p:nvSpPr>
        <p:spPr>
          <a:xfrm>
            <a:off x="1860491" y="31238801"/>
            <a:ext cx="14163771" cy="103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altLang="ko-KR" sz="3400" b="1" dirty="0">
                <a:solidFill>
                  <a:srgbClr val="0056B3"/>
                </a:solidFill>
                <a:effectLst/>
                <a:latin typeface="NanumGothic" panose="020D0604000000000000" pitchFamily="34" charset="-127"/>
                <a:ea typeface="NanumGothic" panose="020D0604000000000000" pitchFamily="34" charset="-127"/>
              </a:rPr>
              <a:t>Research Question</a:t>
            </a:r>
          </a:p>
        </p:txBody>
      </p:sp>
      <p:cxnSp>
        <p:nvCxnSpPr>
          <p:cNvPr id="29" name="직선 연결선[R] 28">
            <a:extLst>
              <a:ext uri="{FF2B5EF4-FFF2-40B4-BE49-F238E27FC236}">
                <a16:creationId xmlns:a16="http://schemas.microsoft.com/office/drawing/2014/main" id="{885F1739-1019-9913-BFC3-7B4824D5F8D5}"/>
              </a:ext>
            </a:extLst>
          </p:cNvPr>
          <p:cNvCxnSpPr>
            <a:cxnSpLocks/>
          </p:cNvCxnSpPr>
          <p:nvPr/>
        </p:nvCxnSpPr>
        <p:spPr>
          <a:xfrm>
            <a:off x="1977796" y="32180381"/>
            <a:ext cx="13713146" cy="0"/>
          </a:xfrm>
          <a:prstGeom prst="line">
            <a:avLst/>
          </a:prstGeom>
          <a:ln w="53975"/>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DB2E3CD-EF5C-C9A9-C821-23EA48B564C2}"/>
              </a:ext>
            </a:extLst>
          </p:cNvPr>
          <p:cNvSpPr txBox="1"/>
          <p:nvPr/>
        </p:nvSpPr>
        <p:spPr>
          <a:xfrm>
            <a:off x="1977796" y="32358300"/>
            <a:ext cx="13595841" cy="2858287"/>
          </a:xfrm>
          <a:prstGeom prst="rect">
            <a:avLst/>
          </a:prstGeom>
          <a:noFill/>
          <a:ln w="47625">
            <a:solidFill>
              <a:srgbClr val="5B9CD6">
                <a:alpha val="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L="546100" indent="-306388">
              <a:buFont typeface="Wingdings" pitchFamily="2" charset="2"/>
              <a:buChar char="§"/>
              <a:defRPr sz="3100">
                <a:solidFill>
                  <a:srgbClr val="000000"/>
                </a:solidFill>
                <a:latin typeface="NanumGothic" panose="020D0604000000000000" pitchFamily="34" charset="-127"/>
                <a:ea typeface="NanumGothic" panose="020D0604000000000000" pitchFamily="34" charset="-127"/>
                <a:cs typeface="Arial"/>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altLang="ko-KR" dirty="0"/>
              <a:t>(</a:t>
            </a:r>
            <a:r>
              <a:rPr lang="ko-KR" altLang="en-US" dirty="0"/>
              <a:t>고착탈피</a:t>
            </a:r>
            <a:r>
              <a:rPr lang="en-US" altLang="ko-KR" dirty="0"/>
              <a:t>) </a:t>
            </a:r>
            <a:r>
              <a:rPr lang="ko-KR" altLang="en-US" dirty="0"/>
              <a:t>구체적 예시 대신</a:t>
            </a:r>
            <a:r>
              <a:rPr lang="en-US" altLang="ko-KR" dirty="0"/>
              <a:t>, </a:t>
            </a:r>
            <a:r>
              <a:rPr lang="ko-KR" altLang="en-US" dirty="0"/>
              <a:t>추상적 스키마</a:t>
            </a:r>
            <a:r>
              <a:rPr lang="en-US" altLang="ko-KR" dirty="0"/>
              <a:t>(Schema)</a:t>
            </a:r>
            <a:r>
              <a:rPr lang="ko-KR" altLang="en-US" dirty="0"/>
              <a:t>나 반사실적 질문</a:t>
            </a:r>
            <a:r>
              <a:rPr lang="en-US" altLang="ko-KR" dirty="0"/>
              <a:t>(Counterfactual Questioning)</a:t>
            </a:r>
            <a:r>
              <a:rPr lang="ko-KR" altLang="en-US" dirty="0"/>
              <a:t>을 제공했을 때 아이디어 다양성이 증가하는가</a:t>
            </a:r>
            <a:r>
              <a:rPr lang="en-US" altLang="ko-KR" dirty="0"/>
              <a:t>?</a:t>
            </a:r>
          </a:p>
          <a:p>
            <a:r>
              <a:rPr lang="en-US" altLang="ko-KR" dirty="0"/>
              <a:t>(</a:t>
            </a:r>
            <a:r>
              <a:rPr lang="ko-KR" altLang="en-US" dirty="0"/>
              <a:t>주체성 회복</a:t>
            </a:r>
            <a:r>
              <a:rPr lang="en-US" altLang="ko-KR" dirty="0"/>
              <a:t>) </a:t>
            </a:r>
            <a:r>
              <a:rPr lang="ko-KR" altLang="en-US" dirty="0"/>
              <a:t>이러한 상호작용 방식이 사용자의 심리적 </a:t>
            </a:r>
            <a:r>
              <a:rPr lang="ko-KR" altLang="en-US" dirty="0" err="1"/>
              <a:t>소유감</a:t>
            </a:r>
            <a:r>
              <a:rPr lang="en-US" altLang="ko-KR" dirty="0"/>
              <a:t>, </a:t>
            </a:r>
            <a:r>
              <a:rPr lang="ko-KR" altLang="en-US" dirty="0"/>
              <a:t>자율성</a:t>
            </a:r>
            <a:r>
              <a:rPr lang="en-US" altLang="ko-KR" dirty="0"/>
              <a:t>, </a:t>
            </a:r>
            <a:r>
              <a:rPr lang="ko-KR" altLang="en-US" dirty="0"/>
              <a:t>창의적 자기 효능감에 어떤 영향을 미치는가</a:t>
            </a:r>
            <a:r>
              <a:rPr lang="en-US" altLang="ko-KR" dirty="0"/>
              <a:t>?</a:t>
            </a:r>
          </a:p>
        </p:txBody>
      </p:sp>
      <p:graphicFrame>
        <p:nvGraphicFramePr>
          <p:cNvPr id="35" name="표 34">
            <a:extLst>
              <a:ext uri="{FF2B5EF4-FFF2-40B4-BE49-F238E27FC236}">
                <a16:creationId xmlns:a16="http://schemas.microsoft.com/office/drawing/2014/main" id="{F957CF77-884C-6AB8-F6C5-F55025E010B3}"/>
              </a:ext>
            </a:extLst>
          </p:cNvPr>
          <p:cNvGraphicFramePr>
            <a:graphicFrameLocks noGrp="1"/>
          </p:cNvGraphicFramePr>
          <p:nvPr>
            <p:extLst>
              <p:ext uri="{D42A27DB-BD31-4B8C-83A1-F6EECF244321}">
                <p14:modId xmlns:p14="http://schemas.microsoft.com/office/powerpoint/2010/main" val="1464766444"/>
              </p:ext>
            </p:extLst>
          </p:nvPr>
        </p:nvGraphicFramePr>
        <p:xfrm>
          <a:off x="16825652" y="19292007"/>
          <a:ext cx="13765919" cy="4368654"/>
        </p:xfrm>
        <a:graphic>
          <a:graphicData uri="http://schemas.openxmlformats.org/drawingml/2006/table">
            <a:tbl>
              <a:tblPr/>
              <a:tblGrid>
                <a:gridCol w="1556820">
                  <a:extLst>
                    <a:ext uri="{9D8B030D-6E8A-4147-A177-3AD203B41FA5}">
                      <a16:colId xmlns:a16="http://schemas.microsoft.com/office/drawing/2014/main" val="4179341883"/>
                    </a:ext>
                  </a:extLst>
                </a:gridCol>
                <a:gridCol w="2962937">
                  <a:extLst>
                    <a:ext uri="{9D8B030D-6E8A-4147-A177-3AD203B41FA5}">
                      <a16:colId xmlns:a16="http://schemas.microsoft.com/office/drawing/2014/main" val="1593036979"/>
                    </a:ext>
                  </a:extLst>
                </a:gridCol>
                <a:gridCol w="940761">
                  <a:extLst>
                    <a:ext uri="{9D8B030D-6E8A-4147-A177-3AD203B41FA5}">
                      <a16:colId xmlns:a16="http://schemas.microsoft.com/office/drawing/2014/main" val="2491103523"/>
                    </a:ext>
                  </a:extLst>
                </a:gridCol>
                <a:gridCol w="940761">
                  <a:extLst>
                    <a:ext uri="{9D8B030D-6E8A-4147-A177-3AD203B41FA5}">
                      <a16:colId xmlns:a16="http://schemas.microsoft.com/office/drawing/2014/main" val="1776994645"/>
                    </a:ext>
                  </a:extLst>
                </a:gridCol>
                <a:gridCol w="2378602">
                  <a:extLst>
                    <a:ext uri="{9D8B030D-6E8A-4147-A177-3AD203B41FA5}">
                      <a16:colId xmlns:a16="http://schemas.microsoft.com/office/drawing/2014/main" val="3051527105"/>
                    </a:ext>
                  </a:extLst>
                </a:gridCol>
                <a:gridCol w="964093">
                  <a:extLst>
                    <a:ext uri="{9D8B030D-6E8A-4147-A177-3AD203B41FA5}">
                      <a16:colId xmlns:a16="http://schemas.microsoft.com/office/drawing/2014/main" val="1031677650"/>
                    </a:ext>
                  </a:extLst>
                </a:gridCol>
                <a:gridCol w="1147987">
                  <a:extLst>
                    <a:ext uri="{9D8B030D-6E8A-4147-A177-3AD203B41FA5}">
                      <a16:colId xmlns:a16="http://schemas.microsoft.com/office/drawing/2014/main" val="3213421435"/>
                    </a:ext>
                  </a:extLst>
                </a:gridCol>
                <a:gridCol w="2873958">
                  <a:extLst>
                    <a:ext uri="{9D8B030D-6E8A-4147-A177-3AD203B41FA5}">
                      <a16:colId xmlns:a16="http://schemas.microsoft.com/office/drawing/2014/main" val="574728218"/>
                    </a:ext>
                  </a:extLst>
                </a:gridCol>
              </a:tblGrid>
              <a:tr h="824350">
                <a:tc>
                  <a:txBody>
                    <a:bodyPr/>
                    <a:lstStyle/>
                    <a:p>
                      <a:pPr algn="ctr" rtl="0"/>
                      <a:r>
                        <a:rPr lang="ko-KR" altLang="en-US" sz="2400" dirty="0">
                          <a:solidFill>
                            <a:srgbClr val="1F1F1F"/>
                          </a:solidFill>
                          <a:effectLst/>
                          <a:latin typeface="Google Sans Text"/>
                        </a:rPr>
                        <a:t>참가자</a:t>
                      </a:r>
                    </a:p>
                  </a:txBody>
                  <a:tcPr marL="115917" marR="115917" marT="77278" marB="7727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gridSpan="2">
                  <a:txBody>
                    <a:bodyPr/>
                    <a:lstStyle/>
                    <a:p>
                      <a:pPr algn="ctr" rtl="0"/>
                      <a:r>
                        <a:rPr lang="en" sz="2400" b="1" dirty="0">
                          <a:solidFill>
                            <a:srgbClr val="1F1F1F"/>
                          </a:solidFill>
                          <a:effectLst/>
                          <a:latin typeface="Google Sans Text"/>
                        </a:rPr>
                        <a:t>Task 1 </a:t>
                      </a:r>
                      <a:r>
                        <a:rPr lang="en-US" altLang="ko-KR" sz="2400" b="1" dirty="0">
                          <a:solidFill>
                            <a:srgbClr val="1F1F1F"/>
                          </a:solidFill>
                          <a:effectLst/>
                          <a:latin typeface="Google Sans Text"/>
                        </a:rPr>
                        <a:t>(15</a:t>
                      </a:r>
                      <a:r>
                        <a:rPr lang="ko-KR" altLang="en-US" sz="2400" b="1" dirty="0">
                          <a:solidFill>
                            <a:srgbClr val="1F1F1F"/>
                          </a:solidFill>
                          <a:effectLst/>
                          <a:latin typeface="Google Sans Text"/>
                        </a:rPr>
                        <a:t>분</a:t>
                      </a:r>
                      <a:r>
                        <a:rPr lang="en-US" altLang="ko-KR" sz="2400" b="1" dirty="0">
                          <a:solidFill>
                            <a:srgbClr val="1F1F1F"/>
                          </a:solidFill>
                          <a:effectLst/>
                          <a:latin typeface="Google Sans Text"/>
                        </a:rPr>
                        <a:t>)</a:t>
                      </a:r>
                      <a:endParaRPr lang="en" sz="2400" b="1" dirty="0">
                        <a:solidFill>
                          <a:srgbClr val="1F1F1F"/>
                        </a:solidFill>
                        <a:effectLst/>
                        <a:latin typeface="Google Sans Text"/>
                      </a:endParaRPr>
                    </a:p>
                  </a:txBody>
                  <a:tcPr marL="122536" marR="122536" marT="81690" marB="8169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dirty="0"/>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95000"/>
                      </a:schemeClr>
                    </a:solidFill>
                  </a:tcPr>
                </a:tc>
                <a:tc rowSpan="5">
                  <a:txBody>
                    <a:bodyPr/>
                    <a:lstStyle/>
                    <a:p>
                      <a:pPr algn="ctr" rtl="0"/>
                      <a:r>
                        <a:rPr lang="en" sz="2400" b="1" dirty="0" err="1">
                          <a:solidFill>
                            <a:srgbClr val="1F1F1F"/>
                          </a:solidFill>
                          <a:effectLst/>
                          <a:latin typeface="Google Sans Text"/>
                        </a:rPr>
                        <a:t>휴식</a:t>
                      </a:r>
                      <a:endParaRPr lang="en" sz="2400" b="1" dirty="0">
                        <a:solidFill>
                          <a:srgbClr val="1F1F1F"/>
                        </a:solidFill>
                        <a:effectLst/>
                        <a:latin typeface="Google Sans Text"/>
                      </a:endParaRPr>
                    </a:p>
                  </a:txBody>
                  <a:tcPr marL="173978" marR="173978" marT="86989" marB="86989"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solidFill>
                      <a:schemeClr val="bg1">
                        <a:lumMod val="95000"/>
                      </a:schemeClr>
                    </a:solidFill>
                  </a:tcPr>
                </a:tc>
                <a:tc gridSpan="2">
                  <a:txBody>
                    <a:bodyPr/>
                    <a:lstStyle/>
                    <a:p>
                      <a:pPr algn="ctr" rtl="0"/>
                      <a:r>
                        <a:rPr lang="en" sz="2400" b="1" dirty="0">
                          <a:solidFill>
                            <a:srgbClr val="1F1F1F"/>
                          </a:solidFill>
                          <a:effectLst/>
                          <a:latin typeface="Google Sans Text"/>
                        </a:rPr>
                        <a:t>Task 2 </a:t>
                      </a:r>
                      <a:r>
                        <a:rPr lang="en-US" altLang="ko-KR" sz="2400" b="1" dirty="0">
                          <a:solidFill>
                            <a:srgbClr val="1F1F1F"/>
                          </a:solidFill>
                          <a:effectLst/>
                          <a:latin typeface="Google Sans Text"/>
                        </a:rPr>
                        <a:t>(15</a:t>
                      </a:r>
                      <a:r>
                        <a:rPr lang="ko-KR" altLang="en-US" sz="2400" b="1" dirty="0">
                          <a:solidFill>
                            <a:srgbClr val="1F1F1F"/>
                          </a:solidFill>
                          <a:effectLst/>
                          <a:latin typeface="Google Sans Text"/>
                        </a:rPr>
                        <a:t>분</a:t>
                      </a:r>
                      <a:r>
                        <a:rPr lang="en-US" altLang="ko-KR" sz="2400" b="1" dirty="0">
                          <a:solidFill>
                            <a:srgbClr val="1F1F1F"/>
                          </a:solidFill>
                          <a:effectLst/>
                          <a:latin typeface="Google Sans Text"/>
                        </a:rPr>
                        <a:t>) </a:t>
                      </a:r>
                      <a:endParaRPr lang="en" sz="2400" b="1" dirty="0">
                        <a:solidFill>
                          <a:srgbClr val="1F1F1F"/>
                        </a:solidFill>
                        <a:effectLst/>
                        <a:latin typeface="Google Sans Text"/>
                      </a:endParaRPr>
                    </a:p>
                  </a:txBody>
                  <a:tcPr marL="122536" marR="122536" marT="81690" marB="8169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dirty="0"/>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95000"/>
                      </a:schemeClr>
                    </a:solidFill>
                  </a:tcPr>
                </a:tc>
                <a:tc rowSpan="5">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2400" b="1" kern="1200" dirty="0">
                          <a:solidFill>
                            <a:srgbClr val="1F1F1F"/>
                          </a:solidFill>
                          <a:effectLst/>
                          <a:latin typeface="Google Sans Text"/>
                          <a:ea typeface="+mn-ea"/>
                          <a:cs typeface="+mn-cs"/>
                        </a:rPr>
                        <a:t>인터뷰</a:t>
                      </a:r>
                      <a:endParaRPr lang="en-US" altLang="ko-KR" sz="2400" b="1" kern="1200" dirty="0">
                        <a:solidFill>
                          <a:srgbClr val="1F1F1F"/>
                        </a:solidFill>
                        <a:effectLst/>
                        <a:latin typeface="Google Sans Tex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400" b="1" kern="1200" dirty="0">
                          <a:solidFill>
                            <a:srgbClr val="1F1F1F"/>
                          </a:solidFill>
                          <a:effectLst/>
                          <a:latin typeface="Google Sans Text"/>
                          <a:ea typeface="+mn-ea"/>
                          <a:cs typeface="+mn-cs"/>
                        </a:rPr>
                        <a:t>(10</a:t>
                      </a:r>
                      <a:r>
                        <a:rPr lang="ko-KR" altLang="en-US" sz="2400" b="1" kern="1200" dirty="0">
                          <a:solidFill>
                            <a:srgbClr val="1F1F1F"/>
                          </a:solidFill>
                          <a:effectLst/>
                          <a:latin typeface="Google Sans Text"/>
                          <a:ea typeface="+mn-ea"/>
                          <a:cs typeface="+mn-cs"/>
                        </a:rPr>
                        <a:t>분</a:t>
                      </a:r>
                      <a:r>
                        <a:rPr lang="en-US" altLang="ko-KR" sz="2400" b="1" kern="1200" dirty="0">
                          <a:solidFill>
                            <a:srgbClr val="1F1F1F"/>
                          </a:solidFill>
                          <a:effectLst/>
                          <a:latin typeface="Google Sans Text"/>
                          <a:ea typeface="+mn-ea"/>
                          <a:cs typeface="+mn-cs"/>
                        </a:rPr>
                        <a:t>)</a:t>
                      </a:r>
                      <a:endParaRPr lang="en" altLang="ko-KR" sz="2400" b="1" kern="1200" dirty="0">
                        <a:solidFill>
                          <a:srgbClr val="1F1F1F"/>
                        </a:solidFill>
                        <a:effectLst/>
                        <a:latin typeface="Google Sans Text"/>
                        <a:ea typeface="+mn-ea"/>
                        <a:cs typeface="+mn-cs"/>
                      </a:endParaRPr>
                    </a:p>
                  </a:txBody>
                  <a:tcPr marL="173978" marR="173978" marT="86989" marB="86989"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solidFill>
                      <a:schemeClr val="bg1">
                        <a:lumMod val="95000"/>
                      </a:schemeClr>
                    </a:solidFill>
                  </a:tcPr>
                </a:tc>
                <a:tc>
                  <a:txBody>
                    <a:bodyPr/>
                    <a:lstStyle/>
                    <a:p>
                      <a:pPr algn="ctr" rtl="0"/>
                      <a:r>
                        <a:rPr lang="ko-KR" altLang="en-US" sz="2400" b="1" dirty="0">
                          <a:solidFill>
                            <a:srgbClr val="1F1F1F"/>
                          </a:solidFill>
                          <a:effectLst/>
                          <a:latin typeface="Google Sans Text"/>
                        </a:rPr>
                        <a:t>분석 목적</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48247241"/>
                  </a:ext>
                </a:extLst>
              </a:tr>
              <a:tr h="824350">
                <a:tc>
                  <a:txBody>
                    <a:bodyPr/>
                    <a:lstStyle/>
                    <a:p>
                      <a:pPr algn="ctr" rtl="0"/>
                      <a:r>
                        <a:rPr lang="en" sz="2400" b="1" dirty="0">
                          <a:solidFill>
                            <a:srgbClr val="1F1F1F"/>
                          </a:solidFill>
                          <a:effectLst/>
                          <a:latin typeface="Google Sans Text"/>
                        </a:rPr>
                        <a:t>P1 ~ P3</a:t>
                      </a:r>
                      <a:endParaRPr lang="en" sz="2400" dirty="0">
                        <a:solidFill>
                          <a:srgbClr val="1F1F1F"/>
                        </a:solidFill>
                        <a:effectLst/>
                        <a:latin typeface="Google Sans Text"/>
                      </a:endParaRPr>
                    </a:p>
                  </a:txBody>
                  <a:tcPr marL="115917" marR="115917" marT="77278" marB="7727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75000"/>
                      </a:schemeClr>
                    </a:solidFill>
                  </a:tcPr>
                </a:tc>
                <a:tc>
                  <a:txBody>
                    <a:bodyPr/>
                    <a:lstStyle/>
                    <a:p>
                      <a:pPr algn="ctr" rtl="0"/>
                      <a:r>
                        <a:rPr lang="ko-KR" altLang="en-US" sz="2400" b="1" dirty="0">
                          <a:solidFill>
                            <a:srgbClr val="1F1F1F"/>
                          </a:solidFill>
                          <a:effectLst/>
                          <a:latin typeface="Google Sans Text"/>
                        </a:rPr>
                        <a:t>통제</a:t>
                      </a: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구체적</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400" b="1" kern="1200" dirty="0" err="1">
                          <a:solidFill>
                            <a:srgbClr val="1F1F1F"/>
                          </a:solidFill>
                          <a:effectLst/>
                          <a:latin typeface="Google Sans Text"/>
                          <a:ea typeface="+mn-ea"/>
                          <a:cs typeface="+mn-cs"/>
                        </a:rPr>
                        <a:t>설문</a:t>
                      </a:r>
                      <a:endParaRPr lang="en-US" altLang="ko-KR" sz="2400" b="1" kern="1200" dirty="0">
                        <a:solidFill>
                          <a:srgbClr val="1F1F1F"/>
                        </a:solidFill>
                        <a:effectLst/>
                        <a:latin typeface="Google Sans Tex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400" b="1" kern="1200" dirty="0">
                          <a:solidFill>
                            <a:srgbClr val="1F1F1F"/>
                          </a:solidFill>
                          <a:effectLst/>
                          <a:latin typeface="Google Sans Text"/>
                          <a:ea typeface="+mn-ea"/>
                          <a:cs typeface="+mn-cs"/>
                        </a:rPr>
                        <a:t>(3</a:t>
                      </a:r>
                      <a:r>
                        <a:rPr lang="ko-KR" altLang="en-US" sz="2400" b="1" kern="1200" dirty="0">
                          <a:solidFill>
                            <a:srgbClr val="1F1F1F"/>
                          </a:solidFill>
                          <a:effectLst/>
                          <a:latin typeface="Google Sans Text"/>
                          <a:ea typeface="+mn-ea"/>
                          <a:cs typeface="+mn-cs"/>
                        </a:rPr>
                        <a:t>분</a:t>
                      </a:r>
                      <a:r>
                        <a:rPr lang="en-US" altLang="ko-KR" sz="2400" b="1" kern="1200" dirty="0">
                          <a:solidFill>
                            <a:srgbClr val="1F1F1F"/>
                          </a:solidFill>
                          <a:effectLst/>
                          <a:latin typeface="Google Sans Text"/>
                          <a:ea typeface="+mn-ea"/>
                          <a:cs typeface="+mn-cs"/>
                        </a:rPr>
                        <a:t>)</a:t>
                      </a:r>
                      <a:endParaRPr lang="en" altLang="ko-KR" sz="2400" b="1" kern="1200" dirty="0">
                        <a:solidFill>
                          <a:srgbClr val="1F1F1F"/>
                        </a:solidFill>
                        <a:effectLst/>
                        <a:latin typeface="Google Sans Text"/>
                        <a:ea typeface="+mn-ea"/>
                        <a:cs typeface="+mn-cs"/>
                      </a:endParaRPr>
                    </a:p>
                  </a:txBody>
                  <a:tcPr marL="122536" marR="122536" marT="81690" marB="8169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 altLang="ko-KR" sz="1000" b="1" kern="1200" dirty="0">
                        <a:solidFill>
                          <a:srgbClr val="1F1F1F"/>
                        </a:solidFill>
                        <a:effectLst/>
                        <a:latin typeface="Google Sans Text"/>
                        <a:ea typeface="+mn-ea"/>
                        <a:cs typeface="+mn-cs"/>
                      </a:endParaRPr>
                    </a:p>
                  </a:txBody>
                  <a:tcPr marL="64403" marR="64403" marT="42935" marB="4293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rtl="0"/>
                      <a:r>
                        <a:rPr lang="ko-KR" altLang="en-US" sz="2400" b="1" dirty="0">
                          <a:solidFill>
                            <a:srgbClr val="1F1F1F"/>
                          </a:solidFill>
                          <a:effectLst/>
                          <a:latin typeface="Google Sans Text"/>
                        </a:rPr>
                        <a:t>실험</a:t>
                      </a:r>
                      <a:r>
                        <a:rPr lang="en-US" altLang="ko-KR" sz="2400" b="1" dirty="0">
                          <a:solidFill>
                            <a:srgbClr val="1F1F1F"/>
                          </a:solidFill>
                          <a:effectLst/>
                          <a:latin typeface="Google Sans Text"/>
                        </a:rPr>
                        <a:t>1</a:t>
                      </a:r>
                      <a:br>
                        <a:rPr lang="en-US" altLang="ko-KR" sz="2400" b="1" dirty="0">
                          <a:solidFill>
                            <a:srgbClr val="1F1F1F"/>
                          </a:solidFill>
                          <a:effectLst/>
                          <a:latin typeface="Google Sans Text"/>
                        </a:rPr>
                      </a:b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추상적 스키마</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row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400" b="1" kern="1200" dirty="0" err="1">
                          <a:solidFill>
                            <a:srgbClr val="1F1F1F"/>
                          </a:solidFill>
                          <a:effectLst/>
                          <a:latin typeface="Google Sans Text"/>
                          <a:ea typeface="+mn-ea"/>
                          <a:cs typeface="+mn-cs"/>
                        </a:rPr>
                        <a:t>설문</a:t>
                      </a:r>
                      <a:endParaRPr lang="en-US" altLang="ko-KR" sz="2400" b="1" kern="1200" dirty="0">
                        <a:solidFill>
                          <a:srgbClr val="1F1F1F"/>
                        </a:solidFill>
                        <a:effectLst/>
                        <a:latin typeface="Google Sans Text"/>
                        <a:ea typeface="+mn-ea"/>
                        <a:cs typeface="+mn-cs"/>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2400" b="1" kern="1200" dirty="0">
                          <a:solidFill>
                            <a:srgbClr val="1F1F1F"/>
                          </a:solidFill>
                          <a:effectLst/>
                          <a:latin typeface="Google Sans Text"/>
                          <a:ea typeface="+mn-ea"/>
                          <a:cs typeface="+mn-cs"/>
                        </a:rPr>
                        <a:t>(3</a:t>
                      </a:r>
                      <a:r>
                        <a:rPr lang="ko-KR" altLang="en-US" sz="2400" b="1" kern="1200" dirty="0">
                          <a:solidFill>
                            <a:srgbClr val="1F1F1F"/>
                          </a:solidFill>
                          <a:effectLst/>
                          <a:latin typeface="Google Sans Text"/>
                          <a:ea typeface="+mn-ea"/>
                          <a:cs typeface="+mn-cs"/>
                        </a:rPr>
                        <a:t>분</a:t>
                      </a:r>
                      <a:r>
                        <a:rPr lang="en-US" altLang="ko-KR" sz="2400" b="1" kern="1200" dirty="0">
                          <a:solidFill>
                            <a:srgbClr val="1F1F1F"/>
                          </a:solidFill>
                          <a:effectLst/>
                          <a:latin typeface="Google Sans Text"/>
                          <a:ea typeface="+mn-ea"/>
                          <a:cs typeface="+mn-cs"/>
                        </a:rPr>
                        <a:t>)</a:t>
                      </a:r>
                      <a:endParaRPr lang="en" altLang="ko-KR" sz="2400" b="1" kern="1200" dirty="0">
                        <a:solidFill>
                          <a:srgbClr val="1F1F1F"/>
                        </a:solidFill>
                        <a:effectLst/>
                        <a:latin typeface="Google Sans Text"/>
                        <a:ea typeface="+mn-ea"/>
                        <a:cs typeface="+mn-cs"/>
                      </a:endParaRPr>
                    </a:p>
                  </a:txBody>
                  <a:tcPr marL="122536" marR="122536" marT="81690" marB="8169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vMerge="1">
                  <a:txBody>
                    <a:bodyPr/>
                    <a:lstStyle/>
                    <a:p>
                      <a:pPr/>
                      <a:endParaRPr dirty="0"/>
                    </a:p>
                  </a:txBody>
                  <a:tcPr marL="64403" marR="64403" marT="42935" marB="42935"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a:txBody>
                    <a:bodyPr/>
                    <a:lstStyle/>
                    <a:p>
                      <a:pPr algn="ctr" rtl="0"/>
                      <a:r>
                        <a:rPr lang="ko-KR" altLang="en-US" sz="2400" b="0" i="0" dirty="0">
                          <a:solidFill>
                            <a:srgbClr val="1F1F1F"/>
                          </a:solidFill>
                          <a:effectLst/>
                          <a:latin typeface="NanumGothic" panose="020D0604000000000000" pitchFamily="34" charset="-127"/>
                          <a:ea typeface="NanumGothic" panose="020D0604000000000000" pitchFamily="34" charset="-127"/>
                        </a:rPr>
                        <a:t>일반 </a:t>
                      </a:r>
                      <a:r>
                        <a:rPr lang="en" sz="2400" b="0" i="0" dirty="0">
                          <a:solidFill>
                            <a:srgbClr val="1F1F1F"/>
                          </a:solidFill>
                          <a:effectLst/>
                          <a:latin typeface="NanumGothic" panose="020D0604000000000000" pitchFamily="34" charset="-127"/>
                          <a:ea typeface="NanumGothic" panose="020D0604000000000000" pitchFamily="34" charset="-127"/>
                        </a:rPr>
                        <a:t>AI vs </a:t>
                      </a:r>
                      <a:r>
                        <a:rPr lang="ko-KR" altLang="en-US" sz="2400" b="0" i="0" dirty="0">
                          <a:solidFill>
                            <a:srgbClr val="1F1F1F"/>
                          </a:solidFill>
                          <a:effectLst/>
                          <a:latin typeface="NanumGothic" panose="020D0604000000000000" pitchFamily="34" charset="-127"/>
                          <a:ea typeface="NanumGothic" panose="020D0604000000000000" pitchFamily="34" charset="-127"/>
                        </a:rPr>
                        <a:t>스키마 효과 비교</a:t>
                      </a: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34340007"/>
                  </a:ext>
                </a:extLst>
              </a:tr>
              <a:tr h="824350">
                <a:tc>
                  <a:txBody>
                    <a:bodyPr/>
                    <a:lstStyle/>
                    <a:p>
                      <a:pPr algn="ctr" rtl="0"/>
                      <a:r>
                        <a:rPr lang="en" sz="2400" b="1" dirty="0">
                          <a:solidFill>
                            <a:srgbClr val="1F1F1F"/>
                          </a:solidFill>
                          <a:effectLst/>
                          <a:latin typeface="Google Sans Text"/>
                        </a:rPr>
                        <a:t>P4 ~ P6</a:t>
                      </a:r>
                      <a:endParaRPr lang="en" sz="2400" dirty="0">
                        <a:solidFill>
                          <a:srgbClr val="1F1F1F"/>
                        </a:solidFill>
                        <a:effectLst/>
                        <a:latin typeface="Google Sans Text"/>
                      </a:endParaRPr>
                    </a:p>
                  </a:txBody>
                  <a:tcPr marL="115917" marR="115917" marT="77278" marB="7727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a:txBody>
                    <a:bodyPr/>
                    <a:lstStyle/>
                    <a:p>
                      <a:pPr algn="ctr" rtl="0"/>
                      <a:r>
                        <a:rPr lang="ko-KR" altLang="en-US" sz="2400" b="1" dirty="0">
                          <a:solidFill>
                            <a:srgbClr val="1F1F1F"/>
                          </a:solidFill>
                          <a:effectLst/>
                          <a:latin typeface="Google Sans Text"/>
                        </a:rPr>
                        <a:t>실험</a:t>
                      </a:r>
                      <a:r>
                        <a:rPr lang="en-US" altLang="ko-KR" sz="2400" b="1" dirty="0">
                          <a:solidFill>
                            <a:srgbClr val="1F1F1F"/>
                          </a:solidFill>
                          <a:effectLst/>
                          <a:latin typeface="Google Sans Text"/>
                        </a:rPr>
                        <a:t>1</a:t>
                      </a:r>
                      <a:br>
                        <a:rPr lang="en-US" altLang="ko-KR" sz="2400" b="1" dirty="0">
                          <a:solidFill>
                            <a:srgbClr val="1F1F1F"/>
                          </a:solidFill>
                          <a:effectLst/>
                          <a:latin typeface="Google Sans Text"/>
                        </a:rPr>
                      </a:b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추상적 스키마</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vMerge="1">
                  <a:txBody>
                    <a:bodyPr/>
                    <a:lstStyle/>
                    <a:p>
                      <a:pPr latinLnBrk="1"/>
                      <a:endParaRPr lang="ko-KR" altLang="en-US"/>
                    </a:p>
                  </a:txBody>
                  <a:tcPr/>
                </a:tc>
                <a:tc>
                  <a:txBody>
                    <a:bodyPr/>
                    <a:lstStyle/>
                    <a:p>
                      <a:pPr algn="ctr" rtl="0"/>
                      <a:r>
                        <a:rPr lang="ko-KR" altLang="en-US" sz="2400" b="1" dirty="0">
                          <a:solidFill>
                            <a:srgbClr val="1F1F1F"/>
                          </a:solidFill>
                          <a:effectLst/>
                          <a:latin typeface="Google Sans Text"/>
                        </a:rPr>
                        <a:t>통제</a:t>
                      </a: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구체적</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vMerge="1">
                  <a:txBody>
                    <a:bodyPr/>
                    <a:lstStyle/>
                    <a:p>
                      <a:pPr latinLnBrk="1"/>
                      <a:endParaRPr lang="ko-KR" altLang="en-US"/>
                    </a:p>
                  </a:txBody>
                  <a:tcPr/>
                </a:tc>
                <a:tc>
                  <a:txBody>
                    <a:bodyPr/>
                    <a:lstStyle/>
                    <a:p>
                      <a:pPr algn="ctr" rtl="0"/>
                      <a:r>
                        <a:rPr lang="en-US" altLang="ko-KR" sz="2400" b="0" i="0" dirty="0">
                          <a:solidFill>
                            <a:srgbClr val="1F1F1F"/>
                          </a:solidFill>
                          <a:effectLst/>
                          <a:latin typeface="NanumGothic" panose="020D0604000000000000" pitchFamily="34" charset="-127"/>
                          <a:ea typeface="NanumGothic" panose="020D0604000000000000" pitchFamily="34" charset="-127"/>
                        </a:rPr>
                        <a:t>(</a:t>
                      </a:r>
                      <a:r>
                        <a:rPr lang="ko-KR" altLang="en-US" sz="2400" b="0" i="0" dirty="0">
                          <a:solidFill>
                            <a:srgbClr val="1F1F1F"/>
                          </a:solidFill>
                          <a:effectLst/>
                          <a:latin typeface="NanumGothic" panose="020D0604000000000000" pitchFamily="34" charset="-127"/>
                          <a:ea typeface="NanumGothic" panose="020D0604000000000000" pitchFamily="34" charset="-127"/>
                        </a:rPr>
                        <a:t>역배치로 효과 검증</a:t>
                      </a:r>
                      <a:r>
                        <a:rPr lang="en-US" altLang="ko-KR" sz="2400" b="0" i="0" dirty="0">
                          <a:solidFill>
                            <a:srgbClr val="1F1F1F"/>
                          </a:solidFill>
                          <a:effectLst/>
                          <a:latin typeface="NanumGothic" panose="020D0604000000000000" pitchFamily="34" charset="-127"/>
                          <a:ea typeface="NanumGothic" panose="020D0604000000000000" pitchFamily="34" charset="-127"/>
                        </a:rPr>
                        <a:t>)</a:t>
                      </a: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7544409"/>
                  </a:ext>
                </a:extLst>
              </a:tr>
              <a:tr h="824350">
                <a:tc>
                  <a:txBody>
                    <a:bodyPr/>
                    <a:lstStyle/>
                    <a:p>
                      <a:pPr algn="ctr" rtl="0"/>
                      <a:r>
                        <a:rPr lang="en" sz="2400" b="1">
                          <a:solidFill>
                            <a:srgbClr val="1F1F1F"/>
                          </a:solidFill>
                          <a:effectLst/>
                          <a:latin typeface="Google Sans Text"/>
                        </a:rPr>
                        <a:t>P7 ~ P9</a:t>
                      </a:r>
                      <a:endParaRPr lang="en" sz="2400">
                        <a:solidFill>
                          <a:srgbClr val="1F1F1F"/>
                        </a:solidFill>
                        <a:effectLst/>
                        <a:latin typeface="Google Sans Text"/>
                      </a:endParaRPr>
                    </a:p>
                  </a:txBody>
                  <a:tcPr marL="115917" marR="115917" marT="77278" marB="7727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75000"/>
                      </a:schemeClr>
                    </a:solidFill>
                  </a:tcPr>
                </a:tc>
                <a:tc>
                  <a:txBody>
                    <a:bodyPr/>
                    <a:lstStyle/>
                    <a:p>
                      <a:pPr algn="ctr" rtl="0"/>
                      <a:r>
                        <a:rPr lang="ko-KR" altLang="en-US" sz="2400" b="1" dirty="0">
                          <a:solidFill>
                            <a:srgbClr val="1F1F1F"/>
                          </a:solidFill>
                          <a:effectLst/>
                          <a:latin typeface="Google Sans Text"/>
                        </a:rPr>
                        <a:t>통제</a:t>
                      </a: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구체적</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75000"/>
                      </a:schemeClr>
                    </a:solidFill>
                  </a:tcPr>
                </a:tc>
                <a:tc vMerge="1">
                  <a:txBody>
                    <a:bodyPr/>
                    <a:lstStyle/>
                    <a:p>
                      <a:pPr latinLnBrk="1"/>
                      <a:endParaRPr lang="ko-KR" altLang="en-US"/>
                    </a:p>
                  </a:txBody>
                  <a:tcPr/>
                </a:tc>
                <a:tc>
                  <a:txBody>
                    <a:bodyPr/>
                    <a:lstStyle/>
                    <a:p>
                      <a:pPr algn="ctr" rtl="0"/>
                      <a:r>
                        <a:rPr lang="ko-KR" altLang="en-US" sz="2400" b="1" dirty="0">
                          <a:solidFill>
                            <a:srgbClr val="1F1F1F"/>
                          </a:solidFill>
                          <a:effectLst/>
                          <a:latin typeface="Google Sans Text"/>
                        </a:rPr>
                        <a:t>실험</a:t>
                      </a:r>
                      <a:r>
                        <a:rPr lang="en-US" altLang="ko-KR" sz="2400" b="1" dirty="0">
                          <a:solidFill>
                            <a:srgbClr val="1F1F1F"/>
                          </a:solidFill>
                          <a:effectLst/>
                          <a:latin typeface="Google Sans Text"/>
                        </a:rPr>
                        <a:t>2</a:t>
                      </a:r>
                      <a:br>
                        <a:rPr lang="en-US" altLang="ko-KR" sz="2400" b="1" dirty="0">
                          <a:solidFill>
                            <a:srgbClr val="1F1F1F"/>
                          </a:solidFill>
                          <a:effectLst/>
                          <a:latin typeface="Google Sans Text"/>
                        </a:rPr>
                      </a:b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반사실적 질문</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75000"/>
                      </a:schemeClr>
                    </a:solidFill>
                  </a:tcPr>
                </a:tc>
                <a:tc vMerge="1">
                  <a:txBody>
                    <a:bodyPr/>
                    <a:lstStyle/>
                    <a:p>
                      <a:pPr latinLnBrk="1"/>
                      <a:endParaRPr lang="ko-KR" altLang="en-US"/>
                    </a:p>
                  </a:txBody>
                  <a:tcPr/>
                </a:tc>
                <a:tc>
                  <a:txBody>
                    <a:bodyPr/>
                    <a:lstStyle/>
                    <a:p>
                      <a:pPr algn="ctr" rtl="0"/>
                      <a:r>
                        <a:rPr lang="ko-KR" altLang="en-US" sz="2400" b="0" i="0" dirty="0">
                          <a:solidFill>
                            <a:srgbClr val="1F1F1F"/>
                          </a:solidFill>
                          <a:effectLst/>
                          <a:latin typeface="NanumGothic" panose="020D0604000000000000" pitchFamily="34" charset="-127"/>
                          <a:ea typeface="NanumGothic" panose="020D0604000000000000" pitchFamily="34" charset="-127"/>
                        </a:rPr>
                        <a:t>일반 </a:t>
                      </a:r>
                      <a:r>
                        <a:rPr lang="en" sz="2400" b="0" i="0" dirty="0">
                          <a:solidFill>
                            <a:srgbClr val="1F1F1F"/>
                          </a:solidFill>
                          <a:effectLst/>
                          <a:latin typeface="NanumGothic" panose="020D0604000000000000" pitchFamily="34" charset="-127"/>
                          <a:ea typeface="NanumGothic" panose="020D0604000000000000" pitchFamily="34" charset="-127"/>
                        </a:rPr>
                        <a:t>AI vs </a:t>
                      </a:r>
                      <a:r>
                        <a:rPr lang="ko-KR" altLang="en-US" sz="2400" b="0" i="0" dirty="0">
                          <a:solidFill>
                            <a:srgbClr val="1F1F1F"/>
                          </a:solidFill>
                          <a:effectLst/>
                          <a:latin typeface="NanumGothic" panose="020D0604000000000000" pitchFamily="34" charset="-127"/>
                          <a:ea typeface="NanumGothic" panose="020D0604000000000000" pitchFamily="34" charset="-127"/>
                        </a:rPr>
                        <a:t>질문 효과 비교</a:t>
                      </a: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38147367"/>
                  </a:ext>
                </a:extLst>
              </a:tr>
              <a:tr h="824350">
                <a:tc>
                  <a:txBody>
                    <a:bodyPr/>
                    <a:lstStyle/>
                    <a:p>
                      <a:pPr algn="ctr" rtl="0"/>
                      <a:r>
                        <a:rPr lang="en" sz="2400" b="1" dirty="0">
                          <a:solidFill>
                            <a:srgbClr val="1F1F1F"/>
                          </a:solidFill>
                          <a:effectLst/>
                          <a:latin typeface="Google Sans Text"/>
                        </a:rPr>
                        <a:t>P10 ~ P12</a:t>
                      </a:r>
                      <a:endParaRPr lang="en" sz="2400" dirty="0">
                        <a:solidFill>
                          <a:srgbClr val="1F1F1F"/>
                        </a:solidFill>
                        <a:effectLst/>
                        <a:latin typeface="Google Sans Text"/>
                      </a:endParaRPr>
                    </a:p>
                  </a:txBody>
                  <a:tcPr marL="115917" marR="115917" marT="77278" marB="7727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a:txBody>
                    <a:bodyPr/>
                    <a:lstStyle/>
                    <a:p>
                      <a:pPr algn="ctr" rtl="0"/>
                      <a:r>
                        <a:rPr lang="ko-KR" altLang="en-US" sz="2400" b="1" dirty="0">
                          <a:solidFill>
                            <a:srgbClr val="1F1F1F"/>
                          </a:solidFill>
                          <a:effectLst/>
                          <a:latin typeface="Google Sans Text"/>
                        </a:rPr>
                        <a:t>실험</a:t>
                      </a:r>
                      <a:r>
                        <a:rPr lang="en-US" altLang="ko-KR" sz="2400" b="1" dirty="0">
                          <a:solidFill>
                            <a:srgbClr val="1F1F1F"/>
                          </a:solidFill>
                          <a:effectLst/>
                          <a:latin typeface="Google Sans Text"/>
                        </a:rPr>
                        <a:t>2</a:t>
                      </a:r>
                      <a:br>
                        <a:rPr lang="en-US" altLang="ko-KR" sz="2400" b="1" dirty="0">
                          <a:solidFill>
                            <a:srgbClr val="1F1F1F"/>
                          </a:solidFill>
                          <a:effectLst/>
                          <a:latin typeface="Google Sans Text"/>
                        </a:rPr>
                      </a:b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반사실적 질문</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vMerge="1">
                  <a:txBody>
                    <a:bodyPr/>
                    <a:lstStyle/>
                    <a:p>
                      <a:pPr latinLnBrk="1"/>
                      <a:endParaRPr lang="ko-KR" altLang="en-US"/>
                    </a:p>
                  </a:txBody>
                  <a:tcPr/>
                </a:tc>
                <a:tc>
                  <a:txBody>
                    <a:bodyPr/>
                    <a:lstStyle/>
                    <a:p>
                      <a:pPr algn="ctr" rtl="0"/>
                      <a:r>
                        <a:rPr lang="ko-KR" altLang="en-US" sz="2400" b="1" dirty="0">
                          <a:solidFill>
                            <a:srgbClr val="1F1F1F"/>
                          </a:solidFill>
                          <a:effectLst/>
                          <a:latin typeface="Google Sans Text"/>
                        </a:rPr>
                        <a:t>통제</a:t>
                      </a:r>
                      <a:r>
                        <a:rPr lang="en-US" altLang="ko-KR" sz="2400" b="1" dirty="0">
                          <a:solidFill>
                            <a:srgbClr val="1F1F1F"/>
                          </a:solidFill>
                          <a:effectLst/>
                          <a:latin typeface="Google Sans Text"/>
                        </a:rPr>
                        <a:t>(</a:t>
                      </a:r>
                      <a:r>
                        <a:rPr lang="ko-KR" altLang="en-US" sz="2400" b="1" dirty="0">
                          <a:solidFill>
                            <a:srgbClr val="1F1F1F"/>
                          </a:solidFill>
                          <a:effectLst/>
                          <a:latin typeface="Google Sans Text"/>
                        </a:rPr>
                        <a:t>구체적</a:t>
                      </a:r>
                      <a:r>
                        <a:rPr lang="en-US" altLang="ko-KR" sz="2400" b="1" dirty="0">
                          <a:solidFill>
                            <a:srgbClr val="1F1F1F"/>
                          </a:solidFill>
                          <a:effectLst/>
                          <a:latin typeface="Google Sans Text"/>
                        </a:rPr>
                        <a:t>)</a:t>
                      </a:r>
                      <a:endParaRPr lang="ko-KR" altLang="en-US" sz="2400" dirty="0">
                        <a:solidFill>
                          <a:srgbClr val="1F1F1F"/>
                        </a:solidFill>
                        <a:effectLst/>
                        <a:latin typeface="Google Sans Text"/>
                      </a:endParaRP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vMerge="1">
                  <a:txBody>
                    <a:bodyPr/>
                    <a:lstStyle/>
                    <a:p>
                      <a:pPr algn="ctr" rtl="0"/>
                      <a:endParaRPr lang="ko-KR" altLang="en-US" sz="1000" dirty="0">
                        <a:solidFill>
                          <a:srgbClr val="1F1F1F"/>
                        </a:solidFill>
                        <a:effectLst/>
                        <a:latin typeface="Google Sans Text"/>
                      </a:endParaRPr>
                    </a:p>
                  </a:txBody>
                  <a:tcPr marL="64403" marR="64403" marT="42935" marB="4293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solidFill>
                      <a:schemeClr val="bg1">
                        <a:lumMod val="85000"/>
                      </a:schemeClr>
                    </a:solidFill>
                  </a:tcPr>
                </a:tc>
                <a:tc vMerge="1">
                  <a:txBody>
                    <a:bodyPr/>
                    <a:lstStyle/>
                    <a:p>
                      <a:pPr latinLnBrk="1"/>
                      <a:endParaRPr lang="ko-KR" altLang="en-US"/>
                    </a:p>
                  </a:txBody>
                  <a:tcPr/>
                </a:tc>
                <a:tc>
                  <a:txBody>
                    <a:bodyPr/>
                    <a:lstStyle/>
                    <a:p>
                      <a:pPr algn="ctr" rtl="0"/>
                      <a:r>
                        <a:rPr lang="en-US" altLang="ko-KR" sz="2400" b="0" i="0" dirty="0">
                          <a:solidFill>
                            <a:srgbClr val="1F1F1F"/>
                          </a:solidFill>
                          <a:effectLst/>
                          <a:latin typeface="NanumGothic" panose="020D0604000000000000" pitchFamily="34" charset="-127"/>
                          <a:ea typeface="NanumGothic" panose="020D0604000000000000" pitchFamily="34" charset="-127"/>
                        </a:rPr>
                        <a:t>(</a:t>
                      </a:r>
                      <a:r>
                        <a:rPr lang="ko-KR" altLang="en-US" sz="2400" b="0" i="0" dirty="0">
                          <a:solidFill>
                            <a:srgbClr val="1F1F1F"/>
                          </a:solidFill>
                          <a:effectLst/>
                          <a:latin typeface="NanumGothic" panose="020D0604000000000000" pitchFamily="34" charset="-127"/>
                          <a:ea typeface="NanumGothic" panose="020D0604000000000000" pitchFamily="34" charset="-127"/>
                        </a:rPr>
                        <a:t>역배치로 효과 검증</a:t>
                      </a:r>
                      <a:r>
                        <a:rPr lang="en-US" altLang="ko-KR" sz="2400" b="0" i="0" dirty="0">
                          <a:solidFill>
                            <a:srgbClr val="1F1F1F"/>
                          </a:solidFill>
                          <a:effectLst/>
                          <a:latin typeface="NanumGothic" panose="020D0604000000000000" pitchFamily="34" charset="-127"/>
                          <a:ea typeface="NanumGothic" panose="020D0604000000000000" pitchFamily="34" charset="-127"/>
                        </a:rPr>
                        <a:t>)</a:t>
                      </a:r>
                    </a:p>
                  </a:txBody>
                  <a:tcPr marL="115917" marR="115917" marT="77278" marB="7727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57669764"/>
                  </a:ext>
                </a:extLst>
              </a:tr>
            </a:tbl>
          </a:graphicData>
        </a:graphic>
      </p:graphicFrame>
      <p:sp>
        <p:nvSpPr>
          <p:cNvPr id="38" name="직사각형 37">
            <a:extLst>
              <a:ext uri="{FF2B5EF4-FFF2-40B4-BE49-F238E27FC236}">
                <a16:creationId xmlns:a16="http://schemas.microsoft.com/office/drawing/2014/main" id="{10818916-1FED-3E71-4E4D-40AD52CA0279}"/>
              </a:ext>
            </a:extLst>
          </p:cNvPr>
          <p:cNvSpPr/>
          <p:nvPr/>
        </p:nvSpPr>
        <p:spPr>
          <a:xfrm>
            <a:off x="16545104" y="7248671"/>
            <a:ext cx="14163771" cy="103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altLang="ko-KR" sz="3400" b="1" dirty="0">
                <a:solidFill>
                  <a:srgbClr val="0056B3"/>
                </a:solidFill>
                <a:effectLst/>
                <a:latin typeface="NanumGothic" panose="020D0604000000000000" pitchFamily="34" charset="-127"/>
                <a:ea typeface="NanumGothic" panose="020D0604000000000000" pitchFamily="34" charset="-127"/>
              </a:rPr>
              <a:t>Participants</a:t>
            </a:r>
          </a:p>
        </p:txBody>
      </p:sp>
      <p:cxnSp>
        <p:nvCxnSpPr>
          <p:cNvPr id="39" name="직선 연결선[R] 38">
            <a:extLst>
              <a:ext uri="{FF2B5EF4-FFF2-40B4-BE49-F238E27FC236}">
                <a16:creationId xmlns:a16="http://schemas.microsoft.com/office/drawing/2014/main" id="{9EF20F1E-3AA4-3DDA-91CE-3EF4D63705C2}"/>
              </a:ext>
            </a:extLst>
          </p:cNvPr>
          <p:cNvCxnSpPr>
            <a:cxnSpLocks/>
          </p:cNvCxnSpPr>
          <p:nvPr/>
        </p:nvCxnSpPr>
        <p:spPr>
          <a:xfrm>
            <a:off x="16715182" y="8190251"/>
            <a:ext cx="13713146" cy="0"/>
          </a:xfrm>
          <a:prstGeom prst="line">
            <a:avLst/>
          </a:prstGeom>
          <a:ln w="53975"/>
        </p:spPr>
        <p:style>
          <a:lnRef idx="1">
            <a:schemeClr val="accent1"/>
          </a:lnRef>
          <a:fillRef idx="0">
            <a:schemeClr val="accent1"/>
          </a:fillRef>
          <a:effectRef idx="0">
            <a:schemeClr val="accent1"/>
          </a:effectRef>
          <a:fontRef idx="minor">
            <a:schemeClr val="tx1"/>
          </a:fontRef>
        </p:style>
      </p:cxnSp>
      <p:sp>
        <p:nvSpPr>
          <p:cNvPr id="40" name="Google Shape;87;p1">
            <a:extLst>
              <a:ext uri="{FF2B5EF4-FFF2-40B4-BE49-F238E27FC236}">
                <a16:creationId xmlns:a16="http://schemas.microsoft.com/office/drawing/2014/main" id="{DCDEABD2-F6E3-6301-7C4F-7C61726EAE8B}"/>
              </a:ext>
            </a:extLst>
          </p:cNvPr>
          <p:cNvSpPr>
            <a:spLocks/>
          </p:cNvSpPr>
          <p:nvPr/>
        </p:nvSpPr>
        <p:spPr>
          <a:xfrm>
            <a:off x="16715183" y="8291857"/>
            <a:ext cx="13713145" cy="1449666"/>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pPr marL="457200" indent="-457200">
              <a:buFont typeface="Wingdings" pitchFamily="2" charset="2"/>
              <a:buChar char="§"/>
            </a:pPr>
            <a:r>
              <a:rPr lang="ko-KR" altLang="en-US" sz="3100" dirty="0">
                <a:latin typeface="NanumGothic" panose="020D0604000000000000" pitchFamily="34" charset="-127"/>
                <a:ea typeface="NanumGothic" panose="020D0604000000000000" pitchFamily="34" charset="-127"/>
              </a:rPr>
              <a:t>총 </a:t>
            </a:r>
            <a:r>
              <a:rPr lang="en-US" altLang="ko-KR" sz="3100" dirty="0">
                <a:latin typeface="NanumGothic" panose="020D0604000000000000" pitchFamily="34" charset="-127"/>
                <a:ea typeface="NanumGothic" panose="020D0604000000000000" pitchFamily="34" charset="-127"/>
              </a:rPr>
              <a:t>12</a:t>
            </a:r>
            <a:r>
              <a:rPr lang="ko-KR" altLang="en-US" sz="3100" dirty="0">
                <a:latin typeface="NanumGothic" panose="020D0604000000000000" pitchFamily="34" charset="-127"/>
                <a:ea typeface="NanumGothic" panose="020D0604000000000000" pitchFamily="34" charset="-127"/>
              </a:rPr>
              <a:t>명</a:t>
            </a:r>
          </a:p>
          <a:p>
            <a:pPr marL="457200" indent="-457200">
              <a:buFont typeface="Wingdings" pitchFamily="2" charset="2"/>
              <a:buChar char="§"/>
            </a:pPr>
            <a:r>
              <a:rPr lang="ko-KR" altLang="en-US" sz="3100" dirty="0">
                <a:latin typeface="NanumGothic" panose="020D0604000000000000" pitchFamily="34" charset="-127"/>
                <a:ea typeface="NanumGothic" panose="020D0604000000000000" pitchFamily="34" charset="-127"/>
              </a:rPr>
              <a:t>디자인</a:t>
            </a:r>
            <a:r>
              <a:rPr lang="en-US" altLang="ko-KR" sz="3100" dirty="0">
                <a:latin typeface="NanumGothic" panose="020D0604000000000000" pitchFamily="34" charset="-127"/>
                <a:ea typeface="NanumGothic" panose="020D0604000000000000" pitchFamily="34" charset="-127"/>
              </a:rPr>
              <a:t>·</a:t>
            </a:r>
            <a:r>
              <a:rPr lang="ko-KR" altLang="en-US" sz="3100" dirty="0">
                <a:latin typeface="NanumGothic" panose="020D0604000000000000" pitchFamily="34" charset="-127"/>
                <a:ea typeface="NanumGothic" panose="020D0604000000000000" pitchFamily="34" charset="-127"/>
              </a:rPr>
              <a:t>기획</a:t>
            </a:r>
            <a:r>
              <a:rPr lang="en-US" altLang="ko-KR" sz="3100" dirty="0">
                <a:latin typeface="NanumGothic" panose="020D0604000000000000" pitchFamily="34" charset="-127"/>
                <a:ea typeface="NanumGothic" panose="020D0604000000000000" pitchFamily="34" charset="-127"/>
              </a:rPr>
              <a:t>·</a:t>
            </a:r>
            <a:r>
              <a:rPr lang="ko-KR" altLang="en-US" sz="3100" dirty="0">
                <a:latin typeface="NanumGothic" panose="020D0604000000000000" pitchFamily="34" charset="-127"/>
                <a:ea typeface="NanumGothic" panose="020D0604000000000000" pitchFamily="34" charset="-127"/>
              </a:rPr>
              <a:t>마케팅 등 초기 </a:t>
            </a:r>
            <a:r>
              <a:rPr lang="ko-KR" altLang="en-US" sz="3100" dirty="0" err="1">
                <a:latin typeface="NanumGothic" panose="020D0604000000000000" pitchFamily="34" charset="-127"/>
                <a:ea typeface="NanumGothic" panose="020D0604000000000000" pitchFamily="34" charset="-127"/>
              </a:rPr>
              <a:t>아이데이션</a:t>
            </a:r>
            <a:r>
              <a:rPr lang="ko-KR" altLang="en-US" sz="3100" dirty="0">
                <a:latin typeface="NanumGothic" panose="020D0604000000000000" pitchFamily="34" charset="-127"/>
                <a:ea typeface="NanumGothic" panose="020D0604000000000000" pitchFamily="34" charset="-127"/>
              </a:rPr>
              <a:t> 경험이 있는 실무자</a:t>
            </a:r>
          </a:p>
          <a:p>
            <a:pPr marL="457200" indent="-457200">
              <a:buFont typeface="Wingdings" pitchFamily="2" charset="2"/>
              <a:buChar char="§"/>
            </a:pPr>
            <a:r>
              <a:rPr lang="ko-KR" altLang="en-US" sz="3100" dirty="0">
                <a:latin typeface="NanumGothic" panose="020D0604000000000000" pitchFamily="34" charset="-127"/>
                <a:ea typeface="NanumGothic" panose="020D0604000000000000" pitchFamily="34" charset="-127"/>
              </a:rPr>
              <a:t>모든 참가자는 생성형 </a:t>
            </a:r>
            <a:r>
              <a:rPr lang="en" altLang="ko-KR" sz="3100" dirty="0">
                <a:latin typeface="NanumGothic" panose="020D0604000000000000" pitchFamily="34" charset="-127"/>
                <a:ea typeface="NanumGothic" panose="020D0604000000000000" pitchFamily="34" charset="-127"/>
              </a:rPr>
              <a:t>AI </a:t>
            </a:r>
            <a:r>
              <a:rPr lang="ko-KR" altLang="en-US" sz="3100" dirty="0">
                <a:latin typeface="NanumGothic" panose="020D0604000000000000" pitchFamily="34" charset="-127"/>
                <a:ea typeface="NanumGothic" panose="020D0604000000000000" pitchFamily="34" charset="-127"/>
              </a:rPr>
              <a:t>기반 대화형 도구를 활용한 업무 경험 보유</a:t>
            </a:r>
          </a:p>
          <a:p>
            <a:pPr marL="457200" indent="-457200">
              <a:buFont typeface="Wingdings" pitchFamily="2" charset="2"/>
              <a:buChar char="§"/>
            </a:pPr>
            <a:endParaRPr lang="ko-KR" altLang="ko-KR" sz="3100" kern="100" dirty="0">
              <a:effectLst/>
              <a:latin typeface="NanumGothic" panose="020D0604000000000000" pitchFamily="34" charset="-127"/>
              <a:ea typeface="NanumGothic" panose="020D0604000000000000" pitchFamily="34" charset="-127"/>
              <a:cs typeface="Times New Roman" panose="02020603050405020304" pitchFamily="18" charset="0"/>
            </a:endParaRPr>
          </a:p>
        </p:txBody>
      </p:sp>
      <p:sp>
        <p:nvSpPr>
          <p:cNvPr id="41" name="직사각형 40">
            <a:extLst>
              <a:ext uri="{FF2B5EF4-FFF2-40B4-BE49-F238E27FC236}">
                <a16:creationId xmlns:a16="http://schemas.microsoft.com/office/drawing/2014/main" id="{1B5792F4-95A6-DF10-8607-0AA68ACE6342}"/>
              </a:ext>
            </a:extLst>
          </p:cNvPr>
          <p:cNvSpPr/>
          <p:nvPr/>
        </p:nvSpPr>
        <p:spPr>
          <a:xfrm>
            <a:off x="16545104" y="9543217"/>
            <a:ext cx="14163771" cy="103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altLang="ko-KR" sz="3400" b="1" dirty="0">
                <a:solidFill>
                  <a:srgbClr val="0056B3"/>
                </a:solidFill>
                <a:latin typeface="NanumGothic" panose="020D0604000000000000" pitchFamily="34" charset="-127"/>
                <a:ea typeface="NanumGothic" panose="020D0604000000000000" pitchFamily="34" charset="-127"/>
              </a:rPr>
              <a:t>Experimental Design</a:t>
            </a:r>
            <a:endParaRPr lang="en-US" altLang="ko-KR" sz="3400" b="1" dirty="0">
              <a:solidFill>
                <a:srgbClr val="0056B3"/>
              </a:solidFill>
              <a:effectLst/>
              <a:latin typeface="NanumGothic" panose="020D0604000000000000" pitchFamily="34" charset="-127"/>
              <a:ea typeface="NanumGothic" panose="020D0604000000000000" pitchFamily="34" charset="-127"/>
            </a:endParaRPr>
          </a:p>
        </p:txBody>
      </p:sp>
      <p:cxnSp>
        <p:nvCxnSpPr>
          <p:cNvPr id="42" name="직선 연결선[R] 41">
            <a:extLst>
              <a:ext uri="{FF2B5EF4-FFF2-40B4-BE49-F238E27FC236}">
                <a16:creationId xmlns:a16="http://schemas.microsoft.com/office/drawing/2014/main" id="{55934EFB-0EC7-A1A1-AE60-08824C2DC410}"/>
              </a:ext>
            </a:extLst>
          </p:cNvPr>
          <p:cNvCxnSpPr>
            <a:cxnSpLocks/>
          </p:cNvCxnSpPr>
          <p:nvPr/>
        </p:nvCxnSpPr>
        <p:spPr>
          <a:xfrm>
            <a:off x="16715182" y="10484797"/>
            <a:ext cx="13713146" cy="0"/>
          </a:xfrm>
          <a:prstGeom prst="line">
            <a:avLst/>
          </a:prstGeom>
          <a:ln w="53975"/>
        </p:spPr>
        <p:style>
          <a:lnRef idx="1">
            <a:schemeClr val="accent1"/>
          </a:lnRef>
          <a:fillRef idx="0">
            <a:schemeClr val="accent1"/>
          </a:fillRef>
          <a:effectRef idx="0">
            <a:schemeClr val="accent1"/>
          </a:effectRef>
          <a:fontRef idx="minor">
            <a:schemeClr val="tx1"/>
          </a:fontRef>
        </p:style>
      </p:cxnSp>
      <p:sp>
        <p:nvSpPr>
          <p:cNvPr id="43" name="Google Shape;87;p1">
            <a:extLst>
              <a:ext uri="{FF2B5EF4-FFF2-40B4-BE49-F238E27FC236}">
                <a16:creationId xmlns:a16="http://schemas.microsoft.com/office/drawing/2014/main" id="{273AB64A-1242-7735-22CB-3287FE62408E}"/>
              </a:ext>
            </a:extLst>
          </p:cNvPr>
          <p:cNvSpPr>
            <a:spLocks/>
          </p:cNvSpPr>
          <p:nvPr/>
        </p:nvSpPr>
        <p:spPr>
          <a:xfrm>
            <a:off x="16825651" y="25083227"/>
            <a:ext cx="13765919" cy="7309694"/>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pPr marL="458788" indent="-458788">
              <a:buFont typeface="Wingdings" pitchFamily="2" charset="2"/>
              <a:buChar char="§"/>
            </a:pPr>
            <a:r>
              <a:rPr lang="ko-KR" altLang="en-US" sz="3100" b="1" dirty="0">
                <a:latin typeface="NanumGothic" panose="020D0604000000000000" pitchFamily="34" charset="-127"/>
                <a:ea typeface="NanumGothic" panose="020D0604000000000000" pitchFamily="34" charset="-127"/>
              </a:rPr>
              <a:t>아이디어 변형 및 고착 양상</a:t>
            </a:r>
            <a:endParaRPr lang="en-US" altLang="ko-KR" sz="3100" b="1" dirty="0">
              <a:latin typeface="NanumGothic" panose="020D0604000000000000" pitchFamily="34" charset="-127"/>
              <a:ea typeface="NanumGothic" panose="020D0604000000000000" pitchFamily="34" charset="-127"/>
            </a:endParaRPr>
          </a:p>
          <a:p>
            <a:pPr marL="1116013" indent="-350838">
              <a:buFont typeface="Wingdings" pitchFamily="2" charset="2"/>
              <a:buChar char="§"/>
            </a:pPr>
            <a:r>
              <a:rPr lang="en-US" altLang="ko-KR" sz="3000" dirty="0">
                <a:latin typeface="NanumGothic" panose="020D0604000000000000" pitchFamily="34" charset="-127"/>
                <a:ea typeface="NanumGothic" panose="020D0604000000000000" pitchFamily="34" charset="-127"/>
              </a:rPr>
              <a:t>Concrete : </a:t>
            </a:r>
            <a:r>
              <a:rPr lang="ko-KR" altLang="en-US" sz="3000" dirty="0">
                <a:latin typeface="NanumGothic" panose="020D0604000000000000" pitchFamily="34" charset="-127"/>
                <a:ea typeface="NanumGothic" panose="020D0604000000000000" pitchFamily="34" charset="-127"/>
              </a:rPr>
              <a:t>초기 아이디어 및 </a:t>
            </a:r>
            <a:r>
              <a:rPr lang="en" altLang="ko-KR" sz="3000" dirty="0">
                <a:latin typeface="NanumGothic" panose="020D0604000000000000" pitchFamily="34" charset="-127"/>
                <a:ea typeface="NanumGothic" panose="020D0604000000000000" pitchFamily="34" charset="-127"/>
              </a:rPr>
              <a:t>AI </a:t>
            </a:r>
            <a:r>
              <a:rPr lang="ko-KR" altLang="en-US" sz="3000" dirty="0">
                <a:latin typeface="NanumGothic" panose="020D0604000000000000" pitchFamily="34" charset="-127"/>
                <a:ea typeface="NanumGothic" panose="020D0604000000000000" pitchFamily="34" charset="-127"/>
              </a:rPr>
              <a:t>응답에 대한 </a:t>
            </a:r>
            <a:r>
              <a:rPr lang="ko-KR" altLang="en-US" sz="3000" b="1" dirty="0">
                <a:latin typeface="NanumGothic" panose="020D0604000000000000" pitchFamily="34" charset="-127"/>
                <a:ea typeface="NanumGothic" panose="020D0604000000000000" pitchFamily="34" charset="-127"/>
              </a:rPr>
              <a:t>고착 경향이 가장 강하게 나타남</a:t>
            </a:r>
            <a:endParaRPr lang="en-US" altLang="ko-KR" sz="3000" b="1" dirty="0">
              <a:latin typeface="NanumGothic" panose="020D0604000000000000" pitchFamily="34" charset="-127"/>
              <a:ea typeface="NanumGothic" panose="020D0604000000000000" pitchFamily="34" charset="-127"/>
            </a:endParaRPr>
          </a:p>
          <a:p>
            <a:pPr marL="1116013" indent="-350838">
              <a:buFont typeface="Wingdings" pitchFamily="2" charset="2"/>
              <a:buChar char="§"/>
            </a:pPr>
            <a:r>
              <a:rPr lang="en-US" altLang="ko-KR" sz="3000" dirty="0">
                <a:latin typeface="NanumGothic" panose="020D0604000000000000" pitchFamily="34" charset="-127"/>
                <a:ea typeface="NanumGothic" panose="020D0604000000000000" pitchFamily="34" charset="-127"/>
              </a:rPr>
              <a:t>Schema : </a:t>
            </a:r>
            <a:r>
              <a:rPr lang="ko-KR" altLang="en-US" sz="3000" dirty="0">
                <a:latin typeface="NanumGothic" panose="020D0604000000000000" pitchFamily="34" charset="-127"/>
                <a:ea typeface="NanumGothic" panose="020D0604000000000000" pitchFamily="34" charset="-127"/>
              </a:rPr>
              <a:t>초기 아이디어를 ‘</a:t>
            </a:r>
            <a:r>
              <a:rPr lang="ko-KR" altLang="en-US" sz="3000" dirty="0" err="1">
                <a:latin typeface="NanumGothic" panose="020D0604000000000000" pitchFamily="34" charset="-127"/>
                <a:ea typeface="NanumGothic" panose="020D0604000000000000" pitchFamily="34" charset="-127"/>
              </a:rPr>
              <a:t>답’이</a:t>
            </a:r>
            <a:r>
              <a:rPr lang="ko-KR" altLang="en-US" sz="3000" dirty="0">
                <a:latin typeface="NanumGothic" panose="020D0604000000000000" pitchFamily="34" charset="-127"/>
                <a:ea typeface="NanumGothic" panose="020D0604000000000000" pitchFamily="34" charset="-127"/>
              </a:rPr>
              <a:t> 아닌 </a:t>
            </a:r>
            <a:r>
              <a:rPr lang="ko-KR" altLang="en-US" sz="3000" b="1" dirty="0">
                <a:latin typeface="NanumGothic" panose="020D0604000000000000" pitchFamily="34" charset="-127"/>
                <a:ea typeface="NanumGothic" panose="020D0604000000000000" pitchFamily="34" charset="-127"/>
              </a:rPr>
              <a:t>재료</a:t>
            </a:r>
            <a:r>
              <a:rPr lang="ko-KR" altLang="en-US" sz="3000" dirty="0">
                <a:latin typeface="NanumGothic" panose="020D0604000000000000" pitchFamily="34" charset="-127"/>
                <a:ea typeface="NanumGothic" panose="020D0604000000000000" pitchFamily="34" charset="-127"/>
              </a:rPr>
              <a:t>로 활용하는 경향</a:t>
            </a:r>
            <a:endParaRPr lang="en-US" altLang="ko-KR" sz="3000" dirty="0">
              <a:latin typeface="NanumGothic" panose="020D0604000000000000" pitchFamily="34" charset="-127"/>
              <a:ea typeface="NanumGothic" panose="020D0604000000000000" pitchFamily="34" charset="-127"/>
            </a:endParaRPr>
          </a:p>
          <a:p>
            <a:pPr marL="1116013" indent="-350838">
              <a:buFont typeface="Wingdings" pitchFamily="2" charset="2"/>
              <a:buChar char="§"/>
            </a:pPr>
            <a:r>
              <a:rPr lang="en-US" altLang="ko-KR" sz="3000" dirty="0">
                <a:latin typeface="NanumGothic" panose="020D0604000000000000" pitchFamily="34" charset="-127"/>
                <a:ea typeface="NanumGothic" panose="020D0604000000000000" pitchFamily="34" charset="-127"/>
              </a:rPr>
              <a:t>Counterfactual : </a:t>
            </a:r>
            <a:r>
              <a:rPr lang="ko-KR" altLang="en-US" sz="3000" dirty="0">
                <a:latin typeface="NanumGothic" panose="020D0604000000000000" pitchFamily="34" charset="-127"/>
                <a:ea typeface="NanumGothic" panose="020D0604000000000000" pitchFamily="34" charset="-127"/>
              </a:rPr>
              <a:t>존 가정 자체를 재검토하는 사고 전환 발생</a:t>
            </a:r>
            <a:endParaRPr lang="en-US" altLang="ko-KR" sz="3000" dirty="0">
              <a:latin typeface="NanumGothic" panose="020D0604000000000000" pitchFamily="34" charset="-127"/>
              <a:ea typeface="NanumGothic" panose="020D0604000000000000" pitchFamily="34" charset="-127"/>
            </a:endParaRPr>
          </a:p>
          <a:p>
            <a:pPr marL="458788" indent="-458788">
              <a:buFont typeface="Wingdings" pitchFamily="2" charset="2"/>
              <a:buChar char="§"/>
            </a:pPr>
            <a:r>
              <a:rPr lang="ko-KR" altLang="en-US" sz="3100" b="1" dirty="0">
                <a:latin typeface="NanumGothic" panose="020D0604000000000000" pitchFamily="34" charset="-127"/>
                <a:ea typeface="NanumGothic" panose="020D0604000000000000" pitchFamily="34" charset="-127"/>
              </a:rPr>
              <a:t>사고 과정 분석</a:t>
            </a:r>
            <a:endParaRPr lang="en-US" altLang="ko-KR" sz="3100" b="1" dirty="0">
              <a:latin typeface="NanumGothic" panose="020D0604000000000000" pitchFamily="34" charset="-127"/>
              <a:ea typeface="NanumGothic" panose="020D0604000000000000" pitchFamily="34" charset="-127"/>
            </a:endParaRPr>
          </a:p>
          <a:p>
            <a:pPr marL="1116013" indent="-393700">
              <a:buFont typeface="Wingdings" pitchFamily="2" charset="2"/>
              <a:buChar char="§"/>
            </a:pPr>
            <a:r>
              <a:rPr lang="en-US" altLang="ko-KR" sz="3000" dirty="0">
                <a:latin typeface="NanumGothic" panose="020D0604000000000000" pitchFamily="34" charset="-127"/>
                <a:ea typeface="NanumGothic" panose="020D0604000000000000" pitchFamily="34" charset="-127"/>
              </a:rPr>
              <a:t>Concrete : </a:t>
            </a:r>
            <a:r>
              <a:rPr lang="en" altLang="ko-KR" sz="3000" dirty="0">
                <a:latin typeface="NanumGothic" panose="020D0604000000000000" pitchFamily="34" charset="-127"/>
                <a:ea typeface="NanumGothic" panose="020D0604000000000000" pitchFamily="34" charset="-127"/>
              </a:rPr>
              <a:t>AI </a:t>
            </a:r>
            <a:r>
              <a:rPr lang="ko-KR" altLang="en-US" sz="3000" dirty="0">
                <a:latin typeface="NanumGothic" panose="020D0604000000000000" pitchFamily="34" charset="-127"/>
                <a:ea typeface="NanumGothic" panose="020D0604000000000000" pitchFamily="34" charset="-127"/>
              </a:rPr>
              <a:t>응답 직후 사고가 빠르게 종료</a:t>
            </a:r>
            <a:br>
              <a:rPr lang="en-US" altLang="ko-KR" sz="3000" dirty="0">
                <a:latin typeface="NanumGothic" panose="020D0604000000000000" pitchFamily="34" charset="-127"/>
                <a:ea typeface="NanumGothic" panose="020D0604000000000000" pitchFamily="34" charset="-127"/>
              </a:rPr>
            </a:br>
            <a:r>
              <a:rPr lang="en-US" altLang="ko-KR" sz="3000" dirty="0">
                <a:latin typeface="NanumGothic" panose="020D0604000000000000" pitchFamily="34" charset="-127"/>
                <a:ea typeface="NanumGothic" panose="020D0604000000000000" pitchFamily="34" charset="-127"/>
              </a:rPr>
              <a:t>                  </a:t>
            </a:r>
            <a:r>
              <a:rPr lang="en" altLang="ko-KR" sz="3000" dirty="0">
                <a:latin typeface="NanumGothic" panose="020D0604000000000000" pitchFamily="34" charset="-127"/>
                <a:ea typeface="NanumGothic" panose="020D0604000000000000" pitchFamily="34" charset="-127"/>
              </a:rPr>
              <a:t>Think-Aloud </a:t>
            </a:r>
            <a:r>
              <a:rPr lang="ko-KR" altLang="en-US" sz="3000" dirty="0">
                <a:latin typeface="NanumGothic" panose="020D0604000000000000" pitchFamily="34" charset="-127"/>
                <a:ea typeface="NanumGothic" panose="020D0604000000000000" pitchFamily="34" charset="-127"/>
              </a:rPr>
              <a:t>발화에서 즉각 수용하는 패턴 우세</a:t>
            </a:r>
            <a:endParaRPr lang="en-US" altLang="ko-KR" sz="3000" dirty="0">
              <a:latin typeface="NanumGothic" panose="020D0604000000000000" pitchFamily="34" charset="-127"/>
              <a:ea typeface="NanumGothic" panose="020D0604000000000000" pitchFamily="34" charset="-127"/>
            </a:endParaRPr>
          </a:p>
          <a:p>
            <a:pPr marL="1116013" indent="-393700">
              <a:buFont typeface="Wingdings" pitchFamily="2" charset="2"/>
              <a:buChar char="§"/>
            </a:pPr>
            <a:r>
              <a:rPr lang="en-US" altLang="ko-KR" sz="3000" dirty="0">
                <a:latin typeface="NanumGothic" panose="020D0604000000000000" pitchFamily="34" charset="-127"/>
                <a:ea typeface="NanumGothic" panose="020D0604000000000000" pitchFamily="34" charset="-127"/>
              </a:rPr>
              <a:t>Schema : </a:t>
            </a:r>
            <a:r>
              <a:rPr lang="ko-KR" altLang="en-US" sz="3000" dirty="0">
                <a:latin typeface="NanumGothic" panose="020D0604000000000000" pitchFamily="34" charset="-127"/>
                <a:ea typeface="NanumGothic" panose="020D0604000000000000" pitchFamily="34" charset="-127"/>
              </a:rPr>
              <a:t>사고 속도가 의도적으로 느려짐</a:t>
            </a:r>
            <a:br>
              <a:rPr lang="en-US" altLang="ko-KR" sz="3000" dirty="0">
                <a:latin typeface="NanumGothic" panose="020D0604000000000000" pitchFamily="34" charset="-127"/>
                <a:ea typeface="NanumGothic" panose="020D0604000000000000" pitchFamily="34" charset="-127"/>
              </a:rPr>
            </a:b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지연</a:t>
            </a:r>
            <a:r>
              <a:rPr lang="en"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재구성</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과정이 반복적으로 관찰</a:t>
            </a:r>
            <a:endParaRPr lang="en-US" altLang="ko-KR" sz="3000" dirty="0">
              <a:latin typeface="NanumGothic" panose="020D0604000000000000" pitchFamily="34" charset="-127"/>
              <a:ea typeface="NanumGothic" panose="020D0604000000000000" pitchFamily="34" charset="-127"/>
            </a:endParaRPr>
          </a:p>
          <a:p>
            <a:pPr marL="1116013" indent="-393700">
              <a:buFont typeface="Wingdings" pitchFamily="2" charset="2"/>
              <a:buChar char="§"/>
            </a:pPr>
            <a:r>
              <a:rPr lang="en-US" altLang="ko-KR" sz="3000" dirty="0">
                <a:latin typeface="NanumGothic" panose="020D0604000000000000" pitchFamily="34" charset="-127"/>
                <a:ea typeface="NanumGothic" panose="020D0604000000000000" pitchFamily="34" charset="-127"/>
              </a:rPr>
              <a:t>Counterfactual : </a:t>
            </a:r>
            <a:r>
              <a:rPr lang="ko-KR" altLang="en-US" sz="3000" dirty="0">
                <a:latin typeface="NanumGothic" panose="020D0604000000000000" pitchFamily="34" charset="-127"/>
                <a:ea typeface="NanumGothic" panose="020D0604000000000000" pitchFamily="34" charset="-127"/>
              </a:rPr>
              <a:t>초기 혼란</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이후 사고가 다른 방향으로 전환하는 전환점 빈번</a:t>
            </a:r>
            <a:endParaRPr lang="en" altLang="ko-KR" sz="3000" dirty="0">
              <a:latin typeface="NanumGothic" panose="020D0604000000000000" pitchFamily="34" charset="-127"/>
              <a:ea typeface="NanumGothic" panose="020D0604000000000000" pitchFamily="34" charset="-127"/>
            </a:endParaRPr>
          </a:p>
          <a:p>
            <a:pPr marL="458788" indent="-458788">
              <a:buFont typeface="Wingdings" pitchFamily="2" charset="2"/>
              <a:buChar char="§"/>
            </a:pPr>
            <a:r>
              <a:rPr lang="ko-KR" altLang="en-US" sz="3100" b="1" dirty="0">
                <a:latin typeface="NanumGothic" panose="020D0604000000000000" pitchFamily="34" charset="-127"/>
                <a:ea typeface="NanumGothic" panose="020D0604000000000000" pitchFamily="34" charset="-127"/>
              </a:rPr>
              <a:t>사후 설문 결과 </a:t>
            </a:r>
            <a:endParaRPr lang="en-US" altLang="ko-KR" sz="3100" b="1" dirty="0">
              <a:latin typeface="NanumGothic" panose="020D0604000000000000" pitchFamily="34" charset="-127"/>
              <a:ea typeface="NanumGothic" panose="020D0604000000000000" pitchFamily="34" charset="-127"/>
            </a:endParaRPr>
          </a:p>
          <a:p>
            <a:pPr marL="1116013" indent="-393700">
              <a:buFont typeface="Wingdings" pitchFamily="2" charset="2"/>
              <a:buChar char="§"/>
            </a:pPr>
            <a:r>
              <a:rPr lang="en" altLang="ko-KR" sz="3000" dirty="0">
                <a:latin typeface="NanumGothic" panose="020D0604000000000000" pitchFamily="34" charset="-127"/>
                <a:ea typeface="NanumGothic" panose="020D0604000000000000" pitchFamily="34" charset="-127"/>
              </a:rPr>
              <a:t>Concrete </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심리적 </a:t>
            </a:r>
            <a:r>
              <a:rPr lang="ko-KR" altLang="en-US" sz="3000" dirty="0" err="1">
                <a:latin typeface="NanumGothic" panose="020D0604000000000000" pitchFamily="34" charset="-127"/>
                <a:ea typeface="NanumGothic" panose="020D0604000000000000" pitchFamily="34" charset="-127"/>
              </a:rPr>
              <a:t>소유감</a:t>
            </a:r>
            <a:r>
              <a:rPr lang="ko-KR" altLang="en-US" sz="3000" dirty="0">
                <a:latin typeface="NanumGothic" panose="020D0604000000000000" pitchFamily="34" charset="-127"/>
                <a:ea typeface="NanumGothic" panose="020D0604000000000000" pitchFamily="34" charset="-127"/>
              </a:rPr>
              <a:t> </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지각된 자율성 </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창의적 자기효능감 모두 상대적으로 낮은 경향</a:t>
            </a:r>
          </a:p>
          <a:p>
            <a:pPr marL="1116013" indent="-393700">
              <a:buFont typeface="Wingdings" pitchFamily="2" charset="2"/>
              <a:buChar char="§"/>
            </a:pPr>
            <a:r>
              <a:rPr lang="en" altLang="ko-KR" sz="3000" dirty="0">
                <a:latin typeface="NanumGothic" panose="020D0604000000000000" pitchFamily="34" charset="-127"/>
                <a:ea typeface="NanumGothic" panose="020D0604000000000000" pitchFamily="34" charset="-127"/>
              </a:rPr>
              <a:t>Schema</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심리적 소유감과 자율성이 가장 안정적으로 높음</a:t>
            </a:r>
            <a:endParaRPr lang="en-US" altLang="ko-KR" sz="3000" dirty="0">
              <a:latin typeface="NanumGothic" panose="020D0604000000000000" pitchFamily="34" charset="-127"/>
              <a:ea typeface="NanumGothic" panose="020D0604000000000000" pitchFamily="34" charset="-127"/>
            </a:endParaRPr>
          </a:p>
          <a:p>
            <a:pPr marL="1116013" indent="-393700">
              <a:buFont typeface="Wingdings" pitchFamily="2" charset="2"/>
              <a:buChar char="§"/>
            </a:pPr>
            <a:r>
              <a:rPr lang="en" altLang="ko-KR" sz="3000" dirty="0">
                <a:latin typeface="NanumGothic" panose="020D0604000000000000" pitchFamily="34" charset="-127"/>
                <a:ea typeface="NanumGothic" panose="020D0604000000000000" pitchFamily="34" charset="-127"/>
              </a:rPr>
              <a:t>Counterfactual</a:t>
            </a:r>
            <a:r>
              <a:rPr lang="en-US" altLang="ko-KR" sz="3000" dirty="0">
                <a:latin typeface="NanumGothic" panose="020D0604000000000000" pitchFamily="34" charset="-127"/>
                <a:ea typeface="NanumGothic" panose="020D0604000000000000" pitchFamily="34" charset="-127"/>
              </a:rPr>
              <a:t>:</a:t>
            </a:r>
            <a:r>
              <a:rPr lang="en"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창의적 </a:t>
            </a:r>
            <a:r>
              <a:rPr lang="ko-KR" altLang="en-US" sz="3000" dirty="0" err="1">
                <a:latin typeface="NanumGothic" panose="020D0604000000000000" pitchFamily="34" charset="-127"/>
                <a:ea typeface="NanumGothic" panose="020D0604000000000000" pitchFamily="34" charset="-127"/>
              </a:rPr>
              <a:t>자기효능감이</a:t>
            </a:r>
            <a:r>
              <a:rPr lang="ko-KR" altLang="en-US" sz="3000" dirty="0">
                <a:latin typeface="NanumGothic" panose="020D0604000000000000" pitchFamily="34" charset="-127"/>
                <a:ea typeface="NanumGothic" panose="020D0604000000000000" pitchFamily="34" charset="-127"/>
              </a:rPr>
              <a:t> 가장 높게 나타남</a:t>
            </a:r>
            <a:br>
              <a:rPr lang="en-US" altLang="ko-KR" sz="3000" dirty="0">
                <a:latin typeface="NanumGothic" panose="020D0604000000000000" pitchFamily="34" charset="-127"/>
                <a:ea typeface="NanumGothic" panose="020D0604000000000000" pitchFamily="34" charset="-127"/>
              </a:rPr>
            </a:b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다만 자율성과 소유감은 참가자 간 편차가 큼</a:t>
            </a:r>
            <a:br>
              <a:rPr lang="ko-KR" altLang="en-US" sz="3000" dirty="0">
                <a:latin typeface="NanumGothic" panose="020D0604000000000000" pitchFamily="34" charset="-127"/>
                <a:ea typeface="NanumGothic" panose="020D0604000000000000" pitchFamily="34" charset="-127"/>
              </a:rPr>
            </a:br>
            <a:endParaRPr lang="en-US" altLang="ko-KR" sz="3000" dirty="0">
              <a:solidFill>
                <a:srgbClr val="1F1F1F"/>
              </a:solidFill>
              <a:latin typeface="NanumGothic" panose="020D0604000000000000" pitchFamily="34" charset="-127"/>
              <a:ea typeface="NanumGothic" panose="020D0604000000000000" pitchFamily="34" charset="-127"/>
            </a:endParaRPr>
          </a:p>
        </p:txBody>
      </p:sp>
      <p:sp>
        <p:nvSpPr>
          <p:cNvPr id="45" name="직사각형 44">
            <a:extLst>
              <a:ext uri="{FF2B5EF4-FFF2-40B4-BE49-F238E27FC236}">
                <a16:creationId xmlns:a16="http://schemas.microsoft.com/office/drawing/2014/main" id="{E2C76AE3-6FFC-01A6-B685-4FED82ECEC43}"/>
              </a:ext>
            </a:extLst>
          </p:cNvPr>
          <p:cNvSpPr/>
          <p:nvPr/>
        </p:nvSpPr>
        <p:spPr>
          <a:xfrm>
            <a:off x="16825650" y="32977053"/>
            <a:ext cx="13765919" cy="2548577"/>
          </a:xfrm>
          <a:prstGeom prst="rect">
            <a:avLst/>
          </a:prstGeom>
          <a:ln>
            <a:solidFill>
              <a:srgbClr val="5B9C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buFont typeface="Wingdings" pitchFamily="2" charset="2"/>
              <a:buChar char="ü"/>
            </a:pPr>
            <a:r>
              <a:rPr lang="ko-KR" altLang="en-US" sz="3000" b="1" dirty="0">
                <a:solidFill>
                  <a:schemeClr val="bg1"/>
                </a:solidFill>
                <a:latin typeface="NanumGothic" panose="020D0604000000000000" pitchFamily="34" charset="-127"/>
                <a:ea typeface="NanumGothic" panose="020D0604000000000000" pitchFamily="34" charset="-127"/>
              </a:rPr>
              <a:t>구체적 예시는 효율적이지만 고착을 강화</a:t>
            </a:r>
          </a:p>
          <a:p>
            <a:pPr marL="457200" indent="-457200">
              <a:buFont typeface="Wingdings" pitchFamily="2" charset="2"/>
              <a:buChar char="ü"/>
            </a:pPr>
            <a:r>
              <a:rPr lang="ko-KR" altLang="en-US" sz="3000" b="1" dirty="0">
                <a:solidFill>
                  <a:schemeClr val="bg1"/>
                </a:solidFill>
                <a:latin typeface="NanumGothic" panose="020D0604000000000000" pitchFamily="34" charset="-127"/>
                <a:ea typeface="NanumGothic" panose="020D0604000000000000" pitchFamily="34" charset="-127"/>
              </a:rPr>
              <a:t>스키마는 사고의 구조적 확장과 </a:t>
            </a:r>
            <a:r>
              <a:rPr lang="ko-KR" altLang="en-US" sz="3000" b="1" dirty="0" err="1">
                <a:solidFill>
                  <a:schemeClr val="bg1"/>
                </a:solidFill>
                <a:latin typeface="NanumGothic" panose="020D0604000000000000" pitchFamily="34" charset="-127"/>
                <a:ea typeface="NanumGothic" panose="020D0604000000000000" pitchFamily="34" charset="-127"/>
              </a:rPr>
              <a:t>주도성</a:t>
            </a:r>
            <a:r>
              <a:rPr lang="ko-KR" altLang="en-US" sz="3000" b="1" dirty="0">
                <a:solidFill>
                  <a:schemeClr val="bg1"/>
                </a:solidFill>
                <a:latin typeface="NanumGothic" panose="020D0604000000000000" pitchFamily="34" charset="-127"/>
                <a:ea typeface="NanumGothic" panose="020D0604000000000000" pitchFamily="34" charset="-127"/>
              </a:rPr>
              <a:t> 유지에 효과적</a:t>
            </a:r>
          </a:p>
          <a:p>
            <a:pPr marL="457200" indent="-457200">
              <a:buFont typeface="Wingdings" pitchFamily="2" charset="2"/>
              <a:buChar char="ü"/>
            </a:pPr>
            <a:r>
              <a:rPr lang="ko-KR" altLang="en-US" sz="3000" b="1" dirty="0">
                <a:solidFill>
                  <a:schemeClr val="bg1"/>
                </a:solidFill>
                <a:latin typeface="NanumGothic" panose="020D0604000000000000" pitchFamily="34" charset="-127"/>
                <a:ea typeface="NanumGothic" panose="020D0604000000000000" pitchFamily="34" charset="-127"/>
              </a:rPr>
              <a:t>반사실적 질문은 가장 강한 사고 전환과 창의적 자신감을 유도</a:t>
            </a:r>
          </a:p>
          <a:p>
            <a:pPr marL="457200" indent="-457200">
              <a:buFont typeface="Wingdings" pitchFamily="2" charset="2"/>
              <a:buChar char="ü"/>
            </a:pPr>
            <a:r>
              <a:rPr lang="ko-KR" altLang="en-US" sz="3000" b="1" dirty="0">
                <a:solidFill>
                  <a:schemeClr val="bg1"/>
                </a:solidFill>
                <a:latin typeface="NanumGothic" panose="020D0604000000000000" pitchFamily="34" charset="-127"/>
                <a:ea typeface="NanumGothic" panose="020D0604000000000000" pitchFamily="34" charset="-127"/>
              </a:rPr>
              <a:t>동일한 </a:t>
            </a:r>
            <a:r>
              <a:rPr lang="en" altLang="ko-KR" sz="3000" b="1" dirty="0">
                <a:solidFill>
                  <a:schemeClr val="bg1"/>
                </a:solidFill>
                <a:latin typeface="NanumGothic" panose="020D0604000000000000" pitchFamily="34" charset="-127"/>
                <a:ea typeface="NanumGothic" panose="020D0604000000000000" pitchFamily="34" charset="-127"/>
              </a:rPr>
              <a:t>AI</a:t>
            </a:r>
            <a:r>
              <a:rPr lang="ko-KR" altLang="en-US" sz="3000" b="1" dirty="0">
                <a:solidFill>
                  <a:schemeClr val="bg1"/>
                </a:solidFill>
                <a:latin typeface="NanumGothic" panose="020D0604000000000000" pitchFamily="34" charset="-127"/>
                <a:ea typeface="NanumGothic" panose="020D0604000000000000" pitchFamily="34" charset="-127"/>
              </a:rPr>
              <a:t>라도 </a:t>
            </a:r>
            <a:r>
              <a:rPr lang="ko-KR" altLang="en-US" sz="3000" b="1" dirty="0" err="1">
                <a:solidFill>
                  <a:schemeClr val="bg1"/>
                </a:solidFill>
                <a:latin typeface="NanumGothic" panose="020D0604000000000000" pitchFamily="34" charset="-127"/>
                <a:ea typeface="NanumGothic" panose="020D0604000000000000" pitchFamily="34" charset="-127"/>
              </a:rPr>
              <a:t>프레이밍</a:t>
            </a:r>
            <a:r>
              <a:rPr lang="ko-KR" altLang="en-US" sz="3000" b="1" dirty="0">
                <a:solidFill>
                  <a:schemeClr val="bg1"/>
                </a:solidFill>
                <a:latin typeface="NanumGothic" panose="020D0604000000000000" pitchFamily="34" charset="-127"/>
                <a:ea typeface="NanumGothic" panose="020D0604000000000000" pitchFamily="34" charset="-127"/>
              </a:rPr>
              <a:t> 방식에 따라</a:t>
            </a:r>
            <a:br>
              <a:rPr lang="ko-KR" altLang="en-US" sz="3000" b="1" dirty="0">
                <a:solidFill>
                  <a:schemeClr val="bg1"/>
                </a:solidFill>
                <a:latin typeface="NanumGothic" panose="020D0604000000000000" pitchFamily="34" charset="-127"/>
                <a:ea typeface="NanumGothic" panose="020D0604000000000000" pitchFamily="34" charset="-127"/>
              </a:rPr>
            </a:br>
            <a:r>
              <a:rPr lang="ko-KR" altLang="en-US" sz="3000" b="1" dirty="0">
                <a:solidFill>
                  <a:schemeClr val="bg1"/>
                </a:solidFill>
                <a:latin typeface="NanumGothic" panose="020D0604000000000000" pitchFamily="34" charset="-127"/>
                <a:ea typeface="NanumGothic" panose="020D0604000000000000" pitchFamily="34" charset="-127"/>
              </a:rPr>
              <a:t>사고 과정</a:t>
            </a:r>
            <a:r>
              <a:rPr lang="en-US" altLang="ko-KR" sz="3000" b="1" dirty="0">
                <a:solidFill>
                  <a:schemeClr val="bg1"/>
                </a:solidFill>
                <a:latin typeface="NanumGothic" panose="020D0604000000000000" pitchFamily="34" charset="-127"/>
                <a:ea typeface="NanumGothic" panose="020D0604000000000000" pitchFamily="34" charset="-127"/>
              </a:rPr>
              <a:t>·</a:t>
            </a:r>
            <a:r>
              <a:rPr lang="ko-KR" altLang="en-US" sz="3000" b="1" dirty="0">
                <a:solidFill>
                  <a:schemeClr val="bg1"/>
                </a:solidFill>
                <a:latin typeface="NanumGothic" panose="020D0604000000000000" pitchFamily="34" charset="-127"/>
                <a:ea typeface="NanumGothic" panose="020D0604000000000000" pitchFamily="34" charset="-127"/>
              </a:rPr>
              <a:t>아이디어 결과</a:t>
            </a:r>
            <a:r>
              <a:rPr lang="en-US" altLang="ko-KR" sz="3000" b="1" dirty="0">
                <a:solidFill>
                  <a:schemeClr val="bg1"/>
                </a:solidFill>
                <a:latin typeface="NanumGothic" panose="020D0604000000000000" pitchFamily="34" charset="-127"/>
                <a:ea typeface="NanumGothic" panose="020D0604000000000000" pitchFamily="34" charset="-127"/>
              </a:rPr>
              <a:t>·</a:t>
            </a:r>
            <a:r>
              <a:rPr lang="ko-KR" altLang="en-US" sz="3000" b="1" dirty="0">
                <a:solidFill>
                  <a:schemeClr val="bg1"/>
                </a:solidFill>
                <a:latin typeface="NanumGothic" panose="020D0604000000000000" pitchFamily="34" charset="-127"/>
                <a:ea typeface="NanumGothic" panose="020D0604000000000000" pitchFamily="34" charset="-127"/>
              </a:rPr>
              <a:t>심리 경험이 구조적으로 달라짐</a:t>
            </a:r>
          </a:p>
        </p:txBody>
      </p:sp>
      <p:sp>
        <p:nvSpPr>
          <p:cNvPr id="46" name="삼각형 45">
            <a:extLst>
              <a:ext uri="{FF2B5EF4-FFF2-40B4-BE49-F238E27FC236}">
                <a16:creationId xmlns:a16="http://schemas.microsoft.com/office/drawing/2014/main" id="{DE8D0E09-D14B-DA65-A489-843F57BA3E5F}"/>
              </a:ext>
            </a:extLst>
          </p:cNvPr>
          <p:cNvSpPr/>
          <p:nvPr/>
        </p:nvSpPr>
        <p:spPr>
          <a:xfrm rot="10800000">
            <a:off x="22560507" y="32587465"/>
            <a:ext cx="2132961" cy="301537"/>
          </a:xfrm>
          <a:prstGeom prst="triangl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7" name="Google Shape;87;p1">
            <a:extLst>
              <a:ext uri="{FF2B5EF4-FFF2-40B4-BE49-F238E27FC236}">
                <a16:creationId xmlns:a16="http://schemas.microsoft.com/office/drawing/2014/main" id="{565C7357-C51A-0F5E-8405-510A963C2AF3}"/>
              </a:ext>
            </a:extLst>
          </p:cNvPr>
          <p:cNvSpPr>
            <a:spLocks/>
          </p:cNvSpPr>
          <p:nvPr/>
        </p:nvSpPr>
        <p:spPr>
          <a:xfrm>
            <a:off x="16688795" y="10586326"/>
            <a:ext cx="13765919" cy="8775509"/>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pPr marL="171450" indent="-171450">
              <a:buFont typeface="Wingdings" pitchFamily="2" charset="2"/>
              <a:buChar char="§"/>
            </a:pPr>
            <a:r>
              <a:rPr lang="en-US" altLang="ko-KR" sz="3000" dirty="0">
                <a:solidFill>
                  <a:schemeClr val="tx1"/>
                </a:solidFill>
                <a:latin typeface="NanumGothic" panose="020D0604000000000000" pitchFamily="34" charset="-127"/>
                <a:ea typeface="NanumGothic" panose="020D0604000000000000" pitchFamily="34" charset="-127"/>
              </a:rPr>
              <a:t> </a:t>
            </a:r>
            <a:r>
              <a:rPr lang="en" altLang="ko-KR" sz="3000" dirty="0">
                <a:solidFill>
                  <a:schemeClr val="tx1"/>
                </a:solidFill>
                <a:latin typeface="NanumGothic" panose="020D0604000000000000" pitchFamily="34" charset="-127"/>
                <a:ea typeface="NanumGothic" panose="020D0604000000000000" pitchFamily="34" charset="-127"/>
              </a:rPr>
              <a:t>Think-Aloud(</a:t>
            </a:r>
            <a:r>
              <a:rPr lang="ko-KR" altLang="en-US" sz="3000" dirty="0">
                <a:solidFill>
                  <a:schemeClr val="tx1"/>
                </a:solidFill>
                <a:latin typeface="NanumGothic" panose="020D0604000000000000" pitchFamily="34" charset="-127"/>
                <a:ea typeface="NanumGothic" panose="020D0604000000000000" pitchFamily="34" charset="-127"/>
              </a:rPr>
              <a:t>사고 구술</a:t>
            </a:r>
            <a:r>
              <a:rPr lang="en-US" altLang="ko-KR" sz="3000" dirty="0">
                <a:solidFill>
                  <a:schemeClr val="tx1"/>
                </a:solidFill>
                <a:latin typeface="NanumGothic" panose="020D0604000000000000" pitchFamily="34" charset="-127"/>
                <a:ea typeface="NanumGothic" panose="020D0604000000000000" pitchFamily="34" charset="-127"/>
              </a:rPr>
              <a:t>) </a:t>
            </a:r>
            <a:r>
              <a:rPr lang="ko-KR" altLang="en-US" sz="3000" dirty="0">
                <a:solidFill>
                  <a:schemeClr val="tx1"/>
                </a:solidFill>
                <a:latin typeface="NanumGothic" panose="020D0604000000000000" pitchFamily="34" charset="-127"/>
                <a:ea typeface="NanumGothic" panose="020D0604000000000000" pitchFamily="34" charset="-127"/>
              </a:rPr>
              <a:t>및 심층 인터뷰</a:t>
            </a:r>
            <a:r>
              <a:rPr lang="en-US" altLang="ko-KR" sz="3000" dirty="0">
                <a:solidFill>
                  <a:schemeClr val="tx1"/>
                </a:solidFill>
                <a:latin typeface="NanumGothic" panose="020D0604000000000000" pitchFamily="34" charset="-127"/>
                <a:ea typeface="NanumGothic" panose="020D0604000000000000" pitchFamily="34" charset="-127"/>
              </a:rPr>
              <a:t> </a:t>
            </a:r>
            <a:r>
              <a:rPr lang="ko-KR" altLang="en-US" sz="3000" dirty="0">
                <a:solidFill>
                  <a:schemeClr val="tx1"/>
                </a:solidFill>
                <a:latin typeface="NanumGothic" panose="020D0604000000000000" pitchFamily="34" charset="-127"/>
                <a:ea typeface="NanumGothic" panose="020D0604000000000000" pitchFamily="34" charset="-127"/>
              </a:rPr>
              <a:t>중심의 탐색적 연구</a:t>
            </a:r>
            <a:endParaRPr lang="en-US" altLang="ko-KR" sz="3000" dirty="0">
              <a:latin typeface="NanumGothic" panose="020D0604000000000000" pitchFamily="34" charset="-127"/>
              <a:ea typeface="NanumGothic" panose="020D0604000000000000" pitchFamily="34" charset="-127"/>
            </a:endParaRPr>
          </a:p>
          <a:p>
            <a:pPr marL="171450" indent="-171450">
              <a:buFont typeface="Wingdings" pitchFamily="2" charset="2"/>
              <a:buChar char="§"/>
            </a:pPr>
            <a:r>
              <a:rPr lang="ko-KR" altLang="en-US" sz="3000" dirty="0">
                <a:latin typeface="NanumGothic" panose="020D0604000000000000" pitchFamily="34" charset="-127"/>
                <a:ea typeface="NanumGothic" panose="020D0604000000000000" pitchFamily="34" charset="-127"/>
              </a:rPr>
              <a:t> 모든 참가자는 통제 조건을 경험하며</a:t>
            </a: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그룹 배정에 따라 서로 다른</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조건을 수행</a:t>
            </a:r>
            <a:endParaRPr lang="en-US" altLang="ko-KR" sz="3000" dirty="0">
              <a:latin typeface="NanumGothic" panose="020D0604000000000000" pitchFamily="34" charset="-127"/>
              <a:ea typeface="NanumGothic" panose="020D0604000000000000" pitchFamily="34" charset="-127"/>
            </a:endParaRPr>
          </a:p>
          <a:p>
            <a:pPr marL="742950" lvl="1" indent="-285750">
              <a:buFont typeface="Wingdings" pitchFamily="2" charset="2"/>
              <a:buChar char="§"/>
            </a:pPr>
            <a:r>
              <a:rPr lang="en" altLang="ko-KR" sz="3000" dirty="0">
                <a:latin typeface="NanumGothic" panose="020D0604000000000000" pitchFamily="34" charset="-127"/>
                <a:ea typeface="NanumGothic" panose="020D0604000000000000" pitchFamily="34" charset="-127"/>
              </a:rPr>
              <a:t>Group A (6</a:t>
            </a:r>
            <a:r>
              <a:rPr lang="ko-KR" altLang="en-US" sz="3000" dirty="0">
                <a:latin typeface="NanumGothic" panose="020D0604000000000000" pitchFamily="34" charset="-127"/>
                <a:ea typeface="NanumGothic" panose="020D0604000000000000" pitchFamily="34" charset="-127"/>
              </a:rPr>
              <a:t>명</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 </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통제 조건</a:t>
            </a:r>
            <a:r>
              <a:rPr lang="en-US" altLang="ko-KR" sz="3000" dirty="0">
                <a:latin typeface="NanumGothic" panose="020D0604000000000000" pitchFamily="34" charset="-127"/>
                <a:ea typeface="NanumGothic" panose="020D0604000000000000" pitchFamily="34" charset="-127"/>
              </a:rPr>
              <a:t>] </a:t>
            </a:r>
            <a:r>
              <a:rPr lang="en" altLang="ko-KR" sz="3000" dirty="0">
                <a:latin typeface="NanumGothic" panose="020D0604000000000000" pitchFamily="34" charset="-127"/>
                <a:ea typeface="NanumGothic" panose="020D0604000000000000" pitchFamily="34" charset="-127"/>
              </a:rPr>
              <a:t>vs [</a:t>
            </a:r>
            <a:r>
              <a:rPr lang="ko-KR" altLang="en-US" sz="3000" dirty="0">
                <a:latin typeface="NanumGothic" panose="020D0604000000000000" pitchFamily="34" charset="-127"/>
                <a:ea typeface="NanumGothic" panose="020D0604000000000000" pitchFamily="34" charset="-127"/>
              </a:rPr>
              <a:t>실험 조건 </a:t>
            </a:r>
            <a:r>
              <a:rPr lang="en-US" altLang="ko-KR" sz="3000" dirty="0">
                <a:latin typeface="NanumGothic" panose="020D0604000000000000" pitchFamily="34" charset="-127"/>
                <a:ea typeface="NanumGothic" panose="020D0604000000000000" pitchFamily="34" charset="-127"/>
              </a:rPr>
              <a:t>1: </a:t>
            </a:r>
            <a:r>
              <a:rPr lang="en" altLang="ko-KR" sz="3000" dirty="0">
                <a:latin typeface="NanumGothic" panose="020D0604000000000000" pitchFamily="34" charset="-127"/>
                <a:ea typeface="NanumGothic" panose="020D0604000000000000" pitchFamily="34" charset="-127"/>
              </a:rPr>
              <a:t>Schema</a:t>
            </a:r>
            <a:r>
              <a:rPr lang="en-US" altLang="ko-KR" sz="3000" dirty="0">
                <a:latin typeface="NanumGothic" panose="020D0604000000000000" pitchFamily="34" charset="-127"/>
                <a:ea typeface="NanumGothic" panose="020D0604000000000000" pitchFamily="34" charset="-127"/>
              </a:rPr>
              <a:t>]</a:t>
            </a:r>
          </a:p>
          <a:p>
            <a:pPr marL="742950" lvl="1" indent="-285750">
              <a:buFont typeface="Wingdings" pitchFamily="2" charset="2"/>
              <a:buChar char="§"/>
            </a:pPr>
            <a:r>
              <a:rPr lang="en" altLang="ko-KR" sz="3000" dirty="0">
                <a:latin typeface="NanumGothic" panose="020D0604000000000000" pitchFamily="34" charset="-127"/>
                <a:ea typeface="NanumGothic" panose="020D0604000000000000" pitchFamily="34" charset="-127"/>
              </a:rPr>
              <a:t>Group B (6</a:t>
            </a:r>
            <a:r>
              <a:rPr lang="ko-KR" altLang="en-US" sz="3000" dirty="0">
                <a:latin typeface="NanumGothic" panose="020D0604000000000000" pitchFamily="34" charset="-127"/>
                <a:ea typeface="NanumGothic" panose="020D0604000000000000" pitchFamily="34" charset="-127"/>
              </a:rPr>
              <a:t>명</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 </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통제 조건</a:t>
            </a:r>
            <a:r>
              <a:rPr lang="en-US" altLang="ko-KR" sz="3000" dirty="0">
                <a:latin typeface="NanumGothic" panose="020D0604000000000000" pitchFamily="34" charset="-127"/>
                <a:ea typeface="NanumGothic" panose="020D0604000000000000" pitchFamily="34" charset="-127"/>
              </a:rPr>
              <a:t>] </a:t>
            </a:r>
            <a:r>
              <a:rPr lang="en" altLang="ko-KR" sz="3000" dirty="0">
                <a:latin typeface="NanumGothic" panose="020D0604000000000000" pitchFamily="34" charset="-127"/>
                <a:ea typeface="NanumGothic" panose="020D0604000000000000" pitchFamily="34" charset="-127"/>
              </a:rPr>
              <a:t>vs [</a:t>
            </a:r>
            <a:r>
              <a:rPr lang="ko-KR" altLang="en-US" sz="3000" dirty="0">
                <a:latin typeface="NanumGothic" panose="020D0604000000000000" pitchFamily="34" charset="-127"/>
                <a:ea typeface="NanumGothic" panose="020D0604000000000000" pitchFamily="34" charset="-127"/>
              </a:rPr>
              <a:t>실험 조건 </a:t>
            </a:r>
            <a:r>
              <a:rPr lang="en-US" altLang="ko-KR" sz="3000" dirty="0">
                <a:latin typeface="NanumGothic" panose="020D0604000000000000" pitchFamily="34" charset="-127"/>
                <a:ea typeface="NanumGothic" panose="020D0604000000000000" pitchFamily="34" charset="-127"/>
              </a:rPr>
              <a:t>2: </a:t>
            </a:r>
            <a:r>
              <a:rPr lang="en" altLang="ko-KR" sz="3000" dirty="0">
                <a:latin typeface="NanumGothic" panose="020D0604000000000000" pitchFamily="34" charset="-127"/>
                <a:ea typeface="NanumGothic" panose="020D0604000000000000" pitchFamily="34" charset="-127"/>
              </a:rPr>
              <a:t>Counterfactual</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실험 과제</a:t>
            </a:r>
            <a:endParaRPr lang="en-US" altLang="ko-KR" sz="3000" dirty="0">
              <a:latin typeface="NanumGothic" panose="020D0604000000000000" pitchFamily="34" charset="-127"/>
              <a:ea typeface="NanumGothic" panose="020D0604000000000000" pitchFamily="34" charset="-127"/>
            </a:endParaRPr>
          </a:p>
          <a:p>
            <a:pPr marL="457200" lvl="1" indent="-392113"/>
            <a:r>
              <a:rPr lang="en-US" altLang="ko-KR" sz="3100" b="1" dirty="0">
                <a:latin typeface="NanumGothic" panose="020D0604000000000000" pitchFamily="34" charset="-127"/>
                <a:ea typeface="NanumGothic" panose="020D0604000000000000" pitchFamily="34" charset="-127"/>
              </a:rPr>
              <a:t>Condition</a:t>
            </a:r>
          </a:p>
          <a:p>
            <a:pPr marL="809625" indent="-306388">
              <a:buFont typeface="Wingdings" pitchFamily="2" charset="2"/>
              <a:buChar char="§"/>
            </a:pPr>
            <a:r>
              <a:rPr lang="en" altLang="ko-KR" sz="3000" dirty="0">
                <a:latin typeface="NanumGothic" panose="020D0604000000000000" pitchFamily="34" charset="-127"/>
                <a:ea typeface="NanumGothic" panose="020D0604000000000000" pitchFamily="34" charset="-127"/>
              </a:rPr>
              <a:t>Concrete (Reference Condition)</a:t>
            </a:r>
          </a:p>
          <a:p>
            <a:pPr marL="984250" indent="306388">
              <a:buFont typeface="Wingdings" pitchFamily="2" charset="2"/>
              <a:buChar char="§"/>
            </a:pPr>
            <a:r>
              <a:rPr lang="en" altLang="ko-KR" sz="3000" dirty="0">
                <a:latin typeface="NanumGothic" panose="020D0604000000000000" pitchFamily="34" charset="-127"/>
                <a:ea typeface="NanumGothic" panose="020D0604000000000000" pitchFamily="34" charset="-127"/>
              </a:rPr>
              <a:t>AI</a:t>
            </a:r>
            <a:r>
              <a:rPr lang="ko-KR" altLang="en-US" sz="3000" dirty="0">
                <a:latin typeface="NanumGothic" panose="020D0604000000000000" pitchFamily="34" charset="-127"/>
                <a:ea typeface="NanumGothic" panose="020D0604000000000000" pitchFamily="34" charset="-127"/>
              </a:rPr>
              <a:t>가 즉각적이고 구체적인 아이디어 예시 제공</a:t>
            </a:r>
          </a:p>
          <a:p>
            <a:pPr marL="984250" indent="306388">
              <a:buFont typeface="Wingdings" pitchFamily="2" charset="2"/>
              <a:buChar char="§"/>
            </a:pPr>
            <a:r>
              <a:rPr lang="ko-KR" altLang="en-US" sz="3000" dirty="0">
                <a:latin typeface="NanumGothic" panose="020D0604000000000000" pitchFamily="34" charset="-127"/>
                <a:ea typeface="NanumGothic" panose="020D0604000000000000" pitchFamily="34" charset="-127"/>
              </a:rPr>
              <a:t>실제 업무 환경에서 가장 흔한 </a:t>
            </a:r>
            <a:r>
              <a:rPr lang="en" altLang="ko-KR" sz="3000" dirty="0">
                <a:latin typeface="NanumGothic" panose="020D0604000000000000" pitchFamily="34" charset="-127"/>
                <a:ea typeface="NanumGothic" panose="020D0604000000000000" pitchFamily="34" charset="-127"/>
              </a:rPr>
              <a:t>AI </a:t>
            </a:r>
            <a:r>
              <a:rPr lang="ko-KR" altLang="en-US" sz="3000" dirty="0">
                <a:latin typeface="NanumGothic" panose="020D0604000000000000" pitchFamily="34" charset="-127"/>
                <a:ea typeface="NanumGothic" panose="020D0604000000000000" pitchFamily="34" charset="-127"/>
              </a:rPr>
              <a:t>사용 방식</a:t>
            </a:r>
          </a:p>
          <a:p>
            <a:pPr marL="809625" indent="-306388">
              <a:buFont typeface="Wingdings" pitchFamily="2" charset="2"/>
              <a:buChar char="§"/>
            </a:pPr>
            <a:r>
              <a:rPr lang="en" altLang="ko-KR" sz="3000" dirty="0">
                <a:latin typeface="NanumGothic" panose="020D0604000000000000" pitchFamily="34" charset="-127"/>
                <a:ea typeface="NanumGothic" panose="020D0604000000000000" pitchFamily="34" charset="-127"/>
              </a:rPr>
              <a:t>Schema</a:t>
            </a:r>
          </a:p>
          <a:p>
            <a:pPr marL="1335088" indent="-306388">
              <a:buFont typeface="Wingdings" pitchFamily="2" charset="2"/>
              <a:buChar char="§"/>
            </a:pPr>
            <a:r>
              <a:rPr lang="ko-KR" altLang="en-US" sz="3000" dirty="0">
                <a:latin typeface="NanumGothic" panose="020D0604000000000000" pitchFamily="34" charset="-127"/>
                <a:ea typeface="NanumGothic" panose="020D0604000000000000" pitchFamily="34" charset="-127"/>
              </a:rPr>
              <a:t>해결책 제시 없이 문제를 바라보는 구조</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관계</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흐름만 제공</a:t>
            </a:r>
          </a:p>
          <a:p>
            <a:pPr marL="809625" indent="-306388">
              <a:buFont typeface="Wingdings" pitchFamily="2" charset="2"/>
              <a:buChar char="§"/>
            </a:pPr>
            <a:r>
              <a:rPr lang="en" altLang="ko-KR" sz="3000" dirty="0">
                <a:latin typeface="NanumGothic" panose="020D0604000000000000" pitchFamily="34" charset="-127"/>
                <a:ea typeface="NanumGothic" panose="020D0604000000000000" pitchFamily="34" charset="-127"/>
              </a:rPr>
              <a:t>Counterfactual</a:t>
            </a:r>
          </a:p>
          <a:p>
            <a:pPr marL="1028700" indent="261938">
              <a:buFont typeface="Wingdings" pitchFamily="2" charset="2"/>
              <a:buChar char="§"/>
            </a:pPr>
            <a:r>
              <a:rPr lang="ko-KR" altLang="en-US" sz="3000" dirty="0">
                <a:latin typeface="NanumGothic" panose="020D0604000000000000" pitchFamily="34" charset="-127"/>
                <a:ea typeface="NanumGothic" panose="020D0604000000000000" pitchFamily="34" charset="-127"/>
              </a:rPr>
              <a:t>기존 가정이나 인과를 뒤집는 반사실적 질문만 제시</a:t>
            </a:r>
            <a:endParaRPr lang="en-US" altLang="ko-KR" sz="3000" dirty="0">
              <a:latin typeface="NanumGothic" panose="020D0604000000000000" pitchFamily="34" charset="-127"/>
              <a:ea typeface="NanumGothic" panose="020D0604000000000000" pitchFamily="34" charset="-127"/>
            </a:endParaRPr>
          </a:p>
          <a:p>
            <a:r>
              <a:rPr lang="en" altLang="ko-KR" sz="3100" b="1" dirty="0">
                <a:latin typeface="NanumGothic" panose="020D0604000000000000" pitchFamily="34" charset="-127"/>
                <a:ea typeface="NanumGothic" panose="020D0604000000000000" pitchFamily="34" charset="-127"/>
              </a:rPr>
              <a:t>Tasks</a:t>
            </a:r>
          </a:p>
          <a:p>
            <a:pPr marL="1071563" indent="-525463">
              <a:buFont typeface="Wingdings" pitchFamily="2" charset="2"/>
              <a:buChar char="§"/>
            </a:pPr>
            <a:r>
              <a:rPr lang="en" altLang="ko-KR" sz="3000" dirty="0">
                <a:latin typeface="NanumGothic" panose="020D0604000000000000" pitchFamily="34" charset="-127"/>
                <a:ea typeface="NanumGothic" panose="020D0604000000000000" pitchFamily="34" charset="-127"/>
              </a:rPr>
              <a:t>Task 1: </a:t>
            </a:r>
            <a:r>
              <a:rPr lang="ko-KR" altLang="en-US" sz="3000" dirty="0">
                <a:latin typeface="NanumGothic" panose="020D0604000000000000" pitchFamily="34" charset="-127"/>
                <a:ea typeface="NanumGothic" panose="020D0604000000000000" pitchFamily="34" charset="-127"/>
              </a:rPr>
              <a:t>선물 고르기 </a:t>
            </a:r>
            <a:r>
              <a:rPr lang="ko-KR" altLang="en-US" sz="3000" dirty="0" err="1">
                <a:latin typeface="NanumGothic" panose="020D0604000000000000" pitchFamily="34" charset="-127"/>
                <a:ea typeface="NanumGothic" panose="020D0604000000000000" pitchFamily="34" charset="-127"/>
              </a:rPr>
              <a:t>아이데이션</a:t>
            </a:r>
            <a:br>
              <a:rPr lang="en-US" altLang="ko-KR" sz="3000" dirty="0">
                <a:latin typeface="NanumGothic" panose="020D0604000000000000" pitchFamily="34" charset="-127"/>
                <a:ea typeface="NanumGothic" panose="020D0604000000000000" pitchFamily="34" charset="-127"/>
              </a:rPr>
            </a:br>
            <a:r>
              <a:rPr lang="en-US" altLang="ko-KR" sz="3000" dirty="0">
                <a:latin typeface="NanumGothic" panose="020D0604000000000000" pitchFamily="34" charset="-127"/>
                <a:ea typeface="NanumGothic" panose="020D0604000000000000" pitchFamily="34" charset="-127"/>
              </a:rPr>
              <a:t>: </a:t>
            </a:r>
            <a:r>
              <a:rPr lang="ko-KR" altLang="en-US" sz="3000" dirty="0">
                <a:latin typeface="NanumGothic" panose="020D0604000000000000" pitchFamily="34" charset="-127"/>
                <a:ea typeface="NanumGothic" panose="020D0604000000000000" pitchFamily="34" charset="-127"/>
              </a:rPr>
              <a:t>센스 있는 선물을 쉽게 찾도록 돕는 기능</a:t>
            </a: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서비스 아이디어 도출</a:t>
            </a:r>
          </a:p>
          <a:p>
            <a:pPr marL="1071563" indent="-525463">
              <a:buFont typeface="Wingdings" pitchFamily="2" charset="2"/>
              <a:buChar char="§"/>
            </a:pPr>
            <a:r>
              <a:rPr lang="en" altLang="ko-KR" sz="3000" dirty="0">
                <a:latin typeface="NanumGothic" panose="020D0604000000000000" pitchFamily="34" charset="-127"/>
                <a:ea typeface="NanumGothic" panose="020D0604000000000000" pitchFamily="34" charset="-127"/>
              </a:rPr>
              <a:t>Task 2: </a:t>
            </a:r>
            <a:r>
              <a:rPr lang="ko-KR" altLang="en-US" sz="3000" dirty="0">
                <a:latin typeface="NanumGothic" panose="020D0604000000000000" pitchFamily="34" charset="-127"/>
                <a:ea typeface="NanumGothic" panose="020D0604000000000000" pitchFamily="34" charset="-127"/>
              </a:rPr>
              <a:t>비효율적인 회의 개선 </a:t>
            </a:r>
            <a:r>
              <a:rPr lang="ko-KR" altLang="en-US" sz="3000" dirty="0" err="1">
                <a:latin typeface="NanumGothic" panose="020D0604000000000000" pitchFamily="34" charset="-127"/>
                <a:ea typeface="NanumGothic" panose="020D0604000000000000" pitchFamily="34" charset="-127"/>
              </a:rPr>
              <a:t>아이데이션</a:t>
            </a:r>
            <a:br>
              <a:rPr lang="en-US" altLang="ko-KR" sz="3000" dirty="0">
                <a:latin typeface="NanumGothic" panose="020D0604000000000000" pitchFamily="34" charset="-127"/>
                <a:ea typeface="NanumGothic" panose="020D0604000000000000" pitchFamily="34" charset="-127"/>
              </a:rPr>
            </a:br>
            <a:r>
              <a:rPr lang="en-US" altLang="ko-KR" sz="3000" dirty="0">
                <a:latin typeface="NanumGothic" panose="020D0604000000000000" pitchFamily="34" charset="-127"/>
                <a:ea typeface="NanumGothic" panose="020D0604000000000000" pitchFamily="34" charset="-127"/>
              </a:rPr>
              <a:t>:</a:t>
            </a:r>
            <a:r>
              <a:rPr lang="ko-KR" altLang="en-US" sz="3000" dirty="0">
                <a:latin typeface="NanumGothic" panose="020D0604000000000000" pitchFamily="34" charset="-127"/>
                <a:ea typeface="NanumGothic" panose="020D0604000000000000" pitchFamily="34" charset="-127"/>
              </a:rPr>
              <a:t>회의 시간을 줄이고 핵심 대화에 집중하도록 돕는 아이디어 도출</a:t>
            </a:r>
          </a:p>
          <a:p>
            <a:pPr marL="1071563" indent="-525463">
              <a:buFont typeface="Wingdings" pitchFamily="2" charset="2"/>
              <a:buChar char="§"/>
            </a:pPr>
            <a:r>
              <a:rPr lang="ko-KR" altLang="en-US" sz="3000" dirty="0" err="1">
                <a:latin typeface="NanumGothic" panose="020D0604000000000000" pitchFamily="34" charset="-127"/>
                <a:ea typeface="NanumGothic" panose="020D0604000000000000" pitchFamily="34" charset="-127"/>
              </a:rPr>
              <a:t>아이데이션</a:t>
            </a:r>
            <a:r>
              <a:rPr lang="ko-KR" altLang="en-US" sz="3000" dirty="0">
                <a:latin typeface="NanumGothic" panose="020D0604000000000000" pitchFamily="34" charset="-127"/>
                <a:ea typeface="NanumGothic" panose="020D0604000000000000" pitchFamily="34" charset="-127"/>
              </a:rPr>
              <a:t> 전 과정에서 </a:t>
            </a:r>
            <a:r>
              <a:rPr lang="en" altLang="ko-KR" sz="3000" dirty="0">
                <a:latin typeface="NanumGothic" panose="020D0604000000000000" pitchFamily="34" charset="-127"/>
                <a:ea typeface="NanumGothic" panose="020D0604000000000000" pitchFamily="34" charset="-127"/>
              </a:rPr>
              <a:t>Think-Aloud </a:t>
            </a:r>
            <a:r>
              <a:rPr lang="ko-KR" altLang="en-US" sz="3000" dirty="0">
                <a:latin typeface="NanumGothic" panose="020D0604000000000000" pitchFamily="34" charset="-127"/>
                <a:ea typeface="NanumGothic" panose="020D0604000000000000" pitchFamily="34" charset="-127"/>
              </a:rPr>
              <a:t>기법 사용</a:t>
            </a:r>
            <a:endParaRPr lang="en" altLang="ko-KR" sz="3000" dirty="0">
              <a:latin typeface="NanumGothic" panose="020D0604000000000000" pitchFamily="34" charset="-127"/>
              <a:ea typeface="NanumGothic" panose="020D0604000000000000" pitchFamily="34" charset="-127"/>
            </a:endParaRPr>
          </a:p>
          <a:p>
            <a:pPr marL="1071563" indent="-525463">
              <a:buFont typeface="Wingdings" pitchFamily="2" charset="2"/>
              <a:buChar char="§"/>
            </a:pPr>
            <a:r>
              <a:rPr lang="ko-KR" altLang="en-US" sz="3000" dirty="0">
                <a:solidFill>
                  <a:schemeClr val="tx1"/>
                </a:solidFill>
                <a:latin typeface="NanumGothic" panose="020D0604000000000000" pitchFamily="34" charset="-127"/>
                <a:ea typeface="NanumGothic" panose="020D0604000000000000" pitchFamily="34" charset="-127"/>
              </a:rPr>
              <a:t>심리지표 측정</a:t>
            </a:r>
            <a:r>
              <a:rPr lang="en-US" altLang="ko-KR" sz="3000" dirty="0">
                <a:solidFill>
                  <a:srgbClr val="1F1F1F"/>
                </a:solidFill>
                <a:latin typeface="NanumGothic" panose="020D0604000000000000" pitchFamily="34" charset="-127"/>
                <a:ea typeface="NanumGothic" panose="020D0604000000000000" pitchFamily="34" charset="-127"/>
              </a:rPr>
              <a:t>(</a:t>
            </a:r>
            <a:r>
              <a:rPr lang="en" altLang="ko-KR" sz="3000" dirty="0">
                <a:solidFill>
                  <a:srgbClr val="1F1F1F"/>
                </a:solidFill>
                <a:latin typeface="NanumGothic" panose="020D0604000000000000" pitchFamily="34" charset="-127"/>
                <a:ea typeface="NanumGothic" panose="020D0604000000000000" pitchFamily="34" charset="-127"/>
              </a:rPr>
              <a:t>Perceived Autonomy</a:t>
            </a:r>
            <a:r>
              <a:rPr lang="en-US" altLang="ko-KR" sz="3000" dirty="0">
                <a:solidFill>
                  <a:srgbClr val="1F1F1F"/>
                </a:solidFill>
                <a:latin typeface="NanumGothic" panose="020D0604000000000000" pitchFamily="34" charset="-127"/>
                <a:ea typeface="NanumGothic" panose="020D0604000000000000" pitchFamily="34" charset="-127"/>
              </a:rPr>
              <a:t>,</a:t>
            </a:r>
            <a:r>
              <a:rPr lang="en" altLang="ko-KR" sz="3000" dirty="0">
                <a:solidFill>
                  <a:srgbClr val="1F1F1F"/>
                </a:solidFill>
                <a:latin typeface="NanumGothic" panose="020D0604000000000000" pitchFamily="34" charset="-127"/>
                <a:ea typeface="NanumGothic" panose="020D0604000000000000" pitchFamily="34" charset="-127"/>
              </a:rPr>
              <a:t>Ownership</a:t>
            </a:r>
            <a:r>
              <a:rPr lang="en-US" altLang="ko-KR" sz="3000" dirty="0">
                <a:solidFill>
                  <a:srgbClr val="1F1F1F"/>
                </a:solidFill>
                <a:latin typeface="NanumGothic" panose="020D0604000000000000" pitchFamily="34" charset="-127"/>
                <a:ea typeface="NanumGothic" panose="020D0604000000000000" pitchFamily="34" charset="-127"/>
              </a:rPr>
              <a:t>,</a:t>
            </a:r>
            <a:r>
              <a:rPr lang="en" altLang="ko-KR" sz="3000" dirty="0">
                <a:solidFill>
                  <a:srgbClr val="1F1F1F"/>
                </a:solidFill>
                <a:latin typeface="NanumGothic" panose="020D0604000000000000" pitchFamily="34" charset="-127"/>
                <a:ea typeface="NanumGothic" panose="020D0604000000000000" pitchFamily="34" charset="-127"/>
              </a:rPr>
              <a:t>Creative Self-Efficacy</a:t>
            </a:r>
            <a:r>
              <a:rPr lang="en-US" altLang="ko-KR" sz="3000" dirty="0">
                <a:solidFill>
                  <a:srgbClr val="1F1F1F"/>
                </a:solidFill>
                <a:latin typeface="NanumGothic" panose="020D0604000000000000" pitchFamily="34" charset="-127"/>
                <a:ea typeface="NanumGothic" panose="020D0604000000000000" pitchFamily="34" charset="-127"/>
              </a:rPr>
              <a:t>)</a:t>
            </a:r>
          </a:p>
        </p:txBody>
      </p:sp>
      <p:sp>
        <p:nvSpPr>
          <p:cNvPr id="47" name="Google Shape;90;p1">
            <a:extLst>
              <a:ext uri="{FF2B5EF4-FFF2-40B4-BE49-F238E27FC236}">
                <a16:creationId xmlns:a16="http://schemas.microsoft.com/office/drawing/2014/main" id="{3FB45778-1197-B88F-B1B1-7783BCF5BD90}"/>
              </a:ext>
            </a:extLst>
          </p:cNvPr>
          <p:cNvSpPr/>
          <p:nvPr/>
        </p:nvSpPr>
        <p:spPr>
          <a:xfrm>
            <a:off x="15971489" y="40184499"/>
            <a:ext cx="14756104" cy="1909806"/>
          </a:xfrm>
          <a:prstGeom prst="rect">
            <a:avLst/>
          </a:prstGeom>
          <a:solidFill>
            <a:schemeClr val="lt1"/>
          </a:solidFill>
          <a:ln w="19050" cap="flat" cmpd="sng">
            <a:noFill/>
            <a:prstDash val="solid"/>
            <a:miter lim="800000"/>
            <a:headEnd type="none" w="sm" len="sm"/>
            <a:tailEnd type="none" w="sm" len="sm"/>
          </a:ln>
        </p:spPr>
        <p:txBody>
          <a:bodyPr spcFirstLastPara="1" wrap="square" lIns="92273" tIns="46124" rIns="92273" bIns="46124" anchor="t" anchorCtr="0">
            <a:noAutofit/>
          </a:bodyPr>
          <a:lstStyle/>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4)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Yuxin</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Xu,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Mengqiu</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Cheng, and Anastasia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Kuzminykh</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2024. What Makes It Mine? Exploring Psychological Ownership over Human-AI Co-Creations. In Proceedings of the 50th Graphics Interface Conference (GI '24). Association for Computing Machinery, New York, NY, USA, Article 35, 1–8. </a:t>
            </a:r>
            <a:r>
              <a:rPr lang="en-US" altLang="ko-KR" sz="1800" u="sng" kern="100" dirty="0">
                <a:solidFill>
                  <a:srgbClr val="467886"/>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hlinkClick r:id="rId6"/>
              </a:rPr>
              <a:t>https://doi.org/10.1145/3670947.3670974</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5) Chen, Zeya &amp; Schmidt, Ruth. (2024). Exploring a Behavioral Model of "Positive Friction" in Human-AI Interaction. 10.48550/arXiv.2402.09683.</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a:p>
            <a:pPr latinLnBrk="0">
              <a:spcAft>
                <a:spcPts val="800"/>
              </a:spcAft>
            </a:pP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6) Wang, </a:t>
            </a:r>
            <a:r>
              <a:rPr lang="en-US" altLang="ko-KR" sz="1800" kern="100" dirty="0" err="1">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Sitong</a:t>
            </a:r>
            <a:r>
              <a:rPr lang="en-US" altLang="ko-KR" sz="1800" kern="100" dirty="0">
                <a:solidFill>
                  <a:srgbClr val="1F1F1F"/>
                </a:solidFill>
                <a:effectLst/>
                <a:highlight>
                  <a:srgbClr val="FFFFFF"/>
                </a:highlight>
                <a:latin typeface="NanumGothic" panose="020D0604000000000000" pitchFamily="34" charset="-127"/>
                <a:ea typeface="NanumGothic" panose="020D0604000000000000" pitchFamily="34" charset="-127"/>
                <a:cs typeface="Arial" panose="020B0604020202020204" pitchFamily="34" charset="0"/>
              </a:rPr>
              <a:t>. (2025). Human-AI Schema Discovery and Application for Creative Problem Solving. 10.48550/arXiv.2508.05045.</a:t>
            </a:r>
            <a:endParaRPr lang="ko-KR" altLang="ko-KR" sz="1800" kern="100" dirty="0">
              <a:effectLst/>
              <a:latin typeface="NanumGothic" panose="020D0604000000000000" pitchFamily="34" charset="-127"/>
              <a:ea typeface="NanumGothic" panose="020D0604000000000000" pitchFamily="34" charset="-127"/>
              <a:cs typeface="Times New Roman" panose="02020603050405020304" pitchFamily="18" charset="0"/>
            </a:endParaRPr>
          </a:p>
        </p:txBody>
      </p:sp>
    </p:spTree>
    <p:extLst>
      <p:ext uri="{BB962C8B-B14F-4D97-AF65-F5344CB8AC3E}">
        <p14:creationId xmlns:p14="http://schemas.microsoft.com/office/powerpoint/2010/main" val="4179795938"/>
      </p:ext>
    </p:extLst>
  </p:cSld>
  <p:clrMapOvr>
    <a:masterClrMapping/>
  </p:clrMapOvr>
</p:sld>
</file>

<file path=ppt/theme/theme1.xml><?xml version="1.0" encoding="utf-8"?>
<a:theme xmlns:a="http://schemas.openxmlformats.org/drawingml/2006/main" name="Office 테마">
  <a:themeElements>
    <a:clrScheme name="Office 테마">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1815</TotalTime>
  <Words>1141</Words>
  <Application>Microsoft Macintosh PowerPoint</Application>
  <PresentationFormat>사용자 지정</PresentationFormat>
  <Paragraphs>122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NanumGothic</vt:lpstr>
      <vt:lpstr>Google Sans Text</vt:lpstr>
      <vt:lpstr>Arial</vt:lpstr>
      <vt:lpstr>Calibri</vt:lpstr>
      <vt:lpstr>Wingdings</vt:lpstr>
      <vt:lpstr>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Brain</dc:creator>
  <cp:lastModifiedBy>최지웅</cp:lastModifiedBy>
  <cp:revision>4</cp:revision>
  <dcterms:created xsi:type="dcterms:W3CDTF">2016-10-11T09:46:40Z</dcterms:created>
  <dcterms:modified xsi:type="dcterms:W3CDTF">2025-12-12T05:09:27Z</dcterms:modified>
</cp:coreProperties>
</file>