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gQQex2AJcqbRTXDH5A0xWDSmUd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952" autoAdjust="0"/>
    <p:restoredTop sz="94716" autoAdjust="0"/>
  </p:normalViewPr>
  <p:slideViewPr>
    <p:cSldViewPr snapToGrid="0">
      <p:cViewPr>
        <p:scale>
          <a:sx n="10" d="100"/>
          <a:sy n="10" d="100"/>
        </p:scale>
        <p:origin x="1320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178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4049912" y="22690339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/>
            </a:lvl1pPr>
            <a:lvl2pPr lvl="1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/>
            </a:lvl2pPr>
            <a:lvl3pPr lvl="2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/>
            </a:lvl3pPr>
            <a:lvl4pPr lvl="3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4pPr>
            <a:lvl5pPr lvl="4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5pPr>
            <a:lvl6pPr lvl="5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6pPr>
            <a:lvl7pPr lvl="6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7pPr>
            <a:lvl8pPr lvl="7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8pPr>
            <a:lvl9pPr lvl="8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210578" y="10770173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>
                <a:solidFill>
                  <a:schemeClr val="dk1"/>
                </a:solidFill>
              </a:defRPr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84">
                <a:solidFill>
                  <a:srgbClr val="888888"/>
                </a:solidFill>
              </a:defRPr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6015">
                <a:solidFill>
                  <a:srgbClr val="888888"/>
                </a:solidFill>
              </a:defRPr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227451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16402139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473559" y="1106334"/>
            <a:ext cx="19422990" cy="5390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3" tIns="46124" rIns="92273" bIns="46124" anchor="t" anchorCtr="0">
            <a:spAutoFit/>
          </a:bodyPr>
          <a:lstStyle/>
          <a:p>
            <a:pPr algn="ctr"/>
            <a:r>
              <a:rPr lang="ko-KR" altLang="en-US" sz="5400" b="1" dirty="0">
                <a:solidFill>
                  <a:schemeClr val="dk1"/>
                </a:solidFill>
              </a:rPr>
              <a:t>온라인 네트워크 기반 우울 전염 유발 및 </a:t>
            </a:r>
            <a:endParaRPr lang="en-US" altLang="ko-KR" sz="5400" b="1" dirty="0">
              <a:solidFill>
                <a:schemeClr val="dk1"/>
              </a:solidFill>
            </a:endParaRPr>
          </a:p>
          <a:p>
            <a:pPr algn="ctr"/>
            <a:r>
              <a:rPr lang="ko-KR" altLang="en-US" sz="5400" b="1" dirty="0">
                <a:solidFill>
                  <a:schemeClr val="dk1"/>
                </a:solidFill>
              </a:rPr>
              <a:t>취약 집단 분류를 위한 분석 파이프라인 제안</a:t>
            </a:r>
            <a:endParaRPr sz="1000" dirty="0"/>
          </a:p>
          <a:p>
            <a:pPr algn="ctr"/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4400" b="1" dirty="0">
                <a:solidFill>
                  <a:schemeClr val="dk1"/>
                </a:solidFill>
              </a:rPr>
              <a:t>Analytical Pipeline for Identifying Depression Contagion Drivers and Vulnerable Groups in Online Networks </a:t>
            </a:r>
            <a:endParaRPr sz="1100" dirty="0"/>
          </a:p>
          <a:p>
            <a:pPr algn="ctr"/>
            <a:endParaRPr sz="242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서울대학교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심리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학과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ko-KR" alt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최준호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junho7692@snu.ac.kr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6898" y="754086"/>
            <a:ext cx="4365056" cy="4476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>
            <a:off x="1638384" y="6288663"/>
            <a:ext cx="14170178" cy="12579072"/>
            <a:chOff x="699916" y="7415151"/>
            <a:chExt cx="19004401" cy="9509363"/>
          </a:xfrm>
        </p:grpSpPr>
        <p:sp>
          <p:nvSpPr>
            <p:cNvPr id="87" name="Google Shape;87;p1"/>
            <p:cNvSpPr/>
            <p:nvPr/>
          </p:nvSpPr>
          <p:spPr>
            <a:xfrm>
              <a:off x="699916" y="8239509"/>
              <a:ext cx="19002509" cy="868500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endParaRPr sz="1817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  <a:buClr>
                  <a:schemeClr val="dk1"/>
                </a:buClr>
                <a:buSzPts val="3600"/>
              </a:pP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1. </a:t>
              </a:r>
              <a:r>
                <a:rPr lang="ko-KR" altLang="en-US" sz="3200" b="1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우울</a:t>
              </a:r>
              <a:r>
                <a:rPr lang="en-US" sz="3200" b="1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 </a:t>
              </a:r>
              <a:r>
                <a:rPr lang="ko-KR" altLang="en-US" sz="3200" b="1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전염의 개념</a:t>
              </a:r>
              <a:endParaRPr lang="en-US" altLang="ko-KR" sz="3200" b="1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endParaRPr>
            </a:p>
            <a:p>
              <a:pPr marL="457200" indent="-457200" algn="just">
                <a:lnSpc>
                  <a:spcPct val="150000"/>
                </a:lnSpc>
                <a:buClr>
                  <a:schemeClr val="dk1"/>
                </a:buClr>
                <a:buSzPts val="3600"/>
                <a:buFontTx/>
                <a:buChar char="-"/>
              </a:pP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정서는 개인 내부에서만 발생하는 현상이 아니라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, 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사회적 상호작용을 통해 다른 사람에게 전달 될 수 있음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.</a:t>
              </a:r>
            </a:p>
            <a:p>
              <a:pPr marL="457200" indent="-457200" algn="just">
                <a:lnSpc>
                  <a:spcPct val="150000"/>
                </a:lnSpc>
                <a:buClr>
                  <a:schemeClr val="dk1"/>
                </a:buClr>
                <a:buSzPts val="3600"/>
                <a:buFontTx/>
                <a:buChar char="-"/>
              </a:pP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우울 전염은 상대와의 관계를 부정적으로 인식하게 하며 불안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, 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적대감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, 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분노 등의 정서를 발생시킴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(Horesh et al., 2021; Joiner et al., 1999).</a:t>
              </a:r>
            </a:p>
            <a:p>
              <a:pPr algn="just">
                <a:lnSpc>
                  <a:spcPct val="200000"/>
                </a:lnSpc>
                <a:buClr>
                  <a:schemeClr val="dk1"/>
                </a:buClr>
                <a:buSzPts val="3600"/>
              </a:pPr>
              <a:r>
                <a:rPr lang="en-US" altLang="ko-KR" sz="3200" b="1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2. </a:t>
              </a:r>
              <a:r>
                <a:rPr lang="ko-KR" altLang="en-US" sz="3200" b="1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온라인 네트워크 환경의 특징</a:t>
              </a:r>
              <a:endParaRPr lang="en-US" altLang="ko-KR" sz="3200" b="1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endParaRPr>
            </a:p>
            <a:p>
              <a:pPr marL="457200" indent="-457200" algn="just">
                <a:lnSpc>
                  <a:spcPct val="150000"/>
                </a:lnSpc>
                <a:buClr>
                  <a:schemeClr val="dk1"/>
                </a:buClr>
                <a:buSzPts val="3600"/>
                <a:buFontTx/>
                <a:buChar char="-"/>
              </a:pP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텍스트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/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댓글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/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상호작용 데이터가 남기 때문에 정서 흐름을 정밀 분석 가능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.</a:t>
              </a:r>
            </a:p>
            <a:p>
              <a:pPr marL="457200" indent="-457200" algn="just">
                <a:lnSpc>
                  <a:spcPct val="150000"/>
                </a:lnSpc>
                <a:buClr>
                  <a:schemeClr val="dk1"/>
                </a:buClr>
                <a:buSzPts val="3600"/>
                <a:buFontTx/>
                <a:buChar char="-"/>
              </a:pP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오프라인과 달리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 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익명성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, 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주제 중심 커뮤니티로 인해 네트워크 구조가 다름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.</a:t>
              </a:r>
            </a:p>
            <a:p>
              <a:pPr algn="just">
                <a:lnSpc>
                  <a:spcPct val="200000"/>
                </a:lnSpc>
                <a:buClr>
                  <a:schemeClr val="dk1"/>
                </a:buClr>
                <a:buSzPts val="3600"/>
              </a:pPr>
              <a:r>
                <a:rPr lang="en-US" altLang="ko-KR" sz="3200" b="1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3. </a:t>
              </a:r>
              <a:r>
                <a:rPr lang="ko-KR" altLang="en-US" sz="3200" b="1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기존 연구의 한계</a:t>
              </a:r>
              <a:endParaRPr lang="en-US" altLang="ko-KR" sz="3200" b="1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endParaRPr>
            </a:p>
            <a:p>
              <a:pPr marL="342900" indent="-342900" algn="just">
                <a:lnSpc>
                  <a:spcPct val="150000"/>
                </a:lnSpc>
                <a:buClr>
                  <a:schemeClr val="dk1"/>
                </a:buClr>
                <a:buSzPts val="3600"/>
                <a:buFontTx/>
                <a:buChar char="-"/>
              </a:pP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우울 분류 모델은 대부분 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‘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누가 우울한가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’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만 예측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dk1"/>
                </a:buClr>
                <a:buSzPts val="3600"/>
                <a:buFontTx/>
                <a:buChar char="-"/>
              </a:pP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우울 전염시키는 사람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(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유발 집단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)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과 우울 전염되기 쉬운 사람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(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취약 집단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)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을 구분하지 못함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Clr>
                  <a:schemeClr val="dk1"/>
                </a:buClr>
                <a:buSzPts val="3600"/>
                <a:buFontTx/>
                <a:buChar char="-"/>
              </a:pP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네트워크 기반 예방 개입을 설계하기 위해서는 집단을 분류하는 모델 필요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Batang"/>
                  <a:sym typeface="Batang"/>
                </a:rPr>
                <a:t>.</a:t>
              </a:r>
              <a:endParaRPr sz="1817" dirty="0">
                <a:solidFill>
                  <a:schemeClr val="dk1"/>
                </a:solidFill>
                <a:latin typeface="+mn-ea"/>
                <a:ea typeface="+mn-ea"/>
                <a:cs typeface="Batang"/>
                <a:sym typeface="Batang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99916" y="7415151"/>
              <a:ext cx="19004401" cy="82435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INTRODUCTION</a:t>
              </a:r>
              <a:endParaRPr sz="545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1631975" y="25115520"/>
            <a:ext cx="14176588" cy="16641579"/>
            <a:chOff x="414164" y="18461634"/>
            <a:chExt cx="16567491" cy="129988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Google Shape;90;p1"/>
                <p:cNvSpPr/>
                <p:nvPr/>
              </p:nvSpPr>
              <p:spPr>
                <a:xfrm>
                  <a:off x="421655" y="19475704"/>
                  <a:ext cx="16560000" cy="11984814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rgbClr val="0F0F7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2273" tIns="46124" rIns="92273" bIns="46124" anchor="t" anchorCtr="0">
                  <a:noAutofit/>
                </a:bodyPr>
                <a:lstStyle/>
                <a:p>
                  <a:pPr algn="just">
                    <a:lnSpc>
                      <a:spcPct val="171875"/>
                    </a:lnSpc>
                  </a:pPr>
                  <a:r>
                    <a:rPr lang="en-US" altLang="ko-KR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1. </a:t>
                  </a:r>
                  <a:r>
                    <a:rPr lang="ko-KR" altLang="en-US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데이터 구성 가정</a:t>
                  </a:r>
                </a:p>
                <a:p>
                  <a:pPr marL="457200" indent="-457200" algn="just">
                    <a:lnSpc>
                      <a:spcPct val="171875"/>
                    </a:lnSpc>
                    <a:buFontTx/>
                    <a:buChar char="-"/>
                  </a:pP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사용자 특성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(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사용자 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ID,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관찰 기간 동안 게시글과 댓글 수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)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및 텍스트 데이터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(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게시글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,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댓글 등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)</a:t>
                  </a:r>
                </a:p>
                <a:p>
                  <a:pPr marL="457200" indent="-457200" algn="just">
                    <a:lnSpc>
                      <a:spcPct val="171875"/>
                    </a:lnSpc>
                    <a:buFontTx/>
                    <a:buChar char="-"/>
                  </a:pP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사용자 간 상호작용 데이터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(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상호작용 방향성과 횟수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)</a:t>
                  </a:r>
                </a:p>
                <a:p>
                  <a:pPr marL="457200" indent="-457200" algn="just">
                    <a:lnSpc>
                      <a:spcPct val="171875"/>
                    </a:lnSpc>
                    <a:buFontTx/>
                    <a:buChar char="-"/>
                  </a:pPr>
                  <a:endPara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endParaRPr>
                </a:p>
                <a:p>
                  <a:pPr algn="just">
                    <a:lnSpc>
                      <a:spcPct val="171875"/>
                    </a:lnSpc>
                  </a:pPr>
                  <a:r>
                    <a:rPr lang="en-US" altLang="ko-KR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2. </a:t>
                  </a:r>
                  <a:r>
                    <a:rPr lang="ko-KR" altLang="en-US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분석 파이프라인 개요</a:t>
                  </a:r>
                </a:p>
                <a:p>
                  <a:pPr marL="514350" indent="-514350" algn="just">
                    <a:lnSpc>
                      <a:spcPct val="171875"/>
                    </a:lnSpc>
                    <a:buAutoNum type="arabicParenR"/>
                  </a:pPr>
                  <a:r>
                    <a:rPr lang="ko-KR" altLang="en-US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텍스트 </a:t>
                  </a:r>
                  <a:r>
                    <a:rPr lang="ko-KR" altLang="en-US" sz="3200" b="1" dirty="0" err="1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임베딩</a:t>
                  </a:r>
                  <a:r>
                    <a:rPr lang="ko-KR" altLang="en-US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기반 개인 우울 위험 예측</a:t>
                  </a:r>
                </a:p>
                <a:p>
                  <a:pPr marL="457200" indent="-457200" algn="just">
                    <a:lnSpc>
                      <a:spcPct val="171875"/>
                    </a:lnSpc>
                    <a:buFontTx/>
                    <a:buChar char="-"/>
                  </a:pP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사용자 </a:t>
                  </a:r>
                  <a14:m>
                    <m:oMath xmlns:m="http://schemas.openxmlformats.org/officeDocument/2006/math"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𝑖</m:t>
                      </m:r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 </m:t>
                      </m:r>
                    </m:oMath>
                  </a14:m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의 게시글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,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댓글을 모아 하나의 글로 결합하고 </a:t>
                  </a:r>
                  <a:r>
                    <a:rPr lang="ko-KR" altLang="en-US" sz="3200" dirty="0" err="1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전처리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수행 후 </a:t>
                  </a:r>
                  <a:r>
                    <a:rPr lang="ko-KR" altLang="en-US" sz="3200" dirty="0" err="1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임베딩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모델을 통해 벡터로 변환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.</a:t>
                  </a:r>
                </a:p>
                <a:p>
                  <a:pPr marL="457200" indent="-457200" algn="just">
                    <a:lnSpc>
                      <a:spcPct val="171875"/>
                    </a:lnSpc>
                    <a:buFontTx/>
                    <a:buChar char="-"/>
                  </a:pP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우울 관련 단어 사용 빈도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, 1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인칭 대명사 사용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,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부정적 정서 단어 비율 등 언어적 특징 간접적 반영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(</a:t>
                  </a:r>
                  <a:r>
                    <a:rPr lang="en-US" altLang="ko-KR" sz="3200" dirty="0" err="1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Pirayesh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et al., 2021; Tang et al., 2021).</a:t>
                  </a:r>
                </a:p>
                <a:p>
                  <a:pPr marL="457200" indent="-457200" algn="just">
                    <a:lnSpc>
                      <a:spcPct val="171875"/>
                    </a:lnSpc>
                    <a:buFontTx/>
                    <a:buChar char="-"/>
                  </a:pPr>
                  <a:r>
                    <a:rPr lang="ko-KR" altLang="en-US" sz="3200" dirty="0" err="1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임베딩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벡터를 입력으로 하여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,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사용자 </a:t>
                  </a:r>
                  <a14:m>
                    <m:oMath xmlns:m="http://schemas.openxmlformats.org/officeDocument/2006/math"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𝑖</m:t>
                      </m:r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 </m:t>
                      </m:r>
                    </m:oMath>
                  </a14:m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의 우울 위험도를 예측하는 모델 학습 및 실제 데이터에서 </a:t>
                  </a:r>
                  <a:r>
                    <a:rPr lang="ko-KR" altLang="en-US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우울 위험도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추정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.</a:t>
                  </a:r>
                  <a:endPara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endParaRPr>
                </a:p>
                <a:p>
                  <a:pPr algn="just">
                    <a:lnSpc>
                      <a:spcPct val="171875"/>
                    </a:lnSpc>
                  </a:pPr>
                  <a:r>
                    <a:rPr lang="en-US" altLang="ko-KR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2) </a:t>
                  </a:r>
                  <a:r>
                    <a:rPr lang="ko-KR" altLang="en-US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네트워크 기반 영향력 산출</a:t>
                  </a:r>
                </a:p>
                <a:p>
                  <a:pPr marL="457200" indent="-457200" algn="just">
                    <a:lnSpc>
                      <a:spcPct val="171875"/>
                    </a:lnSpc>
                    <a:buFontTx/>
                    <a:buChar char="-"/>
                  </a:pP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사용자 집합을 노드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,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상호작용 관계를 </a:t>
                  </a:r>
                  <a:r>
                    <a:rPr lang="ko-KR" altLang="en-US" sz="3200" dirty="0" err="1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엣지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,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사용자 </a:t>
                  </a:r>
                  <a14:m>
                    <m:oMath xmlns:m="http://schemas.openxmlformats.org/officeDocument/2006/math"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𝑖</m:t>
                      </m:r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 </m:t>
                      </m:r>
                    </m:oMath>
                  </a14:m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가 사용자 </a:t>
                  </a:r>
                  <a14:m>
                    <m:oMath xmlns:m="http://schemas.openxmlformats.org/officeDocument/2006/math">
                      <m:r>
                        <a:rPr lang="en-US" altLang="ko-KR" sz="3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𝑗</m:t>
                      </m:r>
                    </m:oMath>
                  </a14:m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에게 미치는 상호작용 강도를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(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𝑖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,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)</m:t>
                          </m:r>
                        </m:sub>
                      </m:sSub>
                      <m:r>
                        <a:rPr lang="ko-KR" altLang="en-US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로</m:t>
                      </m:r>
                    </m:oMath>
                  </a14:m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나타냄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.</a:t>
                  </a:r>
                </a:p>
                <a:p>
                  <a:pPr marL="457200" indent="-457200" algn="just">
                    <a:lnSpc>
                      <a:spcPct val="171875"/>
                    </a:lnSpc>
                    <a:buFontTx/>
                    <a:buChar char="-"/>
                  </a:pP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고유벡터 중심성으로 네트워크 </a:t>
                  </a:r>
                  <a:r>
                    <a:rPr lang="ko-KR" altLang="en-US" sz="3200" dirty="0" err="1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중심성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계산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.</a:t>
                  </a:r>
                  <a:endPara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endParaRPr>
                </a:p>
              </p:txBody>
            </p:sp>
          </mc:Choice>
          <mc:Fallback>
            <p:sp>
              <p:nvSpPr>
                <p:cNvPr id="90" name="Google Shape;90;p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655" y="19475704"/>
                  <a:ext cx="16560000" cy="11984814"/>
                </a:xfrm>
                <a:prstGeom prst="rect">
                  <a:avLst/>
                </a:prstGeom>
                <a:blipFill>
                  <a:blip r:embed="rId4"/>
                  <a:stretch>
                    <a:fillRect l="-1246" r="-988"/>
                  </a:stretch>
                </a:blipFill>
                <a:ln w="19050" cap="flat" cmpd="sng">
                  <a:solidFill>
                    <a:srgbClr val="0F0F7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Google Shape;91;p1"/>
            <p:cNvSpPr/>
            <p:nvPr/>
          </p:nvSpPr>
          <p:spPr>
            <a:xfrm>
              <a:off x="414164" y="18461634"/>
              <a:ext cx="16560000" cy="1014071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chemeClr val="lt1"/>
                  </a:solidFill>
                </a:rPr>
                <a:t>METHODS</a:t>
              </a:r>
              <a:endParaRPr sz="4441" b="1">
                <a:solidFill>
                  <a:schemeClr val="lt1"/>
                </a:solidFill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16569401" y="29549328"/>
            <a:ext cx="14170178" cy="8099017"/>
            <a:chOff x="33775710" y="14968956"/>
            <a:chExt cx="16308000" cy="12890889"/>
          </a:xfrm>
        </p:grpSpPr>
        <p:sp>
          <p:nvSpPr>
            <p:cNvPr id="93" name="Google Shape;93;p1"/>
            <p:cNvSpPr/>
            <p:nvPr/>
          </p:nvSpPr>
          <p:spPr>
            <a:xfrm>
              <a:off x="33775710" y="16703493"/>
              <a:ext cx="16308000" cy="1115635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marL="514350" indent="-514350" algn="just">
                <a:lnSpc>
                  <a:spcPct val="156250"/>
                </a:lnSpc>
                <a:buAutoNum type="arabicPeriod"/>
              </a:pPr>
              <a:r>
                <a:rPr lang="ko-KR" altLang="en-US" sz="3200" b="1" dirty="0">
                  <a:latin typeface="+mn-ea"/>
                  <a:ea typeface="+mn-ea"/>
                  <a:cs typeface="Calibri"/>
                  <a:sym typeface="Calibri"/>
                </a:rPr>
                <a:t>의의</a:t>
              </a:r>
              <a:endParaRPr lang="en-US" altLang="ko-KR" sz="3200" b="1" dirty="0">
                <a:latin typeface="+mn-ea"/>
                <a:ea typeface="+mn-ea"/>
                <a:cs typeface="Calibri"/>
                <a:sym typeface="Calibri"/>
              </a:endParaRPr>
            </a:p>
            <a:p>
              <a:pPr marL="457200" indent="-457200" algn="just">
                <a:lnSpc>
                  <a:spcPct val="156250"/>
                </a:lnSpc>
                <a:buFontTx/>
                <a:buChar char="-"/>
              </a:pPr>
              <a:r>
                <a:rPr lang="ko-KR" altLang="en-US" sz="3200" dirty="0">
                  <a:latin typeface="+mn-ea"/>
                  <a:cs typeface="Calibri"/>
                  <a:sym typeface="Calibri"/>
                </a:rPr>
                <a:t>우울 전염 개념을 통해 우울을 개인이 아닌 네트워크 단위의 정서적 흐름으로 바라봄</a:t>
              </a:r>
              <a:r>
                <a:rPr lang="en-US" altLang="ko-KR" sz="3200" dirty="0">
                  <a:latin typeface="+mn-ea"/>
                  <a:cs typeface="Calibri"/>
                  <a:sym typeface="Calibri"/>
                </a:rPr>
                <a:t>.</a:t>
              </a:r>
            </a:p>
            <a:p>
              <a:pPr marL="457200" indent="-457200" algn="just">
                <a:lnSpc>
                  <a:spcPct val="156250"/>
                </a:lnSpc>
                <a:buFontTx/>
                <a:buChar char="-"/>
              </a:pPr>
              <a:r>
                <a:rPr lang="ko-KR" altLang="en-US" sz="3200" dirty="0">
                  <a:latin typeface="+mn-ea"/>
                  <a:ea typeface="+mn-ea"/>
                  <a:cs typeface="Calibri"/>
                  <a:sym typeface="Calibri"/>
                </a:rPr>
                <a:t>기존의 </a:t>
              </a:r>
              <a:r>
                <a:rPr lang="en-US" altLang="ko-KR" sz="3200" dirty="0">
                  <a:latin typeface="+mn-ea"/>
                  <a:ea typeface="+mn-ea"/>
                  <a:cs typeface="Calibri"/>
                  <a:sym typeface="Calibri"/>
                </a:rPr>
                <a:t>‘</a:t>
              </a:r>
              <a:r>
                <a:rPr lang="ko-KR" altLang="en-US" sz="3200" dirty="0">
                  <a:latin typeface="+mn-ea"/>
                  <a:ea typeface="+mn-ea"/>
                  <a:cs typeface="Calibri"/>
                  <a:sym typeface="Calibri"/>
                </a:rPr>
                <a:t>누가 우울한가</a:t>
              </a:r>
              <a:r>
                <a:rPr lang="en-US" altLang="ko-KR" sz="3200" dirty="0">
                  <a:latin typeface="+mn-ea"/>
                  <a:ea typeface="+mn-ea"/>
                  <a:cs typeface="Calibri"/>
                  <a:sym typeface="Calibri"/>
                </a:rPr>
                <a:t>’</a:t>
              </a:r>
              <a:r>
                <a:rPr lang="ko-KR" altLang="en-US" sz="3200" dirty="0">
                  <a:latin typeface="+mn-ea"/>
                  <a:ea typeface="+mn-ea"/>
                  <a:cs typeface="Calibri"/>
                  <a:sym typeface="Calibri"/>
                </a:rPr>
                <a:t>에서 </a:t>
              </a:r>
              <a:r>
                <a:rPr lang="en-US" altLang="ko-KR" sz="3200" dirty="0">
                  <a:latin typeface="+mn-ea"/>
                  <a:ea typeface="+mn-ea"/>
                  <a:cs typeface="Calibri"/>
                  <a:sym typeface="Calibri"/>
                </a:rPr>
                <a:t>‘</a:t>
              </a:r>
              <a:r>
                <a:rPr lang="ko-KR" altLang="en-US" sz="3200" dirty="0">
                  <a:latin typeface="+mn-ea"/>
                  <a:ea typeface="+mn-ea"/>
                  <a:cs typeface="Calibri"/>
                  <a:sym typeface="Calibri"/>
                </a:rPr>
                <a:t>누가 유발하고</a:t>
              </a:r>
              <a:r>
                <a:rPr lang="en-US" altLang="ko-KR" sz="3200" dirty="0">
                  <a:latin typeface="+mn-ea"/>
                  <a:ea typeface="+mn-ea"/>
                  <a:cs typeface="Calibri"/>
                  <a:sym typeface="Calibri"/>
                </a:rPr>
                <a:t>,</a:t>
              </a:r>
              <a:r>
                <a:rPr lang="ko-KR" altLang="en-US" sz="3200" dirty="0">
                  <a:latin typeface="+mn-ea"/>
                  <a:ea typeface="+mn-ea"/>
                  <a:cs typeface="Calibri"/>
                  <a:sym typeface="Calibri"/>
                </a:rPr>
                <a:t> 누가 취약한가</a:t>
              </a:r>
              <a:r>
                <a:rPr lang="en-US" altLang="ko-KR" sz="3200" dirty="0">
                  <a:latin typeface="+mn-ea"/>
                  <a:ea typeface="+mn-ea"/>
                  <a:cs typeface="Calibri"/>
                  <a:sym typeface="Calibri"/>
                </a:rPr>
                <a:t>’</a:t>
              </a:r>
              <a:r>
                <a:rPr lang="ko-KR" altLang="en-US" sz="3200" dirty="0">
                  <a:latin typeface="+mn-ea"/>
                  <a:ea typeface="+mn-ea"/>
                  <a:cs typeface="Calibri"/>
                  <a:sym typeface="Calibri"/>
                </a:rPr>
                <a:t>의 관점 제시 </a:t>
              </a:r>
              <a:endParaRPr lang="en-US" altLang="ko-KR" sz="3200" dirty="0">
                <a:latin typeface="+mn-ea"/>
                <a:ea typeface="+mn-ea"/>
                <a:cs typeface="Calibri"/>
                <a:sym typeface="Calibri"/>
              </a:endParaRPr>
            </a:p>
            <a:p>
              <a:pPr marL="457200" indent="-457200" algn="just">
                <a:lnSpc>
                  <a:spcPct val="156250"/>
                </a:lnSpc>
                <a:buFontTx/>
                <a:buChar char="-"/>
              </a:pPr>
              <a:r>
                <a:rPr lang="ko-KR" altLang="en-US" sz="3200" dirty="0">
                  <a:latin typeface="+mn-ea"/>
                  <a:ea typeface="+mn-ea"/>
                  <a:cs typeface="Calibri"/>
                  <a:sym typeface="Calibri"/>
                </a:rPr>
                <a:t>온라인 네트워크 내 우선적인 개입 대상 선정 가능</a:t>
              </a:r>
              <a:endParaRPr lang="en-US" altLang="ko-KR" sz="3200" dirty="0">
                <a:latin typeface="+mn-ea"/>
                <a:ea typeface="+mn-ea"/>
                <a:cs typeface="Calibri"/>
                <a:sym typeface="Calibri"/>
              </a:endParaRPr>
            </a:p>
            <a:p>
              <a:pPr marL="457200" indent="-457200" algn="just">
                <a:lnSpc>
                  <a:spcPct val="156250"/>
                </a:lnSpc>
                <a:buFontTx/>
                <a:buChar char="-"/>
              </a:pPr>
              <a:endParaRPr lang="en-US" altLang="ko-KR" sz="3200" dirty="0">
                <a:latin typeface="+mn-ea"/>
                <a:ea typeface="+mn-ea"/>
                <a:cs typeface="Calibri"/>
                <a:sym typeface="Calibri"/>
              </a:endParaRPr>
            </a:p>
            <a:p>
              <a:pPr algn="just">
                <a:lnSpc>
                  <a:spcPct val="156250"/>
                </a:lnSpc>
              </a:pPr>
              <a:r>
                <a:rPr lang="en-US" altLang="ko-KR" sz="3200" b="1" dirty="0">
                  <a:latin typeface="+mn-ea"/>
                  <a:ea typeface="+mn-ea"/>
                  <a:cs typeface="Calibri"/>
                  <a:sym typeface="Calibri"/>
                </a:rPr>
                <a:t>2. </a:t>
              </a:r>
              <a:r>
                <a:rPr lang="ko-KR" altLang="en-US" sz="3200" b="1" dirty="0">
                  <a:latin typeface="+mn-ea"/>
                  <a:ea typeface="+mn-ea"/>
                  <a:cs typeface="Calibri"/>
                  <a:sym typeface="Calibri"/>
                </a:rPr>
                <a:t>한계</a:t>
              </a:r>
              <a:endParaRPr lang="en-US" altLang="ko-KR" sz="3200" b="1" dirty="0">
                <a:latin typeface="+mn-ea"/>
                <a:ea typeface="+mn-ea"/>
                <a:cs typeface="Calibri"/>
                <a:sym typeface="Calibri"/>
              </a:endParaRPr>
            </a:p>
            <a:p>
              <a:pPr marL="457200" indent="-457200" algn="just">
                <a:lnSpc>
                  <a:spcPct val="156250"/>
                </a:lnSpc>
                <a:buFontTx/>
                <a:buChar char="-"/>
              </a:pPr>
              <a:r>
                <a:rPr lang="ko-KR" altLang="en-US" sz="3200" dirty="0">
                  <a:latin typeface="+mn-ea"/>
                  <a:ea typeface="+mn-ea"/>
                  <a:cs typeface="Calibri"/>
                  <a:sym typeface="Calibri"/>
                </a:rPr>
                <a:t>실제 데이터로 검증되지 못함</a:t>
              </a:r>
              <a:r>
                <a:rPr lang="en-US" altLang="ko-KR" sz="3200" dirty="0">
                  <a:latin typeface="+mn-ea"/>
                  <a:ea typeface="+mn-ea"/>
                  <a:cs typeface="Calibri"/>
                  <a:sym typeface="Calibri"/>
                </a:rPr>
                <a:t>.</a:t>
              </a:r>
            </a:p>
            <a:p>
              <a:pPr marL="457200" indent="-457200" algn="just">
                <a:lnSpc>
                  <a:spcPct val="156250"/>
                </a:lnSpc>
                <a:buFontTx/>
                <a:buChar char="-"/>
              </a:pPr>
              <a:r>
                <a:rPr lang="ko-KR" altLang="en-US" sz="3200" dirty="0">
                  <a:latin typeface="+mn-ea"/>
                  <a:ea typeface="+mn-ea"/>
                  <a:cs typeface="Calibri"/>
                  <a:sym typeface="Calibri"/>
                </a:rPr>
                <a:t>플랫폼별 특성 반영 및 실증 연구 필요 </a:t>
              </a:r>
              <a:r>
                <a:rPr lang="en-US" sz="3200" dirty="0">
                  <a:latin typeface="+mn-ea"/>
                  <a:ea typeface="+mn-ea"/>
                  <a:cs typeface="Calibri"/>
                  <a:sym typeface="Calibri"/>
                </a:rPr>
                <a:t> </a:t>
              </a:r>
              <a:endParaRPr sz="3200" dirty="0">
                <a:latin typeface="+mn-ea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3775710" y="14968956"/>
              <a:ext cx="16308000" cy="1734932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CONCLUSIONS</a:t>
              </a:r>
              <a:endParaRPr sz="545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6545104" y="20787362"/>
            <a:ext cx="14170178" cy="8442958"/>
            <a:chOff x="15610114" y="15717428"/>
            <a:chExt cx="14366634" cy="4624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Google Shape;96;p1"/>
                <p:cNvSpPr/>
                <p:nvPr/>
              </p:nvSpPr>
              <p:spPr>
                <a:xfrm>
                  <a:off x="15610114" y="15786653"/>
                  <a:ext cx="14366632" cy="4555681"/>
                </a:xfrm>
                <a:prstGeom prst="rect">
                  <a:avLst/>
                </a:prstGeom>
                <a:solidFill>
                  <a:schemeClr val="lt1"/>
                </a:solidFill>
                <a:ln w="19050" cap="flat" cmpd="sng">
                  <a:solidFill>
                    <a:srgbClr val="0F0F7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2273" tIns="46124" rIns="92273" bIns="46124" anchor="ctr" anchorCtr="0">
                  <a:noAutofit/>
                </a:bodyPr>
                <a:lstStyle/>
                <a:p>
                  <a:pPr>
                    <a:lnSpc>
                      <a:spcPct val="150000"/>
                    </a:lnSpc>
                  </a:pPr>
                  <a:endPara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ko-KR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1. </a:t>
                  </a:r>
                  <a14:m>
                    <m:oMath xmlns:m="http://schemas.openxmlformats.org/officeDocument/2006/math">
                      <m:r>
                        <a:rPr lang="en-US" altLang="ko-KR" sz="3200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𝑺</m:t>
                      </m:r>
                      <m:r>
                        <a:rPr lang="en-US" altLang="ko-KR" sz="3200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(</m:t>
                      </m:r>
                      <m:r>
                        <a:rPr lang="en-US" altLang="ko-KR" sz="3200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𝒊</m:t>
                      </m:r>
                      <m:r>
                        <a:rPr lang="en-US" altLang="ko-KR" sz="3200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)</m:t>
                      </m:r>
                    </m:oMath>
                  </a14:m>
                  <a:r>
                    <a:rPr lang="en-US" altLang="ko-KR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ko-KR" sz="3200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𝑬</m:t>
                      </m:r>
                      <m:d>
                        <m:dPr>
                          <m:ctrlPr>
                            <a:rPr lang="en-US" altLang="ko-KR" sz="3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altLang="ko-KR" sz="3200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𝒊</m:t>
                          </m:r>
                        </m:e>
                      </m:d>
                    </m:oMath>
                  </a14:m>
                  <a:r>
                    <a:rPr lang="ko-KR" altLang="en-US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간 구조적 상관 예상</a:t>
                  </a:r>
                  <a:endParaRPr lang="en-US" altLang="ko-KR" sz="3200" b="1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endParaRPr>
                </a:p>
                <a:p>
                  <a:pPr marL="457200" indent="-457200">
                    <a:lnSpc>
                      <a:spcPct val="150000"/>
                    </a:lnSpc>
                    <a:buFontTx/>
                    <a:buChar char="-"/>
                  </a:pP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온라인 환경에서는 우울한 사용자도 높은 </a:t>
                  </a:r>
                  <a:r>
                    <a:rPr lang="ko-KR" altLang="en-US" sz="3200" dirty="0" err="1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중심성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가질 수 있음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.</a:t>
                  </a:r>
                </a:p>
                <a:p>
                  <a:pPr marL="457200" indent="-457200">
                    <a:lnSpc>
                      <a:spcPct val="150000"/>
                    </a:lnSpc>
                    <a:buFontTx/>
                    <a:buChar char="-"/>
                  </a:pPr>
                  <a14:m>
                    <m:oMath xmlns:m="http://schemas.openxmlformats.org/officeDocument/2006/math"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𝑆</m:t>
                      </m:r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(</m:t>
                      </m:r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𝑖</m:t>
                      </m:r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)</m:t>
                      </m:r>
                    </m:oMath>
                  </a14:m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cs typeface="Calibri"/>
                      <a:sym typeface="Calibri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Calibri"/>
                          <a:sym typeface="Calibri"/>
                        </a:rPr>
                        <m:t>𝐸</m:t>
                      </m:r>
                      <m:d>
                        <m:dPr>
                          <m:ctrlPr>
                            <a:rPr lang="en-US" altLang="ko-KR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altLang="ko-KR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Calibri"/>
                              <a:sym typeface="Calibri"/>
                            </a:rPr>
                            <m:t>𝑖</m:t>
                          </m:r>
                        </m:e>
                      </m:d>
                    </m:oMath>
                  </a14:m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는 양의 상관을 가질 가능성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.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강도는 플랫폼 구조에 따라 다를 것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.</a:t>
                  </a:r>
                </a:p>
                <a:p>
                  <a:pPr marL="457200" indent="-457200">
                    <a:lnSpc>
                      <a:spcPct val="150000"/>
                    </a:lnSpc>
                    <a:buFontTx/>
                    <a:buChar char="-"/>
                  </a:pPr>
                  <a:endPara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ko-KR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2. </a:t>
                  </a:r>
                  <a:r>
                    <a:rPr lang="ko-KR" altLang="en-US" sz="3200" b="1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각 집단의 예상 분포</a:t>
                  </a:r>
                  <a:endParaRPr lang="en-US" altLang="ko-KR" sz="3200" b="1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endParaRPr>
                </a:p>
                <a:p>
                  <a:pPr marL="457200" indent="-457200">
                    <a:lnSpc>
                      <a:spcPct val="150000"/>
                    </a:lnSpc>
                    <a:buFontTx/>
                    <a:buChar char="-"/>
                  </a:pP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전염 유발 집단 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: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소수의 핵심 전파자</a:t>
                  </a:r>
                  <a:endPara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endParaRPr>
                </a:p>
                <a:p>
                  <a:pPr marL="457200" indent="-457200">
                    <a:lnSpc>
                      <a:spcPct val="150000"/>
                    </a:lnSpc>
                    <a:buFontTx/>
                    <a:buChar char="-"/>
                  </a:pP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전염 취약 집단 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: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유발 집단 주변에 큰 비율로 존재할 가능성</a:t>
                  </a:r>
                  <a:endPara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endParaRPr>
                </a:p>
                <a:p>
                  <a:pPr marL="457200" indent="-457200">
                    <a:lnSpc>
                      <a:spcPct val="150000"/>
                    </a:lnSpc>
                    <a:buFontTx/>
                    <a:buChar char="-"/>
                  </a:pP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혼합 </a:t>
                  </a:r>
                  <a:r>
                    <a:rPr lang="ko-KR" altLang="en-US" sz="3200" dirty="0" err="1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위험군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: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특히 우울 커뮤니티에서 존재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,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네트워크 전염 경로를 매개</a:t>
                  </a:r>
                  <a:endPara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endParaRPr>
                </a:p>
                <a:p>
                  <a:pPr marL="457200" indent="-457200">
                    <a:lnSpc>
                      <a:spcPct val="150000"/>
                    </a:lnSpc>
                    <a:buFontTx/>
                    <a:buChar char="-"/>
                  </a:pPr>
                  <a:r>
                    <a:rPr lang="ko-KR" altLang="en-US" sz="3200" dirty="0" err="1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저위험군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: </a:t>
                  </a:r>
                  <a:r>
                    <a:rPr lang="ko-KR" altLang="en-US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대다수 사용자</a:t>
                  </a:r>
                  <a:r>
                    <a:rPr lang="en-US" altLang="ko-KR" sz="3200" dirty="0">
                      <a:solidFill>
                        <a:schemeClr val="dk1"/>
                      </a:solidFill>
                      <a:latin typeface="+mn-ea"/>
                      <a:ea typeface="+mn-ea"/>
                      <a:cs typeface="Calibri"/>
                      <a:sym typeface="Calibri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6" name="Google Shape;96;p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0114" y="15786653"/>
                  <a:ext cx="14366632" cy="4555681"/>
                </a:xfrm>
                <a:prstGeom prst="rect">
                  <a:avLst/>
                </a:prstGeom>
                <a:blipFill>
                  <a:blip r:embed="rId5"/>
                  <a:stretch>
                    <a:fillRect l="-1246" r="-473"/>
                  </a:stretch>
                </a:blipFill>
                <a:ln w="19050" cap="flat" cmpd="sng">
                  <a:solidFill>
                    <a:srgbClr val="0F0F7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Google Shape;97;p1"/>
            <p:cNvSpPr/>
            <p:nvPr/>
          </p:nvSpPr>
          <p:spPr>
            <a:xfrm>
              <a:off x="15610115" y="15717428"/>
              <a:ext cx="14366633" cy="52200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RESULTS</a:t>
              </a:r>
              <a:endParaRPr sz="4441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633577" y="19172963"/>
            <a:ext cx="14170178" cy="5637757"/>
            <a:chOff x="414164" y="19253061"/>
            <a:chExt cx="16560000" cy="5115598"/>
          </a:xfrm>
        </p:grpSpPr>
        <p:sp>
          <p:nvSpPr>
            <p:cNvPr id="99" name="Google Shape;99;p1"/>
            <p:cNvSpPr/>
            <p:nvPr/>
          </p:nvSpPr>
          <p:spPr>
            <a:xfrm>
              <a:off x="414164" y="19851179"/>
              <a:ext cx="16560000" cy="451748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sz="3200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endParaRPr>
            </a:p>
            <a:p>
              <a:pPr marL="514350" indent="-514350" algn="just">
                <a:lnSpc>
                  <a:spcPct val="150000"/>
                </a:lnSpc>
                <a:buAutoNum type="arabicPeriod"/>
              </a:pP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온라인 네트워크에서 </a:t>
              </a:r>
              <a:r>
                <a:rPr lang="ko-KR" altLang="en-US" sz="3200" b="1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우울 전염을 유발할 가능성이 높은 사용자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(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유발 집단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)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와 </a:t>
              </a:r>
              <a:r>
                <a:rPr lang="ko-KR" altLang="en-US" sz="3200" b="1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우울 전염에 취약한 사용자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(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취약 집단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)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를 식별할 수 있는 지표 개발</a:t>
              </a:r>
              <a:endParaRPr lang="en-US" altLang="ko-KR" sz="3200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endParaRPr>
            </a:p>
            <a:p>
              <a:pPr marL="514350" indent="-514350" algn="just">
                <a:lnSpc>
                  <a:spcPct val="150000"/>
                </a:lnSpc>
                <a:buAutoNum type="arabicPeriod"/>
              </a:pP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텍스트 기반 우울 위험도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, 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네트워크 </a:t>
              </a:r>
              <a:r>
                <a:rPr lang="ko-KR" altLang="en-US" sz="3200" dirty="0" err="1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중심성</a:t>
              </a:r>
              <a:r>
                <a: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, 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상호작용 구조를 통합한 </a:t>
              </a:r>
              <a:r>
                <a:rPr lang="ko-KR" altLang="en-US" sz="3200" b="1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분석 파이프라인 </a:t>
              </a:r>
              <a:r>
                <a: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rPr>
                <a:t>제안</a:t>
              </a:r>
              <a:endParaRPr sz="3200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14164" y="19253061"/>
              <a:ext cx="16560000" cy="981560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chemeClr val="lt1"/>
                  </a:solidFill>
                </a:rPr>
                <a:t>OBJECTIVES</a:t>
              </a:r>
              <a:endParaRPr sz="5450" b="1">
                <a:solidFill>
                  <a:schemeClr val="lt1"/>
                </a:solidFill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6545104" y="38076922"/>
            <a:ext cx="14182490" cy="3680184"/>
            <a:chOff x="15261857" y="36737954"/>
            <a:chExt cx="14424713" cy="3425963"/>
          </a:xfrm>
        </p:grpSpPr>
        <p:sp>
          <p:nvSpPr>
            <p:cNvPr id="102" name="Google Shape;102;p1"/>
            <p:cNvSpPr/>
            <p:nvPr/>
          </p:nvSpPr>
          <p:spPr>
            <a:xfrm>
              <a:off x="15286569" y="37840040"/>
              <a:ext cx="14400000" cy="2323877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indent="-180000" latinLnBrk="0"/>
              <a:r>
                <a:rPr lang="en-US" altLang="ko-KR" sz="1600" dirty="0"/>
                <a:t>Horesh, D., Hasson-Ohayon, I., &amp; Harwood-Gross, A. (2021). The contagion of psychopathology across different psychiatric disorders: A comparative 	theoretical analysis. </a:t>
              </a:r>
              <a:r>
                <a:rPr lang="en-US" altLang="ko-KR" sz="1600" i="1" dirty="0"/>
                <a:t>Brain sciences</a:t>
              </a:r>
              <a:r>
                <a:rPr lang="en-US" altLang="ko-KR" sz="1600" dirty="0"/>
                <a:t>, </a:t>
              </a:r>
              <a:r>
                <a:rPr lang="en-US" altLang="ko-KR" sz="1600" i="1" dirty="0"/>
                <a:t>12</a:t>
              </a:r>
              <a:r>
                <a:rPr lang="en-US" altLang="ko-KR" sz="1600" dirty="0"/>
                <a:t>(1), 67.</a:t>
              </a:r>
              <a:endParaRPr lang="ko-KR" altLang="ko-KR" sz="1600" dirty="0"/>
            </a:p>
            <a:p>
              <a:pPr indent="-180000" latinLnBrk="0"/>
              <a:r>
                <a:rPr lang="en-US" altLang="ko-KR" sz="1600" dirty="0"/>
                <a:t>Joiner Jr, T. E., &amp; Katz, J. (1999). Contagion of depressive symptoms and mood: Meta-analytic review and explanations from cognitive, behavioral, and 	interpersonal viewpoints. </a:t>
              </a:r>
              <a:r>
                <a:rPr lang="en-US" altLang="ko-KR" sz="1600" i="1" dirty="0"/>
                <a:t>Clinical psychology: Science and practice</a:t>
              </a:r>
              <a:r>
                <a:rPr lang="en-US" altLang="ko-KR" sz="1600" dirty="0"/>
                <a:t>, </a:t>
              </a:r>
              <a:r>
                <a:rPr lang="en-US" altLang="ko-KR" sz="1600" i="1" dirty="0"/>
                <a:t>6</a:t>
              </a:r>
              <a:r>
                <a:rPr lang="en-US" altLang="ko-KR" sz="1600" dirty="0"/>
                <a:t>(2), 149.</a:t>
              </a:r>
            </a:p>
            <a:p>
              <a:pPr indent="-180000"/>
              <a:r>
                <a:rPr lang="en-US" altLang="ko-KR" sz="1600" dirty="0" err="1"/>
                <a:t>Pirayesh</a:t>
              </a:r>
              <a:r>
                <a:rPr lang="en-US" altLang="ko-KR" sz="1600" dirty="0"/>
                <a:t>, J., Chen, H., Qin, X., Ku, W. S., &amp; Yan, D. (2021, October). </a:t>
              </a:r>
              <a:r>
                <a:rPr lang="en-US" altLang="ko-KR" sz="1600" dirty="0" err="1"/>
                <a:t>Mentalspot</a:t>
              </a:r>
              <a:r>
                <a:rPr lang="en-US" altLang="ko-KR" sz="1600" dirty="0"/>
                <a:t>: Effective early screening for depression based on social contagion. 	In </a:t>
              </a:r>
              <a:r>
                <a:rPr lang="en-US" altLang="ko-KR" sz="1600" i="1" dirty="0"/>
                <a:t>Proceedings of the 30th ACM International Conference on information &amp; knowledge management</a:t>
              </a:r>
              <a:r>
                <a:rPr lang="en-US" altLang="ko-KR" sz="1600" dirty="0"/>
                <a:t> (pp. 1437-1446).</a:t>
              </a:r>
            </a:p>
            <a:p>
              <a:pPr indent="-180000"/>
              <a:r>
                <a:rPr lang="en-US" altLang="ko-KR" sz="1600" dirty="0"/>
                <a:t>Tang, J., Yu, G., &amp; Yao, X. (2021, November). Emotional contagion in the online depression community. In </a:t>
              </a:r>
              <a:r>
                <a:rPr lang="en-US" altLang="ko-KR" sz="1600" i="1" dirty="0"/>
                <a:t>Healthcare</a:t>
              </a:r>
              <a:r>
                <a:rPr lang="en-US" altLang="ko-KR" sz="1600" dirty="0"/>
                <a:t> (Vol. 9, No. 12, p. 1609). MDPI.</a:t>
              </a:r>
              <a:endParaRPr lang="ko-KR" altLang="ko-KR" sz="1600" dirty="0"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5261857" y="36737954"/>
              <a:ext cx="14424713" cy="1102087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REFERENCES</a:t>
              </a:r>
              <a:endParaRPr sz="4441" b="1">
                <a:solidFill>
                  <a:srgbClr val="FFFFFF"/>
                </a:solidFill>
              </a:endParaRPr>
            </a:p>
          </p:txBody>
        </p:sp>
      </p:grpSp>
      <p:pic>
        <p:nvPicPr>
          <p:cNvPr id="104" name="Google Shape;104;p1"/>
          <p:cNvPicPr preferRelativeResize="0"/>
          <p:nvPr/>
        </p:nvPicPr>
        <p:blipFill rotWithShape="1">
          <a:blip r:embed="rId6">
            <a:alphaModFix/>
          </a:blip>
          <a:srcRect t="85800"/>
          <a:stretch/>
        </p:blipFill>
        <p:spPr>
          <a:xfrm>
            <a:off x="24434800" y="42067545"/>
            <a:ext cx="7037733" cy="82542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96;p1">
                <a:extLst>
                  <a:ext uri="{FF2B5EF4-FFF2-40B4-BE49-F238E27FC236}">
                    <a16:creationId xmlns:a16="http://schemas.microsoft.com/office/drawing/2014/main" id="{26116ADB-ECCB-5454-0B23-17808B523F39}"/>
                  </a:ext>
                </a:extLst>
              </p:cNvPr>
              <p:cNvSpPr/>
              <p:nvPr/>
            </p:nvSpPr>
            <p:spPr>
              <a:xfrm>
                <a:off x="16556827" y="6324600"/>
                <a:ext cx="14170176" cy="1418844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0F0F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2273" tIns="46124" rIns="92273" bIns="46124" anchor="ctr" anchorCtr="0">
                <a:noAutofit/>
              </a:bodyPr>
              <a:lstStyle/>
              <a:p>
                <a:pPr algn="just">
                  <a:lnSpc>
                    <a:spcPct val="171875"/>
                  </a:lnSpc>
                </a:pPr>
                <a:r>
                  <a:rPr lang="en-US" altLang="ko-KR" sz="3200" b="1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3) </a:t>
                </a:r>
                <a:r>
                  <a:rPr lang="ko-KR" altLang="en-US" sz="3200" b="1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전염 유발 지수와 노출 취약도 계산</a:t>
                </a:r>
                <a:endParaRPr lang="en-US" altLang="ko-KR" sz="3200" b="1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  <a:p>
                <a:pPr algn="just">
                  <a:lnSpc>
                    <a:spcPct val="171875"/>
                  </a:lnSpc>
                </a:pP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- </a:t>
                </a:r>
                <a:r>
                  <a:rPr lang="ko-KR" altLang="en-US" sz="3200" b="1" dirty="0">
                    <a:solidFill>
                      <a:schemeClr val="dk1"/>
                    </a:solidFill>
                    <a:latin typeface="+mn-ea"/>
                    <a:cs typeface="Calibri"/>
                    <a:sym typeface="Calibri"/>
                  </a:rPr>
                  <a:t>전염</a:t>
                </a:r>
                <a:r>
                  <a:rPr lang="en-US" altLang="ko-KR" sz="3200" b="1" dirty="0">
                    <a:solidFill>
                      <a:schemeClr val="dk1"/>
                    </a:solidFill>
                    <a:latin typeface="+mn-ea"/>
                    <a:cs typeface="Calibri"/>
                    <a:sym typeface="Calibri"/>
                  </a:rPr>
                  <a:t> </a:t>
                </a:r>
                <a:r>
                  <a:rPr lang="ko-KR" altLang="en-US" sz="3200" b="1" dirty="0">
                    <a:solidFill>
                      <a:schemeClr val="dk1"/>
                    </a:solidFill>
                    <a:latin typeface="+mn-ea"/>
                    <a:cs typeface="Calibri"/>
                    <a:sym typeface="Calibri"/>
                  </a:rPr>
                  <a:t>유발 지수 </a:t>
                </a:r>
                <a14:m>
                  <m:oMath xmlns:m="http://schemas.openxmlformats.org/officeDocument/2006/math">
                    <m:r>
                      <a:rPr lang="en-US" altLang="ko-KR" sz="3200" b="1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𝑺</m:t>
                    </m:r>
                    <m:r>
                      <a:rPr lang="en-US" altLang="ko-KR" sz="3200" b="1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(</m:t>
                    </m:r>
                    <m:r>
                      <a:rPr lang="en-US" altLang="ko-KR" sz="3200" b="1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𝒊</m:t>
                    </m:r>
                    <m:r>
                      <a:rPr lang="en-US" altLang="ko-KR" sz="3200" b="1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)</m:t>
                    </m:r>
                  </m:oMath>
                </a14:m>
                <a:endParaRPr lang="en-US" altLang="ko-KR" sz="3200" b="1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  <a:p>
                <a:pPr algn="just">
                  <a:lnSpc>
                    <a:spcPct val="171875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𝑆</m:t>
                      </m:r>
                      <m:d>
                        <m:dPr>
                          <m:ctrlP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𝑖</m:t>
                          </m:r>
                        </m:e>
                      </m:d>
                      <m:r>
                        <a:rPr lang="en-US" altLang="ko-KR" sz="3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=</m:t>
                      </m:r>
                      <m:r>
                        <a:rPr lang="en-US" altLang="ko-KR" sz="3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𝐷</m:t>
                      </m:r>
                      <m:d>
                        <m:dPr>
                          <m:ctrlP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𝑖</m:t>
                          </m:r>
                        </m:e>
                      </m:d>
                      <m:r>
                        <a:rPr lang="en-US" altLang="ko-KR" sz="3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 </m:t>
                      </m:r>
                      <m:r>
                        <a:rPr lang="en-US" altLang="ko-KR" sz="32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⋅</m:t>
                      </m:r>
                      <m:r>
                        <a:rPr lang="en-US" altLang="ko-KR" sz="3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  <a:sym typeface="Calibri"/>
                        </a:rPr>
                        <m:t>𝐶</m:t>
                      </m:r>
                      <m:d>
                        <m:dPr>
                          <m:ctrlP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altLang="ko-KR" sz="3200" b="0" dirty="0">
                  <a:solidFill>
                    <a:schemeClr val="dk1"/>
                  </a:solidFill>
                  <a:latin typeface="+mn-ea"/>
                  <a:ea typeface="Cambria Math" panose="02040503050406030204" pitchFamily="18" charset="0"/>
                  <a:cs typeface="Calibri"/>
                  <a:sym typeface="Calibri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𝐷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ko-KR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 : </a:t>
                </a:r>
                <a:r>
                  <a:rPr lang="ko-KR" altLang="en-US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우울 위험도 </a:t>
                </a:r>
                <a:endParaRPr lang="en-US" altLang="ko-KR" sz="24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𝐶</m:t>
                    </m:r>
                    <m:d>
                      <m:dPr>
                        <m:ctrlPr>
                          <a:rPr lang="en-US" altLang="ko-KR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  <m:t>𝑖</m:t>
                        </m:r>
                      </m:e>
                    </m:d>
                  </m:oMath>
                </a14:m>
                <a:r>
                  <a:rPr lang="ko-KR" altLang="en-US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 </a:t>
                </a:r>
                <a:r>
                  <a:rPr lang="en-US" altLang="ko-KR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: </a:t>
                </a:r>
                <a:r>
                  <a:rPr lang="ko-KR" altLang="en-US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네트워크 </a:t>
                </a:r>
                <a:r>
                  <a:rPr lang="ko-KR" altLang="en-US" sz="2400" dirty="0" err="1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중심성</a:t>
                </a:r>
                <a:endParaRPr lang="en-US" altLang="ko-KR" sz="24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개인의 우울</a:t>
                </a: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 </a:t>
                </a:r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위험도와 네트워크 영향력이 모두 높을수록 전염 유발 가능성이 증가함</a:t>
                </a: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.</a:t>
                </a:r>
              </a:p>
              <a:p>
                <a:pPr marL="457200" indent="-457200" algn="just">
                  <a:lnSpc>
                    <a:spcPct val="171875"/>
                  </a:lnSpc>
                  <a:buFontTx/>
                  <a:buChar char="-"/>
                </a:pPr>
                <a:r>
                  <a:rPr lang="ko-KR" altLang="en-US" sz="3200" b="1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노출 취약도 </a:t>
                </a:r>
                <a14:m>
                  <m:oMath xmlns:m="http://schemas.openxmlformats.org/officeDocument/2006/math">
                    <m:r>
                      <a:rPr lang="en-US" altLang="ko-KR" sz="32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𝑬</m:t>
                    </m:r>
                    <m:r>
                      <a:rPr lang="en-US" altLang="ko-KR" sz="32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(</m:t>
                    </m:r>
                    <m:r>
                      <a:rPr lang="en-US" altLang="ko-KR" sz="32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𝒊</m:t>
                    </m:r>
                    <m:r>
                      <a:rPr lang="en-US" altLang="ko-KR" sz="32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)</m:t>
                    </m:r>
                  </m:oMath>
                </a14:m>
                <a:endParaRPr lang="en-US" altLang="ko-KR" sz="3200" b="1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𝐸</m:t>
                      </m:r>
                      <m:d>
                        <m:dPr>
                          <m:ctrlP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𝑖</m:t>
                          </m:r>
                        </m:e>
                      </m:d>
                      <m:r>
                        <a:rPr lang="en-US" altLang="ko-KR" sz="32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Calibri"/>
                          <a:sym typeface="Calibri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Calibri"/>
                              <a:sym typeface="Calibri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∈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𝑁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(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𝑖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libri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libri"/>
                                  <a:sym typeface="Calibri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libri"/>
                                  <a:sym typeface="Calibri"/>
                                </a:rPr>
                                <m:t>(</m:t>
                              </m:r>
                              <m:r>
                                <a:rPr lang="en-US" altLang="ko-KR" sz="32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libri"/>
                                  <a:sym typeface="Calibri"/>
                                </a:rPr>
                                <m:t>𝑗</m:t>
                              </m:r>
                              <m:r>
                                <a:rPr lang="en-US" altLang="ko-KR" sz="32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libri"/>
                                  <a:sym typeface="Calibri"/>
                                </a:rPr>
                                <m:t>,</m:t>
                              </m:r>
                              <m:r>
                                <a:rPr lang="en-US" altLang="ko-KR" sz="32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libri"/>
                                  <a:sym typeface="Calibri"/>
                                </a:rPr>
                                <m:t>𝑖</m:t>
                              </m:r>
                              <m:r>
                                <a:rPr lang="en-US" altLang="ko-KR" sz="32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libri"/>
                                  <a:sym typeface="Calibri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altLang="ko-KR" sz="32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⋅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𝑆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(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𝑗</m:t>
                          </m:r>
                          <m:r>
                            <a:rPr lang="en-US" altLang="ko-KR" sz="32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  <a:sym typeface="Calibri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𝑁</m:t>
                    </m:r>
                    <m:r>
                      <a:rPr lang="en-US" altLang="ko-KR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(</m:t>
                    </m:r>
                    <m:r>
                      <a:rPr lang="en-US" altLang="ko-KR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𝑖</m:t>
                    </m:r>
                    <m:r>
                      <a:rPr lang="en-US" altLang="ko-KR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)</m:t>
                    </m:r>
                  </m:oMath>
                </a14:m>
                <a:r>
                  <a:rPr lang="en-US" altLang="ko-KR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 : </a:t>
                </a:r>
                <a:r>
                  <a:rPr lang="ko-KR" altLang="en-US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사용자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+mn-ea"/>
                        <a:cs typeface="Calibri"/>
                        <a:sym typeface="Calibri"/>
                      </a:rPr>
                      <m:t>𝑖</m:t>
                    </m:r>
                  </m:oMath>
                </a14:m>
                <a:r>
                  <a:rPr lang="ko-KR" altLang="en-US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의 이웃 집합</a:t>
                </a:r>
                <a:endParaRPr lang="en-US" altLang="ko-KR" sz="24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  <m:t>𝑤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  <m:t>(</m:t>
                        </m:r>
                        <m:r>
                          <a:rPr lang="en-US" altLang="ko-KR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  <m:t>𝑗</m:t>
                        </m:r>
                        <m:r>
                          <a:rPr lang="en-US" altLang="ko-KR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  <m:t>,</m:t>
                        </m:r>
                        <m:r>
                          <a:rPr lang="en-US" altLang="ko-KR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  <m:t>𝑖</m:t>
                        </m:r>
                        <m:r>
                          <a:rPr lang="en-US" altLang="ko-KR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Calibri"/>
                            <a:sym typeface="Calibri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ko-KR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 : </a:t>
                </a:r>
                <a:r>
                  <a:rPr lang="ko-KR" altLang="en-US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사용자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𝑗</m:t>
                    </m:r>
                    <m:r>
                      <a:rPr lang="en-US" altLang="ko-KR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</m:oMath>
                </a14:m>
                <a:r>
                  <a:rPr lang="ko-KR" altLang="en-US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가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𝑖</m:t>
                    </m:r>
                    <m:r>
                      <a:rPr lang="en-US" altLang="ko-KR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 </m:t>
                    </m:r>
                    <m:r>
                      <a:rPr lang="ko-KR" altLang="en-US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에</m:t>
                    </m:r>
                  </m:oMath>
                </a14:m>
                <a:r>
                  <a:rPr lang="ko-KR" altLang="en-US" sz="24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게 미치는 상호작용 강도</a:t>
                </a:r>
                <a:endParaRPr lang="en-US" altLang="ko-KR" sz="24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이웃의 전염 유발 지수 </a:t>
                </a:r>
                <a14:m>
                  <m:oMath xmlns:m="http://schemas.openxmlformats.org/officeDocument/2006/math">
                    <m:r>
                      <a:rPr lang="en-US" altLang="ko-KR" sz="32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𝑆</m:t>
                    </m:r>
                    <m:r>
                      <a:rPr lang="en-US" altLang="ko-KR" sz="32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(</m:t>
                    </m:r>
                    <m:r>
                      <a:rPr lang="en-US" altLang="ko-KR" sz="32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𝑖</m:t>
                    </m:r>
                    <m:r>
                      <a:rPr lang="en-US" altLang="ko-KR" sz="32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)</m:t>
                    </m:r>
                    <m:r>
                      <a:rPr lang="ko-KR" altLang="en-US" sz="32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가</m:t>
                    </m:r>
                  </m:oMath>
                </a14:m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 높고</a:t>
                </a: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 </a:t>
                </a:r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상호작용 강도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en-US" altLang="ko-KR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𝑤</m:t>
                        </m:r>
                      </m:e>
                      <m:sub>
                        <m:r>
                          <a:rPr lang="en-US" altLang="ko-KR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(</m:t>
                        </m:r>
                        <m:r>
                          <a:rPr lang="en-US" altLang="ko-KR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𝑖</m:t>
                        </m:r>
                        <m:r>
                          <a:rPr lang="en-US" altLang="ko-KR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,</m:t>
                        </m:r>
                        <m:r>
                          <a:rPr lang="en-US" altLang="ko-KR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𝑗</m:t>
                        </m:r>
                        <m:r>
                          <a:rPr lang="en-US" altLang="ko-KR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Calibri"/>
                            <a:sym typeface="Calibri"/>
                          </a:rPr>
                          <m:t>)</m:t>
                        </m:r>
                      </m:sub>
                    </m:sSub>
                    <m:r>
                      <a:rPr lang="ko-KR" altLang="en-US" sz="32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Calibri"/>
                        <a:sym typeface="Calibri"/>
                      </a:rPr>
                      <m:t>가</m:t>
                    </m:r>
                  </m:oMath>
                </a14:m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 클수록 취약도는 증가함</a:t>
                </a: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.</a:t>
                </a:r>
                <a:endPara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  <a:p>
                <a:pPr algn="just">
                  <a:lnSpc>
                    <a:spcPct val="171875"/>
                  </a:lnSpc>
                </a:pPr>
                <a:r>
                  <a:rPr lang="en-US" altLang="ko-KR" sz="3200" b="1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4) </a:t>
                </a:r>
                <a:r>
                  <a:rPr lang="ko-KR" altLang="en-US" sz="3200" b="1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전염 유발 집단 및 취약 집단 분류</a:t>
                </a:r>
                <a:endParaRPr lang="en-US" altLang="ko-KR" sz="3200" b="1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  <a:p>
                <a:pPr marL="457200" indent="-457200" algn="just">
                  <a:lnSpc>
                    <a:spcPct val="171875"/>
                  </a:lnSpc>
                  <a:buFontTx/>
                  <a:buChar char="-"/>
                </a:pPr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전염</a:t>
                </a: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 </a:t>
                </a:r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유발 집단</a:t>
                </a: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(High S, Low E)</a:t>
                </a:r>
              </a:p>
              <a:p>
                <a:pPr marL="457200" indent="-457200" algn="just">
                  <a:lnSpc>
                    <a:spcPct val="171875"/>
                  </a:lnSpc>
                  <a:buFontTx/>
                  <a:buChar char="-"/>
                </a:pPr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전염</a:t>
                </a: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 </a:t>
                </a:r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취약 집단</a:t>
                </a: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(Low S, High E)</a:t>
                </a:r>
              </a:p>
              <a:p>
                <a:pPr marL="457200" indent="-457200" algn="just">
                  <a:lnSpc>
                    <a:spcPct val="171875"/>
                  </a:lnSpc>
                  <a:buFontTx/>
                  <a:buChar char="-"/>
                </a:pPr>
                <a:r>
                  <a:rPr lang="ko-KR" altLang="en-US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혼합 </a:t>
                </a:r>
                <a:r>
                  <a:rPr lang="ko-KR" altLang="en-US" sz="3200" dirty="0" err="1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위험군</a:t>
                </a: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(High S, High E)</a:t>
                </a:r>
              </a:p>
              <a:p>
                <a:pPr marL="457200" indent="-457200" algn="just">
                  <a:lnSpc>
                    <a:spcPct val="171875"/>
                  </a:lnSpc>
                  <a:buFontTx/>
                  <a:buChar char="-"/>
                </a:pPr>
                <a:r>
                  <a:rPr lang="ko-KR" altLang="en-US" sz="3200" dirty="0" err="1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저위험군</a:t>
                </a:r>
                <a:r>
                  <a:rPr lang="en-US" altLang="ko-KR" sz="3200" dirty="0">
                    <a:solidFill>
                      <a:schemeClr val="dk1"/>
                    </a:solidFill>
                    <a:latin typeface="+mn-ea"/>
                    <a:ea typeface="+mn-ea"/>
                    <a:cs typeface="Calibri"/>
                    <a:sym typeface="Calibri"/>
                  </a:rPr>
                  <a:t>(Low S, Low E)</a:t>
                </a:r>
                <a:endParaRPr lang="ko-KR" altLang="en-US" sz="3200" dirty="0">
                  <a:solidFill>
                    <a:schemeClr val="dk1"/>
                  </a:solidFill>
                  <a:latin typeface="+mn-ea"/>
                  <a:ea typeface="+mn-ea"/>
                  <a:cs typeface="Calibri"/>
                  <a:sym typeface="Calibri"/>
                </a:endParaRPr>
              </a:p>
            </p:txBody>
          </p:sp>
        </mc:Choice>
        <mc:Fallback>
          <p:sp>
            <p:nvSpPr>
              <p:cNvPr id="5" name="Google Shape;96;p1">
                <a:extLst>
                  <a:ext uri="{FF2B5EF4-FFF2-40B4-BE49-F238E27FC236}">
                    <a16:creationId xmlns:a16="http://schemas.microsoft.com/office/drawing/2014/main" id="{26116ADB-ECCB-5454-0B23-17808B523F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6827" y="6324600"/>
                <a:ext cx="14170176" cy="14188440"/>
              </a:xfrm>
              <a:prstGeom prst="rect">
                <a:avLst/>
              </a:prstGeom>
              <a:blipFill>
                <a:blip r:embed="rId7"/>
                <a:stretch>
                  <a:fillRect l="-1246" r="-988" b="-644"/>
                </a:stretch>
              </a:blipFill>
              <a:ln w="19050" cap="flat" cmpd="sng">
                <a:solidFill>
                  <a:srgbClr val="0F0F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1909</TotalTime>
  <Words>828</Words>
  <Application>Microsoft Office PowerPoint</Application>
  <PresentationFormat>사용자 지정</PresentationFormat>
  <Paragraphs>78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Brain</dc:creator>
  <cp:lastModifiedBy>준호 최</cp:lastModifiedBy>
  <cp:revision>6</cp:revision>
  <dcterms:created xsi:type="dcterms:W3CDTF">2016-10-11T09:46:40Z</dcterms:created>
  <dcterms:modified xsi:type="dcterms:W3CDTF">2025-12-12T06:40:54Z</dcterms:modified>
</cp:coreProperties>
</file>