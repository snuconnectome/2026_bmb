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2399288" cy="43200638"/>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 roundtripDataSignature="AMtx7mgQQex2AJcqbRTXDH5A0xWDSmUdl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0F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952"/>
    <p:restoredTop sz="94716"/>
  </p:normalViewPr>
  <p:slideViewPr>
    <p:cSldViewPr snapToGrid="0">
      <p:cViewPr>
        <p:scale>
          <a:sx n="10" d="100"/>
          <a:sy n="10" d="100"/>
        </p:scale>
        <p:origin x="1640"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25" y="4861425"/>
            <a:ext cx="56794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09925" y="4861425"/>
            <a:ext cx="56794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2429947" y="7070108"/>
            <a:ext cx="27539395" cy="1504022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4049912" y="22690339"/>
            <a:ext cx="24299466" cy="1043015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342"/>
              </a:spcBef>
              <a:spcAft>
                <a:spcPts val="0"/>
              </a:spcAft>
              <a:buClr>
                <a:schemeClr val="dk1"/>
              </a:buClr>
              <a:buSzPts val="7946"/>
              <a:buNone/>
              <a:defRPr sz="8020"/>
            </a:lvl1pPr>
            <a:lvl2pPr lvl="1" algn="ctr">
              <a:lnSpc>
                <a:spcPct val="90000"/>
              </a:lnSpc>
              <a:spcBef>
                <a:spcPts val="1670"/>
              </a:spcBef>
              <a:spcAft>
                <a:spcPts val="0"/>
              </a:spcAft>
              <a:buClr>
                <a:schemeClr val="dk1"/>
              </a:buClr>
              <a:buSzPts val="6622"/>
              <a:buNone/>
              <a:defRPr sz="6684"/>
            </a:lvl2pPr>
            <a:lvl3pPr lvl="2" algn="ctr">
              <a:lnSpc>
                <a:spcPct val="90000"/>
              </a:lnSpc>
              <a:spcBef>
                <a:spcPts val="1670"/>
              </a:spcBef>
              <a:spcAft>
                <a:spcPts val="0"/>
              </a:spcAft>
              <a:buClr>
                <a:schemeClr val="dk1"/>
              </a:buClr>
              <a:buSzPts val="5960"/>
              <a:buNone/>
              <a:defRPr sz="6015"/>
            </a:lvl3pPr>
            <a:lvl4pPr lvl="3" algn="ctr">
              <a:lnSpc>
                <a:spcPct val="90000"/>
              </a:lnSpc>
              <a:spcBef>
                <a:spcPts val="1670"/>
              </a:spcBef>
              <a:spcAft>
                <a:spcPts val="0"/>
              </a:spcAft>
              <a:buClr>
                <a:schemeClr val="dk1"/>
              </a:buClr>
              <a:buSzPts val="5297"/>
              <a:buNone/>
              <a:defRPr sz="5346"/>
            </a:lvl4pPr>
            <a:lvl5pPr lvl="4" algn="ctr">
              <a:lnSpc>
                <a:spcPct val="90000"/>
              </a:lnSpc>
              <a:spcBef>
                <a:spcPts val="1670"/>
              </a:spcBef>
              <a:spcAft>
                <a:spcPts val="0"/>
              </a:spcAft>
              <a:buClr>
                <a:schemeClr val="dk1"/>
              </a:buClr>
              <a:buSzPts val="5297"/>
              <a:buNone/>
              <a:defRPr sz="5346"/>
            </a:lvl5pPr>
            <a:lvl6pPr lvl="5" algn="ctr">
              <a:lnSpc>
                <a:spcPct val="90000"/>
              </a:lnSpc>
              <a:spcBef>
                <a:spcPts val="1670"/>
              </a:spcBef>
              <a:spcAft>
                <a:spcPts val="0"/>
              </a:spcAft>
              <a:buClr>
                <a:schemeClr val="dk1"/>
              </a:buClr>
              <a:buSzPts val="5297"/>
              <a:buNone/>
              <a:defRPr sz="5346"/>
            </a:lvl6pPr>
            <a:lvl7pPr lvl="6" algn="ctr">
              <a:lnSpc>
                <a:spcPct val="90000"/>
              </a:lnSpc>
              <a:spcBef>
                <a:spcPts val="1670"/>
              </a:spcBef>
              <a:spcAft>
                <a:spcPts val="0"/>
              </a:spcAft>
              <a:buClr>
                <a:schemeClr val="dk1"/>
              </a:buClr>
              <a:buSzPts val="5297"/>
              <a:buNone/>
              <a:defRPr sz="5346"/>
            </a:lvl7pPr>
            <a:lvl8pPr lvl="7" algn="ctr">
              <a:lnSpc>
                <a:spcPct val="90000"/>
              </a:lnSpc>
              <a:spcBef>
                <a:spcPts val="1670"/>
              </a:spcBef>
              <a:spcAft>
                <a:spcPts val="0"/>
              </a:spcAft>
              <a:buClr>
                <a:schemeClr val="dk1"/>
              </a:buClr>
              <a:buSzPts val="5297"/>
              <a:buNone/>
              <a:defRPr sz="5346"/>
            </a:lvl8pPr>
            <a:lvl9pPr lvl="8" algn="ctr">
              <a:lnSpc>
                <a:spcPct val="90000"/>
              </a:lnSpc>
              <a:spcBef>
                <a:spcPts val="1670"/>
              </a:spcBef>
              <a:spcAft>
                <a:spcPts val="0"/>
              </a:spcAft>
              <a:buClr>
                <a:schemeClr val="dk1"/>
              </a:buClr>
              <a:buSzPts val="5297"/>
              <a:buNone/>
              <a:defRPr sz="5346"/>
            </a:lvl9pPr>
          </a:lstStyle>
          <a:p>
            <a:endParaRPr/>
          </a:p>
        </p:txBody>
      </p:sp>
      <p:sp>
        <p:nvSpPr>
          <p:cNvPr id="18" name="Google Shape;18;p4"/>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210578" y="10770173"/>
            <a:ext cx="27944386" cy="179702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2210578" y="28910440"/>
            <a:ext cx="27944386" cy="9450136"/>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7946"/>
              <a:buNone/>
              <a:defRPr sz="8020">
                <a:solidFill>
                  <a:schemeClr val="dk1"/>
                </a:solidFill>
              </a:defRPr>
            </a:lvl1pPr>
            <a:lvl2pPr marL="922904" lvl="1" indent="-230726" algn="l">
              <a:lnSpc>
                <a:spcPct val="90000"/>
              </a:lnSpc>
              <a:spcBef>
                <a:spcPts val="1670"/>
              </a:spcBef>
              <a:spcAft>
                <a:spcPts val="0"/>
              </a:spcAft>
              <a:buClr>
                <a:srgbClr val="888888"/>
              </a:buClr>
              <a:buSzPts val="6622"/>
              <a:buNone/>
              <a:defRPr sz="6684">
                <a:solidFill>
                  <a:srgbClr val="888888"/>
                </a:solidFill>
              </a:defRPr>
            </a:lvl2pPr>
            <a:lvl3pPr marL="1384356" lvl="2" indent="-230726" algn="l">
              <a:lnSpc>
                <a:spcPct val="90000"/>
              </a:lnSpc>
              <a:spcBef>
                <a:spcPts val="1670"/>
              </a:spcBef>
              <a:spcAft>
                <a:spcPts val="0"/>
              </a:spcAft>
              <a:buClr>
                <a:srgbClr val="888888"/>
              </a:buClr>
              <a:buSzPts val="5960"/>
              <a:buNone/>
              <a:defRPr sz="6015">
                <a:solidFill>
                  <a:srgbClr val="888888"/>
                </a:solidFill>
              </a:defRPr>
            </a:lvl3pPr>
            <a:lvl4pPr marL="1845808" lvl="3" indent="-230726" algn="l">
              <a:lnSpc>
                <a:spcPct val="90000"/>
              </a:lnSpc>
              <a:spcBef>
                <a:spcPts val="1670"/>
              </a:spcBef>
              <a:spcAft>
                <a:spcPts val="0"/>
              </a:spcAft>
              <a:buClr>
                <a:srgbClr val="888888"/>
              </a:buClr>
              <a:buSzPts val="5297"/>
              <a:buNone/>
              <a:defRPr sz="5346">
                <a:solidFill>
                  <a:srgbClr val="888888"/>
                </a:solidFill>
              </a:defRPr>
            </a:lvl4pPr>
            <a:lvl5pPr marL="2307260" lvl="4" indent="-230726" algn="l">
              <a:lnSpc>
                <a:spcPct val="90000"/>
              </a:lnSpc>
              <a:spcBef>
                <a:spcPts val="1670"/>
              </a:spcBef>
              <a:spcAft>
                <a:spcPts val="0"/>
              </a:spcAft>
              <a:buClr>
                <a:srgbClr val="888888"/>
              </a:buClr>
              <a:buSzPts val="5297"/>
              <a:buNone/>
              <a:defRPr sz="5346">
                <a:solidFill>
                  <a:srgbClr val="888888"/>
                </a:solidFill>
              </a:defRPr>
            </a:lvl5pPr>
            <a:lvl6pPr marL="2768712" lvl="5" indent="-230726" algn="l">
              <a:lnSpc>
                <a:spcPct val="90000"/>
              </a:lnSpc>
              <a:spcBef>
                <a:spcPts val="1670"/>
              </a:spcBef>
              <a:spcAft>
                <a:spcPts val="0"/>
              </a:spcAft>
              <a:buClr>
                <a:srgbClr val="888888"/>
              </a:buClr>
              <a:buSzPts val="5297"/>
              <a:buNone/>
              <a:defRPr sz="5346">
                <a:solidFill>
                  <a:srgbClr val="888888"/>
                </a:solidFill>
              </a:defRPr>
            </a:lvl6pPr>
            <a:lvl7pPr marL="3230164" lvl="6" indent="-230726" algn="l">
              <a:lnSpc>
                <a:spcPct val="90000"/>
              </a:lnSpc>
              <a:spcBef>
                <a:spcPts val="1670"/>
              </a:spcBef>
              <a:spcAft>
                <a:spcPts val="0"/>
              </a:spcAft>
              <a:buClr>
                <a:srgbClr val="888888"/>
              </a:buClr>
              <a:buSzPts val="5297"/>
              <a:buNone/>
              <a:defRPr sz="5346">
                <a:solidFill>
                  <a:srgbClr val="888888"/>
                </a:solidFill>
              </a:defRPr>
            </a:lvl7pPr>
            <a:lvl8pPr marL="3691616" lvl="7" indent="-230726" algn="l">
              <a:lnSpc>
                <a:spcPct val="90000"/>
              </a:lnSpc>
              <a:spcBef>
                <a:spcPts val="1670"/>
              </a:spcBef>
              <a:spcAft>
                <a:spcPts val="0"/>
              </a:spcAft>
              <a:buClr>
                <a:srgbClr val="888888"/>
              </a:buClr>
              <a:buSzPts val="5297"/>
              <a:buNone/>
              <a:defRPr sz="5346">
                <a:solidFill>
                  <a:srgbClr val="888888"/>
                </a:solidFill>
              </a:defRPr>
            </a:lvl8pPr>
            <a:lvl9pPr marL="4153068" lvl="8" indent="-230726" algn="l">
              <a:lnSpc>
                <a:spcPct val="90000"/>
              </a:lnSpc>
              <a:spcBef>
                <a:spcPts val="1670"/>
              </a:spcBef>
              <a:spcAft>
                <a:spcPts val="0"/>
              </a:spcAft>
              <a:buClr>
                <a:srgbClr val="888888"/>
              </a:buClr>
              <a:buSzPts val="5297"/>
              <a:buNone/>
              <a:defRPr sz="5346">
                <a:solidFill>
                  <a:srgbClr val="888888"/>
                </a:solidFill>
              </a:defRPr>
            </a:lvl9pPr>
          </a:lstStyle>
          <a:p>
            <a:endParaRPr/>
          </a:p>
        </p:txBody>
      </p:sp>
      <p:sp>
        <p:nvSpPr>
          <p:cNvPr id="30" name="Google Shape;30;p6"/>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2227451"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6" name="Google Shape;36;p7"/>
          <p:cNvSpPr txBox="1">
            <a:spLocks noGrp="1"/>
          </p:cNvSpPr>
          <p:nvPr>
            <p:ph type="body" idx="2"/>
          </p:nvPr>
        </p:nvSpPr>
        <p:spPr>
          <a:xfrm>
            <a:off x="16402139"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7" name="Google Shape;37;p7"/>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2231671"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2231675" y="10590160"/>
            <a:ext cx="13706415"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3" name="Google Shape;43;p8"/>
          <p:cNvSpPr txBox="1">
            <a:spLocks noGrp="1"/>
          </p:cNvSpPr>
          <p:nvPr>
            <p:ph type="body" idx="2"/>
          </p:nvPr>
        </p:nvSpPr>
        <p:spPr>
          <a:xfrm>
            <a:off x="2231675" y="15780234"/>
            <a:ext cx="13706415"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4" name="Google Shape;44;p8"/>
          <p:cNvSpPr txBox="1">
            <a:spLocks noGrp="1"/>
          </p:cNvSpPr>
          <p:nvPr>
            <p:ph type="body" idx="3"/>
          </p:nvPr>
        </p:nvSpPr>
        <p:spPr>
          <a:xfrm>
            <a:off x="16402141" y="10590160"/>
            <a:ext cx="13773918"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5" name="Google Shape;45;p8"/>
          <p:cNvSpPr txBox="1">
            <a:spLocks noGrp="1"/>
          </p:cNvSpPr>
          <p:nvPr>
            <p:ph type="body" idx="4"/>
          </p:nvPr>
        </p:nvSpPr>
        <p:spPr>
          <a:xfrm>
            <a:off x="16402141" y="15780234"/>
            <a:ext cx="13773918"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773918" y="6220102"/>
            <a:ext cx="16402140" cy="30700453"/>
          </a:xfrm>
          <a:prstGeom prst="rect">
            <a:avLst/>
          </a:prstGeom>
          <a:noFill/>
          <a:ln>
            <a:noFill/>
          </a:ln>
        </p:spPr>
        <p:txBody>
          <a:bodyPr spcFirstLastPara="1" wrap="square" lIns="91425" tIns="45700" rIns="91425" bIns="45700" anchor="t" anchorCtr="0">
            <a:normAutofit/>
          </a:bodyPr>
          <a:lstStyle>
            <a:lvl1pPr marL="461452" lvl="0" indent="-909765" algn="l">
              <a:lnSpc>
                <a:spcPct val="90000"/>
              </a:lnSpc>
              <a:spcBef>
                <a:spcPts val="3342"/>
              </a:spcBef>
              <a:spcAft>
                <a:spcPts val="0"/>
              </a:spcAft>
              <a:buClr>
                <a:schemeClr val="dk1"/>
              </a:buClr>
              <a:buSzPts val="10595"/>
              <a:buChar char="•"/>
              <a:defRPr sz="10694"/>
            </a:lvl1pPr>
            <a:lvl2pPr marL="922904" lvl="1" indent="-824909" algn="l">
              <a:lnSpc>
                <a:spcPct val="90000"/>
              </a:lnSpc>
              <a:spcBef>
                <a:spcPts val="1670"/>
              </a:spcBef>
              <a:spcAft>
                <a:spcPts val="0"/>
              </a:spcAft>
              <a:buClr>
                <a:schemeClr val="dk1"/>
              </a:buClr>
              <a:buSzPts val="9271"/>
              <a:buChar char="•"/>
              <a:defRPr sz="9357"/>
            </a:lvl2pPr>
            <a:lvl3pPr marL="1384356" lvl="2" indent="-739989" algn="l">
              <a:lnSpc>
                <a:spcPct val="90000"/>
              </a:lnSpc>
              <a:spcBef>
                <a:spcPts val="1670"/>
              </a:spcBef>
              <a:spcAft>
                <a:spcPts val="0"/>
              </a:spcAft>
              <a:buClr>
                <a:schemeClr val="dk1"/>
              </a:buClr>
              <a:buSzPts val="7946"/>
              <a:buChar char="•"/>
              <a:defRPr sz="8020"/>
            </a:lvl3pPr>
            <a:lvl4pPr marL="1845808" lvl="3" indent="-655134" algn="l">
              <a:lnSpc>
                <a:spcPct val="90000"/>
              </a:lnSpc>
              <a:spcBef>
                <a:spcPts val="1670"/>
              </a:spcBef>
              <a:spcAft>
                <a:spcPts val="0"/>
              </a:spcAft>
              <a:buClr>
                <a:schemeClr val="dk1"/>
              </a:buClr>
              <a:buSzPts val="6622"/>
              <a:buChar char="•"/>
              <a:defRPr sz="6684"/>
            </a:lvl4pPr>
            <a:lvl5pPr marL="2307260" lvl="4" indent="-655134" algn="l">
              <a:lnSpc>
                <a:spcPct val="90000"/>
              </a:lnSpc>
              <a:spcBef>
                <a:spcPts val="1670"/>
              </a:spcBef>
              <a:spcAft>
                <a:spcPts val="0"/>
              </a:spcAft>
              <a:buClr>
                <a:schemeClr val="dk1"/>
              </a:buClr>
              <a:buSzPts val="6622"/>
              <a:buChar char="•"/>
              <a:defRPr sz="6684"/>
            </a:lvl5pPr>
            <a:lvl6pPr marL="2768712" lvl="5" indent="-655134" algn="l">
              <a:lnSpc>
                <a:spcPct val="90000"/>
              </a:lnSpc>
              <a:spcBef>
                <a:spcPts val="1670"/>
              </a:spcBef>
              <a:spcAft>
                <a:spcPts val="0"/>
              </a:spcAft>
              <a:buClr>
                <a:schemeClr val="dk1"/>
              </a:buClr>
              <a:buSzPts val="6622"/>
              <a:buChar char="•"/>
              <a:defRPr sz="6684"/>
            </a:lvl6pPr>
            <a:lvl7pPr marL="3230164" lvl="6" indent="-655134" algn="l">
              <a:lnSpc>
                <a:spcPct val="90000"/>
              </a:lnSpc>
              <a:spcBef>
                <a:spcPts val="1670"/>
              </a:spcBef>
              <a:spcAft>
                <a:spcPts val="0"/>
              </a:spcAft>
              <a:buClr>
                <a:schemeClr val="dk1"/>
              </a:buClr>
              <a:buSzPts val="6622"/>
              <a:buChar char="•"/>
              <a:defRPr sz="6684"/>
            </a:lvl7pPr>
            <a:lvl8pPr marL="3691616" lvl="7" indent="-655134" algn="l">
              <a:lnSpc>
                <a:spcPct val="90000"/>
              </a:lnSpc>
              <a:spcBef>
                <a:spcPts val="1670"/>
              </a:spcBef>
              <a:spcAft>
                <a:spcPts val="0"/>
              </a:spcAft>
              <a:buClr>
                <a:schemeClr val="dk1"/>
              </a:buClr>
              <a:buSzPts val="6622"/>
              <a:buChar char="•"/>
              <a:defRPr sz="6684"/>
            </a:lvl8pPr>
            <a:lvl9pPr marL="4153068" lvl="8" indent="-655133" algn="l">
              <a:lnSpc>
                <a:spcPct val="90000"/>
              </a:lnSpc>
              <a:spcBef>
                <a:spcPts val="1670"/>
              </a:spcBef>
              <a:spcAft>
                <a:spcPts val="0"/>
              </a:spcAft>
              <a:buClr>
                <a:schemeClr val="dk1"/>
              </a:buClr>
              <a:buSzPts val="6622"/>
              <a:buChar char="•"/>
              <a:defRPr sz="6684"/>
            </a:lvl9pPr>
          </a:lstStyle>
          <a:p>
            <a:endParaRPr/>
          </a:p>
        </p:txBody>
      </p:sp>
      <p:sp>
        <p:nvSpPr>
          <p:cNvPr id="57" name="Google Shape;57;p10"/>
          <p:cNvSpPr txBox="1">
            <a:spLocks noGrp="1"/>
          </p:cNvSpPr>
          <p:nvPr>
            <p:ph type="body" idx="2"/>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58" name="Google Shape;58;p10"/>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3773918" y="6220102"/>
            <a:ext cx="16402140" cy="30700453"/>
          </a:xfrm>
          <a:prstGeom prst="rect">
            <a:avLst/>
          </a:prstGeom>
          <a:noFill/>
          <a:ln>
            <a:noFill/>
          </a:ln>
        </p:spPr>
      </p:sp>
      <p:sp>
        <p:nvSpPr>
          <p:cNvPr id="64" name="Google Shape;64;p11"/>
          <p:cNvSpPr txBox="1">
            <a:spLocks noGrp="1"/>
          </p:cNvSpPr>
          <p:nvPr>
            <p:ph type="body" idx="1"/>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65" name="Google Shape;65;p11"/>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494441" y="11233180"/>
            <a:ext cx="27410408" cy="27944386"/>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373519" y="17112258"/>
            <a:ext cx="36610544" cy="69860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801169" y="10328658"/>
            <a:ext cx="36610544" cy="2055329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568"/>
              <a:buFont typeface="Calibri"/>
              <a:buNone/>
              <a:defRPr sz="14567"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57200" marR="0" lvl="0" indent="-817308" algn="l" rtl="0">
              <a:lnSpc>
                <a:spcPct val="90000"/>
              </a:lnSpc>
              <a:spcBef>
                <a:spcPts val="3311"/>
              </a:spcBef>
              <a:spcAft>
                <a:spcPts val="0"/>
              </a:spcAft>
              <a:buClr>
                <a:schemeClr val="dk1"/>
              </a:buClr>
              <a:buSzPts val="9271"/>
              <a:buFont typeface="Arial"/>
              <a:buChar char="•"/>
              <a:defRPr sz="9271" b="0" i="0" u="none" strike="noStrike" cap="none">
                <a:solidFill>
                  <a:schemeClr val="dk1"/>
                </a:solidFill>
                <a:latin typeface="Calibri"/>
                <a:ea typeface="Calibri"/>
                <a:cs typeface="Calibri"/>
                <a:sym typeface="Calibri"/>
              </a:defRPr>
            </a:lvl1pPr>
            <a:lvl2pPr marL="914400" marR="0" lvl="1" indent="-733171" algn="l" rtl="0">
              <a:lnSpc>
                <a:spcPct val="90000"/>
              </a:lnSpc>
              <a:spcBef>
                <a:spcPts val="1655"/>
              </a:spcBef>
              <a:spcAft>
                <a:spcPts val="0"/>
              </a:spcAft>
              <a:buClr>
                <a:schemeClr val="dk1"/>
              </a:buClr>
              <a:buSzPts val="7946"/>
              <a:buFont typeface="Arial"/>
              <a:buChar char="•"/>
              <a:defRPr sz="7946" b="0" i="0" u="none" strike="noStrike" cap="none">
                <a:solidFill>
                  <a:schemeClr val="dk1"/>
                </a:solidFill>
                <a:latin typeface="Calibri"/>
                <a:ea typeface="Calibri"/>
                <a:cs typeface="Calibri"/>
                <a:sym typeface="Calibri"/>
              </a:defRPr>
            </a:lvl2pPr>
            <a:lvl3pPr marL="1371600" marR="0" lvl="2" indent="-649097" algn="l" rtl="0">
              <a:lnSpc>
                <a:spcPct val="90000"/>
              </a:lnSpc>
              <a:spcBef>
                <a:spcPts val="1655"/>
              </a:spcBef>
              <a:spcAft>
                <a:spcPts val="0"/>
              </a:spcAft>
              <a:buClr>
                <a:schemeClr val="dk1"/>
              </a:buClr>
              <a:buSzPts val="6622"/>
              <a:buFont typeface="Arial"/>
              <a:buChar char="•"/>
              <a:defRPr sz="6622" b="0" i="0" u="none" strike="noStrike" cap="none">
                <a:solidFill>
                  <a:schemeClr val="dk1"/>
                </a:solidFill>
                <a:latin typeface="Calibri"/>
                <a:ea typeface="Calibri"/>
                <a:cs typeface="Calibri"/>
                <a:sym typeface="Calibri"/>
              </a:defRPr>
            </a:lvl3pPr>
            <a:lvl4pPr marL="1828800" marR="0" lvl="3"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4pPr>
            <a:lvl5pPr marL="2286000" marR="0" lvl="4"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5pPr>
            <a:lvl6pPr marL="2743200" marR="0" lvl="5"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6pPr>
            <a:lvl7pPr marL="3200400" marR="0" lvl="6"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7pPr>
            <a:lvl8pPr marL="3657600" marR="0" lvl="7"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8pPr>
            <a:lvl9pPr marL="4114800" marR="0" lvl="8" indent="-607059"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010" b="0" i="0" u="none" strike="noStrike" cap="none">
                <a:solidFill>
                  <a:srgbClr val="888888"/>
                </a:solidFill>
                <a:latin typeface="Calibri"/>
                <a:ea typeface="Calibri"/>
                <a:cs typeface="Calibri"/>
                <a:sym typeface="Calibri"/>
              </a:defRPr>
            </a:lvl1pPr>
            <a:lvl2pPr marL="0" marR="0" lvl="1" indent="0" algn="r" rtl="0">
              <a:spcBef>
                <a:spcPts val="0"/>
              </a:spcBef>
              <a:buNone/>
              <a:defRPr sz="4010" b="0" i="0" u="none" strike="noStrike" cap="none">
                <a:solidFill>
                  <a:srgbClr val="888888"/>
                </a:solidFill>
                <a:latin typeface="Calibri"/>
                <a:ea typeface="Calibri"/>
                <a:cs typeface="Calibri"/>
                <a:sym typeface="Calibri"/>
              </a:defRPr>
            </a:lvl2pPr>
            <a:lvl3pPr marL="0" marR="0" lvl="2" indent="0" algn="r" rtl="0">
              <a:spcBef>
                <a:spcPts val="0"/>
              </a:spcBef>
              <a:buNone/>
              <a:defRPr sz="4010" b="0" i="0" u="none" strike="noStrike" cap="none">
                <a:solidFill>
                  <a:srgbClr val="888888"/>
                </a:solidFill>
                <a:latin typeface="Calibri"/>
                <a:ea typeface="Calibri"/>
                <a:cs typeface="Calibri"/>
                <a:sym typeface="Calibri"/>
              </a:defRPr>
            </a:lvl3pPr>
            <a:lvl4pPr marL="0" marR="0" lvl="3" indent="0" algn="r" rtl="0">
              <a:spcBef>
                <a:spcPts val="0"/>
              </a:spcBef>
              <a:buNone/>
              <a:defRPr sz="4010" b="0" i="0" u="none" strike="noStrike" cap="none">
                <a:solidFill>
                  <a:srgbClr val="888888"/>
                </a:solidFill>
                <a:latin typeface="Calibri"/>
                <a:ea typeface="Calibri"/>
                <a:cs typeface="Calibri"/>
                <a:sym typeface="Calibri"/>
              </a:defRPr>
            </a:lvl4pPr>
            <a:lvl5pPr marL="0" marR="0" lvl="4" indent="0" algn="r" rtl="0">
              <a:spcBef>
                <a:spcPts val="0"/>
              </a:spcBef>
              <a:buNone/>
              <a:defRPr sz="4010" b="0" i="0" u="none" strike="noStrike" cap="none">
                <a:solidFill>
                  <a:srgbClr val="888888"/>
                </a:solidFill>
                <a:latin typeface="Calibri"/>
                <a:ea typeface="Calibri"/>
                <a:cs typeface="Calibri"/>
                <a:sym typeface="Calibri"/>
              </a:defRPr>
            </a:lvl5pPr>
            <a:lvl6pPr marL="0" marR="0" lvl="5" indent="0" algn="r" rtl="0">
              <a:spcBef>
                <a:spcPts val="0"/>
              </a:spcBef>
              <a:buNone/>
              <a:defRPr sz="4010" b="0" i="0" u="none" strike="noStrike" cap="none">
                <a:solidFill>
                  <a:srgbClr val="888888"/>
                </a:solidFill>
                <a:latin typeface="Calibri"/>
                <a:ea typeface="Calibri"/>
                <a:cs typeface="Calibri"/>
                <a:sym typeface="Calibri"/>
              </a:defRPr>
            </a:lvl6pPr>
            <a:lvl7pPr marL="0" marR="0" lvl="6" indent="0" algn="r" rtl="0">
              <a:spcBef>
                <a:spcPts val="0"/>
              </a:spcBef>
              <a:buNone/>
              <a:defRPr sz="4010" b="0" i="0" u="none" strike="noStrike" cap="none">
                <a:solidFill>
                  <a:srgbClr val="888888"/>
                </a:solidFill>
                <a:latin typeface="Calibri"/>
                <a:ea typeface="Calibri"/>
                <a:cs typeface="Calibri"/>
                <a:sym typeface="Calibri"/>
              </a:defRPr>
            </a:lvl7pPr>
            <a:lvl8pPr marL="0" marR="0" lvl="7" indent="0" algn="r" rtl="0">
              <a:spcBef>
                <a:spcPts val="0"/>
              </a:spcBef>
              <a:buNone/>
              <a:defRPr sz="4010" b="0" i="0" u="none" strike="noStrike" cap="none">
                <a:solidFill>
                  <a:srgbClr val="888888"/>
                </a:solidFill>
                <a:latin typeface="Calibri"/>
                <a:ea typeface="Calibri"/>
                <a:cs typeface="Calibri"/>
                <a:sym typeface="Calibri"/>
              </a:defRPr>
            </a:lvl8pPr>
            <a:lvl9pPr marL="0" marR="0" lvl="8" indent="0" algn="r" rtl="0">
              <a:spcBef>
                <a:spcPts val="0"/>
              </a:spcBef>
              <a:buNone/>
              <a:defRPr sz="401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6473559" y="1106334"/>
            <a:ext cx="19422990" cy="3882584"/>
          </a:xfrm>
          <a:prstGeom prst="rect">
            <a:avLst/>
          </a:prstGeom>
          <a:noFill/>
          <a:ln>
            <a:noFill/>
          </a:ln>
        </p:spPr>
        <p:txBody>
          <a:bodyPr spcFirstLastPara="1" wrap="square" lIns="92273" tIns="46124" rIns="92273" bIns="46124" anchor="t" anchorCtr="0">
            <a:spAutoFit/>
          </a:bodyPr>
          <a:lstStyle/>
          <a:p>
            <a:pPr algn="ctr"/>
            <a:endParaRPr sz="2826" dirty="0">
              <a:solidFill>
                <a:schemeClr val="dk1"/>
              </a:solidFill>
              <a:latin typeface="Calibri"/>
              <a:ea typeface="Calibri"/>
              <a:cs typeface="Calibri"/>
              <a:sym typeface="Calibri"/>
            </a:endParaRPr>
          </a:p>
          <a:p>
            <a:pPr algn="ctr"/>
            <a:r>
              <a:rPr lang="en-US" sz="5450" b="1" dirty="0">
                <a:solidFill>
                  <a:schemeClr val="dk1"/>
                </a:solidFill>
                <a:latin typeface="Calibri"/>
                <a:ea typeface="Calibri"/>
                <a:cs typeface="Calibri"/>
                <a:sym typeface="Calibri"/>
              </a:rPr>
              <a:t>Interpretability</a:t>
            </a:r>
            <a:r>
              <a:rPr lang="ko-KR" altLang="en-US" sz="5450" b="1" dirty="0">
                <a:solidFill>
                  <a:schemeClr val="dk1"/>
                </a:solidFill>
                <a:latin typeface="Calibri"/>
                <a:ea typeface="Calibri"/>
                <a:cs typeface="Calibri"/>
                <a:sym typeface="Calibri"/>
              </a:rPr>
              <a:t> </a:t>
            </a:r>
            <a:r>
              <a:rPr lang="en-US" altLang="ko-KR" sz="5450" b="1" dirty="0">
                <a:solidFill>
                  <a:schemeClr val="dk1"/>
                </a:solidFill>
                <a:latin typeface="Calibri"/>
                <a:ea typeface="Calibri"/>
                <a:cs typeface="Calibri"/>
                <a:sym typeface="Calibri"/>
              </a:rPr>
              <a:t>of</a:t>
            </a:r>
            <a:r>
              <a:rPr lang="ko-KR" altLang="en-US" sz="5450" b="1" dirty="0">
                <a:solidFill>
                  <a:schemeClr val="dk1"/>
                </a:solidFill>
                <a:latin typeface="Calibri"/>
                <a:ea typeface="Calibri"/>
                <a:cs typeface="Calibri"/>
                <a:sym typeface="Calibri"/>
              </a:rPr>
              <a:t> </a:t>
            </a:r>
            <a:r>
              <a:rPr lang="en-US" altLang="ko-KR" sz="5450" b="1" dirty="0">
                <a:solidFill>
                  <a:schemeClr val="dk1"/>
                </a:solidFill>
                <a:latin typeface="Calibri"/>
                <a:ea typeface="Calibri"/>
                <a:cs typeface="Calibri"/>
                <a:sym typeface="Calibri"/>
              </a:rPr>
              <a:t>Electrophysiology</a:t>
            </a:r>
            <a:r>
              <a:rPr lang="ko-KR" altLang="en-US" sz="5450" b="1" dirty="0">
                <a:solidFill>
                  <a:schemeClr val="dk1"/>
                </a:solidFill>
                <a:latin typeface="Calibri"/>
                <a:ea typeface="Calibri"/>
                <a:cs typeface="Calibri"/>
                <a:sym typeface="Calibri"/>
              </a:rPr>
              <a:t> </a:t>
            </a:r>
            <a:r>
              <a:rPr lang="en-US" altLang="ko-KR" sz="5450" b="1" dirty="0">
                <a:solidFill>
                  <a:schemeClr val="dk1"/>
                </a:solidFill>
                <a:latin typeface="Calibri"/>
                <a:ea typeface="Calibri"/>
                <a:cs typeface="Calibri"/>
                <a:sym typeface="Calibri"/>
              </a:rPr>
              <a:t>Foundation</a:t>
            </a:r>
            <a:r>
              <a:rPr lang="ko-KR" altLang="en-US" sz="5450" b="1" dirty="0">
                <a:solidFill>
                  <a:schemeClr val="dk1"/>
                </a:solidFill>
                <a:latin typeface="Calibri"/>
                <a:ea typeface="Calibri"/>
                <a:cs typeface="Calibri"/>
                <a:sym typeface="Calibri"/>
              </a:rPr>
              <a:t> </a:t>
            </a:r>
            <a:r>
              <a:rPr lang="en-US" altLang="ko-KR" sz="5450" b="1" dirty="0">
                <a:solidFill>
                  <a:schemeClr val="dk1"/>
                </a:solidFill>
                <a:latin typeface="Calibri"/>
                <a:ea typeface="Calibri"/>
                <a:cs typeface="Calibri"/>
                <a:sym typeface="Calibri"/>
              </a:rPr>
              <a:t>Models </a:t>
            </a:r>
          </a:p>
          <a:p>
            <a:pPr algn="ctr"/>
            <a:r>
              <a:rPr lang="en-US" altLang="ko-KR" sz="5450" b="1" dirty="0">
                <a:solidFill>
                  <a:schemeClr val="dk1"/>
                </a:solidFill>
                <a:latin typeface="Calibri"/>
                <a:ea typeface="Calibri"/>
                <a:cs typeface="Calibri"/>
                <a:sym typeface="Calibri"/>
              </a:rPr>
              <a:t>in decoding auditory processes</a:t>
            </a:r>
            <a:endParaRPr sz="2422" dirty="0">
              <a:solidFill>
                <a:schemeClr val="dk1"/>
              </a:solidFill>
              <a:latin typeface="Calibri"/>
              <a:ea typeface="Calibri"/>
              <a:cs typeface="Calibri"/>
              <a:sym typeface="Calibri"/>
            </a:endParaRPr>
          </a:p>
          <a:p>
            <a:pPr algn="ctr"/>
            <a:r>
              <a:rPr lang="en-US" sz="3633" dirty="0" err="1">
                <a:solidFill>
                  <a:schemeClr val="dk1"/>
                </a:solidFill>
                <a:latin typeface="Calibri"/>
                <a:ea typeface="Calibri"/>
                <a:cs typeface="Calibri"/>
                <a:sym typeface="Calibri"/>
              </a:rPr>
              <a:t>서울대학교</a:t>
            </a:r>
            <a:r>
              <a:rPr lang="en-US" sz="3633" dirty="0">
                <a:solidFill>
                  <a:schemeClr val="dk1"/>
                </a:solidFill>
                <a:latin typeface="Calibri"/>
                <a:ea typeface="Calibri"/>
                <a:cs typeface="Calibri"/>
                <a:sym typeface="Calibri"/>
              </a:rPr>
              <a:t> </a:t>
            </a:r>
            <a:r>
              <a:rPr lang="ko-KR" altLang="en-US" sz="3633" dirty="0">
                <a:solidFill>
                  <a:schemeClr val="dk1"/>
                </a:solidFill>
                <a:latin typeface="Calibri"/>
                <a:ea typeface="Calibri"/>
                <a:cs typeface="Calibri"/>
                <a:sym typeface="Calibri"/>
              </a:rPr>
              <a:t>의</a:t>
            </a:r>
            <a:r>
              <a:rPr lang="en-US" sz="3633" dirty="0" err="1">
                <a:solidFill>
                  <a:schemeClr val="dk1"/>
                </a:solidFill>
                <a:latin typeface="Calibri"/>
                <a:ea typeface="Calibri"/>
                <a:cs typeface="Calibri"/>
                <a:sym typeface="Calibri"/>
              </a:rPr>
              <a:t>학과</a:t>
            </a:r>
            <a:endParaRPr sz="3633" dirty="0">
              <a:solidFill>
                <a:schemeClr val="dk1"/>
              </a:solidFill>
              <a:latin typeface="Calibri"/>
              <a:ea typeface="Calibri"/>
              <a:cs typeface="Calibri"/>
              <a:sym typeface="Calibri"/>
            </a:endParaRPr>
          </a:p>
          <a:p>
            <a:pPr algn="ctr"/>
            <a:r>
              <a:rPr lang="ko-KR" altLang="en-US" sz="3633" dirty="0">
                <a:solidFill>
                  <a:schemeClr val="dk1"/>
                </a:solidFill>
                <a:latin typeface="Calibri"/>
                <a:ea typeface="Calibri"/>
                <a:cs typeface="Calibri"/>
                <a:sym typeface="Calibri"/>
              </a:rPr>
              <a:t>윤정원</a:t>
            </a:r>
            <a:endParaRPr sz="3633" dirty="0">
              <a:solidFill>
                <a:schemeClr val="dk1"/>
              </a:solidFill>
              <a:latin typeface="Calibri"/>
              <a:ea typeface="Calibri"/>
              <a:cs typeface="Calibri"/>
              <a:sym typeface="Calibri"/>
            </a:endParaRPr>
          </a:p>
          <a:p>
            <a:pPr algn="ctr"/>
            <a:r>
              <a:rPr lang="en-US" sz="3633" dirty="0">
                <a:solidFill>
                  <a:schemeClr val="dk1"/>
                </a:solidFill>
                <a:latin typeface="Calibri"/>
                <a:ea typeface="Calibri"/>
                <a:cs typeface="Calibri"/>
                <a:sym typeface="Calibri"/>
              </a:rPr>
              <a:t>juliaaayun@snu.ac.kr</a:t>
            </a:r>
            <a:endParaRPr sz="3633" dirty="0">
              <a:solidFill>
                <a:schemeClr val="dk1"/>
              </a:solidFill>
              <a:latin typeface="Calibri"/>
              <a:ea typeface="Calibri"/>
              <a:cs typeface="Calibri"/>
              <a:sym typeface="Calibri"/>
            </a:endParaRPr>
          </a:p>
        </p:txBody>
      </p:sp>
      <p:pic>
        <p:nvPicPr>
          <p:cNvPr id="85" name="Google Shape;85;p1"/>
          <p:cNvPicPr preferRelativeResize="0"/>
          <p:nvPr/>
        </p:nvPicPr>
        <p:blipFill rotWithShape="1">
          <a:blip r:embed="rId3">
            <a:alphaModFix/>
          </a:blip>
          <a:srcRect/>
          <a:stretch/>
        </p:blipFill>
        <p:spPr>
          <a:xfrm>
            <a:off x="2586898" y="754086"/>
            <a:ext cx="4365056" cy="4476197"/>
          </a:xfrm>
          <a:prstGeom prst="rect">
            <a:avLst/>
          </a:prstGeom>
          <a:noFill/>
          <a:ln>
            <a:noFill/>
          </a:ln>
        </p:spPr>
      </p:pic>
      <p:grpSp>
        <p:nvGrpSpPr>
          <p:cNvPr id="86" name="Google Shape;86;p1"/>
          <p:cNvGrpSpPr/>
          <p:nvPr/>
        </p:nvGrpSpPr>
        <p:grpSpPr>
          <a:xfrm>
            <a:off x="1608887" y="6288663"/>
            <a:ext cx="14199675" cy="11862881"/>
            <a:chOff x="660356" y="7415151"/>
            <a:chExt cx="19043961" cy="8967946"/>
          </a:xfrm>
        </p:grpSpPr>
        <p:sp>
          <p:nvSpPr>
            <p:cNvPr id="87" name="Google Shape;87;p1"/>
            <p:cNvSpPr/>
            <p:nvPr/>
          </p:nvSpPr>
          <p:spPr>
            <a:xfrm>
              <a:off x="660356" y="8239509"/>
              <a:ext cx="19002509" cy="8143588"/>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endParaRPr lang="ko-KR" altLang="en-US" sz="1817" dirty="0">
                <a:solidFill>
                  <a:schemeClr val="dk1"/>
                </a:solidFill>
                <a:latin typeface="Batang"/>
                <a:ea typeface="Batang"/>
                <a:cs typeface="Batang"/>
                <a:sym typeface="Batang"/>
              </a:endParaRPr>
            </a:p>
            <a:p>
              <a:pPr algn="just">
                <a:lnSpc>
                  <a:spcPct val="150000"/>
                </a:lnSpc>
                <a:buClr>
                  <a:schemeClr val="dk1"/>
                </a:buClr>
                <a:buSzPts val="3600"/>
              </a:pPr>
              <a:r>
                <a:rPr lang="en-US" altLang="ko-KR" sz="3400" dirty="0"/>
                <a:t> Electrophysiological signals have been a valuable source for linking brain activity with identifiable states ranging from physiological, motor, and cognitive status. Intracranial electroencephalography (</a:t>
              </a:r>
              <a:r>
                <a:rPr lang="en-US" altLang="ko-KR" sz="3400" dirty="0" err="1"/>
                <a:t>iEEG</a:t>
              </a:r>
              <a:r>
                <a:rPr lang="en-US" altLang="ko-KR" sz="3400" dirty="0"/>
                <a:t>) signals driven mostly from human epilepsy patients, show notably high temporal and spatial resolution. However, the inherent diversity of </a:t>
              </a:r>
              <a:r>
                <a:rPr lang="en-US" altLang="ko-KR" sz="3400" dirty="0" err="1"/>
                <a:t>iEEG</a:t>
              </a:r>
              <a:r>
                <a:rPr lang="en-US" altLang="ko-KR" sz="3400" dirty="0"/>
                <a:t> signals across subjects and recording conditions poses a significant barrier for task-specific supervised workflows. Foundation models, which are pretrained by self-supervised objectives and capable of capturing the data’s representations, offer an opportunity for clarifying the complex nature of electrophysiological signals (</a:t>
              </a:r>
              <a:r>
                <a:rPr lang="en-US" altLang="ko-KR" sz="3400" dirty="0" err="1"/>
                <a:t>Bommasani</a:t>
              </a:r>
              <a:r>
                <a:rPr lang="en-US" altLang="ko-KR" sz="3400" dirty="0"/>
                <a:t> et al., 2021). This expectation cannot be fulfilled unless the model shows robust performance against non-informative perturbations and yields biological meaningful explanations. </a:t>
              </a:r>
              <a:endParaRPr lang="ko-KR" altLang="en-US" sz="3400" dirty="0">
                <a:solidFill>
                  <a:schemeClr val="dk1"/>
                </a:solidFill>
                <a:latin typeface="Batang"/>
                <a:ea typeface="Batang"/>
                <a:cs typeface="Batang"/>
                <a:sym typeface="Batang"/>
              </a:endParaRPr>
            </a:p>
          </p:txBody>
        </p:sp>
        <p:sp>
          <p:nvSpPr>
            <p:cNvPr id="88" name="Google Shape;88;p1"/>
            <p:cNvSpPr/>
            <p:nvPr/>
          </p:nvSpPr>
          <p:spPr>
            <a:xfrm>
              <a:off x="699916" y="7415151"/>
              <a:ext cx="19004401" cy="824358"/>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INTRODUCTION</a:t>
              </a:r>
              <a:endParaRPr sz="5450" b="1" dirty="0">
                <a:solidFill>
                  <a:srgbClr val="FFFFFF"/>
                </a:solidFill>
              </a:endParaRPr>
            </a:p>
          </p:txBody>
        </p:sp>
      </p:grpSp>
      <p:grpSp>
        <p:nvGrpSpPr>
          <p:cNvPr id="89" name="Google Shape;89;p1"/>
          <p:cNvGrpSpPr/>
          <p:nvPr/>
        </p:nvGrpSpPr>
        <p:grpSpPr>
          <a:xfrm>
            <a:off x="1601066" y="27546300"/>
            <a:ext cx="14176588" cy="14210806"/>
            <a:chOff x="414164" y="18461634"/>
            <a:chExt cx="16567491" cy="12998884"/>
          </a:xfrm>
        </p:grpSpPr>
        <mc:AlternateContent xmlns:mc="http://schemas.openxmlformats.org/markup-compatibility/2006" xmlns:a14="http://schemas.microsoft.com/office/drawing/2010/main">
          <mc:Choice Requires="a14">
            <p:sp>
              <p:nvSpPr>
                <p:cNvPr id="90" name="Google Shape;90;p1"/>
                <p:cNvSpPr/>
                <p:nvPr/>
              </p:nvSpPr>
              <p:spPr>
                <a:xfrm>
                  <a:off x="421655" y="19475704"/>
                  <a:ext cx="16560000" cy="11984814"/>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71875"/>
                    </a:lnSpc>
                  </a:pPr>
                  <a:r>
                    <a:rPr lang="en-US" sz="3400" dirty="0">
                      <a:solidFill>
                        <a:schemeClr val="dk1"/>
                      </a:solidFill>
                      <a:latin typeface="+mn-lt"/>
                      <a:ea typeface="Calibri"/>
                      <a:cs typeface="Calibri"/>
                      <a:sym typeface="Calibri"/>
                    </a:rPr>
                    <a:t>An electrophysiological foundation model, DIVER, was utilized for </a:t>
                  </a:r>
                  <a:r>
                    <a:rPr lang="en-US" sz="3400" dirty="0" err="1">
                      <a:solidFill>
                        <a:schemeClr val="dk1"/>
                      </a:solidFill>
                      <a:latin typeface="+mn-lt"/>
                      <a:ea typeface="Calibri"/>
                      <a:cs typeface="Calibri"/>
                      <a:sym typeface="Calibri"/>
                    </a:rPr>
                    <a:t>ithis</a:t>
                  </a:r>
                  <a:r>
                    <a:rPr lang="en-US" sz="3400" dirty="0">
                      <a:solidFill>
                        <a:schemeClr val="dk1"/>
                      </a:solidFill>
                      <a:latin typeface="+mn-lt"/>
                      <a:ea typeface="Calibri"/>
                      <a:cs typeface="Calibri"/>
                      <a:sym typeface="Calibri"/>
                    </a:rPr>
                    <a:t> interpretability research in three tasks;</a:t>
                  </a:r>
                  <a:r>
                    <a:rPr lang="ko-KR" altLang="en-US" sz="3400" dirty="0">
                      <a:solidFill>
                        <a:schemeClr val="dk1"/>
                      </a:solidFill>
                      <a:latin typeface="+mn-lt"/>
                      <a:ea typeface="Calibri"/>
                      <a:cs typeface="Calibri"/>
                      <a:sym typeface="Calibri"/>
                    </a:rPr>
                    <a:t> </a:t>
                  </a:r>
                  <a:r>
                    <a:rPr lang="en-US" altLang="ko-KR" sz="3400" dirty="0">
                      <a:solidFill>
                        <a:schemeClr val="dk1"/>
                      </a:solidFill>
                      <a:latin typeface="+mn-lt"/>
                      <a:ea typeface="Calibri"/>
                      <a:cs typeface="Calibri"/>
                      <a:sym typeface="Calibri"/>
                    </a:rPr>
                    <a:t>volume,</a:t>
                  </a:r>
                  <a:r>
                    <a:rPr lang="ko-KR" altLang="en-US" sz="3400" dirty="0">
                      <a:solidFill>
                        <a:schemeClr val="dk1"/>
                      </a:solidFill>
                      <a:latin typeface="+mn-lt"/>
                      <a:ea typeface="Calibri"/>
                      <a:cs typeface="Calibri"/>
                      <a:sym typeface="Calibri"/>
                    </a:rPr>
                    <a:t> </a:t>
                  </a:r>
                  <a:r>
                    <a:rPr lang="en-US" altLang="ko-KR" sz="3400" dirty="0">
                      <a:solidFill>
                        <a:schemeClr val="dk1"/>
                      </a:solidFill>
                      <a:latin typeface="+mn-lt"/>
                      <a:ea typeface="Calibri"/>
                      <a:cs typeface="Calibri"/>
                      <a:sym typeface="Calibri"/>
                    </a:rPr>
                    <a:t>speech,</a:t>
                  </a:r>
                  <a:r>
                    <a:rPr lang="ko-KR" altLang="en-US" sz="3400" dirty="0">
                      <a:solidFill>
                        <a:schemeClr val="dk1"/>
                      </a:solidFill>
                      <a:latin typeface="+mn-lt"/>
                      <a:ea typeface="Calibri"/>
                      <a:cs typeface="Calibri"/>
                      <a:sym typeface="Calibri"/>
                    </a:rPr>
                    <a:t> </a:t>
                  </a:r>
                  <a:r>
                    <a:rPr lang="en-US" altLang="ko-KR" sz="3400" dirty="0">
                      <a:solidFill>
                        <a:schemeClr val="dk1"/>
                      </a:solidFill>
                      <a:latin typeface="+mn-lt"/>
                      <a:ea typeface="Calibri"/>
                      <a:cs typeface="Calibri"/>
                      <a:sym typeface="Calibri"/>
                    </a:rPr>
                    <a:t>and word head position </a:t>
                  </a:r>
                  <a:r>
                    <a:rPr lang="en-US" sz="3400" dirty="0">
                      <a:solidFill>
                        <a:schemeClr val="dk1"/>
                      </a:solidFill>
                      <a:latin typeface="+mn-lt"/>
                      <a:ea typeface="Calibri"/>
                      <a:cs typeface="Calibri"/>
                      <a:sym typeface="Calibri"/>
                    </a:rPr>
                    <a:t>(Han et al., 2025). This study track the model’s interpretability in two complementary perspectives: (</a:t>
                  </a:r>
                  <a:r>
                    <a:rPr lang="en-US" sz="3400" dirty="0" err="1">
                      <a:solidFill>
                        <a:schemeClr val="dk1"/>
                      </a:solidFill>
                      <a:latin typeface="+mn-lt"/>
                      <a:ea typeface="Calibri"/>
                      <a:cs typeface="Calibri"/>
                      <a:sym typeface="Calibri"/>
                    </a:rPr>
                    <a:t>i</a:t>
                  </a:r>
                  <a:r>
                    <a:rPr lang="en-US" sz="3400" dirty="0">
                      <a:solidFill>
                        <a:schemeClr val="dk1"/>
                      </a:solidFill>
                      <a:latin typeface="+mn-lt"/>
                      <a:ea typeface="Calibri"/>
                      <a:cs typeface="Calibri"/>
                      <a:sym typeface="Calibri"/>
                    </a:rPr>
                    <a:t>) task dependent changes in the attention matrix within subjects (ii) the importance of input signals to validate whether the model relies on appropriate neural inputs. We here use the attention rollout mechanism which accounts for all layers and the residual network between each blocks (Abnar, Zuidema 2020). To determine the importance of the patch’s frequency and time signals, a Gaussian kernel and a Monte Carlo blank out method was employed. </a:t>
                  </a:r>
                </a:p>
                <a:p>
                  <a:pPr algn="just">
                    <a:lnSpc>
                      <a:spcPct val="171875"/>
                    </a:lnSpc>
                  </a:pPr>
                  <a:r>
                    <a:rPr lang="en-US" sz="3200" dirty="0">
                      <a:solidFill>
                        <a:schemeClr val="dk1"/>
                      </a:solidFill>
                      <a:latin typeface="+mn-lt"/>
                      <a:ea typeface="Calibri"/>
                      <a:cs typeface="Calibri"/>
                      <a:sym typeface="Calibri"/>
                    </a:rPr>
                    <a:t>                                                                                    </a:t>
                  </a:r>
                  <a14:m>
                    <m:oMath xmlns:m="http://schemas.openxmlformats.org/officeDocument/2006/math">
                      <m:r>
                        <a:rPr lang="en-US" altLang="ko-KR" sz="3200" b="1" i="1">
                          <a:latin typeface="Cambria Math" panose="02040503050406030204" pitchFamily="18" charset="0"/>
                        </a:rPr>
                        <m:t>𝑿</m:t>
                      </m:r>
                      <m:r>
                        <a:rPr lang="ko-KR" altLang="ko-KR" sz="3200" b="1">
                          <a:latin typeface="Cambria Math" panose="02040503050406030204" pitchFamily="18" charset="0"/>
                        </a:rPr>
                        <m:t>∈</m:t>
                      </m:r>
                      <m:sSup>
                        <m:sSupPr>
                          <m:ctrlPr>
                            <a:rPr lang="ko-KR" altLang="ko-KR" sz="3200" b="1" i="1">
                              <a:latin typeface="Cambria Math" panose="02040503050406030204" pitchFamily="18" charset="0"/>
                            </a:rPr>
                          </m:ctrlPr>
                        </m:sSupPr>
                        <m:e>
                          <m:r>
                            <a:rPr lang="en-US" altLang="ko-KR" sz="3200" b="1" i="1">
                              <a:latin typeface="Cambria Math" panose="02040503050406030204" pitchFamily="18" charset="0"/>
                            </a:rPr>
                            <m:t>𝑹</m:t>
                          </m:r>
                        </m:e>
                        <m:sup>
                          <m:r>
                            <a:rPr lang="en-US" altLang="ko-KR" sz="3200" b="1" i="1">
                              <a:latin typeface="Cambria Math" panose="02040503050406030204" pitchFamily="18" charset="0"/>
                            </a:rPr>
                            <m:t>𝑪</m:t>
                          </m:r>
                          <m:r>
                            <a:rPr lang="ko-KR" altLang="ko-KR" sz="3200" b="1">
                              <a:latin typeface="Cambria Math" panose="02040503050406030204" pitchFamily="18" charset="0"/>
                            </a:rPr>
                            <m:t>×</m:t>
                          </m:r>
                          <m:r>
                            <a:rPr lang="en-US" altLang="ko-KR" sz="3200" b="1" i="1">
                              <a:latin typeface="Cambria Math" panose="02040503050406030204" pitchFamily="18" charset="0"/>
                            </a:rPr>
                            <m:t>𝑵</m:t>
                          </m:r>
                          <m:r>
                            <a:rPr lang="ko-KR" altLang="ko-KR" sz="3200" b="1">
                              <a:latin typeface="Cambria Math" panose="02040503050406030204" pitchFamily="18" charset="0"/>
                            </a:rPr>
                            <m:t>×</m:t>
                          </m:r>
                          <m:r>
                            <a:rPr lang="en-US" altLang="ko-KR" sz="3200" b="1" i="1">
                              <a:latin typeface="Cambria Math" panose="02040503050406030204" pitchFamily="18" charset="0"/>
                            </a:rPr>
                            <m:t>𝟓𝟎</m:t>
                          </m:r>
                        </m:sup>
                      </m:sSup>
                    </m:oMath>
                  </a14:m>
                  <a:endParaRPr lang="en-US" sz="3200" b="1" dirty="0">
                    <a:solidFill>
                      <a:schemeClr val="dk1"/>
                    </a:solidFill>
                    <a:latin typeface="+mn-lt"/>
                    <a:ea typeface="Calibri"/>
                    <a:cs typeface="Calibri"/>
                    <a:sym typeface="Calibri"/>
                  </a:endParaRPr>
                </a:p>
                <a:p>
                  <a:pPr algn="just">
                    <a:lnSpc>
                      <a:spcPct val="171875"/>
                    </a:lnSpc>
                  </a:pPr>
                  <a:r>
                    <a:rPr lang="en-US" sz="3200" b="1" dirty="0">
                      <a:solidFill>
                        <a:schemeClr val="dk1"/>
                      </a:solidFill>
                      <a:latin typeface="+mn-lt"/>
                      <a:ea typeface="Calibri"/>
                      <a:cs typeface="Calibri"/>
                      <a:sym typeface="Calibri"/>
                    </a:rPr>
                    <a:t>                                                                                 </a:t>
                  </a:r>
                  <a14:m>
                    <m:oMath xmlns:m="http://schemas.openxmlformats.org/officeDocument/2006/math">
                      <m:sSup>
                        <m:sSupPr>
                          <m:ctrlPr>
                            <a:rPr lang="ko-KR" altLang="ko-KR" sz="3200" b="1" i="1">
                              <a:latin typeface="Cambria Math" panose="02040503050406030204" pitchFamily="18" charset="0"/>
                            </a:rPr>
                          </m:ctrlPr>
                        </m:sSupPr>
                        <m:e>
                          <m:r>
                            <a:rPr lang="en-US" altLang="ko-KR" sz="3200" b="1" i="1">
                              <a:latin typeface="Cambria Math" panose="02040503050406030204" pitchFamily="18" charset="0"/>
                            </a:rPr>
                            <m:t>𝑴</m:t>
                          </m:r>
                        </m:e>
                        <m:sup>
                          <m:d>
                            <m:dPr>
                              <m:ctrlPr>
                                <a:rPr lang="ko-KR" altLang="ko-KR" sz="3200" b="1" i="1">
                                  <a:latin typeface="Cambria Math" panose="02040503050406030204" pitchFamily="18" charset="0"/>
                                </a:rPr>
                              </m:ctrlPr>
                            </m:dPr>
                            <m:e>
                              <m:r>
                                <a:rPr lang="en-US" altLang="ko-KR" sz="3200" b="1" i="1">
                                  <a:latin typeface="Cambria Math" panose="02040503050406030204" pitchFamily="18" charset="0"/>
                                </a:rPr>
                                <m:t>𝒓</m:t>
                              </m:r>
                            </m:e>
                          </m:d>
                        </m:sup>
                      </m:sSup>
                      <m:r>
                        <a:rPr lang="ko-KR" altLang="ko-KR" sz="3200" b="1">
                          <a:latin typeface="Cambria Math" panose="02040503050406030204" pitchFamily="18" charset="0"/>
                        </a:rPr>
                        <m:t>∈</m:t>
                      </m:r>
                      <m:sSup>
                        <m:sSupPr>
                          <m:ctrlPr>
                            <a:rPr lang="ko-KR" altLang="ko-KR" sz="3200" b="1" i="1">
                              <a:latin typeface="Cambria Math" panose="02040503050406030204" pitchFamily="18" charset="0"/>
                            </a:rPr>
                          </m:ctrlPr>
                        </m:sSupPr>
                        <m:e>
                          <m:r>
                            <a:rPr lang="en-US" altLang="ko-KR" sz="3200" b="1" i="1">
                              <a:latin typeface="Cambria Math" panose="02040503050406030204" pitchFamily="18" charset="0"/>
                            </a:rPr>
                            <m:t>{</m:t>
                          </m:r>
                          <m:r>
                            <a:rPr lang="en-US" altLang="ko-KR" sz="3200" b="1" i="1">
                              <a:latin typeface="Cambria Math" panose="02040503050406030204" pitchFamily="18" charset="0"/>
                            </a:rPr>
                            <m:t>𝟎</m:t>
                          </m:r>
                          <m:r>
                            <a:rPr lang="en-US" altLang="ko-KR" sz="3200" b="1" i="1">
                              <a:latin typeface="Cambria Math" panose="02040503050406030204" pitchFamily="18" charset="0"/>
                            </a:rPr>
                            <m:t>,</m:t>
                          </m:r>
                          <m:r>
                            <a:rPr lang="en-US" altLang="ko-KR" sz="3200" b="1" i="1">
                              <a:latin typeface="Cambria Math" panose="02040503050406030204" pitchFamily="18" charset="0"/>
                            </a:rPr>
                            <m:t>𝟏</m:t>
                          </m:r>
                          <m:r>
                            <a:rPr lang="en-US" altLang="ko-KR" sz="3200" b="1" i="1">
                              <a:latin typeface="Cambria Math" panose="02040503050406030204" pitchFamily="18" charset="0"/>
                            </a:rPr>
                            <m:t>}</m:t>
                          </m:r>
                        </m:e>
                        <m:sup>
                          <m:r>
                            <a:rPr lang="en-US" altLang="ko-KR" sz="3200" b="1" i="1">
                              <a:latin typeface="Cambria Math" panose="02040503050406030204" pitchFamily="18" charset="0"/>
                            </a:rPr>
                            <m:t>𝑪</m:t>
                          </m:r>
                          <m:r>
                            <a:rPr lang="ko-KR" altLang="ko-KR" sz="3200" b="1">
                              <a:latin typeface="Cambria Math" panose="02040503050406030204" pitchFamily="18" charset="0"/>
                            </a:rPr>
                            <m:t>×</m:t>
                          </m:r>
                          <m:r>
                            <a:rPr lang="en-US" altLang="ko-KR" sz="3200" b="1" i="1">
                              <a:latin typeface="Cambria Math" panose="02040503050406030204" pitchFamily="18" charset="0"/>
                            </a:rPr>
                            <m:t>𝑵</m:t>
                          </m:r>
                        </m:sup>
                      </m:sSup>
                    </m:oMath>
                  </a14:m>
                  <a:r>
                    <a:rPr lang="en-US" altLang="ko-KR" sz="3200" b="1" dirty="0"/>
                    <a:t> </a:t>
                  </a:r>
                  <a:endParaRPr lang="ko-KR" altLang="ko-KR" sz="3200" b="1" dirty="0"/>
                </a:p>
                <a:p>
                  <a:pPr algn="just">
                    <a:lnSpc>
                      <a:spcPct val="171875"/>
                    </a:lnSpc>
                  </a:pPr>
                  <a:r>
                    <a:rPr lang="en-US" sz="3200" b="1" dirty="0">
                      <a:solidFill>
                        <a:schemeClr val="dk1"/>
                      </a:solidFill>
                      <a:latin typeface="+mn-lt"/>
                      <a:ea typeface="Calibri"/>
                      <a:cs typeface="Calibri"/>
                      <a:sym typeface="Calibri"/>
                    </a:rPr>
                    <a:t>                                                                                 </a:t>
                  </a:r>
                  <a14:m>
                    <m:oMath xmlns:m="http://schemas.openxmlformats.org/officeDocument/2006/math">
                      <m:sSup>
                        <m:sSupPr>
                          <m:ctrlPr>
                            <a:rPr lang="ko-KR" altLang="ko-KR" sz="3200" b="1" i="1">
                              <a:latin typeface="Cambria Math" panose="02040503050406030204" pitchFamily="18" charset="0"/>
                            </a:rPr>
                          </m:ctrlPr>
                        </m:sSupPr>
                        <m:e>
                          <m:r>
                            <a:rPr lang="ko-KR" altLang="ko-KR" sz="3200" b="1" i="1">
                              <a:latin typeface="Cambria Math" panose="02040503050406030204" pitchFamily="18" charset="0"/>
                            </a:rPr>
                            <m:t>𝜟</m:t>
                          </m:r>
                        </m:e>
                        <m:sup>
                          <m:d>
                            <m:dPr>
                              <m:ctrlPr>
                                <a:rPr lang="ko-KR" altLang="ko-KR" sz="3200" b="1" i="1">
                                  <a:latin typeface="Cambria Math" panose="02040503050406030204" pitchFamily="18" charset="0"/>
                                </a:rPr>
                              </m:ctrlPr>
                            </m:dPr>
                            <m:e>
                              <m:r>
                                <a:rPr lang="en-US" altLang="ko-KR" sz="3200" b="1" i="1">
                                  <a:latin typeface="Cambria Math" panose="02040503050406030204" pitchFamily="18" charset="0"/>
                                </a:rPr>
                                <m:t>𝒓</m:t>
                              </m:r>
                            </m:e>
                          </m:d>
                        </m:sup>
                      </m:sSup>
                      <m:r>
                        <a:rPr lang="en-US" altLang="ko-KR" sz="3200" b="1" i="1">
                          <a:latin typeface="Cambria Math" panose="02040503050406030204" pitchFamily="18" charset="0"/>
                        </a:rPr>
                        <m:t>=</m:t>
                      </m:r>
                      <m:sSub>
                        <m:sSubPr>
                          <m:ctrlPr>
                            <a:rPr lang="ko-KR" altLang="ko-KR" sz="3200" b="1" i="1">
                              <a:latin typeface="Cambria Math" panose="02040503050406030204" pitchFamily="18" charset="0"/>
                            </a:rPr>
                          </m:ctrlPr>
                        </m:sSubPr>
                        <m:e>
                          <m:r>
                            <a:rPr lang="en-US" altLang="ko-KR" sz="3200" b="1" i="1">
                              <a:latin typeface="Cambria Math" panose="02040503050406030204" pitchFamily="18" charset="0"/>
                            </a:rPr>
                            <m:t>𝑭</m:t>
                          </m:r>
                        </m:e>
                        <m:sub>
                          <m:r>
                            <a:rPr lang="en-US" altLang="ko-KR" sz="3200" b="1" i="1">
                              <a:latin typeface="Cambria Math" panose="02040503050406030204" pitchFamily="18" charset="0"/>
                            </a:rPr>
                            <m:t>𝟎</m:t>
                          </m:r>
                        </m:sub>
                      </m:sSub>
                      <m:r>
                        <a:rPr lang="en-US" altLang="ko-KR" sz="3200" b="1" i="1">
                          <a:latin typeface="Cambria Math" panose="02040503050406030204" pitchFamily="18" charset="0"/>
                        </a:rPr>
                        <m:t>−</m:t>
                      </m:r>
                      <m:sSup>
                        <m:sSupPr>
                          <m:ctrlPr>
                            <a:rPr lang="ko-KR" altLang="ko-KR" sz="3200" b="1" i="1">
                              <a:latin typeface="Cambria Math" panose="02040503050406030204" pitchFamily="18" charset="0"/>
                            </a:rPr>
                          </m:ctrlPr>
                        </m:sSupPr>
                        <m:e>
                          <m:r>
                            <a:rPr lang="en-US" altLang="ko-KR" sz="3200" b="1" i="1">
                              <a:latin typeface="Cambria Math" panose="02040503050406030204" pitchFamily="18" charset="0"/>
                            </a:rPr>
                            <m:t>𝑭</m:t>
                          </m:r>
                        </m:e>
                        <m:sup>
                          <m:d>
                            <m:dPr>
                              <m:ctrlPr>
                                <a:rPr lang="ko-KR" altLang="ko-KR" sz="3200" b="1" i="1">
                                  <a:latin typeface="Cambria Math" panose="02040503050406030204" pitchFamily="18" charset="0"/>
                                </a:rPr>
                              </m:ctrlPr>
                            </m:dPr>
                            <m:e>
                              <m:r>
                                <a:rPr lang="en-US" altLang="ko-KR" sz="3200" b="1" i="1">
                                  <a:latin typeface="Cambria Math" panose="02040503050406030204" pitchFamily="18" charset="0"/>
                                </a:rPr>
                                <m:t>𝒓</m:t>
                              </m:r>
                            </m:e>
                          </m:d>
                        </m:sup>
                      </m:sSup>
                    </m:oMath>
                  </a14:m>
                  <a:endParaRPr lang="en-US" sz="3400" b="1" dirty="0">
                    <a:solidFill>
                      <a:schemeClr val="dk1"/>
                    </a:solidFill>
                    <a:latin typeface="+mn-lt"/>
                    <a:ea typeface="Calibri"/>
                    <a:cs typeface="Calibri"/>
                    <a:sym typeface="Calibri"/>
                  </a:endParaRPr>
                </a:p>
                <a:p>
                  <a:pPr algn="just">
                    <a:lnSpc>
                      <a:spcPct val="171875"/>
                    </a:lnSpc>
                  </a:pPr>
                  <a:r>
                    <a:rPr lang="en-US" sz="3200" b="1" dirty="0">
                      <a:solidFill>
                        <a:schemeClr val="dk1"/>
                      </a:solidFill>
                      <a:latin typeface="+mn-lt"/>
                      <a:ea typeface="Calibri"/>
                      <a:cs typeface="Calibri"/>
                      <a:sym typeface="Calibri"/>
                    </a:rPr>
                    <a:t>                                                                   </a:t>
                  </a:r>
                  <a14:m>
                    <m:oMath xmlns:m="http://schemas.openxmlformats.org/officeDocument/2006/math">
                      <m:r>
                        <a:rPr lang="en-US" altLang="ko-KR" sz="3200" b="1" i="0" smtClean="0">
                          <a:latin typeface="Cambria Math" panose="02040503050406030204" pitchFamily="18" charset="0"/>
                        </a:rPr>
                        <m:t>   </m:t>
                      </m:r>
                      <m:r>
                        <a:rPr lang="en-US" altLang="ko-KR" sz="3200" b="1" i="1">
                          <a:latin typeface="Cambria Math" panose="02040503050406030204" pitchFamily="18" charset="0"/>
                        </a:rPr>
                        <m:t>𝑰𝒎𝒑</m:t>
                      </m:r>
                      <m:d>
                        <m:dPr>
                          <m:ctrlPr>
                            <a:rPr lang="ko-KR" altLang="ko-KR" sz="3200" b="1" i="1">
                              <a:latin typeface="Cambria Math" panose="02040503050406030204" pitchFamily="18" charset="0"/>
                            </a:rPr>
                          </m:ctrlPr>
                        </m:dPr>
                        <m:e>
                          <m:r>
                            <a:rPr lang="en-US" altLang="ko-KR" sz="3200" b="1" i="1">
                              <a:latin typeface="Cambria Math" panose="02040503050406030204" pitchFamily="18" charset="0"/>
                            </a:rPr>
                            <m:t>𝒄</m:t>
                          </m:r>
                          <m:r>
                            <a:rPr lang="en-US" altLang="ko-KR" sz="3200" b="1" i="1">
                              <a:latin typeface="Cambria Math" panose="02040503050406030204" pitchFamily="18" charset="0"/>
                            </a:rPr>
                            <m:t>,</m:t>
                          </m:r>
                          <m:r>
                            <a:rPr lang="en-US" altLang="ko-KR" sz="3200" b="1" i="1">
                              <a:latin typeface="Cambria Math" panose="02040503050406030204" pitchFamily="18" charset="0"/>
                            </a:rPr>
                            <m:t>𝒏</m:t>
                          </m:r>
                        </m:e>
                      </m:d>
                      <m:r>
                        <a:rPr lang="en-US" altLang="ko-KR" sz="3200" b="1" i="1">
                          <a:latin typeface="Cambria Math" panose="02040503050406030204" pitchFamily="18" charset="0"/>
                        </a:rPr>
                        <m:t>=</m:t>
                      </m:r>
                      <m:f>
                        <m:fPr>
                          <m:ctrlPr>
                            <a:rPr lang="ko-KR" altLang="ko-KR" sz="3200" b="1" i="1">
                              <a:latin typeface="Cambria Math" panose="02040503050406030204" pitchFamily="18" charset="0"/>
                            </a:rPr>
                          </m:ctrlPr>
                        </m:fPr>
                        <m:num>
                          <m:r>
                            <a:rPr lang="en-US" altLang="ko-KR" sz="3200" b="1" i="1">
                              <a:latin typeface="Cambria Math" panose="02040503050406030204" pitchFamily="18" charset="0"/>
                            </a:rPr>
                            <m:t>𝟏</m:t>
                          </m:r>
                        </m:num>
                        <m:den>
                          <m:r>
                            <a:rPr lang="en-US" altLang="ko-KR" sz="3200" b="1" i="1">
                              <a:latin typeface="Cambria Math" panose="02040503050406030204" pitchFamily="18" charset="0"/>
                            </a:rPr>
                            <m:t>𝑹</m:t>
                          </m:r>
                        </m:den>
                      </m:f>
                      <m:sSubSup>
                        <m:sSubSupPr>
                          <m:ctrlPr>
                            <a:rPr lang="ko-KR" altLang="ko-KR" sz="3200" b="1" i="1">
                              <a:latin typeface="Cambria Math" panose="02040503050406030204" pitchFamily="18" charset="0"/>
                            </a:rPr>
                          </m:ctrlPr>
                        </m:sSubSupPr>
                        <m:e>
                          <m:r>
                            <a:rPr lang="ko-KR" altLang="ko-KR" sz="3200" b="1" i="1">
                              <a:latin typeface="Cambria Math" panose="02040503050406030204" pitchFamily="18" charset="0"/>
                            </a:rPr>
                            <m:t>𝜮</m:t>
                          </m:r>
                        </m:e>
                        <m:sub>
                          <m:r>
                            <a:rPr lang="es-ES" altLang="ko-KR" sz="3200" b="1" i="1">
                              <a:latin typeface="Cambria Math" panose="02040503050406030204" pitchFamily="18" charset="0"/>
                            </a:rPr>
                            <m:t>𝒓</m:t>
                          </m:r>
                          <m:r>
                            <a:rPr lang="en-US" altLang="ko-KR" sz="3200" b="1" i="1">
                              <a:latin typeface="Cambria Math" panose="02040503050406030204" pitchFamily="18" charset="0"/>
                            </a:rPr>
                            <m:t>=</m:t>
                          </m:r>
                          <m:r>
                            <a:rPr lang="en-US" altLang="ko-KR" sz="3200" b="1" i="1">
                              <a:latin typeface="Cambria Math" panose="02040503050406030204" pitchFamily="18" charset="0"/>
                            </a:rPr>
                            <m:t>𝟏</m:t>
                          </m:r>
                        </m:sub>
                        <m:sup>
                          <m:r>
                            <a:rPr lang="es-ES" altLang="ko-KR" sz="3200" b="1" i="1">
                              <a:latin typeface="Cambria Math" panose="02040503050406030204" pitchFamily="18" charset="0"/>
                            </a:rPr>
                            <m:t>𝑹</m:t>
                          </m:r>
                        </m:sup>
                      </m:sSubSup>
                      <m:sSup>
                        <m:sSupPr>
                          <m:ctrlPr>
                            <a:rPr lang="ko-KR" altLang="ko-KR" sz="3200" b="1" i="1">
                              <a:latin typeface="Cambria Math" panose="02040503050406030204" pitchFamily="18" charset="0"/>
                            </a:rPr>
                          </m:ctrlPr>
                        </m:sSupPr>
                        <m:e>
                          <m:r>
                            <a:rPr lang="ko-KR" altLang="ko-KR" sz="3200" b="1" i="1">
                              <a:latin typeface="Cambria Math" panose="02040503050406030204" pitchFamily="18" charset="0"/>
                            </a:rPr>
                            <m:t>𝜟</m:t>
                          </m:r>
                        </m:e>
                        <m:sup>
                          <m:d>
                            <m:dPr>
                              <m:ctrlPr>
                                <a:rPr lang="ko-KR" altLang="ko-KR" sz="3200" b="1" i="1">
                                  <a:latin typeface="Cambria Math" panose="02040503050406030204" pitchFamily="18" charset="0"/>
                                </a:rPr>
                              </m:ctrlPr>
                            </m:dPr>
                            <m:e>
                              <m:r>
                                <a:rPr lang="es-ES" altLang="ko-KR" sz="3200" b="1" i="1">
                                  <a:latin typeface="Cambria Math" panose="02040503050406030204" pitchFamily="18" charset="0"/>
                                </a:rPr>
                                <m:t>𝒓</m:t>
                              </m:r>
                            </m:e>
                          </m:d>
                        </m:sup>
                      </m:sSup>
                      <m:r>
                        <a:rPr lang="en-US" altLang="ko-KR" sz="3200" b="1" i="1">
                          <a:latin typeface="Cambria Math" panose="02040503050406030204" pitchFamily="18" charset="0"/>
                        </a:rPr>
                        <m:t>(</m:t>
                      </m:r>
                      <m:r>
                        <a:rPr lang="en-US" altLang="ko-KR" sz="3200" b="1" i="1">
                          <a:latin typeface="Cambria Math" panose="02040503050406030204" pitchFamily="18" charset="0"/>
                        </a:rPr>
                        <m:t>𝟏</m:t>
                      </m:r>
                      <m:r>
                        <a:rPr lang="en-US" altLang="ko-KR" sz="3200" b="1" i="1">
                          <a:latin typeface="Cambria Math" panose="02040503050406030204" pitchFamily="18" charset="0"/>
                        </a:rPr>
                        <m:t>−</m:t>
                      </m:r>
                      <m:sSubSup>
                        <m:sSubSupPr>
                          <m:ctrlPr>
                            <a:rPr lang="ko-KR" altLang="ko-KR" sz="3200" b="1" i="1">
                              <a:latin typeface="Cambria Math" panose="02040503050406030204" pitchFamily="18" charset="0"/>
                            </a:rPr>
                          </m:ctrlPr>
                        </m:sSubSupPr>
                        <m:e>
                          <m:r>
                            <a:rPr lang="en-US" altLang="ko-KR" sz="3200" b="1" i="1">
                              <a:latin typeface="Cambria Math" panose="02040503050406030204" pitchFamily="18" charset="0"/>
                            </a:rPr>
                            <m:t>𝑴</m:t>
                          </m:r>
                        </m:e>
                        <m:sub>
                          <m:r>
                            <a:rPr lang="en-US" altLang="ko-KR" sz="3200" b="1" i="1">
                              <a:latin typeface="Cambria Math" panose="02040503050406030204" pitchFamily="18" charset="0"/>
                            </a:rPr>
                            <m:t>𝒄</m:t>
                          </m:r>
                          <m:r>
                            <a:rPr lang="en-US" altLang="ko-KR" sz="3200" b="1" i="1">
                              <a:latin typeface="Cambria Math" panose="02040503050406030204" pitchFamily="18" charset="0"/>
                            </a:rPr>
                            <m:t>,</m:t>
                          </m:r>
                          <m:r>
                            <a:rPr lang="en-US" altLang="ko-KR" sz="3200" b="1" i="1">
                              <a:latin typeface="Cambria Math" panose="02040503050406030204" pitchFamily="18" charset="0"/>
                            </a:rPr>
                            <m:t>𝒏</m:t>
                          </m:r>
                        </m:sub>
                        <m:sup>
                          <m:d>
                            <m:dPr>
                              <m:ctrlPr>
                                <a:rPr lang="ko-KR" altLang="ko-KR" sz="3200" b="1" i="1">
                                  <a:latin typeface="Cambria Math" panose="02040503050406030204" pitchFamily="18" charset="0"/>
                                </a:rPr>
                              </m:ctrlPr>
                            </m:dPr>
                            <m:e>
                              <m:r>
                                <a:rPr lang="en-US" altLang="ko-KR" sz="3200" b="1" i="1">
                                  <a:latin typeface="Cambria Math" panose="02040503050406030204" pitchFamily="18" charset="0"/>
                                </a:rPr>
                                <m:t>𝒓</m:t>
                              </m:r>
                            </m:e>
                          </m:d>
                        </m:sup>
                      </m:sSubSup>
                      <m:r>
                        <a:rPr lang="en-US" altLang="ko-KR" sz="3200" b="1" i="1">
                          <a:latin typeface="Cambria Math" panose="02040503050406030204" pitchFamily="18" charset="0"/>
                        </a:rPr>
                        <m:t>)</m:t>
                      </m:r>
                    </m:oMath>
                  </a14:m>
                  <a:endParaRPr sz="3200" b="1" dirty="0">
                    <a:solidFill>
                      <a:schemeClr val="dk1"/>
                    </a:solidFill>
                    <a:latin typeface="Calibri"/>
                    <a:ea typeface="Calibri"/>
                    <a:cs typeface="Calibri"/>
                    <a:sym typeface="Calibri"/>
                  </a:endParaRPr>
                </a:p>
              </p:txBody>
            </p:sp>
          </mc:Choice>
          <mc:Fallback xmlns="">
            <p:sp>
              <p:nvSpPr>
                <p:cNvPr id="90" name="Google Shape;90;p1"/>
                <p:cNvSpPr>
                  <a:spLocks noRot="1" noChangeAspect="1" noMove="1" noResize="1" noEditPoints="1" noAdjustHandles="1" noChangeArrowheads="1" noChangeShapeType="1" noTextEdit="1"/>
                </p:cNvSpPr>
                <p:nvPr/>
              </p:nvSpPr>
              <p:spPr>
                <a:xfrm>
                  <a:off x="421655" y="19475704"/>
                  <a:ext cx="16560000" cy="11984814"/>
                </a:xfrm>
                <a:prstGeom prst="rect">
                  <a:avLst/>
                </a:prstGeom>
                <a:blipFill>
                  <a:blip r:embed="rId4"/>
                  <a:stretch>
                    <a:fillRect l="-1160" r="-1117"/>
                  </a:stretch>
                </a:blipFill>
                <a:ln w="19050" cap="flat" cmpd="sng">
                  <a:solidFill>
                    <a:srgbClr val="0F0F70"/>
                  </a:solidFill>
                  <a:prstDash val="solid"/>
                  <a:miter lim="800000"/>
                  <a:headEnd type="none" w="sm" len="sm"/>
                  <a:tailEnd type="none" w="sm" len="sm"/>
                </a:ln>
              </p:spPr>
              <p:txBody>
                <a:bodyPr/>
                <a:lstStyle/>
                <a:p>
                  <a:r>
                    <a:rPr lang="ko-KR" altLang="en-US">
                      <a:noFill/>
                    </a:rPr>
                    <a:t> </a:t>
                  </a:r>
                </a:p>
              </p:txBody>
            </p:sp>
          </mc:Fallback>
        </mc:AlternateContent>
        <p:sp>
          <p:nvSpPr>
            <p:cNvPr id="91" name="Google Shape;91;p1"/>
            <p:cNvSpPr/>
            <p:nvPr/>
          </p:nvSpPr>
          <p:spPr>
            <a:xfrm>
              <a:off x="414164" y="18461634"/>
              <a:ext cx="16560000" cy="1014071"/>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chemeClr val="lt1"/>
                  </a:solidFill>
                </a:rPr>
                <a:t>METHODS</a:t>
              </a:r>
              <a:endParaRPr sz="4441" b="1" dirty="0">
                <a:solidFill>
                  <a:schemeClr val="lt1"/>
                </a:solidFill>
              </a:endParaRPr>
            </a:p>
          </p:txBody>
        </p:sp>
      </p:grpSp>
      <p:grpSp>
        <p:nvGrpSpPr>
          <p:cNvPr id="92" name="Google Shape;92;p1"/>
          <p:cNvGrpSpPr/>
          <p:nvPr/>
        </p:nvGrpSpPr>
        <p:grpSpPr>
          <a:xfrm>
            <a:off x="16569401" y="30210516"/>
            <a:ext cx="14170178" cy="8151385"/>
            <a:chOff x="33775710" y="14968956"/>
            <a:chExt cx="16308000" cy="12890889"/>
          </a:xfrm>
        </p:grpSpPr>
        <p:sp>
          <p:nvSpPr>
            <p:cNvPr id="93" name="Google Shape;93;p1"/>
            <p:cNvSpPr/>
            <p:nvPr/>
          </p:nvSpPr>
          <p:spPr>
            <a:xfrm>
              <a:off x="33775710" y="16703493"/>
              <a:ext cx="16308000" cy="11156352"/>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56250"/>
                </a:lnSpc>
              </a:pPr>
              <a:endParaRPr sz="3230">
                <a:latin typeface="Calibri"/>
                <a:ea typeface="Calibri"/>
                <a:cs typeface="Calibri"/>
                <a:sym typeface="Calibri"/>
              </a:endParaRPr>
            </a:p>
          </p:txBody>
        </p:sp>
        <p:sp>
          <p:nvSpPr>
            <p:cNvPr id="94" name="Google Shape;94;p1"/>
            <p:cNvSpPr/>
            <p:nvPr/>
          </p:nvSpPr>
          <p:spPr>
            <a:xfrm>
              <a:off x="33775710" y="14968956"/>
              <a:ext cx="16308000" cy="1734932"/>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a:solidFill>
                    <a:srgbClr val="FFFFFF"/>
                  </a:solidFill>
                </a:rPr>
                <a:t>CONCLUSIONS</a:t>
              </a:r>
              <a:endParaRPr sz="5450" b="1">
                <a:solidFill>
                  <a:srgbClr val="FFFFFF"/>
                </a:solidFill>
              </a:endParaRPr>
            </a:p>
          </p:txBody>
        </p:sp>
      </p:grpSp>
      <p:grpSp>
        <p:nvGrpSpPr>
          <p:cNvPr id="95" name="Google Shape;95;p1"/>
          <p:cNvGrpSpPr/>
          <p:nvPr/>
        </p:nvGrpSpPr>
        <p:grpSpPr>
          <a:xfrm>
            <a:off x="16545104" y="6281418"/>
            <a:ext cx="14170177" cy="23929095"/>
            <a:chOff x="15610114" y="15717428"/>
            <a:chExt cx="14366633" cy="4748255"/>
          </a:xfrm>
        </p:grpSpPr>
        <p:sp>
          <p:nvSpPr>
            <p:cNvPr id="96" name="Google Shape;96;p1"/>
            <p:cNvSpPr/>
            <p:nvPr/>
          </p:nvSpPr>
          <p:spPr>
            <a:xfrm>
              <a:off x="15610115" y="15786654"/>
              <a:ext cx="14366632" cy="4679029"/>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r>
                <a:rPr lang="en-US" sz="3400" dirty="0">
                  <a:solidFill>
                    <a:schemeClr val="dk1"/>
                  </a:solidFill>
                  <a:latin typeface="+mn-lt"/>
                  <a:ea typeface="Calibri"/>
                  <a:cs typeface="Calibri"/>
                  <a:sym typeface="Calibri"/>
                </a:rPr>
                <a:t>1. Attention</a:t>
              </a:r>
              <a:r>
                <a:rPr lang="ko-KR" altLang="en-US" sz="3400" dirty="0">
                  <a:solidFill>
                    <a:schemeClr val="dk1"/>
                  </a:solidFill>
                  <a:latin typeface="+mn-lt"/>
                  <a:ea typeface="Calibri"/>
                  <a:cs typeface="Calibri"/>
                  <a:sym typeface="Calibri"/>
                </a:rPr>
                <a:t> </a:t>
              </a:r>
              <a:r>
                <a:rPr lang="en-US" altLang="ko-KR" sz="3400" dirty="0">
                  <a:solidFill>
                    <a:schemeClr val="dk1"/>
                  </a:solidFill>
                  <a:latin typeface="+mn-lt"/>
                  <a:ea typeface="Calibri"/>
                  <a:cs typeface="Calibri"/>
                  <a:sym typeface="Calibri"/>
                </a:rPr>
                <a:t>rollout</a:t>
              </a:r>
              <a:r>
                <a:rPr lang="ko-KR" altLang="en-US" sz="3400" dirty="0">
                  <a:solidFill>
                    <a:schemeClr val="dk1"/>
                  </a:solidFill>
                  <a:latin typeface="+mn-lt"/>
                  <a:ea typeface="Calibri"/>
                  <a:cs typeface="Calibri"/>
                  <a:sym typeface="Calibri"/>
                </a:rPr>
                <a:t> </a:t>
              </a:r>
              <a:r>
                <a:rPr lang="en-US" altLang="ko-KR" sz="3400" dirty="0">
                  <a:solidFill>
                    <a:schemeClr val="dk1"/>
                  </a:solidFill>
                  <a:latin typeface="+mn-lt"/>
                  <a:ea typeface="Calibri"/>
                  <a:cs typeface="Calibri"/>
                  <a:sym typeface="Calibri"/>
                </a:rPr>
                <a:t>patterns</a:t>
              </a:r>
              <a:r>
                <a:rPr lang="ko-KR" altLang="en-US" sz="3400" dirty="0">
                  <a:solidFill>
                    <a:schemeClr val="dk1"/>
                  </a:solidFill>
                  <a:latin typeface="+mn-lt"/>
                  <a:ea typeface="Calibri"/>
                  <a:cs typeface="Calibri"/>
                  <a:sym typeface="Calibri"/>
                </a:rPr>
                <a:t> </a:t>
              </a:r>
              <a:r>
                <a:rPr lang="en-US" altLang="ko-KR" sz="3400" dirty="0">
                  <a:solidFill>
                    <a:schemeClr val="dk1"/>
                  </a:solidFill>
                  <a:latin typeface="+mn-lt"/>
                  <a:ea typeface="Calibri"/>
                  <a:cs typeface="Calibri"/>
                  <a:sym typeface="Calibri"/>
                </a:rPr>
                <a:t>across and within sessions </a:t>
              </a:r>
              <a:r>
                <a:rPr lang="en-US" sz="3400" dirty="0">
                  <a:solidFill>
                    <a:schemeClr val="dk1"/>
                  </a:solidFill>
                  <a:latin typeface="+mn-lt"/>
                  <a:ea typeface="Calibri"/>
                  <a:cs typeface="Calibri"/>
                  <a:sym typeface="Calibri"/>
                </a:rPr>
                <a:t> </a:t>
              </a:r>
            </a:p>
            <a:p>
              <a:pPr algn="just">
                <a:lnSpc>
                  <a:spcPct val="150000"/>
                </a:lnSpc>
              </a:pPr>
              <a:r>
                <a:rPr lang="en-US" sz="3400" dirty="0">
                  <a:solidFill>
                    <a:schemeClr val="dk1"/>
                  </a:solidFill>
                  <a:latin typeface="+mn-lt"/>
                  <a:ea typeface="Calibri"/>
                  <a:cs typeface="Calibri"/>
                  <a:sym typeface="Calibri"/>
                </a:rPr>
                <a:t>Reproducible salient attention patterns by extracting the top 10% highest-attention channel–time patches is indicated in the below. Volume engages several regions including the medial frontal gyrus, superior frontal gyrus and the amygdala. </a:t>
              </a:r>
              <a:r>
                <a:rPr lang="en-US" altLang="ko-KR" sz="3400" dirty="0">
                  <a:solidFill>
                    <a:schemeClr val="dk1"/>
                  </a:solidFill>
                  <a:ea typeface="Calibri"/>
                  <a:cs typeface="Calibri"/>
                  <a:sym typeface="Calibri"/>
                </a:rPr>
                <a:t>The speech task’s attention map reveals, the initial time tokens in the superior frontal gyrus (SFG) are attended the most. In the word-head-position task, the time range of salient patches is longer than the other tasks.</a:t>
              </a: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r>
                <a:rPr lang="en-US" sz="3400" dirty="0">
                  <a:solidFill>
                    <a:schemeClr val="dk1"/>
                  </a:solidFill>
                  <a:latin typeface="+mn-lt"/>
                  <a:ea typeface="Calibri"/>
                  <a:cs typeface="Calibri"/>
                  <a:sym typeface="Calibri"/>
                </a:rPr>
                <a:t>2. Hub connectivity across time axis and transformer layers </a:t>
              </a:r>
            </a:p>
            <a:p>
              <a:pPr algn="just">
                <a:lnSpc>
                  <a:spcPct val="150000"/>
                </a:lnSpc>
              </a:pPr>
              <a:r>
                <a:rPr lang="en-US" sz="3400" dirty="0">
                  <a:solidFill>
                    <a:schemeClr val="dk1"/>
                  </a:solidFill>
                  <a:latin typeface="+mn-lt"/>
                  <a:ea typeface="Calibri"/>
                  <a:cs typeface="Calibri"/>
                  <a:sym typeface="Calibri"/>
                </a:rPr>
                <a:t>The connectivity between hubs in the speech task, the hippocampus and the rectus gyrus  diverges at initial layers, however converges at the final </a:t>
              </a:r>
            </a:p>
            <a:p>
              <a:pPr algn="just">
                <a:lnSpc>
                  <a:spcPct val="150000"/>
                </a:lnSpc>
              </a:pPr>
              <a:r>
                <a:rPr lang="en-US" sz="3400" dirty="0">
                  <a:solidFill>
                    <a:schemeClr val="dk1"/>
                  </a:solidFill>
                  <a:latin typeface="+mn-lt"/>
                  <a:ea typeface="Calibri"/>
                  <a:cs typeface="Calibri"/>
                  <a:sym typeface="Calibri"/>
                </a:rPr>
                <a:t>layers, corresponding with the rank collapse.</a:t>
              </a:r>
            </a:p>
            <a:p>
              <a:pPr algn="just">
                <a:lnSpc>
                  <a:spcPct val="150000"/>
                </a:lnSpc>
              </a:pPr>
              <a:r>
                <a:rPr lang="en-US" sz="3400" dirty="0">
                  <a:solidFill>
                    <a:schemeClr val="dk1"/>
                  </a:solidFill>
                  <a:latin typeface="+mn-lt"/>
                  <a:ea typeface="Calibri"/>
                  <a:cs typeface="Calibri"/>
                  <a:sym typeface="Calibri"/>
                </a:rPr>
                <a:t>3. Perturbation analysis in frequency and time domain</a:t>
              </a:r>
            </a:p>
            <a:p>
              <a:pPr algn="just">
                <a:lnSpc>
                  <a:spcPct val="150000"/>
                </a:lnSpc>
              </a:pPr>
              <a:r>
                <a:rPr lang="en-US" sz="3400" dirty="0">
                  <a:solidFill>
                    <a:schemeClr val="dk1"/>
                  </a:solidFill>
                  <a:latin typeface="+mn-lt"/>
                  <a:ea typeface="Calibri"/>
                  <a:cs typeface="Calibri"/>
                  <a:sym typeface="Calibri"/>
                </a:rPr>
                <a:t>Perturbation in the frequency domain using Gaussian Kernel with a standard deviation of 3 and 10 did not induce significant changes in model performance. Time domain blank out resulted into similar importance scores within trials, however significantly different scores between trials.</a:t>
              </a:r>
            </a:p>
            <a:p>
              <a:pPr algn="just">
                <a:lnSpc>
                  <a:spcPct val="150000"/>
                </a:lnSpc>
              </a:pPr>
              <a:endParaRPr lang="en-US" sz="3400" dirty="0">
                <a:solidFill>
                  <a:schemeClr val="dk1"/>
                </a:solidFill>
                <a:latin typeface="+mn-lt"/>
                <a:ea typeface="Calibri"/>
                <a:cs typeface="Calibri"/>
                <a:sym typeface="Calibri"/>
              </a:endParaRPr>
            </a:p>
            <a:p>
              <a:pPr algn="just">
                <a:lnSpc>
                  <a:spcPct val="150000"/>
                </a:lnSpc>
              </a:pPr>
              <a:r>
                <a:rPr lang="en-US" sz="3400" dirty="0">
                  <a:solidFill>
                    <a:schemeClr val="dk1"/>
                  </a:solidFill>
                  <a:latin typeface="+mn-lt"/>
                  <a:ea typeface="Calibri"/>
                  <a:cs typeface="Calibri"/>
                  <a:sym typeface="Calibri"/>
                </a:rPr>
                <a:t>..</a:t>
              </a: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lang="en-US" sz="3230" dirty="0">
                <a:solidFill>
                  <a:schemeClr val="dk1"/>
                </a:solidFill>
                <a:latin typeface="Calibri"/>
                <a:ea typeface="Calibri"/>
                <a:cs typeface="Calibri"/>
                <a:sym typeface="Calibri"/>
              </a:endParaRPr>
            </a:p>
            <a:p>
              <a:endParaRPr sz="3230" dirty="0">
                <a:solidFill>
                  <a:schemeClr val="dk1"/>
                </a:solidFill>
                <a:latin typeface="Calibri"/>
                <a:ea typeface="Calibri"/>
                <a:cs typeface="Calibri"/>
                <a:sym typeface="Calibri"/>
              </a:endParaRPr>
            </a:p>
          </p:txBody>
        </p:sp>
        <p:sp>
          <p:nvSpPr>
            <p:cNvPr id="97" name="Google Shape;97;p1"/>
            <p:cNvSpPr/>
            <p:nvPr/>
          </p:nvSpPr>
          <p:spPr>
            <a:xfrm>
              <a:off x="15610114" y="15717428"/>
              <a:ext cx="14366633" cy="237617"/>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RESULTS</a:t>
              </a:r>
              <a:endParaRPr sz="4441" b="1" dirty="0">
                <a:solidFill>
                  <a:schemeClr val="lt1"/>
                </a:solidFill>
                <a:latin typeface="Calibri"/>
                <a:ea typeface="Calibri"/>
                <a:cs typeface="Calibri"/>
                <a:sym typeface="Calibri"/>
              </a:endParaRPr>
            </a:p>
          </p:txBody>
        </p:sp>
      </p:grpSp>
      <p:grpSp>
        <p:nvGrpSpPr>
          <p:cNvPr id="98" name="Google Shape;98;p1"/>
          <p:cNvGrpSpPr/>
          <p:nvPr/>
        </p:nvGrpSpPr>
        <p:grpSpPr>
          <a:xfrm>
            <a:off x="1633577" y="18510445"/>
            <a:ext cx="14170177" cy="8731056"/>
            <a:chOff x="414164" y="19253061"/>
            <a:chExt cx="16560000" cy="6437917"/>
          </a:xfrm>
        </p:grpSpPr>
        <p:sp>
          <p:nvSpPr>
            <p:cNvPr id="99" name="Google Shape;99;p1"/>
            <p:cNvSpPr/>
            <p:nvPr/>
          </p:nvSpPr>
          <p:spPr>
            <a:xfrm>
              <a:off x="414164" y="19662553"/>
              <a:ext cx="16560000" cy="6028425"/>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t" anchorCtr="0">
              <a:noAutofit/>
            </a:bodyPr>
            <a:lstStyle/>
            <a:p>
              <a:pPr algn="just">
                <a:lnSpc>
                  <a:spcPct val="171875"/>
                </a:lnSpc>
              </a:pPr>
              <a:endParaRPr sz="3230" dirty="0">
                <a:solidFill>
                  <a:schemeClr val="dk1"/>
                </a:solidFill>
                <a:latin typeface="Calibri"/>
                <a:ea typeface="Calibri"/>
                <a:cs typeface="Calibri"/>
                <a:sym typeface="Calibri"/>
              </a:endParaRPr>
            </a:p>
            <a:p>
              <a:pPr algn="just">
                <a:lnSpc>
                  <a:spcPct val="171875"/>
                </a:lnSpc>
              </a:pPr>
              <a:r>
                <a:rPr lang="en-US" sz="3400" dirty="0">
                  <a:solidFill>
                    <a:schemeClr val="dk1"/>
                  </a:solidFill>
                  <a:latin typeface="+mn-lt"/>
                  <a:ea typeface="Calibri"/>
                  <a:cs typeface="Calibri"/>
                  <a:sym typeface="Calibri"/>
                </a:rPr>
                <a:t> Interpretability in electrophysiology foundation models should move beyond predictive accuracy and aim to reveal whether model attributions align with established neurophysiological principles, such as task-relevant frequency bands, anatomically plausible electrode groups, and temporally localized neural dynamics. Therefore, this study aims to identify how the electrophysiology foundation model can be interpretable when decoding auditory to linguistic features, through attribution methods including attention weights saliency and input perturbations. </a:t>
              </a:r>
              <a:endParaRPr sz="3400" dirty="0">
                <a:solidFill>
                  <a:schemeClr val="dk1"/>
                </a:solidFill>
                <a:latin typeface="+mn-lt"/>
                <a:ea typeface="Calibri"/>
                <a:cs typeface="Calibri"/>
                <a:sym typeface="Calibri"/>
              </a:endParaRPr>
            </a:p>
          </p:txBody>
        </p:sp>
        <p:sp>
          <p:nvSpPr>
            <p:cNvPr id="100" name="Google Shape;100;p1"/>
            <p:cNvSpPr/>
            <p:nvPr/>
          </p:nvSpPr>
          <p:spPr>
            <a:xfrm>
              <a:off x="414164" y="19253061"/>
              <a:ext cx="16560000" cy="981560"/>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chemeClr val="lt1"/>
                  </a:solidFill>
                </a:rPr>
                <a:t>OBJECTIVES</a:t>
              </a:r>
              <a:endParaRPr sz="5450" b="1" dirty="0">
                <a:solidFill>
                  <a:schemeClr val="lt1"/>
                </a:solidFill>
              </a:endParaRPr>
            </a:p>
          </p:txBody>
        </p:sp>
      </p:grpSp>
      <p:grpSp>
        <p:nvGrpSpPr>
          <p:cNvPr id="101" name="Google Shape;101;p1"/>
          <p:cNvGrpSpPr/>
          <p:nvPr/>
        </p:nvGrpSpPr>
        <p:grpSpPr>
          <a:xfrm>
            <a:off x="16563245" y="38797848"/>
            <a:ext cx="14182490" cy="2959258"/>
            <a:chOff x="15261857" y="36737954"/>
            <a:chExt cx="14424713" cy="3425963"/>
          </a:xfrm>
        </p:grpSpPr>
        <p:sp>
          <p:nvSpPr>
            <p:cNvPr id="102" name="Google Shape;102;p1"/>
            <p:cNvSpPr/>
            <p:nvPr/>
          </p:nvSpPr>
          <p:spPr>
            <a:xfrm>
              <a:off x="15286569" y="37840040"/>
              <a:ext cx="14400000" cy="2323877"/>
            </a:xfrm>
            <a:prstGeom prst="rect">
              <a:avLst/>
            </a:prstGeom>
            <a:solidFill>
              <a:schemeClr val="lt1"/>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endParaRPr sz="1817" dirty="0">
                <a:solidFill>
                  <a:schemeClr val="lt1"/>
                </a:solidFill>
                <a:latin typeface="Calibri"/>
                <a:ea typeface="Calibri"/>
                <a:cs typeface="Calibri"/>
                <a:sym typeface="Calibri"/>
              </a:endParaRPr>
            </a:p>
          </p:txBody>
        </p:sp>
        <p:sp>
          <p:nvSpPr>
            <p:cNvPr id="103" name="Google Shape;103;p1"/>
            <p:cNvSpPr/>
            <p:nvPr/>
          </p:nvSpPr>
          <p:spPr>
            <a:xfrm>
              <a:off x="15261857" y="36737954"/>
              <a:ext cx="14424713" cy="1102087"/>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REFERENCES</a:t>
              </a:r>
              <a:endParaRPr sz="4441" b="1" dirty="0">
                <a:solidFill>
                  <a:srgbClr val="FFFFFF"/>
                </a:solidFill>
              </a:endParaRPr>
            </a:p>
          </p:txBody>
        </p:sp>
      </p:grpSp>
      <p:pic>
        <p:nvPicPr>
          <p:cNvPr id="104" name="Google Shape;104;p1"/>
          <p:cNvPicPr preferRelativeResize="0"/>
          <p:nvPr/>
        </p:nvPicPr>
        <p:blipFill rotWithShape="1">
          <a:blip r:embed="rId5">
            <a:alphaModFix/>
          </a:blip>
          <a:srcRect t="85800"/>
          <a:stretch/>
        </p:blipFill>
        <p:spPr>
          <a:xfrm>
            <a:off x="24434800" y="42067545"/>
            <a:ext cx="7037733" cy="825426"/>
          </a:xfrm>
          <a:prstGeom prst="rect">
            <a:avLst/>
          </a:prstGeom>
          <a:noFill/>
          <a:ln>
            <a:noFill/>
          </a:ln>
        </p:spPr>
      </p:pic>
      <p:pic>
        <p:nvPicPr>
          <p:cNvPr id="2" name="그림 1">
            <a:extLst>
              <a:ext uri="{FF2B5EF4-FFF2-40B4-BE49-F238E27FC236}">
                <a16:creationId xmlns:a16="http://schemas.microsoft.com/office/drawing/2014/main" id="{479CC4DF-E758-A221-4CC3-890627BC2FD9}"/>
              </a:ext>
            </a:extLst>
          </p:cNvPr>
          <p:cNvPicPr>
            <a:picLocks noChangeAspect="1"/>
          </p:cNvPicPr>
          <p:nvPr/>
        </p:nvPicPr>
        <p:blipFill>
          <a:blip r:embed="rId6"/>
          <a:stretch>
            <a:fillRect/>
          </a:stretch>
        </p:blipFill>
        <p:spPr>
          <a:xfrm>
            <a:off x="1785720" y="37620636"/>
            <a:ext cx="7191156" cy="4108761"/>
          </a:xfrm>
          <a:prstGeom prst="rect">
            <a:avLst/>
          </a:prstGeom>
        </p:spPr>
      </p:pic>
      <p:grpSp>
        <p:nvGrpSpPr>
          <p:cNvPr id="7" name="그룹 6">
            <a:extLst>
              <a:ext uri="{FF2B5EF4-FFF2-40B4-BE49-F238E27FC236}">
                <a16:creationId xmlns:a16="http://schemas.microsoft.com/office/drawing/2014/main" id="{3ACC9B4B-CF02-0E38-6505-FED217C342DA}"/>
              </a:ext>
            </a:extLst>
          </p:cNvPr>
          <p:cNvGrpSpPr/>
          <p:nvPr/>
        </p:nvGrpSpPr>
        <p:grpSpPr>
          <a:xfrm>
            <a:off x="17169181" y="14040027"/>
            <a:ext cx="12827030" cy="2537993"/>
            <a:chOff x="17169181" y="12814288"/>
            <a:chExt cx="12827030" cy="2537993"/>
          </a:xfrm>
        </p:grpSpPr>
        <p:pic>
          <p:nvPicPr>
            <p:cNvPr id="3" name="그림 2">
              <a:extLst>
                <a:ext uri="{FF2B5EF4-FFF2-40B4-BE49-F238E27FC236}">
                  <a16:creationId xmlns:a16="http://schemas.microsoft.com/office/drawing/2014/main" id="{399CC7B9-0EDE-5ED0-A6B3-9D6E48C538AF}"/>
                </a:ext>
              </a:extLst>
            </p:cNvPr>
            <p:cNvPicPr>
              <a:picLocks noChangeAspect="1"/>
            </p:cNvPicPr>
            <p:nvPr/>
          </p:nvPicPr>
          <p:blipFill>
            <a:blip r:embed="rId7"/>
            <a:stretch>
              <a:fillRect/>
            </a:stretch>
          </p:blipFill>
          <p:spPr>
            <a:xfrm>
              <a:off x="17169181" y="12814420"/>
              <a:ext cx="3988136" cy="2537728"/>
            </a:xfrm>
            <a:prstGeom prst="rect">
              <a:avLst/>
            </a:prstGeom>
          </p:spPr>
        </p:pic>
        <p:pic>
          <p:nvPicPr>
            <p:cNvPr id="4" name="그림 3">
              <a:extLst>
                <a:ext uri="{FF2B5EF4-FFF2-40B4-BE49-F238E27FC236}">
                  <a16:creationId xmlns:a16="http://schemas.microsoft.com/office/drawing/2014/main" id="{9D6CC57A-EE4F-174D-45F1-2B3477302E81}"/>
                </a:ext>
              </a:extLst>
            </p:cNvPr>
            <p:cNvPicPr>
              <a:picLocks noChangeAspect="1"/>
            </p:cNvPicPr>
            <p:nvPr/>
          </p:nvPicPr>
          <p:blipFill>
            <a:blip r:embed="rId8"/>
            <a:stretch>
              <a:fillRect/>
            </a:stretch>
          </p:blipFill>
          <p:spPr>
            <a:xfrm>
              <a:off x="21588628" y="12814288"/>
              <a:ext cx="3988136" cy="2537993"/>
            </a:xfrm>
            <a:prstGeom prst="rect">
              <a:avLst/>
            </a:prstGeom>
          </p:spPr>
        </p:pic>
        <p:pic>
          <p:nvPicPr>
            <p:cNvPr id="5" name="그림 4">
              <a:extLst>
                <a:ext uri="{FF2B5EF4-FFF2-40B4-BE49-F238E27FC236}">
                  <a16:creationId xmlns:a16="http://schemas.microsoft.com/office/drawing/2014/main" id="{03C1927B-68E6-6731-CD0D-98D94F8A3E96}"/>
                </a:ext>
              </a:extLst>
            </p:cNvPr>
            <p:cNvPicPr>
              <a:picLocks noChangeAspect="1"/>
            </p:cNvPicPr>
            <p:nvPr/>
          </p:nvPicPr>
          <p:blipFill>
            <a:blip r:embed="rId9"/>
            <a:stretch>
              <a:fillRect/>
            </a:stretch>
          </p:blipFill>
          <p:spPr>
            <a:xfrm>
              <a:off x="26008075" y="12814288"/>
              <a:ext cx="3988136" cy="2537993"/>
            </a:xfrm>
            <a:prstGeom prst="rect">
              <a:avLst/>
            </a:prstGeom>
          </p:spPr>
        </p:pic>
      </p:grpSp>
      <p:graphicFrame>
        <p:nvGraphicFramePr>
          <p:cNvPr id="6" name="표 5">
            <a:extLst>
              <a:ext uri="{FF2B5EF4-FFF2-40B4-BE49-F238E27FC236}">
                <a16:creationId xmlns:a16="http://schemas.microsoft.com/office/drawing/2014/main" id="{24915610-9083-6456-F30C-D65EDD4376AE}"/>
              </a:ext>
            </a:extLst>
          </p:cNvPr>
          <p:cNvGraphicFramePr>
            <a:graphicFrameLocks noGrp="1"/>
          </p:cNvGraphicFramePr>
          <p:nvPr>
            <p:extLst>
              <p:ext uri="{D42A27DB-BD31-4B8C-83A1-F6EECF244321}">
                <p14:modId xmlns:p14="http://schemas.microsoft.com/office/powerpoint/2010/main" val="643306915"/>
              </p:ext>
            </p:extLst>
          </p:nvPr>
        </p:nvGraphicFramePr>
        <p:xfrm>
          <a:off x="17056997" y="16553071"/>
          <a:ext cx="12827031" cy="365760"/>
        </p:xfrm>
        <a:graphic>
          <a:graphicData uri="http://schemas.openxmlformats.org/drawingml/2006/table">
            <a:tbl>
              <a:tblPr firstRow="1" firstCol="1" bandRow="1">
                <a:tableStyleId>{2D5ABB26-0587-4C30-8999-92F81FD0307C}</a:tableStyleId>
              </a:tblPr>
              <a:tblGrid>
                <a:gridCol w="4275677">
                  <a:extLst>
                    <a:ext uri="{9D8B030D-6E8A-4147-A177-3AD203B41FA5}">
                      <a16:colId xmlns:a16="http://schemas.microsoft.com/office/drawing/2014/main" val="2209972341"/>
                    </a:ext>
                  </a:extLst>
                </a:gridCol>
                <a:gridCol w="4275677">
                  <a:extLst>
                    <a:ext uri="{9D8B030D-6E8A-4147-A177-3AD203B41FA5}">
                      <a16:colId xmlns:a16="http://schemas.microsoft.com/office/drawing/2014/main" val="3414309931"/>
                    </a:ext>
                  </a:extLst>
                </a:gridCol>
                <a:gridCol w="4275677">
                  <a:extLst>
                    <a:ext uri="{9D8B030D-6E8A-4147-A177-3AD203B41FA5}">
                      <a16:colId xmlns:a16="http://schemas.microsoft.com/office/drawing/2014/main" val="2558672543"/>
                    </a:ext>
                  </a:extLst>
                </a:gridCol>
              </a:tblGrid>
              <a:tr h="258427">
                <a:tc>
                  <a:txBody>
                    <a:bodyPr/>
                    <a:lstStyle/>
                    <a:p>
                      <a:pPr algn="ctr" latinLnBrk="0">
                        <a:spcAft>
                          <a:spcPts val="800"/>
                        </a:spcAft>
                        <a:buNone/>
                      </a:pPr>
                      <a:r>
                        <a:rPr lang="en-US" altLang="ko-KR" sz="2400" b="1" kern="100" dirty="0">
                          <a:effectLst/>
                          <a:latin typeface="+mj-lt"/>
                          <a:ea typeface="맑은 고딕" panose="020B0503020000020004" pitchFamily="50" charset="-127"/>
                          <a:cs typeface="Times New Roman" panose="02020603050405020304" pitchFamily="18" charset="0"/>
                        </a:rPr>
                        <a:t>Volume </a:t>
                      </a:r>
                      <a:r>
                        <a:rPr lang="en-US" altLang="ko-KR" sz="2400" kern="100" dirty="0">
                          <a:effectLst/>
                          <a:latin typeface="+mj-lt"/>
                          <a:ea typeface="맑은 고딕" panose="020B0503020000020004" pitchFamily="50" charset="-127"/>
                          <a:cs typeface="Times New Roman" panose="02020603050405020304" pitchFamily="18" charset="0"/>
                        </a:rPr>
                        <a:t> </a:t>
                      </a:r>
                      <a:endParaRPr lang="ko-KR" sz="2400" kern="100" dirty="0">
                        <a:effectLst/>
                        <a:latin typeface="+mj-lt"/>
                        <a:ea typeface="맑은 고딕" panose="020B0503020000020004" pitchFamily="50" charset="-127"/>
                        <a:cs typeface="Times New Roman" panose="02020603050405020304" pitchFamily="18" charset="0"/>
                      </a:endParaRPr>
                    </a:p>
                  </a:txBody>
                  <a:tcPr marL="68580" marR="68580" marT="0" marB="0"/>
                </a:tc>
                <a:tc>
                  <a:txBody>
                    <a:bodyPr/>
                    <a:lstStyle/>
                    <a:p>
                      <a:pPr algn="ctr" latinLnBrk="0">
                        <a:spcAft>
                          <a:spcPts val="800"/>
                        </a:spcAft>
                        <a:buNone/>
                      </a:pPr>
                      <a:r>
                        <a:rPr lang="en-US" sz="1800" b="1" kern="100" dirty="0">
                          <a:effectLst/>
                        </a:rPr>
                        <a:t> Speech</a:t>
                      </a:r>
                      <a:endParaRPr lang="ko-KR" sz="18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0">
                        <a:spcAft>
                          <a:spcPts val="800"/>
                        </a:spcAft>
                        <a:buNone/>
                      </a:pPr>
                      <a:r>
                        <a:rPr lang="en-US" altLang="ko-KR" sz="1800" b="1" kern="100" dirty="0">
                          <a:effectLst/>
                          <a:latin typeface="맑은 고딕" panose="020B0503020000020004" pitchFamily="50" charset="-127"/>
                          <a:ea typeface="맑은 고딕" panose="020B0503020000020004" pitchFamily="50" charset="-127"/>
                          <a:cs typeface="Times New Roman" panose="02020603050405020304" pitchFamily="18" charset="0"/>
                        </a:rPr>
                        <a:t>       Word Head Position </a:t>
                      </a:r>
                      <a:endParaRPr lang="ko-KR" sz="18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607875476"/>
                  </a:ext>
                </a:extLst>
              </a:tr>
            </a:tbl>
          </a:graphicData>
        </a:graphic>
      </p:graphicFrame>
      <p:pic>
        <p:nvPicPr>
          <p:cNvPr id="19" name="그림 18">
            <a:extLst>
              <a:ext uri="{FF2B5EF4-FFF2-40B4-BE49-F238E27FC236}">
                <a16:creationId xmlns:a16="http://schemas.microsoft.com/office/drawing/2014/main" id="{FB4A46FF-4FA3-29BA-4C0C-C94A5C64776C}"/>
              </a:ext>
            </a:extLst>
          </p:cNvPr>
          <p:cNvPicPr>
            <a:picLocks noChangeAspect="1"/>
          </p:cNvPicPr>
          <p:nvPr/>
        </p:nvPicPr>
        <p:blipFill>
          <a:blip r:embed="rId10"/>
          <a:stretch>
            <a:fillRect/>
          </a:stretch>
        </p:blipFill>
        <p:spPr>
          <a:xfrm>
            <a:off x="16751397" y="24910499"/>
            <a:ext cx="8870774" cy="4675265"/>
          </a:xfrm>
          <a:prstGeom prst="rect">
            <a:avLst/>
          </a:prstGeom>
        </p:spPr>
      </p:pic>
      <p:graphicFrame>
        <p:nvGraphicFramePr>
          <p:cNvPr id="20" name="표 19">
            <a:extLst>
              <a:ext uri="{FF2B5EF4-FFF2-40B4-BE49-F238E27FC236}">
                <a16:creationId xmlns:a16="http://schemas.microsoft.com/office/drawing/2014/main" id="{60AE5C1D-ABEF-5C2A-A60F-96A13B7E999B}"/>
              </a:ext>
            </a:extLst>
          </p:cNvPr>
          <p:cNvGraphicFramePr>
            <a:graphicFrameLocks noGrp="1"/>
          </p:cNvGraphicFramePr>
          <p:nvPr>
            <p:extLst>
              <p:ext uri="{D42A27DB-BD31-4B8C-83A1-F6EECF244321}">
                <p14:modId xmlns:p14="http://schemas.microsoft.com/office/powerpoint/2010/main" val="871419220"/>
              </p:ext>
            </p:extLst>
          </p:nvPr>
        </p:nvGraphicFramePr>
        <p:xfrm>
          <a:off x="25622171" y="25397377"/>
          <a:ext cx="4846547" cy="3654267"/>
        </p:xfrm>
        <a:graphic>
          <a:graphicData uri="http://schemas.openxmlformats.org/drawingml/2006/table">
            <a:tbl>
              <a:tblPr firstRow="1" bandRow="1">
                <a:tableStyleId>{F5AB1C69-6EDB-4FF4-983F-18BD219EF322}</a:tableStyleId>
              </a:tblPr>
              <a:tblGrid>
                <a:gridCol w="1153907">
                  <a:extLst>
                    <a:ext uri="{9D8B030D-6E8A-4147-A177-3AD203B41FA5}">
                      <a16:colId xmlns:a16="http://schemas.microsoft.com/office/drawing/2014/main" val="1498683712"/>
                    </a:ext>
                  </a:extLst>
                </a:gridCol>
                <a:gridCol w="1846320">
                  <a:extLst>
                    <a:ext uri="{9D8B030D-6E8A-4147-A177-3AD203B41FA5}">
                      <a16:colId xmlns:a16="http://schemas.microsoft.com/office/drawing/2014/main" val="3397245345"/>
                    </a:ext>
                  </a:extLst>
                </a:gridCol>
                <a:gridCol w="1846320">
                  <a:extLst>
                    <a:ext uri="{9D8B030D-6E8A-4147-A177-3AD203B41FA5}">
                      <a16:colId xmlns:a16="http://schemas.microsoft.com/office/drawing/2014/main" val="2668939037"/>
                    </a:ext>
                  </a:extLst>
                </a:gridCol>
              </a:tblGrid>
              <a:tr h="1431423">
                <a:tc>
                  <a:txBody>
                    <a:bodyPr/>
                    <a:lstStyle/>
                    <a:p>
                      <a:pPr algn="ctr" latinLnBrk="1"/>
                      <a:r>
                        <a:rPr lang="en-US" altLang="ko-KR" sz="1800" dirty="0">
                          <a:solidFill>
                            <a:schemeClr val="bg1"/>
                          </a:solidFill>
                        </a:rPr>
                        <a:t> </a:t>
                      </a:r>
                    </a:p>
                  </a:txBody>
                  <a:tcPr anchor="ctr">
                    <a:solidFill>
                      <a:srgbClr val="0F0F70"/>
                    </a:solidFill>
                  </a:tcPr>
                </a:tc>
                <a:tc>
                  <a:txBody>
                    <a:bodyPr/>
                    <a:lstStyle/>
                    <a:p>
                      <a:pPr algn="ctr" latinLnBrk="1"/>
                      <a:r>
                        <a:rPr lang="en-US" altLang="ko-KR" sz="1800" dirty="0">
                          <a:solidFill>
                            <a:schemeClr val="bg1"/>
                          </a:solidFill>
                        </a:rPr>
                        <a:t>Speech </a:t>
                      </a:r>
                      <a:endParaRPr lang="ko-KR" altLang="en-US" sz="1800" dirty="0">
                        <a:solidFill>
                          <a:schemeClr val="bg1"/>
                        </a:solidFill>
                      </a:endParaRPr>
                    </a:p>
                  </a:txBody>
                  <a:tcPr anchor="ctr">
                    <a:solidFill>
                      <a:srgbClr val="0F0F70"/>
                    </a:solidFill>
                  </a:tcPr>
                </a:tc>
                <a:tc>
                  <a:txBody>
                    <a:bodyPr/>
                    <a:lstStyle/>
                    <a:p>
                      <a:pPr algn="ctr" latinLnBrk="1"/>
                      <a:r>
                        <a:rPr lang="en-US" altLang="ko-KR" sz="1800" dirty="0">
                          <a:solidFill>
                            <a:schemeClr val="bg1"/>
                          </a:solidFill>
                        </a:rPr>
                        <a:t>Word Head Position </a:t>
                      </a:r>
                      <a:endParaRPr lang="ko-KR" altLang="en-US" sz="1800" dirty="0">
                        <a:solidFill>
                          <a:schemeClr val="bg1"/>
                        </a:solidFill>
                      </a:endParaRPr>
                    </a:p>
                  </a:txBody>
                  <a:tcPr anchor="ctr">
                    <a:solidFill>
                      <a:srgbClr val="0F0F70"/>
                    </a:solidFill>
                  </a:tcPr>
                </a:tc>
                <a:extLst>
                  <a:ext uri="{0D108BD9-81ED-4DB2-BD59-A6C34878D82A}">
                    <a16:rowId xmlns:a16="http://schemas.microsoft.com/office/drawing/2014/main" val="1681095959"/>
                  </a:ext>
                </a:extLst>
              </a:tr>
              <a:tr h="654222">
                <a:tc>
                  <a:txBody>
                    <a:bodyPr/>
                    <a:lstStyle/>
                    <a:p>
                      <a:pPr algn="ctr" latinLnBrk="1"/>
                      <a:r>
                        <a:rPr lang="en-US" altLang="ko-KR" sz="1800" dirty="0">
                          <a:solidFill>
                            <a:schemeClr val="tx1"/>
                          </a:solidFill>
                        </a:rPr>
                        <a:t>Within Trial</a:t>
                      </a:r>
                      <a:endParaRPr lang="ko-KR" altLang="en-US" sz="1800" dirty="0">
                        <a:solidFill>
                          <a:schemeClr val="tx1"/>
                        </a:solidFill>
                      </a:endParaRPr>
                    </a:p>
                  </a:txBody>
                  <a:tcPr anchor="ctr"/>
                </a:tc>
                <a:tc>
                  <a:txBody>
                    <a:bodyPr/>
                    <a:lstStyle/>
                    <a:p>
                      <a:pPr algn="ctr" latinLnBrk="1"/>
                      <a:r>
                        <a:rPr lang="en-US" altLang="ko-KR" sz="1800" dirty="0">
                          <a:solidFill>
                            <a:schemeClr val="tx1"/>
                          </a:solidFill>
                        </a:rPr>
                        <a:t>0.80</a:t>
                      </a:r>
                      <a:endParaRPr lang="ko-KR" altLang="en-US" sz="1800" dirty="0">
                        <a:solidFill>
                          <a:schemeClr val="tx1"/>
                        </a:solidFill>
                      </a:endParaRPr>
                    </a:p>
                  </a:txBody>
                  <a:tcPr anchor="ctr"/>
                </a:tc>
                <a:tc>
                  <a:txBody>
                    <a:bodyPr/>
                    <a:lstStyle/>
                    <a:p>
                      <a:pPr algn="ctr" latinLnBrk="1"/>
                      <a:r>
                        <a:rPr lang="en-US" altLang="ko-KR" sz="1800" dirty="0">
                          <a:solidFill>
                            <a:schemeClr val="tx1"/>
                          </a:solidFill>
                        </a:rPr>
                        <a:t>0.495</a:t>
                      </a:r>
                      <a:endParaRPr lang="ko-KR" altLang="en-US" sz="1800" dirty="0">
                        <a:solidFill>
                          <a:schemeClr val="tx1"/>
                        </a:solidFill>
                      </a:endParaRPr>
                    </a:p>
                  </a:txBody>
                  <a:tcPr anchor="ctr"/>
                </a:tc>
                <a:extLst>
                  <a:ext uri="{0D108BD9-81ED-4DB2-BD59-A6C34878D82A}">
                    <a16:rowId xmlns:a16="http://schemas.microsoft.com/office/drawing/2014/main" val="549782853"/>
                  </a:ext>
                </a:extLst>
              </a:tr>
              <a:tr h="654222">
                <a:tc>
                  <a:txBody>
                    <a:bodyPr/>
                    <a:lstStyle/>
                    <a:p>
                      <a:pPr algn="ctr" latinLnBrk="1"/>
                      <a:r>
                        <a:rPr lang="en-US" altLang="ko-KR" sz="1800" dirty="0">
                          <a:solidFill>
                            <a:schemeClr val="tx1"/>
                          </a:solidFill>
                        </a:rPr>
                        <a:t>Between Trial </a:t>
                      </a:r>
                      <a:endParaRPr lang="ko-KR" altLang="en-US" sz="1800" dirty="0">
                        <a:solidFill>
                          <a:schemeClr val="tx1"/>
                        </a:solidFill>
                      </a:endParaRPr>
                    </a:p>
                  </a:txBody>
                  <a:tcPr anchor="ctr"/>
                </a:tc>
                <a:tc>
                  <a:txBody>
                    <a:bodyPr/>
                    <a:lstStyle/>
                    <a:p>
                      <a:pPr algn="ctr" latinLnBrk="1"/>
                      <a:r>
                        <a:rPr lang="en-US" altLang="ko-KR" sz="1800" dirty="0">
                          <a:solidFill>
                            <a:schemeClr val="tx1"/>
                          </a:solidFill>
                        </a:rPr>
                        <a:t>-0.02</a:t>
                      </a:r>
                      <a:endParaRPr lang="ko-KR" altLang="en-US" sz="1800" dirty="0">
                        <a:solidFill>
                          <a:schemeClr val="tx1"/>
                        </a:solidFill>
                      </a:endParaRPr>
                    </a:p>
                  </a:txBody>
                  <a:tcPr anchor="ctr"/>
                </a:tc>
                <a:tc>
                  <a:txBody>
                    <a:bodyPr/>
                    <a:lstStyle/>
                    <a:p>
                      <a:pPr algn="ctr" latinLnBrk="1"/>
                      <a:r>
                        <a:rPr lang="en-US" altLang="ko-KR" sz="1800" dirty="0">
                          <a:solidFill>
                            <a:schemeClr val="tx1"/>
                          </a:solidFill>
                        </a:rPr>
                        <a:t>0.09</a:t>
                      </a:r>
                      <a:endParaRPr lang="ko-KR" altLang="en-US" sz="1800" dirty="0">
                        <a:solidFill>
                          <a:schemeClr val="tx1"/>
                        </a:solidFill>
                      </a:endParaRPr>
                    </a:p>
                  </a:txBody>
                  <a:tcPr anchor="ctr"/>
                </a:tc>
                <a:extLst>
                  <a:ext uri="{0D108BD9-81ED-4DB2-BD59-A6C34878D82A}">
                    <a16:rowId xmlns:a16="http://schemas.microsoft.com/office/drawing/2014/main" val="3887148314"/>
                  </a:ext>
                </a:extLst>
              </a:tr>
              <a:tr h="763019">
                <a:tc>
                  <a:txBody>
                    <a:bodyPr/>
                    <a:lstStyle/>
                    <a:p>
                      <a:pPr algn="ctr" latinLnBrk="1"/>
                      <a:r>
                        <a:rPr lang="en-US" altLang="ko-KR" sz="1800" dirty="0">
                          <a:solidFill>
                            <a:schemeClr val="tx1"/>
                          </a:solidFill>
                        </a:rPr>
                        <a:t>Overlap between trial </a:t>
                      </a:r>
                      <a:endParaRPr lang="ko-KR" altLang="en-US" sz="1800" dirty="0">
                        <a:solidFill>
                          <a:schemeClr val="tx1"/>
                        </a:solidFill>
                      </a:endParaRPr>
                    </a:p>
                  </a:txBody>
                  <a:tcPr anchor="ctr"/>
                </a:tc>
                <a:tc>
                  <a:txBody>
                    <a:bodyPr/>
                    <a:lstStyle/>
                    <a:p>
                      <a:pPr algn="ctr" latinLnBrk="1"/>
                      <a:r>
                        <a:rPr lang="en-US" altLang="ko-KR" sz="1800" dirty="0">
                          <a:solidFill>
                            <a:schemeClr val="tx1"/>
                          </a:solidFill>
                        </a:rPr>
                        <a:t>Rectus Gyrus in the 7</a:t>
                      </a:r>
                      <a:r>
                        <a:rPr lang="en-US" altLang="ko-KR" sz="1800" baseline="30000" dirty="0">
                          <a:solidFill>
                            <a:schemeClr val="tx1"/>
                          </a:solidFill>
                        </a:rPr>
                        <a:t>th</a:t>
                      </a:r>
                      <a:r>
                        <a:rPr lang="en-US" altLang="ko-KR" sz="1800" dirty="0">
                          <a:solidFill>
                            <a:schemeClr val="tx1"/>
                          </a:solidFill>
                        </a:rPr>
                        <a:t> patch</a:t>
                      </a:r>
                      <a:endParaRPr lang="ko-KR" altLang="en-US" sz="1800" dirty="0">
                        <a:solidFill>
                          <a:schemeClr val="tx1"/>
                        </a:solidFill>
                      </a:endParaRPr>
                    </a:p>
                  </a:txBody>
                  <a:tcPr anchor="ctr"/>
                </a:tc>
                <a:tc>
                  <a:txBody>
                    <a:bodyPr/>
                    <a:lstStyle/>
                    <a:p>
                      <a:pPr algn="ctr" latinLnBrk="1"/>
                      <a:r>
                        <a:rPr lang="en-US" altLang="ko-KR" sz="1800" dirty="0">
                          <a:solidFill>
                            <a:schemeClr val="tx1"/>
                          </a:solidFill>
                        </a:rPr>
                        <a:t>Frontal Inferior Sulcus </a:t>
                      </a:r>
                    </a:p>
                    <a:p>
                      <a:pPr algn="ctr" latinLnBrk="1"/>
                      <a:r>
                        <a:rPr lang="en-US" altLang="ko-KR" sz="1800" dirty="0">
                          <a:solidFill>
                            <a:schemeClr val="tx1"/>
                          </a:solidFill>
                        </a:rPr>
                        <a:t>in the 4</a:t>
                      </a:r>
                      <a:r>
                        <a:rPr lang="en-US" altLang="ko-KR" sz="1800" baseline="30000" dirty="0">
                          <a:solidFill>
                            <a:schemeClr val="tx1"/>
                          </a:solidFill>
                        </a:rPr>
                        <a:t>th</a:t>
                      </a:r>
                      <a:r>
                        <a:rPr lang="en-US" altLang="ko-KR" sz="1800" dirty="0">
                          <a:solidFill>
                            <a:schemeClr val="tx1"/>
                          </a:solidFill>
                        </a:rPr>
                        <a:t> patch </a:t>
                      </a:r>
                      <a:endParaRPr lang="ko-KR" altLang="en-US" sz="1800" dirty="0">
                        <a:solidFill>
                          <a:schemeClr val="tx1"/>
                        </a:solidFill>
                      </a:endParaRPr>
                    </a:p>
                  </a:txBody>
                  <a:tcPr anchor="ctr"/>
                </a:tc>
                <a:extLst>
                  <a:ext uri="{0D108BD9-81ED-4DB2-BD59-A6C34878D82A}">
                    <a16:rowId xmlns:a16="http://schemas.microsoft.com/office/drawing/2014/main" val="3036200872"/>
                  </a:ext>
                </a:extLst>
              </a:tr>
            </a:tbl>
          </a:graphicData>
        </a:graphic>
      </p:graphicFrame>
      <p:graphicFrame>
        <p:nvGraphicFramePr>
          <p:cNvPr id="22" name="표 21">
            <a:extLst>
              <a:ext uri="{FF2B5EF4-FFF2-40B4-BE49-F238E27FC236}">
                <a16:creationId xmlns:a16="http://schemas.microsoft.com/office/drawing/2014/main" id="{107D09C7-4466-4BBF-21A9-B4317EA61F7E}"/>
              </a:ext>
            </a:extLst>
          </p:cNvPr>
          <p:cNvGraphicFramePr>
            <a:graphicFrameLocks noGrp="1"/>
          </p:cNvGraphicFramePr>
          <p:nvPr>
            <p:extLst>
              <p:ext uri="{D42A27DB-BD31-4B8C-83A1-F6EECF244321}">
                <p14:modId xmlns:p14="http://schemas.microsoft.com/office/powerpoint/2010/main" val="4231214433"/>
              </p:ext>
            </p:extLst>
          </p:nvPr>
        </p:nvGraphicFramePr>
        <p:xfrm>
          <a:off x="16491812" y="29390904"/>
          <a:ext cx="13976907" cy="605324"/>
        </p:xfrm>
        <a:graphic>
          <a:graphicData uri="http://schemas.openxmlformats.org/drawingml/2006/table">
            <a:tbl>
              <a:tblPr firstRow="1" firstCol="1" bandRow="1">
                <a:tableStyleId>{2D5ABB26-0587-4C30-8999-92F81FD0307C}</a:tableStyleId>
              </a:tblPr>
              <a:tblGrid>
                <a:gridCol w="4658969">
                  <a:extLst>
                    <a:ext uri="{9D8B030D-6E8A-4147-A177-3AD203B41FA5}">
                      <a16:colId xmlns:a16="http://schemas.microsoft.com/office/drawing/2014/main" val="2209972341"/>
                    </a:ext>
                  </a:extLst>
                </a:gridCol>
                <a:gridCol w="4658969">
                  <a:extLst>
                    <a:ext uri="{9D8B030D-6E8A-4147-A177-3AD203B41FA5}">
                      <a16:colId xmlns:a16="http://schemas.microsoft.com/office/drawing/2014/main" val="3414309931"/>
                    </a:ext>
                  </a:extLst>
                </a:gridCol>
                <a:gridCol w="4658969">
                  <a:extLst>
                    <a:ext uri="{9D8B030D-6E8A-4147-A177-3AD203B41FA5}">
                      <a16:colId xmlns:a16="http://schemas.microsoft.com/office/drawing/2014/main" val="519730336"/>
                    </a:ext>
                  </a:extLst>
                </a:gridCol>
              </a:tblGrid>
              <a:tr h="605324">
                <a:tc>
                  <a:txBody>
                    <a:bodyPr/>
                    <a:lstStyle/>
                    <a:p>
                      <a:pPr algn="ctr" latinLnBrk="0">
                        <a:spcAft>
                          <a:spcPts val="800"/>
                        </a:spcAft>
                        <a:buNone/>
                      </a:pPr>
                      <a:r>
                        <a:rPr lang="en-US" altLang="ko-KR" sz="2400" b="1" kern="100" dirty="0">
                          <a:effectLst/>
                          <a:latin typeface="+mj-lt"/>
                          <a:ea typeface="맑은 고딕" panose="020B0503020000020004" pitchFamily="50" charset="-127"/>
                          <a:cs typeface="Times New Roman" panose="02020603050405020304" pitchFamily="18" charset="0"/>
                        </a:rPr>
                        <a:t>Hippocampus</a:t>
                      </a:r>
                      <a:endParaRPr lang="ko-KR" sz="2400" kern="100" dirty="0">
                        <a:effectLst/>
                        <a:latin typeface="+mj-lt"/>
                        <a:ea typeface="맑은 고딕" panose="020B0503020000020004" pitchFamily="50" charset="-127"/>
                        <a:cs typeface="Times New Roman" panose="02020603050405020304" pitchFamily="18" charset="0"/>
                      </a:endParaRPr>
                    </a:p>
                  </a:txBody>
                  <a:tcPr marL="68580" marR="68580" marT="0" marB="0"/>
                </a:tc>
                <a:tc>
                  <a:txBody>
                    <a:bodyPr/>
                    <a:lstStyle/>
                    <a:p>
                      <a:pPr algn="ctr" latinLnBrk="0">
                        <a:spcAft>
                          <a:spcPts val="800"/>
                        </a:spcAft>
                        <a:buNone/>
                      </a:pPr>
                      <a:r>
                        <a:rPr lang="en-US" altLang="ko-KR" sz="2400" b="1" kern="100" dirty="0">
                          <a:effectLst/>
                          <a:latin typeface="맑은 고딕" panose="020B0503020000020004" pitchFamily="50" charset="-127"/>
                          <a:ea typeface="맑은 고딕" panose="020B0503020000020004" pitchFamily="50" charset="-127"/>
                          <a:cs typeface="Times New Roman" panose="02020603050405020304" pitchFamily="18" charset="0"/>
                        </a:rPr>
                        <a:t>Rectus Gyrus</a:t>
                      </a:r>
                      <a:endParaRPr lang="ko-KR" sz="24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0">
                        <a:spcAft>
                          <a:spcPts val="800"/>
                        </a:spcAft>
                        <a:buNone/>
                      </a:pPr>
                      <a:r>
                        <a:rPr lang="en-US" altLang="ko-KR" sz="2400" b="1" kern="100" dirty="0">
                          <a:effectLst/>
                          <a:latin typeface="맑은 고딕" panose="020B0503020000020004" pitchFamily="50" charset="-127"/>
                          <a:ea typeface="맑은 고딕" panose="020B0503020000020004" pitchFamily="50" charset="-127"/>
                          <a:cs typeface="Times New Roman" panose="02020603050405020304" pitchFamily="18" charset="0"/>
                        </a:rPr>
                        <a:t>Importance Score Similarity</a:t>
                      </a:r>
                      <a:endParaRPr lang="ko-KR" sz="2400" b="1"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607875476"/>
                  </a:ext>
                </a:extLst>
              </a:tr>
            </a:tbl>
          </a:graphicData>
        </a:graphic>
      </p:graphicFrame>
      <p:sp>
        <p:nvSpPr>
          <p:cNvPr id="23" name="TextBox 22">
            <a:extLst>
              <a:ext uri="{FF2B5EF4-FFF2-40B4-BE49-F238E27FC236}">
                <a16:creationId xmlns:a16="http://schemas.microsoft.com/office/drawing/2014/main" id="{96D442B1-5D51-2D7A-23FF-900F9CA1968C}"/>
              </a:ext>
            </a:extLst>
          </p:cNvPr>
          <p:cNvSpPr txBox="1"/>
          <p:nvPr/>
        </p:nvSpPr>
        <p:spPr>
          <a:xfrm>
            <a:off x="16662906" y="31307328"/>
            <a:ext cx="14040416" cy="7058855"/>
          </a:xfrm>
          <a:prstGeom prst="rect">
            <a:avLst/>
          </a:prstGeom>
          <a:noFill/>
        </p:spPr>
        <p:txBody>
          <a:bodyPr wrap="square" rtlCol="0">
            <a:spAutoFit/>
          </a:bodyPr>
          <a:lstStyle/>
          <a:p>
            <a:pPr algn="just">
              <a:lnSpc>
                <a:spcPct val="150000"/>
              </a:lnSpc>
            </a:pPr>
            <a:r>
              <a:rPr lang="en-US" altLang="ko-KR" sz="3400" dirty="0"/>
              <a:t>Attention rollout values revealed task specific characteristics in spatial and temporal dimensions. These weights showed significant variances between trial and session, while input importance score showed high correlation within trials. Salient attention weights should be incorporated with more delicacy than input patches. The rank collapse in the attention rollout matrix should be elaborated, by varying depths of the model. Further, such perturbation and interpretability designs will allow understanding on which components are significant in EEG dynamics and accelerate building reliable models for broader applications</a:t>
            </a:r>
            <a:endParaRPr lang="ko-KR" altLang="en-US" sz="3400" dirty="0"/>
          </a:p>
        </p:txBody>
      </p:sp>
      <p:sp>
        <p:nvSpPr>
          <p:cNvPr id="30" name="TextBox 29">
            <a:extLst>
              <a:ext uri="{FF2B5EF4-FFF2-40B4-BE49-F238E27FC236}">
                <a16:creationId xmlns:a16="http://schemas.microsoft.com/office/drawing/2014/main" id="{F7AB2E94-05D2-CD03-6049-3FE74A2F9D99}"/>
              </a:ext>
            </a:extLst>
          </p:cNvPr>
          <p:cNvSpPr txBox="1"/>
          <p:nvPr/>
        </p:nvSpPr>
        <p:spPr>
          <a:xfrm>
            <a:off x="16751397" y="39894913"/>
            <a:ext cx="13862171" cy="1631216"/>
          </a:xfrm>
          <a:prstGeom prst="rect">
            <a:avLst/>
          </a:prstGeom>
          <a:noFill/>
        </p:spPr>
        <p:txBody>
          <a:bodyPr wrap="square" rtlCol="0">
            <a:spAutoFit/>
          </a:bodyPr>
          <a:lstStyle/>
          <a:p>
            <a:pPr algn="just"/>
            <a:r>
              <a:rPr lang="en-US" altLang="ko-KR" sz="2000" dirty="0" err="1"/>
              <a:t>Bommasani</a:t>
            </a:r>
            <a:r>
              <a:rPr lang="en-US" altLang="ko-KR" sz="2000" dirty="0"/>
              <a:t> R, Hudson DA, Adeli E, Altman R, Arora S, von Arx S, et al. On the opportunities and risks of foundation models. </a:t>
            </a:r>
            <a:r>
              <a:rPr lang="en-US" altLang="ko-KR" sz="2000" dirty="0" err="1"/>
              <a:t>arXiv</a:t>
            </a:r>
            <a:r>
              <a:rPr lang="en-US" altLang="ko-KR" sz="2000" dirty="0"/>
              <a:t> preprint arXiv:2108.07258. 2021.</a:t>
            </a:r>
          </a:p>
          <a:p>
            <a:pPr algn="just"/>
            <a:r>
              <a:rPr lang="en-US" altLang="ko-KR" sz="2000" dirty="0"/>
              <a:t>HAN, Danny </a:t>
            </a:r>
            <a:r>
              <a:rPr lang="en-US" altLang="ko-KR" sz="2000" dirty="0" err="1"/>
              <a:t>Dongyeop</a:t>
            </a:r>
            <a:r>
              <a:rPr lang="en-US" altLang="ko-KR" sz="2000" dirty="0"/>
              <a:t>, et al. DIVER-0: A Fully Channel Equivariant EEG Foundation Model. </a:t>
            </a:r>
            <a:r>
              <a:rPr lang="en-US" altLang="ko-KR" sz="2000" dirty="0" err="1"/>
              <a:t>arXiv</a:t>
            </a:r>
            <a:r>
              <a:rPr lang="en-US" altLang="ko-KR" sz="2000" dirty="0"/>
              <a:t> preprint arXiv:2507.14141, 2025.</a:t>
            </a:r>
          </a:p>
          <a:p>
            <a:pPr algn="just"/>
            <a:r>
              <a:rPr lang="en-US" altLang="ko-KR" sz="2000" dirty="0"/>
              <a:t>Samira Abnar and Willem Zuidema. Quantifying attention flow in transformers. </a:t>
            </a:r>
            <a:r>
              <a:rPr lang="en-US" altLang="ko-KR" sz="2000" dirty="0" err="1"/>
              <a:t>arXiv</a:t>
            </a:r>
            <a:r>
              <a:rPr lang="en-US" altLang="ko-KR" sz="2000" dirty="0"/>
              <a:t> preprint arXiv:2005.00928, 2020. </a:t>
            </a:r>
            <a:endParaRPr lang="ko-KR" altLang="en-US" sz="2000" dirty="0"/>
          </a:p>
        </p:txBody>
      </p:sp>
    </p:spTree>
  </p:cSld>
  <p:clrMapOvr>
    <a:masterClrMapping/>
  </p:clrMapOvr>
</p:sld>
</file>

<file path=ppt/theme/theme1.xml><?xml version="1.0" encoding="utf-8"?>
<a:theme xmlns:a="http://schemas.openxmlformats.org/drawingml/2006/main" name="Office 테마">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1884</TotalTime>
  <Words>778</Words>
  <Application>Microsoft Office PowerPoint</Application>
  <PresentationFormat>사용자 지정</PresentationFormat>
  <Paragraphs>84</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Batang</vt:lpstr>
      <vt:lpstr>Arial</vt:lpstr>
      <vt:lpstr>Calibri</vt:lpstr>
      <vt:lpstr>Cambria Math</vt:lpstr>
      <vt:lpstr>Office 테마</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Brain</dc:creator>
  <cp:lastModifiedBy>정원 윤</cp:lastModifiedBy>
  <cp:revision>7</cp:revision>
  <dcterms:created xsi:type="dcterms:W3CDTF">2016-10-11T09:46:40Z</dcterms:created>
  <dcterms:modified xsi:type="dcterms:W3CDTF">2025-12-16T08:47:44Z</dcterms:modified>
</cp:coreProperties>
</file>