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56" r:id="rId3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6197"/>
    <p:restoredTop sz="94716"/>
  </p:normalViewPr>
  <p:slideViewPr>
    <p:cSldViewPr snapToGrid="0">
      <p:cViewPr>
        <p:scale>
          <a:sx n="40" d="100"/>
          <a:sy n="40" d="100"/>
        </p:scale>
        <p:origin x="144" y="14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266022" y="1149196"/>
            <a:ext cx="19010256" cy="4611928"/>
          </a:xfrm>
          <a:prstGeom prst="rect">
            <a:avLst/>
          </a:prstGeom>
          <a:noFill/>
          <a:ln>
            <a:noFill/>
          </a:ln>
        </p:spPr>
        <p:txBody>
          <a:bodyPr wrap="square" lIns="92273" tIns="46124" rIns="92273" bIns="46124" anchor="t" anchorCtr="0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5450" b="1" i="0" u="none" strike="noStrike" baseline="0" mc:Ignorable="hp" hp:hslEmbossed="0">
                <a:ea typeface="함초롬돋움"/>
              </a:rPr>
              <a:t>Cognitive Mechanisms of</a:t>
            </a:r>
            <a:r>
              <a:rPr xmlns:mc="http://schemas.openxmlformats.org/markup-compatibility/2006" xmlns:hp="http://schemas.haansoft.com/office/presentation/8.0" lang="en-US" altLang="ko-KR" sz="5450" b="1" i="0" u="none" strike="noStrike" baseline="0" mc:Ignorable="hp" hp:hslEmbossed="0">
                <a:ea typeface="함초롬돋움"/>
              </a:rPr>
              <a:t> </a:t>
            </a:r>
            <a:r>
              <a:rPr xmlns:mc="http://schemas.openxmlformats.org/markup-compatibility/2006" xmlns:hp="http://schemas.haansoft.com/office/presentation/8.0" lang="EN-US" sz="5450" b="1" i="0" u="none" strike="noStrike" baseline="0" mc:Ignorable="hp" hp:hslEmbossed="0">
                <a:ea typeface="함초롬돋움"/>
              </a:rPr>
              <a:t>Non-invasive Brain Stimulation </a:t>
            </a:r>
            <a:endParaRPr xmlns:mc="http://schemas.openxmlformats.org/markup-compatibility/2006" xmlns:hp="http://schemas.haansoft.com/office/presentation/8.0" lang="EN-US" sz="5450" b="1" i="0" u="none" strike="noStrike" baseline="0" mc:Ignorable="hp" hp:hslEmbossed="0">
              <a:ea typeface="함초롬돋움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5450" b="1" i="0" u="none" strike="noStrike" baseline="0" mc:Ignorable="hp" hp:hslEmbossed="0">
                <a:ea typeface="함초롬돋움"/>
              </a:rPr>
              <a:t>for Substance Use Disorders and Behavioral Addictions: </a:t>
            </a:r>
            <a:endParaRPr xmlns:mc="http://schemas.openxmlformats.org/markup-compatibility/2006" xmlns:hp="http://schemas.haansoft.com/office/presentation/8.0" lang="EN-US" sz="5450" b="1" i="0" u="none" strike="noStrike" baseline="0" mc:Ignorable="hp" hp:hslEmbossed="0">
              <a:ea typeface="함초롬돋움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5450" b="1" i="0" u="none" strike="noStrike" baseline="0" mc:Ignorable="hp" hp:hslEmbossed="0">
                <a:ea typeface="함초롬돋움"/>
              </a:rPr>
              <a:t>A Systematic Review</a:t>
            </a:r>
            <a:endParaRPr lang="en-US" altLang="ko-KR" sz="5450" b="1">
              <a:solidFill>
                <a:schemeClr val="dk1"/>
              </a:solidFill>
            </a:endParaRPr>
          </a:p>
          <a:p>
            <a:pPr lvl="0" algn="ctr">
              <a:defRPr/>
            </a:pPr>
            <a:endParaRPr sz="24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defRPr/>
            </a:pPr>
            <a:r>
              <a:rPr lang="en-US" sz="36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서울대학교 </a:t>
            </a:r>
            <a:r>
              <a:rPr lang="ko-KR" altLang="en-US" sz="36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서어서문</a:t>
            </a:r>
            <a:r>
              <a:rPr lang="en-US" sz="36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학과</a:t>
            </a:r>
            <a:endParaRPr lang="en-US" sz="3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defRPr/>
            </a:pPr>
            <a:r>
              <a:rPr lang="ko-KR" altLang="en-US" sz="36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송승빈</a:t>
            </a:r>
            <a:endParaRPr lang="ko-KR" altLang="en-US" sz="3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defRPr/>
            </a:pPr>
            <a:r>
              <a:rPr lang="en-US" altLang="ko-KR" sz="36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seungbeen512</a:t>
            </a:r>
            <a:r>
              <a:rPr lang="en-US" sz="36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@snu.ac.kr</a:t>
            </a:r>
            <a:endParaRPr lang="en-US" sz="3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110648" y="849335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 rot="0">
            <a:off x="749384" y="6193414"/>
            <a:ext cx="15450260" cy="9595040"/>
            <a:chOff x="699916" y="7415151"/>
            <a:chExt cx="19497938" cy="6677862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8239509"/>
              <a:ext cx="19497938" cy="585350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t" anchorCtr="0">
              <a:noAutofit/>
            </a:bodyPr>
            <a:lstStyle/>
            <a:p>
              <a:pPr lvl="0" algn="just">
                <a:defRPr/>
              </a:pPr>
              <a:endParaRPr sz="1817">
                <a:solidFill>
                  <a:schemeClr val="dk1"/>
                </a:solidFill>
                <a:latin typeface="바탕"/>
                <a:ea typeface="바탕"/>
                <a:cs typeface="바탕"/>
                <a:sym typeface="바탕"/>
              </a:endParaRPr>
            </a:p>
            <a:p>
              <a:pPr marL="0" lvl="0" indent="0" algn="just">
                <a:lnSpc>
                  <a:spcPct val="150000"/>
                </a:lnSpc>
                <a:buClr>
                  <a:schemeClr val="dk1"/>
                </a:buClr>
                <a:buSzPct val="25000"/>
                <a:buFont typeface="바탕"/>
                <a:buNone/>
                <a:defRPr/>
              </a:pPr>
              <a:endParaRPr lang="en-US" altLang="ko-KR" sz="3633">
                <a:solidFill>
                  <a:schemeClr val="dk1"/>
                </a:solidFill>
                <a:latin typeface="바탕"/>
                <a:ea typeface="바탕"/>
                <a:cs typeface="바탕"/>
                <a:sym typeface="바탕"/>
              </a:endParaRPr>
            </a:p>
            <a:p>
              <a:pPr marL="288407" lvl="0" indent="-57681" algn="just">
                <a:lnSpc>
                  <a:spcPct val="150000"/>
                </a:lnSpc>
                <a:buClr>
                  <a:schemeClr val="dk1"/>
                </a:buClr>
                <a:buSzPct val="25000"/>
                <a:defRPr/>
              </a:pPr>
              <a:endParaRPr sz="1817">
                <a:solidFill>
                  <a:schemeClr val="dk1"/>
                </a:solidFill>
                <a:latin typeface="바탕"/>
                <a:ea typeface="바탕"/>
                <a:cs typeface="바탕"/>
                <a:sym typeface="바탕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7415151"/>
              <a:ext cx="19497938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ctr" anchorCtr="0">
              <a:noAutofit/>
            </a:bodyPr>
            <a:lstStyle/>
            <a:p>
              <a:pPr lvl="0" algn="ctr">
                <a:defRPr/>
              </a:pPr>
              <a:r>
                <a:rPr lang="en-US" sz="5450" b="1">
                  <a:solidFill>
                    <a:srgbClr val="ffffff"/>
                  </a:solidFill>
                </a:rPr>
                <a:t>INTRODUCTION</a:t>
              </a:r>
              <a:endParaRPr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 rot="0">
            <a:off x="582910" y="23292308"/>
            <a:ext cx="15616733" cy="19139472"/>
            <a:chOff x="412682" y="18461634"/>
            <a:chExt cx="16561482" cy="12789832"/>
          </a:xfrm>
        </p:grpSpPr>
        <p:sp>
          <p:nvSpPr>
            <p:cNvPr id="90" name="Google Shape;90;p1"/>
            <p:cNvSpPr/>
            <p:nvPr/>
          </p:nvSpPr>
          <p:spPr>
            <a:xfrm>
              <a:off x="412682" y="19266652"/>
              <a:ext cx="16560000" cy="11984814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t" anchorCtr="0">
              <a:noAutofit/>
            </a:bodyPr>
            <a:lstStyle/>
            <a:p>
              <a:pPr lvl="0" algn="just">
                <a:lnSpc>
                  <a:spcPct val="171875"/>
                </a:lnSpc>
                <a:defRPr/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71875"/>
                </a:lnSpc>
                <a:defRPr/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4164" y="18461634"/>
              <a:ext cx="16560000" cy="692018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ctr" anchorCtr="0">
              <a:noAutofit/>
            </a:bodyPr>
            <a:lstStyle/>
            <a:p>
              <a:pPr lvl="0" algn="ctr">
                <a:defRPr/>
              </a:pPr>
              <a:r>
                <a:rPr lang="en-US" sz="5450" b="1">
                  <a:solidFill>
                    <a:schemeClr val="lt1"/>
                  </a:solidFill>
                </a:rPr>
                <a:t>METHODS</a:t>
              </a:r>
              <a:endParaRPr sz="4441" b="1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 rot="0">
            <a:off x="16664652" y="35184956"/>
            <a:ext cx="15167500" cy="6916328"/>
            <a:chOff x="33775712" y="14968956"/>
            <a:chExt cx="16308000" cy="12890889"/>
          </a:xfrm>
        </p:grpSpPr>
        <p:sp>
          <p:nvSpPr>
            <p:cNvPr id="93" name="Google Shape;93;p1"/>
            <p:cNvSpPr/>
            <p:nvPr/>
          </p:nvSpPr>
          <p:spPr>
            <a:xfrm>
              <a:off x="33775712" y="16703493"/>
              <a:ext cx="16308000" cy="1115635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t" anchorCtr="0">
              <a:noAutofit/>
            </a:bodyPr>
            <a:lstStyle/>
            <a:p>
              <a:pPr lvl="0" algn="just">
                <a:lnSpc>
                  <a:spcPct val="156250"/>
                </a:lnSpc>
                <a:defRPr/>
              </a:pPr>
              <a:endParaRPr sz="323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75712" y="14968956"/>
              <a:ext cx="16308000" cy="1734932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ctr" anchorCtr="0">
              <a:noAutofit/>
            </a:bodyPr>
            <a:lstStyle/>
            <a:p>
              <a:pPr lvl="0" algn="ctr">
                <a:defRPr/>
              </a:pPr>
              <a:r>
                <a:rPr lang="en-US" sz="5450" b="1">
                  <a:solidFill>
                    <a:srgbClr val="ffffff"/>
                  </a:solidFill>
                </a:rPr>
                <a:t>CONCLUSIONS</a:t>
              </a:r>
              <a:endParaRPr lang="en-US" altLang="ko-KR"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 rot="0">
            <a:off x="16545104" y="6186197"/>
            <a:ext cx="15217932" cy="28579294"/>
            <a:chOff x="15610114" y="15717428"/>
            <a:chExt cx="14366634" cy="4513341"/>
          </a:xfrm>
        </p:grpSpPr>
        <p:sp>
          <p:nvSpPr>
            <p:cNvPr id="96" name="Google Shape;96;p1"/>
            <p:cNvSpPr/>
            <p:nvPr/>
          </p:nvSpPr>
          <p:spPr>
            <a:xfrm>
              <a:off x="15610114" y="15786654"/>
              <a:ext cx="14366632" cy="444411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ctr" anchorCtr="0">
              <a:noAutofit/>
            </a:bodyPr>
            <a:lstStyle/>
            <a:p>
              <a:pPr lvl="0">
                <a:defRPr/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5610115" y="15717428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ctr" anchorCtr="0">
              <a:noAutofit/>
            </a:bodyPr>
            <a:lstStyle/>
            <a:p>
              <a:pPr lvl="0" algn="ctr">
                <a:defRPr/>
              </a:pPr>
              <a:r>
                <a:rPr lang="en-US" sz="5450" b="1">
                  <a:solidFill>
                    <a:srgbClr val="ffffff"/>
                  </a:solidFill>
                </a:rPr>
                <a:t>RESULTS</a:t>
              </a:r>
              <a:endParaRPr sz="4441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 rot="0">
            <a:off x="681076" y="16360337"/>
            <a:ext cx="15518567" cy="6590782"/>
            <a:chOff x="414164" y="19253060"/>
            <a:chExt cx="16560000" cy="6793748"/>
          </a:xfrm>
        </p:grpSpPr>
        <p:sp>
          <p:nvSpPr>
            <p:cNvPr id="99" name="Google Shape;99;p1"/>
            <p:cNvSpPr/>
            <p:nvPr/>
          </p:nvSpPr>
          <p:spPr>
            <a:xfrm>
              <a:off x="414164" y="19851180"/>
              <a:ext cx="16560000" cy="6195629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t" anchorCtr="0">
              <a:noAutofit/>
            </a:bodyPr>
            <a:lstStyle/>
            <a:p>
              <a:pPr lvl="0" algn="just">
                <a:lnSpc>
                  <a:spcPct val="171875"/>
                </a:lnSpc>
                <a:defRPr/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71875"/>
                </a:lnSpc>
                <a:defRPr/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14164" y="19253060"/>
              <a:ext cx="16560000" cy="981560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2273" tIns="46124" rIns="92273" bIns="46124" anchor="ctr" anchorCtr="0">
              <a:noAutofit/>
            </a:bodyPr>
            <a:lstStyle/>
            <a:p>
              <a:pPr lvl="0" algn="ctr">
                <a:defRPr/>
              </a:pPr>
              <a:r>
                <a:rPr lang="en-US" sz="5450" b="1">
                  <a:solidFill>
                    <a:schemeClr val="lt1"/>
                  </a:solidFill>
                </a:rPr>
                <a:t>OBJECTIVES</a:t>
              </a:r>
              <a:endParaRPr sz="5450" b="1">
                <a:solidFill>
                  <a:schemeClr val="lt1"/>
                </a:solidFill>
              </a:endParaRPr>
            </a:p>
          </p:txBody>
        </p:sp>
      </p:grpSp>
      <p:pic>
        <p:nvPicPr>
          <p:cNvPr id="104" name="Google Shape;104;p1"/>
          <p:cNvPicPr/>
          <p:nvPr/>
        </p:nvPicPr>
        <p:blipFill rotWithShape="1">
          <a:blip r:embed="rId4">
            <a:alphaModFix/>
          </a:blip>
          <a:srcRect t="85800"/>
          <a:stretch>
            <a:fillRect/>
          </a:stretch>
        </p:blipFill>
        <p:spPr>
          <a:xfrm>
            <a:off x="25374578" y="42162792"/>
            <a:ext cx="7037733" cy="82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그림 104"/>
          <p:cNvPicPr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03098" y="28774652"/>
            <a:ext cx="15017921" cy="13044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가로 글상자 111"/>
          <p:cNvSpPr txBox="1"/>
          <p:nvPr/>
        </p:nvSpPr>
        <p:spPr>
          <a:xfrm>
            <a:off x="1070767" y="24853112"/>
            <a:ext cx="14922505" cy="3796200"/>
          </a:xfrm>
          <a:prstGeom prst="rect">
            <a:avLst/>
          </a:prstGeom>
        </p:spPr>
        <p:txBody>
          <a:bodyPr wrap="square">
            <a:spAutoFit/>
          </a:bodyPr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ahoma"/>
              </a:rPr>
              <a:t>The systematic review followed the </a:t>
            </a:r>
            <a:r>
              <a:rPr xmlns:mc="http://schemas.openxmlformats.org/markup-compatibility/2006" xmlns:hp="http://schemas.haansoft.com/office/presentation/8.0" lang="EN-US" sz="3000" b="1" i="0" u="none" strike="noStrike" baseline="0" mc:Ignorable="hp" hp:hslEmbossed="0">
                <a:latin typeface="맑은 고딕"/>
                <a:ea typeface="맑은 고딕"/>
                <a:cs typeface="Tahoma"/>
              </a:rPr>
              <a:t>Preferred Reporting Items for Systematic Reviews and Meta-Analysis (PRISMA)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ahoma"/>
              </a:rPr>
              <a:t> guidelines. </a:t>
            </a: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ahoma"/>
            </a:endParaRPr>
          </a:p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ahoma"/>
              </a:rPr>
              <a:t>Studies for review were searched on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solidFill>
                  <a:schemeClr val="accent1"/>
                </a:solidFill>
                <a:latin typeface="맑은 고딕"/>
                <a:ea typeface="맑은 고딕"/>
                <a:cs typeface="Tahoma"/>
              </a:rPr>
              <a:t> </a:t>
            </a:r>
            <a:r>
              <a:rPr xmlns:mc="http://schemas.openxmlformats.org/markup-compatibility/2006" xmlns:hp="http://schemas.haansoft.com/office/presentation/8.0" lang="EN-US" sz="3000" b="1" i="0" u="none" strike="noStrike" baseline="0" mc:Ignorable="hp" hp:hslEmbossed="0">
                <a:solidFill>
                  <a:srgbClr val="6182d6"/>
                </a:solidFill>
                <a:latin typeface="맑은 고딕"/>
                <a:ea typeface="맑은 고딕"/>
                <a:cs typeface="Tahoma"/>
              </a:rPr>
              <a:t>PubMed, PsycInfo, and EMBASE, 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ahoma"/>
              </a:rPr>
              <a:t>covering studies published between 2000 and 2025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ahoma"/>
              </a:rPr>
              <a:t>.</a:t>
            </a:r>
            <a:endPara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<a:latin typeface="맑은 고딕"/>
              <a:ea typeface="맑은 고딕"/>
              <a:cs typeface="Tahoma"/>
            </a:endParaRPr>
          </a:p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ddiction-related, NIBS-related, and cognition-related 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search terms were used to identify relevant articles.</a:t>
            </a: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ahoma"/>
            </a:endParaRPr>
          </a:p>
        </p:txBody>
      </p:sp>
      <p:sp>
        <p:nvSpPr>
          <p:cNvPr id="114" name="가로 글상자 113"/>
          <p:cNvSpPr txBox="1"/>
          <p:nvPr/>
        </p:nvSpPr>
        <p:spPr>
          <a:xfrm>
            <a:off x="1096172" y="7863120"/>
            <a:ext cx="14922506" cy="8156026"/>
          </a:xfrm>
          <a:prstGeom prst="rect">
            <a:avLst/>
          </a:prstGeom>
        </p:spPr>
        <p:txBody>
          <a:bodyPr wrap="square">
            <a:spAutoFit/>
          </a:bodyPr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It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has been documented that </a:t>
            </a:r>
            <a:r>
              <a:rPr xmlns:mc="http://schemas.openxmlformats.org/markup-compatibility/2006" xmlns:hp="http://schemas.haansoft.com/office/presentation/8.0" lang="en-US" altLang="ko-KR" sz="3000" b="1" i="0" strike="noStrike" baseline="0" mc:Ignorable="hp" hp:hslEmbossed="0">
                <a:latin typeface="맑은 고딕"/>
                <a:ea typeface="맑은 고딕"/>
                <a:cs typeface="Times New Roman"/>
              </a:rPr>
              <a:t>addiction</a:t>
            </a:r>
            <a:r>
              <a:rPr xmlns:mc="http://schemas.openxmlformats.org/markup-compatibility/2006" xmlns:hp="http://schemas.haansoft.com/office/presentation/8.0" lang="EN-US" sz="3000" b="1" i="0" strike="noStrike" baseline="0" mc:Ignorable="hp" hp:hslEmbossed="0">
                <a:latin typeface="맑은 고딕"/>
                <a:ea typeface="맑은 고딕"/>
                <a:cs typeface="Times New Roman"/>
              </a:rPr>
              <a:t> fundamentally involves cognitive impairments</a:t>
            </a:r>
            <a:r>
              <a:rPr xmlns:mc="http://schemas.openxmlformats.org/markup-compatibility/2006" xmlns:hp="http://schemas.haansoft.com/office/presentation/8.0" lang="en-US" altLang="ko-KR" sz="3000" b="1" i="0" strike="noStrike" baseline="0" mc:Ignorable="hp" hp:hslEmbossed="0">
                <a:latin typeface="맑은 고딕"/>
                <a:ea typeface="맑은 고딕"/>
                <a:cs typeface="Times New Roman"/>
              </a:rPr>
              <a:t>,</a:t>
            </a:r>
            <a:r>
              <a:rPr xmlns:mc="http://schemas.openxmlformats.org/markup-compatibility/2006" xmlns:hp="http://schemas.haansoft.com/office/presentation/8.0" lang="en-US" altLang="ko-KR" sz="300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suggesting the importance of normalizing cognitive dysfunctions to induce significant and long-lasting changes in addictive behavior</a:t>
            </a:r>
            <a:endPara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3200" b="1" i="0" u="none" strike="noStrike" baseline="0" mc:Ignorable="hp" hp:hslEmbossed="0">
                <a:solidFill>
                  <a:srgbClr val="eb5800"/>
                </a:solidFill>
                <a:latin typeface="맑은 고딕"/>
                <a:ea typeface="맑은 고딕"/>
                <a:cs typeface="Times New Roman"/>
              </a:rPr>
              <a:t>Non-invasive brain stimulation (NIBS) techniques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solidFill>
                  <a:srgbClr val="eb5800"/>
                </a:solidFill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have been implemented in addiction treatment, producing meaningful changes in clinical symptoms of addiction, although results have been variable. Increasing number of studies are using </a:t>
            </a:r>
            <a:r>
              <a:rPr xmlns:mc="http://schemas.openxmlformats.org/markup-compatibility/2006" xmlns:hp="http://schemas.haansoft.com/office/presentation/8.0" lang="en-US" altLang="ko-KR" sz="300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NIBS to directly target </a:t>
            </a:r>
            <a:r>
              <a:rPr xmlns:mc="http://schemas.openxmlformats.org/markup-compatibility/2006" xmlns:hp="http://schemas.haansoft.com/office/presentation/8.0" lang="EN-US" sz="300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neural circuits underlying </a:t>
            </a:r>
            <a:r>
              <a:rPr xmlns:mc="http://schemas.openxmlformats.org/markup-compatibility/2006" xmlns:hp="http://schemas.haansoft.com/office/presentation/8.0" lang="en-US" altLang="ko-KR" sz="300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impaired </a:t>
            </a:r>
            <a:r>
              <a:rPr xmlns:mc="http://schemas.openxmlformats.org/markup-compatibility/2006" xmlns:hp="http://schemas.haansoft.com/office/presentation/8.0" lang="EN-US" sz="300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c</a:t>
            </a:r>
            <a:r>
              <a:rPr xmlns:mc="http://schemas.openxmlformats.org/markup-compatibility/2006" xmlns:hp="http://schemas.haansoft.com/office/presentation/8.0" lang="en-US" altLang="ko-KR" sz="300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ognition</a:t>
            </a:r>
            <a:r>
              <a:rPr xmlns:mc="http://schemas.openxmlformats.org/markup-compatibility/2006" xmlns:hp="http://schemas.haansoft.com/office/presentation/8.0" lang="EN-US" sz="300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300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in addictive populations.</a:t>
            </a:r>
            <a:endParaRPr xmlns:mc="http://schemas.openxmlformats.org/markup-compatibility/2006" xmlns:hp="http://schemas.haansoft.com/office/presentation/8.0" lang="en-US" altLang="ko-KR" sz="300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3000" b="1" i="0" u="none" strike="noStrike" baseline="0" mc:Ignorable="hp" hp:hslEmbossed="0">
                <a:solidFill>
                  <a:srgbClr val="6182d6"/>
                </a:solidFill>
                <a:latin typeface="맑은 고딕"/>
                <a:ea typeface="맑은 고딕"/>
                <a:cs typeface="Times New Roman"/>
              </a:rPr>
              <a:t>I</a:t>
            </a:r>
            <a:r>
              <a:rPr xmlns:mc="http://schemas.openxmlformats.org/markup-compatibility/2006" xmlns:hp="http://schemas.haansoft.com/office/presentation/8.0" lang="EN-US" sz="3000" b="1" i="0" u="none" strike="noStrike" baseline="0" mc:Ignorable="hp" hp:hslEmbossed="0">
                <a:solidFill>
                  <a:srgbClr val="6182d6"/>
                </a:solidFill>
                <a:latin typeface="맑은 고딕"/>
                <a:ea typeface="맑은 고딕"/>
                <a:cs typeface="Times New Roman"/>
              </a:rPr>
              <a:t>nvestigating </a:t>
            </a:r>
            <a:r>
              <a:rPr xmlns:mc="http://schemas.openxmlformats.org/markup-compatibility/2006" xmlns:hp="http://schemas.haansoft.com/office/presentation/8.0" lang="en-US" altLang="ko-KR" sz="3000" b="1" i="0" u="none" strike="noStrike" baseline="0" mc:Ignorable="hp" hp:hslEmbossed="0">
                <a:solidFill>
                  <a:srgbClr val="6182d6"/>
                </a:solidFill>
                <a:latin typeface="맑은 고딕"/>
                <a:ea typeface="맑은 고딕"/>
                <a:cs typeface="Times New Roman"/>
              </a:rPr>
              <a:t>the </a:t>
            </a:r>
            <a:r>
              <a:rPr xmlns:mc="http://schemas.openxmlformats.org/markup-compatibility/2006" xmlns:hp="http://schemas.haansoft.com/office/presentation/8.0" lang="EN-US" sz="3000" b="1" i="0" u="none" strike="noStrike" baseline="0" mc:Ignorable="hp" hp:hslEmbossed="0">
                <a:solidFill>
                  <a:srgbClr val="6182d6"/>
                </a:solidFill>
                <a:latin typeface="맑은 고딕"/>
                <a:ea typeface="맑은 고딕"/>
                <a:cs typeface="Times New Roman"/>
              </a:rPr>
              <a:t>cognitive </a:t>
            </a:r>
            <a:r>
              <a:rPr xmlns:mc="http://schemas.openxmlformats.org/markup-compatibility/2006" xmlns:hp="http://schemas.haansoft.com/office/presentation/8.0" lang="en-US" altLang="ko-KR" sz="3000" b="1" i="0" u="none" strike="noStrike" baseline="0" mc:Ignorable="hp" hp:hslEmbossed="0">
                <a:solidFill>
                  <a:srgbClr val="6182d6"/>
                </a:solidFill>
                <a:latin typeface="맑은 고딕"/>
                <a:ea typeface="맑은 고딕"/>
                <a:cs typeface="Times New Roman"/>
              </a:rPr>
              <a:t>mechanisms of NIBS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could 1) c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aptur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stimulation-induced 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subthreshold changes in the 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implicit 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processes 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not fully reflected in clinical symptoms, and 2) pave the way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for a </a:t>
            </a:r>
            <a:r>
              <a:rPr xmlns:mc="http://schemas.openxmlformats.org/markup-compatibility/2006" xmlns:hp="http://schemas.haansoft.com/office/presentation/8.0" lang="en-US" altLang="ko-KR" sz="3000" b="1" i="0" strike="noStrike" baseline="0" mc:Ignorable="hp" hp:hslEmbossed="0">
                <a:latin typeface="맑은 고딕"/>
                <a:ea typeface="맑은 고딕"/>
                <a:cs typeface="Times New Roman"/>
              </a:rPr>
              <a:t>more effective, reliable, and durable treatment for i</a:t>
            </a:r>
            <a:r>
              <a:rPr xmlns:mc="http://schemas.openxmlformats.org/markup-compatibility/2006" xmlns:hp="http://schemas.haansoft.com/office/presentation/8.0" lang="EN-US" sz="3000" b="1" i="0" strike="noStrike" baseline="0" mc:Ignorable="hp" hp:hslEmbossed="0">
                <a:latin typeface="맑은 고딕"/>
                <a:ea typeface="맑은 고딕"/>
                <a:cs typeface="Times New Roman"/>
              </a:rPr>
              <a:t>ndividuals with distinct cognitive profiles</a:t>
            </a:r>
            <a:endParaRPr xmlns:mc="http://schemas.openxmlformats.org/markup-compatibility/2006" xmlns:hp="http://schemas.haansoft.com/office/presentation/8.0" lang="EN-US" sz="3000" b="1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ahoma"/>
            </a:endParaRPr>
          </a:p>
        </p:txBody>
      </p:sp>
      <p:sp>
        <p:nvSpPr>
          <p:cNvPr id="116" name="가로 글상자 115"/>
          <p:cNvSpPr txBox="1"/>
          <p:nvPr/>
        </p:nvSpPr>
        <p:spPr>
          <a:xfrm>
            <a:off x="842169" y="18132060"/>
            <a:ext cx="14922505" cy="658860"/>
          </a:xfrm>
          <a:prstGeom prst="rect">
            <a:avLst/>
          </a:prstGeom>
        </p:spPr>
        <p:txBody>
          <a:bodyPr wrap="square">
            <a:spAutoFit/>
          </a:bodyPr>
          <a:p>
            <a:pPr marL="428400" lvl="0" indent="-428400">
              <a:lnSpc>
                <a:spcPct val="125000"/>
              </a:lnSpc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ahoma"/>
            </a:endParaRPr>
          </a:p>
        </p:txBody>
      </p:sp>
      <p:sp>
        <p:nvSpPr>
          <p:cNvPr id="117" name="가로 글상자 116"/>
          <p:cNvSpPr txBox="1"/>
          <p:nvPr/>
        </p:nvSpPr>
        <p:spPr>
          <a:xfrm>
            <a:off x="1025920" y="17608824"/>
            <a:ext cx="14866144" cy="5125484"/>
          </a:xfrm>
          <a:prstGeom prst="rect">
            <a:avLst/>
          </a:prstGeom>
        </p:spPr>
        <p:txBody>
          <a:bodyPr wrap="square">
            <a:spAutoFit/>
          </a:bodyPr>
          <a:p>
            <a:pPr marL="428400" lvl="0" indent="-428400" algn="just">
              <a:lnSpc>
                <a:spcPct val="135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T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his article aims to present the</a:t>
            </a:r>
            <a:r>
              <a:rPr xmlns:mc="http://schemas.openxmlformats.org/markup-compatibility/2006" xmlns:hp="http://schemas.haansoft.com/office/presentation/8.0" lang="EN-US" sz="3000" b="0" i="0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sz="3000" b="1" i="0" strike="noStrike" baseline="0" mc:Ignorable="hp" hp:hslEmbossed="0">
                <a:latin typeface="맑은 고딕"/>
                <a:ea typeface="맑은 고딕"/>
                <a:cs typeface="Times New Roman"/>
              </a:rPr>
              <a:t>efficacy and limitations of NIBS treatments in modifying cognitive processes relevant to addiction</a:t>
            </a:r>
            <a:r>
              <a:rPr xmlns:mc="http://schemas.openxmlformats.org/markup-compatibility/2006" xmlns:hp="http://schemas.haansoft.com/office/presentation/8.0" lang="en-US" altLang="ko-KR" sz="3000" i="0" strike="noStrike" baseline="0" mc:Ignorable="hp" hp:hslEmbossed="0">
                <a:latin typeface="맑은 고딕"/>
                <a:ea typeface="맑은 고딕"/>
                <a:cs typeface="Times New Roman"/>
              </a:rPr>
              <a:t> by r</a:t>
            </a:r>
            <a:r>
              <a:rPr xmlns:mc="http://schemas.openxmlformats.org/markup-compatibility/2006" xmlns:hp="http://schemas.haansoft.com/office/presentation/8.0" lang="EN-US" sz="3000" i="0" strike="noStrike" baseline="0" mc:Ignorable="hp" hp:hslEmbossed="0">
                <a:latin typeface="맑은 고딕"/>
                <a:ea typeface="맑은 고딕"/>
                <a:cs typeface="Times New Roman"/>
              </a:rPr>
              <a:t>e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viewing available research on NI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BS i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nterventions directed towards cognitive impairments in clinical and subclinical populations with addiction</a:t>
            </a: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 algn="just">
              <a:lnSpc>
                <a:spcPct val="135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This review of NIBS treatment on addiction is significant both as a </a:t>
            </a:r>
            <a:r>
              <a:rPr xmlns:mc="http://schemas.openxmlformats.org/markup-compatibility/2006" xmlns:hp="http://schemas.haansoft.com/office/presentation/8.0" lang="EN-US" sz="3000" i="0" strike="noStrike" baseline="0" mc:Ignorable="hp" hp:hslEmbossed="0">
                <a:latin typeface="맑은 고딕"/>
                <a:ea typeface="맑은 고딕"/>
                <a:cs typeface="Times New Roman"/>
              </a:rPr>
              <a:t>thorough summary of up-to-date findings in this growing research area, and as a potential bridge between research and the clinical applications of NIBS-based addiction treatment.</a:t>
            </a:r>
            <a:endParaRPr xmlns:mc="http://schemas.openxmlformats.org/markup-compatibility/2006" xmlns:hp="http://schemas.haansoft.com/office/presentation/8.0" lang="EN-US" sz="3000" i="0" strike="noStrike" baseline="0" mc:Ignorable="hp" hp:hslEmbossed="0">
              <a:latin typeface="맑은 고딕"/>
              <a:ea typeface="맑은 고딕"/>
              <a:cs typeface="Times New Roman"/>
            </a:endParaRPr>
          </a:p>
        </p:txBody>
      </p:sp>
      <p:sp>
        <p:nvSpPr>
          <p:cNvPr id="118" name="가로 글상자 117"/>
          <p:cNvSpPr txBox="1"/>
          <p:nvPr/>
        </p:nvSpPr>
        <p:spPr>
          <a:xfrm>
            <a:off x="24403444" y="7831646"/>
            <a:ext cx="6754018" cy="6215824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just">
              <a:lnSpc>
                <a:spcPct val="115000"/>
              </a:lnSpc>
              <a:spcAft>
                <a:spcPts val="80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2600" b="1" i="0" u="sng" strike="noStrike" baseline="0" mc:Ignorable="hp" hp:hslEmbossed="0">
                <a:latin typeface="맑은 고딕"/>
                <a:ea typeface="맑은 고딕"/>
                <a:cs typeface="Times New Roman"/>
              </a:rPr>
              <a:t>1) Attentional and Behaivorlal Bias</a:t>
            </a:r>
            <a:endParaRPr xmlns:mc="http://schemas.openxmlformats.org/markup-compatibility/2006" xmlns:hp="http://schemas.haansoft.com/office/presentation/8.0" lang="en-US" altLang="ko-KR" sz="2600" b="1" i="0" u="sng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10 articles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, mostly using the I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mplicit Association Test (IAT) and the Approach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-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Avoidance Task (AAT)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Studies m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ostly 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demonstrated null effects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of tDCS in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IAT and i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nconsistent effects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in AAT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lthough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NIBS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often paired with cognitive bias modification (CBM) techniques,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enhanced effects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were inconsistent across these studies.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lang="en-US" altLang="ko-KR" sz="2600" i="0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lang="en-US" altLang="ko-KR" sz="2600" i="0" strike="noStrike" baseline="0" mc:Ignorable="hp" hp:hslEmbossed="0">
              <a:latin typeface="맑은 고딕"/>
              <a:ea typeface="맑은 고딕"/>
              <a:cs typeface="Times New Roman"/>
            </a:endParaRPr>
          </a:p>
        </p:txBody>
      </p:sp>
      <p:sp>
        <p:nvSpPr>
          <p:cNvPr id="121" name="가로 글상자 120"/>
          <p:cNvSpPr txBox="1"/>
          <p:nvPr/>
        </p:nvSpPr>
        <p:spPr>
          <a:xfrm>
            <a:off x="16919960" y="36321752"/>
            <a:ext cx="14453390" cy="6262618"/>
          </a:xfrm>
          <a:prstGeom prst="rect">
            <a:avLst/>
          </a:prstGeom>
        </p:spPr>
        <p:txBody>
          <a:bodyPr wrap="square">
            <a:spAutoFit/>
          </a:bodyPr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Th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is review highlighted the importance of targeting cognitive mechanisms in NIBS-based addiction treatment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and reported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documented attempts to mitigate cognitive dysfunctions with the purpose of treating addiction</a:t>
            </a: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While former studies tilted towards targeting more implicit, rudimentary areas of cognition, </a:t>
            </a:r>
            <a:r>
              <a:rPr xmlns:mc="http://schemas.openxmlformats.org/markup-compatibility/2006" xmlns:hp="http://schemas.haansoft.com/office/presentation/8.0" lang="EN-US" sz="30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future studies should make more use of intricate cognitive tasks</a:t>
            </a:r>
            <a:r>
              <a:rPr xmlns:mc="http://schemas.openxmlformats.org/markup-compatibility/2006" xmlns:hp="http://schemas.haansoft.com/office/presentation/8.0" lang="en-US" altLang="ko-KR" sz="30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to map the</a:t>
            </a:r>
            <a:r>
              <a:rPr xmlns:mc="http://schemas.openxmlformats.org/markup-compatibility/2006" xmlns:hp="http://schemas.haansoft.com/office/presentation/8.0" lang="EN-US" sz="30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complex</a:t>
            </a:r>
            <a:r>
              <a:rPr xmlns:mc="http://schemas.openxmlformats.org/markup-compatibility/2006" xmlns:hp="http://schemas.haansoft.com/office/presentation/8.0" lang="en-US" altLang="ko-KR" sz="30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&amp; </a:t>
            </a:r>
            <a:r>
              <a:rPr xmlns:mc="http://schemas.openxmlformats.org/markup-compatibility/2006" xmlns:hp="http://schemas.haansoft.com/office/presentation/8.0" lang="EN-US" sz="30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dynamic processes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of 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cognitive behavior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relevant to addiction.</a:t>
            </a: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F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uture studies should adopt </a:t>
            </a:r>
            <a:r>
              <a:rPr xmlns:mc="http://schemas.openxmlformats.org/markup-compatibility/2006" xmlns:hp="http://schemas.haansoft.com/office/presentation/8.0" lang="EN-US" sz="30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computational models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for a more refined understanding of addicti</a:t>
            </a:r>
            <a:r>
              <a:rPr xmlns:mc="http://schemas.openxmlformats.org/markup-compatibility/2006" xmlns:hp="http://schemas.haansoft.com/office/presentation/8.0" lang="en-US" altLang="ko-KR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on </a:t>
            </a:r>
            <a:r>
              <a:rPr xmlns:mc="http://schemas.openxmlformats.org/markup-compatibility/2006" xmlns:hp="http://schemas.haansoft.com/office/presentation/8.0" lang="EN-US" sz="30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and identification of possible intervention targets. </a:t>
            </a: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428400" lvl="0" indent="-428400">
              <a:lnSpc>
                <a:spcPct val="135000"/>
              </a:lnSpc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lang="EN-US" sz="30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</p:txBody>
      </p:sp>
      <p:sp>
        <p:nvSpPr>
          <p:cNvPr id="122" name="가로 글상자 121"/>
          <p:cNvSpPr txBox="1"/>
          <p:nvPr/>
        </p:nvSpPr>
        <p:spPr>
          <a:xfrm>
            <a:off x="16684287" y="13671049"/>
            <a:ext cx="7404892" cy="702485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just">
              <a:lnSpc>
                <a:spcPct val="115000"/>
              </a:lnSpc>
              <a:spcAft>
                <a:spcPts val="80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2600" b="1" i="0" u="sng" strike="noStrike" baseline="0" mc:Ignorable="hp" hp:hslEmbossed="0">
                <a:latin typeface="맑은 고딕"/>
                <a:ea typeface="맑은 고딕"/>
                <a:cs typeface="Times New Roman"/>
              </a:rPr>
              <a:t>2) Response Inhibition and Inhibitory Control</a:t>
            </a:r>
            <a:endParaRPr xmlns:mc="http://schemas.openxmlformats.org/markup-compatibility/2006" xmlns:hp="http://schemas.haansoft.com/office/presentation/8.0" lang="en-US" altLang="ko-KR" sz="2600" b="1" i="0" u="sng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99840" lvl="0" indent="-39984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20 studies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,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most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ly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using the Stop Signal Task (SST) or Go/No-Go task (GNG) 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99840" lvl="0" indent="-39984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NIBS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on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dlPFC c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ould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enhance response inhibition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, although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results 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variant 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across tasks, sample characteristics, and protocols</a:t>
            </a:r>
            <a:endParaRPr xmlns:mc="http://schemas.openxmlformats.org/markup-compatibility/2006" xmlns:hp="http://schemas.haansoft.com/office/presentation/8.0" lang="EN-US" sz="2600" b="1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99840" lvl="0" indent="-39984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NIBS effects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on GNG more consistent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compared to SST,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possibly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due to the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ir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dissimilar nature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(withold versus stop an automatic response)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.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99840" lvl="0" indent="-39984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Enhanced p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refrontal-cingulate connectivity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found after intervention (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strengthened top-down regulation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)</a:t>
            </a:r>
            <a:endPara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99840" lvl="0" indent="-399840">
              <a:lnSpc>
                <a:spcPct val="115000"/>
              </a:lnSpc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3" name="가로 글상자 122"/>
          <p:cNvSpPr txBox="1"/>
          <p:nvPr/>
        </p:nvSpPr>
        <p:spPr>
          <a:xfrm>
            <a:off x="24276426" y="13476460"/>
            <a:ext cx="7230274" cy="7024864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just">
              <a:lnSpc>
                <a:spcPct val="115000"/>
              </a:lnSpc>
              <a:spcAft>
                <a:spcPts val="80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2600" b="1" i="0" u="sng" strike="noStrike" baseline="0" mc:Ignorable="hp" hp:hslEmbossed="0">
                <a:latin typeface="맑은 고딕"/>
                <a:ea typeface="맑은 고딕"/>
                <a:cs typeface="Times New Roman"/>
              </a:rPr>
              <a:t>3) Valuation and Decision-Making</a:t>
            </a:r>
            <a:endParaRPr xmlns:mc="http://schemas.openxmlformats.org/markup-compatibility/2006" xmlns:hp="http://schemas.haansoft.com/office/presentation/8.0" lang="en-US" altLang="ko-KR" sz="2600" b="1" i="0" u="sng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85560" lvl="0" indent="-38556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15 articles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, mostly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Balloon Analogue Risk Task (BART) and the Game of Dice Task (GDT)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,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measuring risk-taking levels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,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and </a:t>
            </a:r>
            <a:r>
              <a:rPr xmlns:mc="http://schemas.openxmlformats.org/markup-compatibility/2006" xmlns:hp="http://schemas.haansoft.com/office/presentation/8.0" lang="ko-KR" alt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delay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discounting tasks (DDT),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quantifying delay discounting and impulsivity</a:t>
            </a:r>
            <a:endPara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85560" lvl="0" indent="-38556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Risk taking: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p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romising results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-&gt;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reduced risk-taking levels found even in single-session NIBS treatments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(more consistent effects in r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epeated sessions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)</a:t>
            </a:r>
            <a:endPara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85560" lvl="0" indent="-38556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Del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ay discounting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/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impulsivity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: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h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eterogeneity of results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85560" lvl="0" indent="-38556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Evidence points to the superior effects of NIBS combined with cognitive or behavioral training interventions, 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</p:txBody>
      </p:sp>
      <p:sp>
        <p:nvSpPr>
          <p:cNvPr id="124" name="가로 글상자 123"/>
          <p:cNvSpPr txBox="1"/>
          <p:nvPr/>
        </p:nvSpPr>
        <p:spPr>
          <a:xfrm>
            <a:off x="17028318" y="29537404"/>
            <a:ext cx="14339098" cy="5371732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>
              <a:lnSpc>
                <a:spcPct val="115000"/>
              </a:lnSpc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2600" b="1" i="0" u="sng" strike="noStrike" baseline="0" mc:Ignorable="hp" hp:hslEmbossed="0">
                <a:latin typeface="맑은 고딕"/>
                <a:ea typeface="맑은 고딕"/>
                <a:cs typeface="Times New Roman"/>
              </a:rPr>
              <a:t>4) Reward Processing and Learning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endPara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71280" lvl="0" indent="-37128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8 articles,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Monetary Incentive Delay (MID) task, and the T-maze task,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for measuring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blunted sensitivity to rewards, and Iowa Gambling Task (IGT), to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assess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learning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and decision-making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under ambiguity 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71280" lvl="0" indent="-371280">
              <a:lnSpc>
                <a:spcPct val="115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P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refrontal rTMS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could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enhanc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 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reward-related neurophysiological responses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(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“reward positivity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”: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an essential signal for value updating in reinforcement learning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)</a:t>
            </a:r>
            <a:endPara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71280" lvl="0" indent="-371280" algn="just">
              <a:lnSpc>
                <a:spcPct val="115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o changes found in reward anticipation measured in MID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371280" lvl="0" indent="-371280" algn="just">
              <a:lnSpc>
                <a:spcPct val="115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E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nhanced task performance consistently found in IGT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, but </a:t>
            </a:r>
            <a:r>
              <a:rPr xmlns:mc="http://schemas.openxmlformats.org/markup-compatibility/2006" xmlns:hp="http://schemas.haansoft.com/office/presentation/8.0" lang="en-US" altLang="ko-KR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assesments were </a:t>
            </a:r>
            <a:r>
              <a:rPr xmlns:mc="http://schemas.openxmlformats.org/markup-compatibility/2006" xmlns:hp="http://schemas.haansoft.com/office/presentation/8.0" lang="EN-US" sz="2600" b="1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constrained to the overall augmentation in performance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without examination of the 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sophisticated task </a:t>
            </a:r>
            <a:r>
              <a:rPr xmlns:mc="http://schemas.openxmlformats.org/markup-compatibility/2006" xmlns:hp="http://schemas.haansoft.com/office/presentation/8.0" lang="en-US" altLang="ko-KR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regarding</a:t>
            </a:r>
            <a:r>
              <a:rPr xmlns:mc="http://schemas.openxmlformats.org/markup-compatibility/2006" xmlns:hp="http://schemas.haansoft.com/office/presentation/8.0" lang="EN-US" sz="2600" b="0" i="0" u="none" strike="noStrike" baseline="0" mc:Ignorable="hp" hp:hslEmbossed="0">
                <a:latin typeface="맑은 고딕"/>
                <a:ea typeface="맑은 고딕"/>
                <a:cs typeface="Times New Roman"/>
              </a:rPr>
              <a:t> learning, ambiguity processing, and decision making</a:t>
            </a:r>
            <a:endParaRPr xmlns:mc="http://schemas.openxmlformats.org/markup-compatibility/2006" xmlns:hp="http://schemas.haansoft.com/office/presentation/8.0" lang="EN-US" sz="2600" b="0" i="0" u="none" strike="noStrike" baseline="0" mc:Ignorable="hp" hp:hslEmbossed="0">
              <a:latin typeface="맑은 고딕"/>
              <a:ea typeface="맑은 고딕"/>
              <a:cs typeface="Times New Roman"/>
            </a:endParaRPr>
          </a:p>
          <a:p>
            <a:pPr marL="214200" lvl="0" indent="-214200">
              <a:lnSpc>
                <a:spcPct val="115000"/>
              </a:lnSpc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lang="EN-US" sz="1500" b="0" i="0" u="none" strike="noStrike" baseline="0" mc:Ignorable="hp" hp:hslEmbossed="0">
              <a:latin typeface="Times New Roman"/>
              <a:ea typeface="맑은 고딕"/>
              <a:cs typeface="Times New Roman"/>
            </a:endParaRPr>
          </a:p>
          <a:p>
            <a:pPr marL="214200" lvl="0" indent="-214200">
              <a:lnSpc>
                <a:spcPct val="115000"/>
              </a:lnSpc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lang="EN-US" sz="1500" b="0" i="0" u="none" strike="noStrike" baseline="0" mc:Ignorable="hp" hp:hslEmbossed="0"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25" name="그림 12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569702" y="8291612"/>
            <a:ext cx="7707013" cy="4903614"/>
          </a:xfrm>
          <a:prstGeom prst="rect">
            <a:avLst/>
          </a:prstGeom>
        </p:spPr>
      </p:pic>
      <p:pic>
        <p:nvPicPr>
          <p:cNvPr id="127" name="그림 12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1343144" y="20759388"/>
            <a:ext cx="10145707" cy="8434238"/>
          </a:xfrm>
          <a:prstGeom prst="rect">
            <a:avLst/>
          </a:prstGeom>
        </p:spPr>
      </p:pic>
      <p:pic>
        <p:nvPicPr>
          <p:cNvPr id="126" name="그림 12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343776" y="22495778"/>
            <a:ext cx="4975686" cy="5033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596</ep:Words>
  <ep:PresentationFormat>사용자 지정</ep:PresentationFormat>
  <ep:Paragraphs>45</ep:Paragraphs>
  <ep:Slides>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테마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2016-10-11T09:46:40.000</dcterms:created>
  <dc:creator>Brain</dc:creator>
  <cp:lastModifiedBy>Lenovo</cp:lastModifiedBy>
  <dcterms:modified xsi:type="dcterms:W3CDTF">2025-12-12T13:59:24.988</dcterms:modified>
  <cp:revision>46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