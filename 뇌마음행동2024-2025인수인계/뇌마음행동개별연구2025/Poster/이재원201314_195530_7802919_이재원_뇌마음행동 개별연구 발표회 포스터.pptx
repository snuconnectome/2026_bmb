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399288" cy="43200638"/>
  <p:notesSz cx="7099300" cy="10234613"/>
  <p:embeddedFontLst>
    <p:embeddedFont>
      <p:font typeface="210 나무고딕 EB" panose="02020603020101020101" pitchFamily="18" charset="-127"/>
      <p:regular r:id="rId4"/>
    </p:embeddedFont>
    <p:embeddedFont>
      <p:font typeface="Cambria Math" panose="02040503050406030204" pitchFamily="18" charset="0"/>
      <p:regular r:id="rId5"/>
    </p:embeddedFont>
    <p:embeddedFont>
      <p:font typeface="나눔고딕 ExtraBold" panose="020D0904000000000000" pitchFamily="50" charset="-127"/>
      <p:bold r:id="rId6"/>
    </p:embeddedFont>
    <p:embeddedFont>
      <p:font typeface="나눔고딕 Light" panose="020D0904000000000000" pitchFamily="50" charset="-127"/>
      <p:regular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 roundtripDataSignature="AMtx7mgQQex2AJcqbRTXDH5A0xWDSmUd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924" autoAdjust="0"/>
    <p:restoredTop sz="94716"/>
  </p:normalViewPr>
  <p:slideViewPr>
    <p:cSldViewPr snapToGrid="0">
      <p:cViewPr>
        <p:scale>
          <a:sx n="15" d="100"/>
          <a:sy n="15" d="100"/>
        </p:scale>
        <p:origin x="2655"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customschemas.google.com/relationships/presentationmetadata" Target="meta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25" y="4861425"/>
            <a:ext cx="56794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09925" y="4861425"/>
            <a:ext cx="56794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2429947" y="7070108"/>
            <a:ext cx="27539395" cy="1504022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4049912" y="22690339"/>
            <a:ext cx="24299466" cy="1043015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342"/>
              </a:spcBef>
              <a:spcAft>
                <a:spcPts val="0"/>
              </a:spcAft>
              <a:buClr>
                <a:schemeClr val="dk1"/>
              </a:buClr>
              <a:buSzPts val="7946"/>
              <a:buNone/>
              <a:defRPr sz="8020"/>
            </a:lvl1pPr>
            <a:lvl2pPr lvl="1" algn="ctr">
              <a:lnSpc>
                <a:spcPct val="90000"/>
              </a:lnSpc>
              <a:spcBef>
                <a:spcPts val="1670"/>
              </a:spcBef>
              <a:spcAft>
                <a:spcPts val="0"/>
              </a:spcAft>
              <a:buClr>
                <a:schemeClr val="dk1"/>
              </a:buClr>
              <a:buSzPts val="6622"/>
              <a:buNone/>
              <a:defRPr sz="6684"/>
            </a:lvl2pPr>
            <a:lvl3pPr lvl="2" algn="ctr">
              <a:lnSpc>
                <a:spcPct val="90000"/>
              </a:lnSpc>
              <a:spcBef>
                <a:spcPts val="1670"/>
              </a:spcBef>
              <a:spcAft>
                <a:spcPts val="0"/>
              </a:spcAft>
              <a:buClr>
                <a:schemeClr val="dk1"/>
              </a:buClr>
              <a:buSzPts val="5960"/>
              <a:buNone/>
              <a:defRPr sz="6015"/>
            </a:lvl3pPr>
            <a:lvl4pPr lvl="3" algn="ctr">
              <a:lnSpc>
                <a:spcPct val="90000"/>
              </a:lnSpc>
              <a:spcBef>
                <a:spcPts val="1670"/>
              </a:spcBef>
              <a:spcAft>
                <a:spcPts val="0"/>
              </a:spcAft>
              <a:buClr>
                <a:schemeClr val="dk1"/>
              </a:buClr>
              <a:buSzPts val="5297"/>
              <a:buNone/>
              <a:defRPr sz="5346"/>
            </a:lvl4pPr>
            <a:lvl5pPr lvl="4" algn="ctr">
              <a:lnSpc>
                <a:spcPct val="90000"/>
              </a:lnSpc>
              <a:spcBef>
                <a:spcPts val="1670"/>
              </a:spcBef>
              <a:spcAft>
                <a:spcPts val="0"/>
              </a:spcAft>
              <a:buClr>
                <a:schemeClr val="dk1"/>
              </a:buClr>
              <a:buSzPts val="5297"/>
              <a:buNone/>
              <a:defRPr sz="5346"/>
            </a:lvl5pPr>
            <a:lvl6pPr lvl="5" algn="ctr">
              <a:lnSpc>
                <a:spcPct val="90000"/>
              </a:lnSpc>
              <a:spcBef>
                <a:spcPts val="1670"/>
              </a:spcBef>
              <a:spcAft>
                <a:spcPts val="0"/>
              </a:spcAft>
              <a:buClr>
                <a:schemeClr val="dk1"/>
              </a:buClr>
              <a:buSzPts val="5297"/>
              <a:buNone/>
              <a:defRPr sz="5346"/>
            </a:lvl6pPr>
            <a:lvl7pPr lvl="6" algn="ctr">
              <a:lnSpc>
                <a:spcPct val="90000"/>
              </a:lnSpc>
              <a:spcBef>
                <a:spcPts val="1670"/>
              </a:spcBef>
              <a:spcAft>
                <a:spcPts val="0"/>
              </a:spcAft>
              <a:buClr>
                <a:schemeClr val="dk1"/>
              </a:buClr>
              <a:buSzPts val="5297"/>
              <a:buNone/>
              <a:defRPr sz="5346"/>
            </a:lvl7pPr>
            <a:lvl8pPr lvl="7" algn="ctr">
              <a:lnSpc>
                <a:spcPct val="90000"/>
              </a:lnSpc>
              <a:spcBef>
                <a:spcPts val="1670"/>
              </a:spcBef>
              <a:spcAft>
                <a:spcPts val="0"/>
              </a:spcAft>
              <a:buClr>
                <a:schemeClr val="dk1"/>
              </a:buClr>
              <a:buSzPts val="5297"/>
              <a:buNone/>
              <a:defRPr sz="5346"/>
            </a:lvl8pPr>
            <a:lvl9pPr lvl="8" algn="ctr">
              <a:lnSpc>
                <a:spcPct val="90000"/>
              </a:lnSpc>
              <a:spcBef>
                <a:spcPts val="1670"/>
              </a:spcBef>
              <a:spcAft>
                <a:spcPts val="0"/>
              </a:spcAft>
              <a:buClr>
                <a:schemeClr val="dk1"/>
              </a:buClr>
              <a:buSzPts val="5297"/>
              <a:buNone/>
              <a:defRPr sz="5346"/>
            </a:lvl9pPr>
          </a:lstStyle>
          <a:p>
            <a:endParaRPr/>
          </a:p>
        </p:txBody>
      </p:sp>
      <p:sp>
        <p:nvSpPr>
          <p:cNvPr id="18" name="Google Shape;18;p4"/>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210578" y="10770173"/>
            <a:ext cx="27944386" cy="179702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2210578" y="28910440"/>
            <a:ext cx="27944386" cy="9450136"/>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7946"/>
              <a:buNone/>
              <a:defRPr sz="8020">
                <a:solidFill>
                  <a:schemeClr val="dk1"/>
                </a:solidFill>
              </a:defRPr>
            </a:lvl1pPr>
            <a:lvl2pPr marL="922904" lvl="1" indent="-230726" algn="l">
              <a:lnSpc>
                <a:spcPct val="90000"/>
              </a:lnSpc>
              <a:spcBef>
                <a:spcPts val="1670"/>
              </a:spcBef>
              <a:spcAft>
                <a:spcPts val="0"/>
              </a:spcAft>
              <a:buClr>
                <a:srgbClr val="888888"/>
              </a:buClr>
              <a:buSzPts val="6622"/>
              <a:buNone/>
              <a:defRPr sz="6684">
                <a:solidFill>
                  <a:srgbClr val="888888"/>
                </a:solidFill>
              </a:defRPr>
            </a:lvl2pPr>
            <a:lvl3pPr marL="1384356" lvl="2" indent="-230726" algn="l">
              <a:lnSpc>
                <a:spcPct val="90000"/>
              </a:lnSpc>
              <a:spcBef>
                <a:spcPts val="1670"/>
              </a:spcBef>
              <a:spcAft>
                <a:spcPts val="0"/>
              </a:spcAft>
              <a:buClr>
                <a:srgbClr val="888888"/>
              </a:buClr>
              <a:buSzPts val="5960"/>
              <a:buNone/>
              <a:defRPr sz="6015">
                <a:solidFill>
                  <a:srgbClr val="888888"/>
                </a:solidFill>
              </a:defRPr>
            </a:lvl3pPr>
            <a:lvl4pPr marL="1845808" lvl="3" indent="-230726" algn="l">
              <a:lnSpc>
                <a:spcPct val="90000"/>
              </a:lnSpc>
              <a:spcBef>
                <a:spcPts val="1670"/>
              </a:spcBef>
              <a:spcAft>
                <a:spcPts val="0"/>
              </a:spcAft>
              <a:buClr>
                <a:srgbClr val="888888"/>
              </a:buClr>
              <a:buSzPts val="5297"/>
              <a:buNone/>
              <a:defRPr sz="5346">
                <a:solidFill>
                  <a:srgbClr val="888888"/>
                </a:solidFill>
              </a:defRPr>
            </a:lvl4pPr>
            <a:lvl5pPr marL="2307260" lvl="4" indent="-230726" algn="l">
              <a:lnSpc>
                <a:spcPct val="90000"/>
              </a:lnSpc>
              <a:spcBef>
                <a:spcPts val="1670"/>
              </a:spcBef>
              <a:spcAft>
                <a:spcPts val="0"/>
              </a:spcAft>
              <a:buClr>
                <a:srgbClr val="888888"/>
              </a:buClr>
              <a:buSzPts val="5297"/>
              <a:buNone/>
              <a:defRPr sz="5346">
                <a:solidFill>
                  <a:srgbClr val="888888"/>
                </a:solidFill>
              </a:defRPr>
            </a:lvl5pPr>
            <a:lvl6pPr marL="2768712" lvl="5" indent="-230726" algn="l">
              <a:lnSpc>
                <a:spcPct val="90000"/>
              </a:lnSpc>
              <a:spcBef>
                <a:spcPts val="1670"/>
              </a:spcBef>
              <a:spcAft>
                <a:spcPts val="0"/>
              </a:spcAft>
              <a:buClr>
                <a:srgbClr val="888888"/>
              </a:buClr>
              <a:buSzPts val="5297"/>
              <a:buNone/>
              <a:defRPr sz="5346">
                <a:solidFill>
                  <a:srgbClr val="888888"/>
                </a:solidFill>
              </a:defRPr>
            </a:lvl6pPr>
            <a:lvl7pPr marL="3230164" lvl="6" indent="-230726" algn="l">
              <a:lnSpc>
                <a:spcPct val="90000"/>
              </a:lnSpc>
              <a:spcBef>
                <a:spcPts val="1670"/>
              </a:spcBef>
              <a:spcAft>
                <a:spcPts val="0"/>
              </a:spcAft>
              <a:buClr>
                <a:srgbClr val="888888"/>
              </a:buClr>
              <a:buSzPts val="5297"/>
              <a:buNone/>
              <a:defRPr sz="5346">
                <a:solidFill>
                  <a:srgbClr val="888888"/>
                </a:solidFill>
              </a:defRPr>
            </a:lvl7pPr>
            <a:lvl8pPr marL="3691616" lvl="7" indent="-230726" algn="l">
              <a:lnSpc>
                <a:spcPct val="90000"/>
              </a:lnSpc>
              <a:spcBef>
                <a:spcPts val="1670"/>
              </a:spcBef>
              <a:spcAft>
                <a:spcPts val="0"/>
              </a:spcAft>
              <a:buClr>
                <a:srgbClr val="888888"/>
              </a:buClr>
              <a:buSzPts val="5297"/>
              <a:buNone/>
              <a:defRPr sz="5346">
                <a:solidFill>
                  <a:srgbClr val="888888"/>
                </a:solidFill>
              </a:defRPr>
            </a:lvl8pPr>
            <a:lvl9pPr marL="4153068" lvl="8" indent="-230726" algn="l">
              <a:lnSpc>
                <a:spcPct val="90000"/>
              </a:lnSpc>
              <a:spcBef>
                <a:spcPts val="1670"/>
              </a:spcBef>
              <a:spcAft>
                <a:spcPts val="0"/>
              </a:spcAft>
              <a:buClr>
                <a:srgbClr val="888888"/>
              </a:buClr>
              <a:buSzPts val="5297"/>
              <a:buNone/>
              <a:defRPr sz="5346">
                <a:solidFill>
                  <a:srgbClr val="888888"/>
                </a:solidFill>
              </a:defRPr>
            </a:lvl9pPr>
          </a:lstStyle>
          <a:p>
            <a:endParaRPr/>
          </a:p>
        </p:txBody>
      </p:sp>
      <p:sp>
        <p:nvSpPr>
          <p:cNvPr id="30" name="Google Shape;30;p6"/>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2227451"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16402139"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2231671"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2231675" y="10590160"/>
            <a:ext cx="13706415"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3" name="Google Shape;43;p8"/>
          <p:cNvSpPr txBox="1">
            <a:spLocks noGrp="1"/>
          </p:cNvSpPr>
          <p:nvPr>
            <p:ph type="body" idx="2"/>
          </p:nvPr>
        </p:nvSpPr>
        <p:spPr>
          <a:xfrm>
            <a:off x="2231675" y="15780234"/>
            <a:ext cx="13706415"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16402141" y="10590160"/>
            <a:ext cx="13773918"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5" name="Google Shape;45;p8"/>
          <p:cNvSpPr txBox="1">
            <a:spLocks noGrp="1"/>
          </p:cNvSpPr>
          <p:nvPr>
            <p:ph type="body" idx="4"/>
          </p:nvPr>
        </p:nvSpPr>
        <p:spPr>
          <a:xfrm>
            <a:off x="16402141" y="15780234"/>
            <a:ext cx="13773918"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773918" y="6220102"/>
            <a:ext cx="16402140" cy="30700453"/>
          </a:xfrm>
          <a:prstGeom prst="rect">
            <a:avLst/>
          </a:prstGeom>
          <a:noFill/>
          <a:ln>
            <a:noFill/>
          </a:ln>
        </p:spPr>
        <p:txBody>
          <a:bodyPr spcFirstLastPara="1" wrap="square" lIns="91425" tIns="45700" rIns="91425" bIns="45700" anchor="t" anchorCtr="0">
            <a:normAutofit/>
          </a:bodyPr>
          <a:lstStyle>
            <a:lvl1pPr marL="461452" lvl="0" indent="-909765" algn="l">
              <a:lnSpc>
                <a:spcPct val="90000"/>
              </a:lnSpc>
              <a:spcBef>
                <a:spcPts val="3342"/>
              </a:spcBef>
              <a:spcAft>
                <a:spcPts val="0"/>
              </a:spcAft>
              <a:buClr>
                <a:schemeClr val="dk1"/>
              </a:buClr>
              <a:buSzPts val="10595"/>
              <a:buChar char="•"/>
              <a:defRPr sz="10694"/>
            </a:lvl1pPr>
            <a:lvl2pPr marL="922904" lvl="1" indent="-824909" algn="l">
              <a:lnSpc>
                <a:spcPct val="90000"/>
              </a:lnSpc>
              <a:spcBef>
                <a:spcPts val="1670"/>
              </a:spcBef>
              <a:spcAft>
                <a:spcPts val="0"/>
              </a:spcAft>
              <a:buClr>
                <a:schemeClr val="dk1"/>
              </a:buClr>
              <a:buSzPts val="9271"/>
              <a:buChar char="•"/>
              <a:defRPr sz="9357"/>
            </a:lvl2pPr>
            <a:lvl3pPr marL="1384356" lvl="2" indent="-739989" algn="l">
              <a:lnSpc>
                <a:spcPct val="90000"/>
              </a:lnSpc>
              <a:spcBef>
                <a:spcPts val="1670"/>
              </a:spcBef>
              <a:spcAft>
                <a:spcPts val="0"/>
              </a:spcAft>
              <a:buClr>
                <a:schemeClr val="dk1"/>
              </a:buClr>
              <a:buSzPts val="7946"/>
              <a:buChar char="•"/>
              <a:defRPr sz="8020"/>
            </a:lvl3pPr>
            <a:lvl4pPr marL="1845808" lvl="3" indent="-655134" algn="l">
              <a:lnSpc>
                <a:spcPct val="90000"/>
              </a:lnSpc>
              <a:spcBef>
                <a:spcPts val="1670"/>
              </a:spcBef>
              <a:spcAft>
                <a:spcPts val="0"/>
              </a:spcAft>
              <a:buClr>
                <a:schemeClr val="dk1"/>
              </a:buClr>
              <a:buSzPts val="6622"/>
              <a:buChar char="•"/>
              <a:defRPr sz="6684"/>
            </a:lvl4pPr>
            <a:lvl5pPr marL="2307260" lvl="4" indent="-655134" algn="l">
              <a:lnSpc>
                <a:spcPct val="90000"/>
              </a:lnSpc>
              <a:spcBef>
                <a:spcPts val="1670"/>
              </a:spcBef>
              <a:spcAft>
                <a:spcPts val="0"/>
              </a:spcAft>
              <a:buClr>
                <a:schemeClr val="dk1"/>
              </a:buClr>
              <a:buSzPts val="6622"/>
              <a:buChar char="•"/>
              <a:defRPr sz="6684"/>
            </a:lvl5pPr>
            <a:lvl6pPr marL="2768712" lvl="5" indent="-655134" algn="l">
              <a:lnSpc>
                <a:spcPct val="90000"/>
              </a:lnSpc>
              <a:spcBef>
                <a:spcPts val="1670"/>
              </a:spcBef>
              <a:spcAft>
                <a:spcPts val="0"/>
              </a:spcAft>
              <a:buClr>
                <a:schemeClr val="dk1"/>
              </a:buClr>
              <a:buSzPts val="6622"/>
              <a:buChar char="•"/>
              <a:defRPr sz="6684"/>
            </a:lvl6pPr>
            <a:lvl7pPr marL="3230164" lvl="6" indent="-655134" algn="l">
              <a:lnSpc>
                <a:spcPct val="90000"/>
              </a:lnSpc>
              <a:spcBef>
                <a:spcPts val="1670"/>
              </a:spcBef>
              <a:spcAft>
                <a:spcPts val="0"/>
              </a:spcAft>
              <a:buClr>
                <a:schemeClr val="dk1"/>
              </a:buClr>
              <a:buSzPts val="6622"/>
              <a:buChar char="•"/>
              <a:defRPr sz="6684"/>
            </a:lvl7pPr>
            <a:lvl8pPr marL="3691616" lvl="7" indent="-655134" algn="l">
              <a:lnSpc>
                <a:spcPct val="90000"/>
              </a:lnSpc>
              <a:spcBef>
                <a:spcPts val="1670"/>
              </a:spcBef>
              <a:spcAft>
                <a:spcPts val="0"/>
              </a:spcAft>
              <a:buClr>
                <a:schemeClr val="dk1"/>
              </a:buClr>
              <a:buSzPts val="6622"/>
              <a:buChar char="•"/>
              <a:defRPr sz="6684"/>
            </a:lvl8pPr>
            <a:lvl9pPr marL="4153068" lvl="8" indent="-655133" algn="l">
              <a:lnSpc>
                <a:spcPct val="90000"/>
              </a:lnSpc>
              <a:spcBef>
                <a:spcPts val="1670"/>
              </a:spcBef>
              <a:spcAft>
                <a:spcPts val="0"/>
              </a:spcAft>
              <a:buClr>
                <a:schemeClr val="dk1"/>
              </a:buClr>
              <a:buSzPts val="6622"/>
              <a:buChar char="•"/>
              <a:defRPr sz="6684"/>
            </a:lvl9pPr>
          </a:lstStyle>
          <a:p>
            <a:endParaRPr/>
          </a:p>
        </p:txBody>
      </p:sp>
      <p:sp>
        <p:nvSpPr>
          <p:cNvPr id="57" name="Google Shape;57;p10"/>
          <p:cNvSpPr txBox="1">
            <a:spLocks noGrp="1"/>
          </p:cNvSpPr>
          <p:nvPr>
            <p:ph type="body" idx="2"/>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58" name="Google Shape;58;p10"/>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3773918" y="6220102"/>
            <a:ext cx="16402140" cy="30700453"/>
          </a:xfrm>
          <a:prstGeom prst="rect">
            <a:avLst/>
          </a:prstGeom>
          <a:noFill/>
          <a:ln>
            <a:noFill/>
          </a:ln>
        </p:spPr>
      </p:sp>
      <p:sp>
        <p:nvSpPr>
          <p:cNvPr id="64" name="Google Shape;64;p11"/>
          <p:cNvSpPr txBox="1">
            <a:spLocks noGrp="1"/>
          </p:cNvSpPr>
          <p:nvPr>
            <p:ph type="body" idx="1"/>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65" name="Google Shape;65;p11"/>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494441" y="11233180"/>
            <a:ext cx="27410408" cy="27944386"/>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373519" y="17112258"/>
            <a:ext cx="36610544" cy="69860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801169" y="10328658"/>
            <a:ext cx="36610544" cy="2055329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568"/>
              <a:buFont typeface="Calibri"/>
              <a:buNone/>
              <a:defRPr sz="14567"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57200" marR="0" lvl="0" indent="-817308" algn="l" rtl="0">
              <a:lnSpc>
                <a:spcPct val="90000"/>
              </a:lnSpc>
              <a:spcBef>
                <a:spcPts val="3311"/>
              </a:spcBef>
              <a:spcAft>
                <a:spcPts val="0"/>
              </a:spcAft>
              <a:buClr>
                <a:schemeClr val="dk1"/>
              </a:buClr>
              <a:buSzPts val="9271"/>
              <a:buFont typeface="Arial"/>
              <a:buChar char="•"/>
              <a:defRPr sz="9271" b="0" i="0" u="none" strike="noStrike" cap="none">
                <a:solidFill>
                  <a:schemeClr val="dk1"/>
                </a:solidFill>
                <a:latin typeface="Calibri"/>
                <a:ea typeface="Calibri"/>
                <a:cs typeface="Calibri"/>
                <a:sym typeface="Calibri"/>
              </a:defRPr>
            </a:lvl1pPr>
            <a:lvl2pPr marL="914400" marR="0" lvl="1" indent="-733171" algn="l" rtl="0">
              <a:lnSpc>
                <a:spcPct val="90000"/>
              </a:lnSpc>
              <a:spcBef>
                <a:spcPts val="1655"/>
              </a:spcBef>
              <a:spcAft>
                <a:spcPts val="0"/>
              </a:spcAft>
              <a:buClr>
                <a:schemeClr val="dk1"/>
              </a:buClr>
              <a:buSzPts val="7946"/>
              <a:buFont typeface="Arial"/>
              <a:buChar char="•"/>
              <a:defRPr sz="7946" b="0" i="0" u="none" strike="noStrike" cap="none">
                <a:solidFill>
                  <a:schemeClr val="dk1"/>
                </a:solidFill>
                <a:latin typeface="Calibri"/>
                <a:ea typeface="Calibri"/>
                <a:cs typeface="Calibri"/>
                <a:sym typeface="Calibri"/>
              </a:defRPr>
            </a:lvl2pPr>
            <a:lvl3pPr marL="1371600" marR="0" lvl="2" indent="-649097" algn="l" rtl="0">
              <a:lnSpc>
                <a:spcPct val="90000"/>
              </a:lnSpc>
              <a:spcBef>
                <a:spcPts val="1655"/>
              </a:spcBef>
              <a:spcAft>
                <a:spcPts val="0"/>
              </a:spcAft>
              <a:buClr>
                <a:schemeClr val="dk1"/>
              </a:buClr>
              <a:buSzPts val="6622"/>
              <a:buFont typeface="Arial"/>
              <a:buChar char="•"/>
              <a:defRPr sz="6622" b="0" i="0" u="none" strike="noStrike" cap="none">
                <a:solidFill>
                  <a:schemeClr val="dk1"/>
                </a:solidFill>
                <a:latin typeface="Calibri"/>
                <a:ea typeface="Calibri"/>
                <a:cs typeface="Calibri"/>
                <a:sym typeface="Calibri"/>
              </a:defRPr>
            </a:lvl3pPr>
            <a:lvl4pPr marL="1828800" marR="0" lvl="3"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4pPr>
            <a:lvl5pPr marL="2286000" marR="0" lvl="4"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5pPr>
            <a:lvl6pPr marL="2743200" marR="0" lvl="5"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6pPr>
            <a:lvl7pPr marL="3200400" marR="0" lvl="6"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7pPr>
            <a:lvl8pPr marL="3657600" marR="0" lvl="7"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8pPr>
            <a:lvl9pPr marL="4114800" marR="0" lvl="8" indent="-607059"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010" b="0" i="0" u="none" strike="noStrike" cap="none">
                <a:solidFill>
                  <a:srgbClr val="888888"/>
                </a:solidFill>
                <a:latin typeface="Calibri"/>
                <a:ea typeface="Calibri"/>
                <a:cs typeface="Calibri"/>
                <a:sym typeface="Calibri"/>
              </a:defRPr>
            </a:lvl1pPr>
            <a:lvl2pPr marL="0" marR="0" lvl="1" indent="0" algn="r" rtl="0">
              <a:spcBef>
                <a:spcPts val="0"/>
              </a:spcBef>
              <a:buNone/>
              <a:defRPr sz="4010" b="0" i="0" u="none" strike="noStrike" cap="none">
                <a:solidFill>
                  <a:srgbClr val="888888"/>
                </a:solidFill>
                <a:latin typeface="Calibri"/>
                <a:ea typeface="Calibri"/>
                <a:cs typeface="Calibri"/>
                <a:sym typeface="Calibri"/>
              </a:defRPr>
            </a:lvl2pPr>
            <a:lvl3pPr marL="0" marR="0" lvl="2" indent="0" algn="r" rtl="0">
              <a:spcBef>
                <a:spcPts val="0"/>
              </a:spcBef>
              <a:buNone/>
              <a:defRPr sz="4010" b="0" i="0" u="none" strike="noStrike" cap="none">
                <a:solidFill>
                  <a:srgbClr val="888888"/>
                </a:solidFill>
                <a:latin typeface="Calibri"/>
                <a:ea typeface="Calibri"/>
                <a:cs typeface="Calibri"/>
                <a:sym typeface="Calibri"/>
              </a:defRPr>
            </a:lvl3pPr>
            <a:lvl4pPr marL="0" marR="0" lvl="3" indent="0" algn="r" rtl="0">
              <a:spcBef>
                <a:spcPts val="0"/>
              </a:spcBef>
              <a:buNone/>
              <a:defRPr sz="4010" b="0" i="0" u="none" strike="noStrike" cap="none">
                <a:solidFill>
                  <a:srgbClr val="888888"/>
                </a:solidFill>
                <a:latin typeface="Calibri"/>
                <a:ea typeface="Calibri"/>
                <a:cs typeface="Calibri"/>
                <a:sym typeface="Calibri"/>
              </a:defRPr>
            </a:lvl4pPr>
            <a:lvl5pPr marL="0" marR="0" lvl="4" indent="0" algn="r" rtl="0">
              <a:spcBef>
                <a:spcPts val="0"/>
              </a:spcBef>
              <a:buNone/>
              <a:defRPr sz="4010" b="0" i="0" u="none" strike="noStrike" cap="none">
                <a:solidFill>
                  <a:srgbClr val="888888"/>
                </a:solidFill>
                <a:latin typeface="Calibri"/>
                <a:ea typeface="Calibri"/>
                <a:cs typeface="Calibri"/>
                <a:sym typeface="Calibri"/>
              </a:defRPr>
            </a:lvl5pPr>
            <a:lvl6pPr marL="0" marR="0" lvl="5" indent="0" algn="r" rtl="0">
              <a:spcBef>
                <a:spcPts val="0"/>
              </a:spcBef>
              <a:buNone/>
              <a:defRPr sz="4010" b="0" i="0" u="none" strike="noStrike" cap="none">
                <a:solidFill>
                  <a:srgbClr val="888888"/>
                </a:solidFill>
                <a:latin typeface="Calibri"/>
                <a:ea typeface="Calibri"/>
                <a:cs typeface="Calibri"/>
                <a:sym typeface="Calibri"/>
              </a:defRPr>
            </a:lvl6pPr>
            <a:lvl7pPr marL="0" marR="0" lvl="6" indent="0" algn="r" rtl="0">
              <a:spcBef>
                <a:spcPts val="0"/>
              </a:spcBef>
              <a:buNone/>
              <a:defRPr sz="4010" b="0" i="0" u="none" strike="noStrike" cap="none">
                <a:solidFill>
                  <a:srgbClr val="888888"/>
                </a:solidFill>
                <a:latin typeface="Calibri"/>
                <a:ea typeface="Calibri"/>
                <a:cs typeface="Calibri"/>
                <a:sym typeface="Calibri"/>
              </a:defRPr>
            </a:lvl7pPr>
            <a:lvl8pPr marL="0" marR="0" lvl="7" indent="0" algn="r" rtl="0">
              <a:spcBef>
                <a:spcPts val="0"/>
              </a:spcBef>
              <a:buNone/>
              <a:defRPr sz="4010" b="0" i="0" u="none" strike="noStrike" cap="none">
                <a:solidFill>
                  <a:srgbClr val="888888"/>
                </a:solidFill>
                <a:latin typeface="Calibri"/>
                <a:ea typeface="Calibri"/>
                <a:cs typeface="Calibri"/>
                <a:sym typeface="Calibri"/>
              </a:defRPr>
            </a:lvl8pPr>
            <a:lvl9pPr marL="0" marR="0" lvl="8" indent="0" algn="r" rtl="0">
              <a:spcBef>
                <a:spcPts val="0"/>
              </a:spcBef>
              <a:buNone/>
              <a:defRPr sz="401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6473559" y="1106334"/>
            <a:ext cx="19422990" cy="5077719"/>
          </a:xfrm>
          <a:prstGeom prst="rect">
            <a:avLst/>
          </a:prstGeom>
          <a:noFill/>
          <a:ln>
            <a:noFill/>
          </a:ln>
        </p:spPr>
        <p:txBody>
          <a:bodyPr spcFirstLastPara="1" wrap="square" lIns="92273" tIns="46124" rIns="92273" bIns="46124" anchor="t" anchorCtr="0">
            <a:spAutoFit/>
          </a:bodyPr>
          <a:lstStyle/>
          <a:p>
            <a:pPr algn="ctr"/>
            <a:r>
              <a:rPr lang="en-US" altLang="ko-KR" sz="8074" b="1" dirty="0">
                <a:solidFill>
                  <a:schemeClr val="dk1"/>
                </a:solidFill>
              </a:rPr>
              <a:t>Hierarchical Emergence of Emotion </a:t>
            </a:r>
          </a:p>
          <a:p>
            <a:pPr algn="ctr"/>
            <a:r>
              <a:rPr lang="en-US" altLang="ko-KR" sz="8074" b="1" dirty="0">
                <a:solidFill>
                  <a:schemeClr val="dk1"/>
                </a:solidFill>
              </a:rPr>
              <a:t>in Deep Visual Representations</a:t>
            </a:r>
          </a:p>
          <a:p>
            <a:pPr algn="ctr"/>
            <a:endParaRPr sz="1461" dirty="0"/>
          </a:p>
          <a:p>
            <a:pPr algn="ctr"/>
            <a:endParaRPr sz="1461" dirty="0"/>
          </a:p>
          <a:p>
            <a:pPr algn="ctr"/>
            <a:endParaRPr sz="2422" dirty="0">
              <a:solidFill>
                <a:schemeClr val="dk1"/>
              </a:solidFill>
              <a:latin typeface="Calibri"/>
              <a:ea typeface="Calibri"/>
              <a:cs typeface="Calibri"/>
              <a:sym typeface="Calibri"/>
            </a:endParaRPr>
          </a:p>
          <a:p>
            <a:pPr algn="ctr"/>
            <a:r>
              <a:rPr lang="en-US" sz="3633" dirty="0" err="1">
                <a:solidFill>
                  <a:schemeClr val="dk1"/>
                </a:solidFill>
                <a:latin typeface="Calibri"/>
                <a:ea typeface="Calibri"/>
                <a:cs typeface="Calibri"/>
                <a:sym typeface="Calibri"/>
              </a:rPr>
              <a:t>서울대학교</a:t>
            </a:r>
            <a:r>
              <a:rPr lang="en-US" sz="3633" dirty="0">
                <a:solidFill>
                  <a:schemeClr val="dk1"/>
                </a:solidFill>
                <a:latin typeface="Calibri"/>
                <a:ea typeface="Calibri"/>
                <a:cs typeface="Calibri"/>
                <a:sym typeface="Calibri"/>
              </a:rPr>
              <a:t> </a:t>
            </a:r>
            <a:r>
              <a:rPr lang="ko-KR" altLang="en-US" sz="3633" dirty="0">
                <a:solidFill>
                  <a:schemeClr val="dk1"/>
                </a:solidFill>
                <a:latin typeface="Calibri"/>
                <a:ea typeface="Calibri"/>
                <a:cs typeface="Calibri"/>
                <a:sym typeface="Calibri"/>
              </a:rPr>
              <a:t>농경제사회학부 </a:t>
            </a:r>
            <a:r>
              <a:rPr lang="ko-KR" altLang="en-US" sz="3633" dirty="0" err="1">
                <a:solidFill>
                  <a:schemeClr val="dk1"/>
                </a:solidFill>
                <a:latin typeface="Calibri"/>
                <a:ea typeface="Calibri"/>
                <a:cs typeface="Calibri"/>
                <a:sym typeface="Calibri"/>
              </a:rPr>
              <a:t>지역정보학전공</a:t>
            </a:r>
            <a:endParaRPr sz="3633" dirty="0">
              <a:solidFill>
                <a:schemeClr val="dk1"/>
              </a:solidFill>
              <a:latin typeface="Calibri"/>
              <a:ea typeface="Calibri"/>
              <a:cs typeface="Calibri"/>
              <a:sym typeface="Calibri"/>
            </a:endParaRPr>
          </a:p>
          <a:p>
            <a:pPr algn="ctr"/>
            <a:r>
              <a:rPr lang="ko-KR" altLang="en-US" sz="3633" dirty="0">
                <a:solidFill>
                  <a:schemeClr val="dk1"/>
                </a:solidFill>
                <a:latin typeface="Calibri"/>
                <a:ea typeface="Calibri"/>
                <a:cs typeface="Calibri"/>
                <a:sym typeface="Calibri"/>
              </a:rPr>
              <a:t>이재원</a:t>
            </a:r>
            <a:endParaRPr sz="3633" dirty="0">
              <a:solidFill>
                <a:schemeClr val="dk1"/>
              </a:solidFill>
              <a:latin typeface="Calibri"/>
              <a:ea typeface="Calibri"/>
              <a:cs typeface="Calibri"/>
              <a:sym typeface="Calibri"/>
            </a:endParaRPr>
          </a:p>
          <a:p>
            <a:pPr algn="ctr"/>
            <a:r>
              <a:rPr lang="en-US" sz="3633" dirty="0">
                <a:solidFill>
                  <a:schemeClr val="dk1"/>
                </a:solidFill>
                <a:latin typeface="Calibri"/>
                <a:ea typeface="Calibri"/>
                <a:cs typeface="Calibri"/>
                <a:sym typeface="Calibri"/>
              </a:rPr>
              <a:t>spikasta@snu.ac.kr</a:t>
            </a:r>
            <a:endParaRPr sz="3633" dirty="0">
              <a:solidFill>
                <a:schemeClr val="dk1"/>
              </a:solidFill>
              <a:latin typeface="Calibri"/>
              <a:ea typeface="Calibri"/>
              <a:cs typeface="Calibri"/>
              <a:sym typeface="Calibri"/>
            </a:endParaRPr>
          </a:p>
        </p:txBody>
      </p:sp>
      <p:pic>
        <p:nvPicPr>
          <p:cNvPr id="85" name="Google Shape;85;p1"/>
          <p:cNvPicPr preferRelativeResize="0"/>
          <p:nvPr/>
        </p:nvPicPr>
        <p:blipFill rotWithShape="1">
          <a:blip r:embed="rId3">
            <a:alphaModFix/>
          </a:blip>
          <a:srcRect/>
          <a:stretch/>
        </p:blipFill>
        <p:spPr>
          <a:xfrm>
            <a:off x="2586898" y="754086"/>
            <a:ext cx="4365056" cy="4476197"/>
          </a:xfrm>
          <a:prstGeom prst="rect">
            <a:avLst/>
          </a:prstGeom>
          <a:noFill/>
          <a:ln>
            <a:noFill/>
          </a:ln>
        </p:spPr>
      </p:pic>
      <p:grpSp>
        <p:nvGrpSpPr>
          <p:cNvPr id="86" name="Google Shape;86;p1"/>
          <p:cNvGrpSpPr/>
          <p:nvPr/>
        </p:nvGrpSpPr>
        <p:grpSpPr>
          <a:xfrm>
            <a:off x="1638384" y="6288663"/>
            <a:ext cx="14170178" cy="6329428"/>
            <a:chOff x="699916" y="7415151"/>
            <a:chExt cx="19004401" cy="5904797"/>
          </a:xfrm>
        </p:grpSpPr>
        <p:sp>
          <p:nvSpPr>
            <p:cNvPr id="87" name="Google Shape;87;p1"/>
            <p:cNvSpPr/>
            <p:nvPr/>
          </p:nvSpPr>
          <p:spPr>
            <a:xfrm>
              <a:off x="699916" y="8525540"/>
              <a:ext cx="19002509" cy="4794408"/>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50000"/>
                </a:lnSpc>
                <a:buClr>
                  <a:schemeClr val="dk1"/>
                </a:buClr>
                <a:buSzPts val="3600"/>
              </a:pPr>
              <a:r>
                <a:rPr lang="en-US" altLang="ko-KR" sz="3200" b="1" dirty="0">
                  <a:solidFill>
                    <a:schemeClr val="dk1"/>
                  </a:solidFill>
                  <a:latin typeface="나눔고딕 ExtraBold" panose="020D0904000000000000" pitchFamily="50" charset="-127"/>
                  <a:ea typeface="나눔고딕 ExtraBold" panose="020D0904000000000000" pitchFamily="50" charset="-127"/>
                  <a:cs typeface="Batang"/>
                  <a:sym typeface="Batang"/>
                </a:rPr>
                <a:t>Emotion recognition is poorly understood in terms of where and how emotion-relevant information emerges within hierarchical visual representations. Using Convolutional Neural Network(CNN)s as computational analogs of the visual cortex, we can analyze how emotional signals are formed, concentrated and transferred across inside and different layer. Results suggest a canonical processing pipeline from early abstraction to mid-layer consolidation and final decision.</a:t>
              </a:r>
            </a:p>
            <a:p>
              <a:pPr algn="just">
                <a:lnSpc>
                  <a:spcPct val="150000"/>
                </a:lnSpc>
                <a:buClr>
                  <a:schemeClr val="dk1"/>
                </a:buClr>
                <a:buSzPts val="3600"/>
              </a:pPr>
              <a:r>
                <a:rPr lang="en-US" altLang="ko-KR" sz="3200" b="1" dirty="0">
                  <a:solidFill>
                    <a:schemeClr val="dk1"/>
                  </a:solidFill>
                  <a:latin typeface="나눔고딕 ExtraBold" panose="020D0904000000000000" pitchFamily="50" charset="-127"/>
                  <a:ea typeface="나눔고딕 ExtraBold" panose="020D0904000000000000" pitchFamily="50" charset="-127"/>
                  <a:cs typeface="Batang"/>
                  <a:sym typeface="Batang"/>
                </a:rPr>
                <a:t> </a:t>
              </a:r>
              <a:endParaRPr lang="ko-KR" altLang="en-US" sz="3200" b="1" dirty="0">
                <a:solidFill>
                  <a:schemeClr val="dk1"/>
                </a:solidFill>
                <a:latin typeface="나눔고딕 ExtraBold" panose="020D0904000000000000" pitchFamily="50" charset="-127"/>
                <a:ea typeface="나눔고딕 ExtraBold" panose="020D0904000000000000" pitchFamily="50" charset="-127"/>
                <a:cs typeface="Batang"/>
                <a:sym typeface="Batang"/>
              </a:endParaRPr>
            </a:p>
          </p:txBody>
        </p:sp>
        <p:sp>
          <p:nvSpPr>
            <p:cNvPr id="88" name="Google Shape;88;p1"/>
            <p:cNvSpPr/>
            <p:nvPr/>
          </p:nvSpPr>
          <p:spPr>
            <a:xfrm>
              <a:off x="699916" y="7415151"/>
              <a:ext cx="19004401" cy="1117147"/>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INTRODUCTION</a:t>
              </a:r>
              <a:endParaRPr sz="5450" b="1" dirty="0">
                <a:solidFill>
                  <a:srgbClr val="FFFFFF"/>
                </a:solidFill>
              </a:endParaRPr>
            </a:p>
          </p:txBody>
        </p:sp>
      </p:grpSp>
      <p:grpSp>
        <p:nvGrpSpPr>
          <p:cNvPr id="89" name="Google Shape;89;p1"/>
          <p:cNvGrpSpPr/>
          <p:nvPr/>
        </p:nvGrpSpPr>
        <p:grpSpPr>
          <a:xfrm>
            <a:off x="1633577" y="22013943"/>
            <a:ext cx="14176588" cy="20053603"/>
            <a:chOff x="416036" y="7585194"/>
            <a:chExt cx="16567491" cy="26224453"/>
          </a:xfrm>
        </p:grpSpPr>
        <mc:AlternateContent xmlns:mc="http://schemas.openxmlformats.org/markup-compatibility/2006">
          <mc:Choice xmlns:a14="http://schemas.microsoft.com/office/drawing/2010/main" Requires="a14">
            <p:sp>
              <p:nvSpPr>
                <p:cNvPr id="90" name="Google Shape;90;p1"/>
                <p:cNvSpPr/>
                <p:nvPr/>
              </p:nvSpPr>
              <p:spPr>
                <a:xfrm>
                  <a:off x="423527" y="8973251"/>
                  <a:ext cx="16560000" cy="24836396"/>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Stage 0 — Feature Extraction via Transfer Learning</a:t>
                  </a: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VGG16 and ResNet18 models to extract hierarchical feature activations from 120 emotion-labeled images (HAPPY, SAD, FEAR, NEUTRAL). Earlier layers were frozen to preserve general visual features, while deeper layers were fine-tuned to better capture emotion-relevant signals.</a:t>
                  </a:r>
                </a:p>
                <a:p>
                  <a:pPr algn="just"/>
                  <a:endParaRPr lang="en-US"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Stage 1 — Representational Similarity Analysis (RSA)</a:t>
                  </a: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RSA quantifies how well each CNN layer separates emotional categories by comparing within- vs. between-class similarity. All activations were flattened and z-scored.</a:t>
                  </a:r>
                  <a:endPar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𝑠</m:t>
                            </m:r>
                          </m:e>
                          <m:sub>
                            <m:r>
                              <a:rPr lang="ko-KR" altLang="ar-AE" sz="2800" i="1">
                                <a:latin typeface="Cambria Math" panose="02040503050406030204" pitchFamily="18" charset="0"/>
                              </a:rPr>
                              <m:t>𝑖𝑗</m:t>
                            </m:r>
                          </m:sub>
                        </m:sSub>
                        <m:r>
                          <a:rPr lang="ar-AE" altLang="ko-KR" sz="2800">
                            <a:latin typeface="Cambria Math" panose="02040503050406030204" pitchFamily="18" charset="0"/>
                          </a:rPr>
                          <m:t>=</m:t>
                        </m:r>
                        <m:r>
                          <a:rPr lang="ar-AE" altLang="ko-KR" sz="2800">
                            <a:latin typeface="Cambria Math" panose="02040503050406030204" pitchFamily="18" charset="0"/>
                          </a:rPr>
                          <m:t>1</m:t>
                        </m:r>
                        <m:r>
                          <a:rPr lang="ar-AE" altLang="ko-KR" sz="2800">
                            <a:latin typeface="Cambria Math" panose="02040503050406030204" pitchFamily="18" charset="0"/>
                          </a:rPr>
                          <m:t>−</m:t>
                        </m:r>
                        <m:f>
                          <m:fPr>
                            <m:ctrlPr>
                              <a:rPr lang="ar-AE" altLang="ko-KR" sz="2800" i="1">
                                <a:latin typeface="Cambria Math" panose="02040503050406030204" pitchFamily="18" charset="0"/>
                              </a:rPr>
                            </m:ctrlPr>
                          </m:fPr>
                          <m:num>
                            <m:sSub>
                              <m:sSubPr>
                                <m:ctrlPr>
                                  <a:rPr lang="ar-AE" altLang="ko-KR" sz="2800" i="1">
                                    <a:latin typeface="Cambria Math" panose="02040503050406030204" pitchFamily="18" charset="0"/>
                                  </a:rPr>
                                </m:ctrlPr>
                              </m:sSubPr>
                              <m:e>
                                <m:r>
                                  <a:rPr lang="ar-AE" altLang="ko-KR" sz="2800" i="1">
                                    <a:latin typeface="Cambria Math" panose="02040503050406030204" pitchFamily="18" charset="0"/>
                                  </a:rPr>
                                  <m:t>h</m:t>
                                </m:r>
                              </m:e>
                              <m:sub>
                                <m:r>
                                  <a:rPr lang="ko-KR" altLang="ar-AE" sz="2800" i="1">
                                    <a:latin typeface="Cambria Math" panose="02040503050406030204" pitchFamily="18" charset="0"/>
                                  </a:rPr>
                                  <m:t>𝑖</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ar-AE" altLang="ko-KR" sz="2800" i="1">
                                    <a:latin typeface="Cambria Math" panose="02040503050406030204" pitchFamily="18" charset="0"/>
                                  </a:rPr>
                                  <m:t>h</m:t>
                                </m:r>
                              </m:e>
                              <m:sub>
                                <m:r>
                                  <a:rPr lang="ko-KR" altLang="ar-AE" sz="2800" i="1">
                                    <a:latin typeface="Cambria Math" panose="02040503050406030204" pitchFamily="18" charset="0"/>
                                  </a:rPr>
                                  <m:t>𝑗</m:t>
                                </m:r>
                              </m:sub>
                            </m:sSub>
                          </m:num>
                          <m:den>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ar-AE" altLang="ko-KR" sz="2800" i="1">
                                    <a:latin typeface="Cambria Math" panose="02040503050406030204" pitchFamily="18" charset="0"/>
                                  </a:rPr>
                                  <m:t>h</m:t>
                                </m:r>
                              </m:e>
                              <m:sub>
                                <m:r>
                                  <a:rPr lang="ko-KR" altLang="ar-AE" sz="2800" i="1">
                                    <a:latin typeface="Cambria Math" panose="02040503050406030204" pitchFamily="18" charset="0"/>
                                  </a:rPr>
                                  <m:t>𝑖</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ar-AE" altLang="ko-KR" sz="2800" i="1">
                                    <a:latin typeface="Cambria Math" panose="02040503050406030204" pitchFamily="18" charset="0"/>
                                  </a:rPr>
                                  <m:t>h</m:t>
                                </m:r>
                              </m:e>
                              <m:sub>
                                <m:r>
                                  <a:rPr lang="ko-KR" altLang="ar-AE" sz="2800" i="1">
                                    <a:latin typeface="Cambria Math" panose="02040503050406030204" pitchFamily="18" charset="0"/>
                                  </a:rPr>
                                  <m:t>𝑗</m:t>
                                </m:r>
                              </m:sub>
                            </m:sSub>
                            <m:r>
                              <a:rPr lang="ar-AE" altLang="ko-KR" sz="2800">
                                <a:latin typeface="Cambria Math" panose="02040503050406030204" pitchFamily="18" charset="0"/>
                              </a:rPr>
                              <m:t>∥</m:t>
                            </m:r>
                          </m:den>
                        </m:f>
                      </m:oMath>
                    </m:oMathPara>
                  </a14:m>
                  <a:endParaRPr lang="ar-AE"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endPar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Stage 2 — Bayesian Channel Importance Estimation</a:t>
                  </a: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Each feature channel treated as a stochastic signal source whose reliability is estimated from its classification success/failure counts.</a:t>
                  </a: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Posterior for channel </a:t>
                  </a:r>
                  <a14:m>
                    <m:oMath xmlns:m="http://schemas.openxmlformats.org/officeDocument/2006/math">
                      <m:r>
                        <a:rPr lang="ko-KR" altLang="en-US" sz="2800" i="1">
                          <a:latin typeface="Cambria Math" panose="02040503050406030204" pitchFamily="18" charset="0"/>
                        </a:rPr>
                        <m:t>𝑘</m:t>
                      </m:r>
                    </m:oMath>
                  </a14:m>
                  <a:endPar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𝜃</m:t>
                            </m:r>
                          </m:e>
                          <m:sub>
                            <m:r>
                              <a:rPr lang="ko-KR" altLang="ar-AE" sz="2800" i="1">
                                <a:latin typeface="Cambria Math" panose="02040503050406030204" pitchFamily="18" charset="0"/>
                              </a:rPr>
                              <m:t>𝑘</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𝐷</m:t>
                            </m:r>
                          </m:e>
                          <m:sub>
                            <m:r>
                              <a:rPr lang="ko-KR" altLang="ar-AE" sz="2800" i="1">
                                <a:latin typeface="Cambria Math" panose="02040503050406030204" pitchFamily="18" charset="0"/>
                              </a:rPr>
                              <m:t>𝑘</m:t>
                            </m:r>
                          </m:sub>
                        </m:sSub>
                        <m:r>
                          <a:rPr lang="ar-AE" altLang="ko-KR" sz="2800">
                            <a:latin typeface="Cambria Math" panose="02040503050406030204" pitchFamily="18" charset="0"/>
                          </a:rPr>
                          <m:t>∼</m:t>
                        </m:r>
                        <m:r>
                          <m:rPr>
                            <m:nor/>
                          </m:rPr>
                          <a:rPr lang="en-US" altLang="ko-KR" sz="2800" i="1">
                            <a:latin typeface="나눔고딕 Light" panose="020D0904000000000000" pitchFamily="50" charset="-127"/>
                            <a:ea typeface="나눔고딕 Light" panose="020D0904000000000000" pitchFamily="50" charset="-127"/>
                            <a:cs typeface="Arial" panose="020B0604020202020204" pitchFamily="34" charset="0"/>
                          </a:rPr>
                          <m:t>Beta</m:t>
                        </m:r>
                        <m:d>
                          <m:dPr>
                            <m:sepChr m:val=","/>
                            <m:ctrlPr>
                              <a:rPr lang="ar-AE" altLang="ko-KR" sz="2800" i="1">
                                <a:latin typeface="Cambria Math" panose="02040503050406030204" pitchFamily="18" charset="0"/>
                              </a:rPr>
                            </m:ctrlPr>
                          </m:dPr>
                          <m:e>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𝛼</m:t>
                                </m:r>
                              </m:e>
                              <m:sub>
                                <m:r>
                                  <a:rPr lang="ko-KR" altLang="ar-AE" sz="2800" i="1">
                                    <a:latin typeface="Cambria Math" panose="02040503050406030204" pitchFamily="18" charset="0"/>
                                  </a:rPr>
                                  <m:t>𝑘</m:t>
                                </m:r>
                              </m:sub>
                            </m:sSub>
                          </m:e>
                          <m:e>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𝑠</m:t>
                                </m:r>
                              </m:e>
                              <m:sub>
                                <m:r>
                                  <a:rPr lang="ko-KR" altLang="ar-AE" sz="2800" i="1">
                                    <a:latin typeface="Cambria Math" panose="02040503050406030204" pitchFamily="18" charset="0"/>
                                  </a:rPr>
                                  <m:t>𝑘</m:t>
                                </m:r>
                              </m:sub>
                            </m:sSub>
                            <m:r>
                              <m:rPr>
                                <m:nor/>
                              </m:rPr>
                              <a:rPr lang="ar-AE" altLang="ko-KR" sz="2800" i="1">
                                <a:latin typeface="나눔고딕 Light" panose="020D0904000000000000" pitchFamily="50" charset="-127"/>
                                <a:ea typeface="나눔고딕 Light" panose="020D0904000000000000" pitchFamily="50" charset="-127"/>
                                <a:cs typeface="Arial" panose="020B0604020202020204" pitchFamily="34" charset="0"/>
                              </a:rPr>
                              <m:t>  </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𝛽</m:t>
                                </m:r>
                              </m:e>
                              <m:sub>
                                <m:r>
                                  <a:rPr lang="ko-KR" altLang="ar-AE" sz="2800" i="1">
                                    <a:latin typeface="Cambria Math" panose="02040503050406030204" pitchFamily="18" charset="0"/>
                                  </a:rPr>
                                  <m:t>𝑘</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𝑓</m:t>
                                </m:r>
                              </m:e>
                              <m:sub>
                                <m:r>
                                  <a:rPr lang="ko-KR" altLang="ar-AE" sz="2800" i="1">
                                    <a:latin typeface="Cambria Math" panose="02040503050406030204" pitchFamily="18" charset="0"/>
                                  </a:rPr>
                                  <m:t>𝑘</m:t>
                                </m:r>
                              </m:sub>
                            </m:sSub>
                          </m:e>
                        </m:d>
                      </m:oMath>
                    </m:oMathPara>
                  </a14:m>
                  <a:endParaRPr lang="ar-AE"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Thompson Sampling for channel ranking</a:t>
                  </a:r>
                </a:p>
                <a:p>
                  <a:pPr algn="just"/>
                  <a14:m>
                    <m:oMathPara xmlns:m="http://schemas.openxmlformats.org/officeDocument/2006/math">
                      <m:oMathParaPr>
                        <m:jc m:val="centerGroup"/>
                      </m:oMathParaPr>
                      <m:oMath xmlns:m="http://schemas.openxmlformats.org/officeDocument/2006/math">
                        <m:sSup>
                          <m:sSupPr>
                            <m:ctrlPr>
                              <a:rPr lang="ar-AE" altLang="ko-KR" sz="2800" i="1">
                                <a:latin typeface="Cambria Math" panose="02040503050406030204" pitchFamily="18" charset="0"/>
                              </a:rPr>
                            </m:ctrlPr>
                          </m:sSupPr>
                          <m:e>
                            <m:r>
                              <a:rPr lang="ko-KR" altLang="ar-AE" sz="2800" i="1">
                                <a:latin typeface="Cambria Math" panose="02040503050406030204" pitchFamily="18" charset="0"/>
                              </a:rPr>
                              <m:t>𝑘</m:t>
                            </m:r>
                          </m:e>
                          <m:sup>
                            <m:r>
                              <m:rPr>
                                <m:nor/>
                              </m:rPr>
                              <a:rPr lang="ar-AE" altLang="ko-KR" sz="2800" i="1">
                                <a:latin typeface="나눔고딕 Light" panose="020D0904000000000000" pitchFamily="50" charset="-127"/>
                                <a:ea typeface="나눔고딕 Light" panose="020D0904000000000000" pitchFamily="50" charset="-127"/>
                                <a:cs typeface="Arial" panose="020B0604020202020204" pitchFamily="34" charset="0"/>
                              </a:rPr>
                              <m:t>\</m:t>
                            </m:r>
                            <m:r>
                              <m:rPr>
                                <m:nor/>
                              </m:rPr>
                              <a:rPr lang="ar-AE" altLang="ko-KR" sz="2800" i="1">
                                <a:latin typeface="나눔고딕 Light" panose="020D0904000000000000" pitchFamily="50" charset="-127"/>
                                <a:ea typeface="나눔고딕 Light" panose="020D0904000000000000" pitchFamily="50" charset="-127"/>
                                <a:cs typeface="Arial" panose="020B0604020202020204" pitchFamily="34" charset="0"/>
                              </a:rPr>
                              <m:t>∗</m:t>
                            </m:r>
                          </m:sup>
                        </m:sSup>
                        <m:r>
                          <a:rPr lang="ar-AE" altLang="ko-KR" sz="2800">
                            <a:latin typeface="Cambria Math" panose="02040503050406030204" pitchFamily="18" charset="0"/>
                          </a:rPr>
                          <m:t>=</m:t>
                        </m:r>
                        <m:func>
                          <m:funcPr>
                            <m:ctrlPr>
                              <a:rPr lang="ar-AE" altLang="ko-KR" sz="2800" i="1">
                                <a:latin typeface="Cambria Math" panose="02040503050406030204" pitchFamily="18" charset="0"/>
                              </a:rPr>
                            </m:ctrlPr>
                          </m:funcPr>
                          <m:fName>
                            <m:r>
                              <m:rPr>
                                <m:sty m:val="p"/>
                              </m:rPr>
                              <a:rPr lang="en-US" altLang="ko-KR" sz="2800">
                                <a:latin typeface="Cambria Math" panose="02040503050406030204" pitchFamily="18" charset="0"/>
                              </a:rPr>
                              <m:t>arg</m:t>
                            </m:r>
                          </m:fName>
                          <m:e>
                            <m:limLow>
                              <m:limLowPr>
                                <m:ctrlPr>
                                  <a:rPr lang="ar-AE" altLang="ko-KR" sz="2800" i="1">
                                    <a:latin typeface="Cambria Math" panose="02040503050406030204" pitchFamily="18" charset="0"/>
                                  </a:rPr>
                                </m:ctrlPr>
                              </m:limLowPr>
                              <m:e>
                                <m:func>
                                  <m:funcPr>
                                    <m:ctrlPr>
                                      <a:rPr lang="ar-AE" altLang="ko-KR" sz="2800" i="1">
                                        <a:latin typeface="Cambria Math" panose="02040503050406030204" pitchFamily="18" charset="0"/>
                                      </a:rPr>
                                    </m:ctrlPr>
                                  </m:funcPr>
                                  <m:fName>
                                    <m:r>
                                      <m:rPr>
                                        <m:sty m:val="p"/>
                                      </m:rPr>
                                      <a:rPr lang="en-US" altLang="ko-KR" sz="2800">
                                        <a:latin typeface="Cambria Math" panose="02040503050406030204" pitchFamily="18" charset="0"/>
                                      </a:rPr>
                                      <m:t>max</m:t>
                                    </m:r>
                                  </m:fName>
                                  <m:e/>
                                </m:func>
                              </m:e>
                              <m:lim>
                                <m:r>
                                  <a:rPr lang="ko-KR" altLang="ar-AE" sz="2800" i="1">
                                    <a:latin typeface="Cambria Math" panose="02040503050406030204" pitchFamily="18" charset="0"/>
                                  </a:rPr>
                                  <m:t>𝑘</m:t>
                                </m:r>
                              </m:lim>
                            </m:limLow>
                          </m:e>
                        </m:func>
                        <m:r>
                          <m:rPr>
                            <m:nor/>
                          </m:rPr>
                          <a:rPr lang="ar-AE" altLang="ko-KR" sz="2800" i="1">
                            <a:latin typeface="나눔고딕 Light" panose="020D0904000000000000" pitchFamily="50" charset="-127"/>
                            <a:ea typeface="나눔고딕 Light" panose="020D0904000000000000" pitchFamily="50" charset="-127"/>
                            <a:cs typeface="Arial" panose="020B0604020202020204" pitchFamily="34" charset="0"/>
                          </a:rPr>
                          <m:t>  </m:t>
                        </m:r>
                        <m:sSub>
                          <m:sSubPr>
                            <m:ctrlPr>
                              <a:rPr lang="ar-AE" altLang="ko-KR" sz="2800" i="1">
                                <a:latin typeface="Cambria Math" panose="02040503050406030204" pitchFamily="18" charset="0"/>
                              </a:rPr>
                            </m:ctrlPr>
                          </m:sSubPr>
                          <m:e>
                            <m:acc>
                              <m:accPr>
                                <m:chr m:val="̃"/>
                                <m:ctrlPr>
                                  <a:rPr lang="ar-AE" altLang="ko-KR" sz="2800" i="1">
                                    <a:latin typeface="Cambria Math" panose="02040503050406030204" pitchFamily="18" charset="0"/>
                                  </a:rPr>
                                </m:ctrlPr>
                              </m:accPr>
                              <m:e>
                                <m:r>
                                  <a:rPr lang="ko-KR" altLang="ar-AE" sz="2800" i="1">
                                    <a:latin typeface="Cambria Math" panose="02040503050406030204" pitchFamily="18" charset="0"/>
                                  </a:rPr>
                                  <m:t>𝜃</m:t>
                                </m:r>
                              </m:e>
                            </m:acc>
                          </m:e>
                          <m:sub>
                            <m:r>
                              <a:rPr lang="ko-KR" altLang="ar-AE" sz="2800" i="1">
                                <a:latin typeface="Cambria Math" panose="02040503050406030204" pitchFamily="18" charset="0"/>
                              </a:rPr>
                              <m:t>𝑘</m:t>
                            </m:r>
                          </m:sub>
                        </m:sSub>
                        <m:r>
                          <a:rPr lang="ar-AE" altLang="ko-KR" sz="2800">
                            <a:latin typeface="Cambria Math" panose="02040503050406030204" pitchFamily="18" charset="0"/>
                          </a:rPr>
                          <m:t>, </m:t>
                        </m:r>
                        <m:sSub>
                          <m:sSubPr>
                            <m:ctrlPr>
                              <a:rPr lang="ar-AE" altLang="ko-KR" sz="2800" i="1">
                                <a:latin typeface="Cambria Math" panose="02040503050406030204" pitchFamily="18" charset="0"/>
                              </a:rPr>
                            </m:ctrlPr>
                          </m:sSubPr>
                          <m:e>
                            <m:acc>
                              <m:accPr>
                                <m:chr m:val="̃"/>
                                <m:ctrlPr>
                                  <a:rPr lang="ar-AE" altLang="ko-KR" sz="2800" i="1">
                                    <a:latin typeface="Cambria Math" panose="02040503050406030204" pitchFamily="18" charset="0"/>
                                  </a:rPr>
                                </m:ctrlPr>
                              </m:accPr>
                              <m:e>
                                <m:r>
                                  <a:rPr lang="ko-KR" altLang="ar-AE" sz="2800" i="1">
                                    <a:latin typeface="Cambria Math" panose="02040503050406030204" pitchFamily="18" charset="0"/>
                                  </a:rPr>
                                  <m:t>𝜃</m:t>
                                </m:r>
                              </m:e>
                            </m:acc>
                          </m:e>
                          <m:sub>
                            <m:r>
                              <a:rPr lang="ko-KR" altLang="ar-AE" sz="2800" i="1">
                                <a:latin typeface="Cambria Math" panose="02040503050406030204" pitchFamily="18" charset="0"/>
                              </a:rPr>
                              <m:t>𝑘</m:t>
                            </m:r>
                          </m:sub>
                        </m:sSub>
                        <m:r>
                          <a:rPr lang="ar-AE" altLang="ko-KR" sz="2800">
                            <a:latin typeface="Cambria Math" panose="02040503050406030204" pitchFamily="18" charset="0"/>
                          </a:rPr>
                          <m:t>∼</m:t>
                        </m:r>
                        <m:r>
                          <m:rPr>
                            <m:nor/>
                          </m:rPr>
                          <a:rPr lang="en-US" altLang="ko-KR" sz="2800" i="1">
                            <a:latin typeface="나눔고딕 Light" panose="020D0904000000000000" pitchFamily="50" charset="-127"/>
                            <a:ea typeface="나눔고딕 Light" panose="020D0904000000000000" pitchFamily="50" charset="-127"/>
                            <a:cs typeface="Arial" panose="020B0604020202020204" pitchFamily="34" charset="0"/>
                          </a:rPr>
                          <m:t>Beta</m:t>
                        </m:r>
                        <m:d>
                          <m:dPr>
                            <m:sepChr m:val=","/>
                            <m:ctrlPr>
                              <a:rPr lang="ar-AE" altLang="ko-KR" sz="2800" i="1">
                                <a:latin typeface="Cambria Math" panose="02040503050406030204" pitchFamily="18" charset="0"/>
                              </a:rPr>
                            </m:ctrlPr>
                          </m:dPr>
                          <m:e>
                            <m:sSubSup>
                              <m:sSubSupPr>
                                <m:ctrlPr>
                                  <a:rPr lang="ar-AE" altLang="ko-KR" sz="2800" i="1">
                                    <a:latin typeface="Cambria Math" panose="02040503050406030204" pitchFamily="18" charset="0"/>
                                  </a:rPr>
                                </m:ctrlPr>
                              </m:sSubSupPr>
                              <m:e>
                                <m:r>
                                  <a:rPr lang="ko-KR" altLang="ar-AE" sz="2800" i="1">
                                    <a:latin typeface="Cambria Math" panose="02040503050406030204" pitchFamily="18" charset="0"/>
                                  </a:rPr>
                                  <m:t>𝛼</m:t>
                                </m:r>
                              </m:e>
                              <m:sub>
                                <m:r>
                                  <a:rPr lang="ko-KR" altLang="ar-AE" sz="2800" i="1">
                                    <a:latin typeface="Cambria Math" panose="02040503050406030204" pitchFamily="18" charset="0"/>
                                  </a:rPr>
                                  <m:t>𝑘</m:t>
                                </m:r>
                              </m:sub>
                              <m:sup>
                                <m:r>
                                  <a:rPr lang="ar-AE" altLang="ko-KR" sz="2800">
                                    <a:latin typeface="Cambria Math" panose="02040503050406030204" pitchFamily="18" charset="0"/>
                                  </a:rPr>
                                  <m:t>′</m:t>
                                </m:r>
                              </m:sup>
                            </m:sSubSup>
                          </m:e>
                          <m:e>
                            <m:sSubSup>
                              <m:sSubSupPr>
                                <m:ctrlPr>
                                  <a:rPr lang="ar-AE" altLang="ko-KR" sz="2800" i="1">
                                    <a:latin typeface="Cambria Math" panose="02040503050406030204" pitchFamily="18" charset="0"/>
                                  </a:rPr>
                                </m:ctrlPr>
                              </m:sSubSupPr>
                              <m:e>
                                <m:r>
                                  <a:rPr lang="ko-KR" altLang="ar-AE" sz="2800" i="1">
                                    <a:latin typeface="Cambria Math" panose="02040503050406030204" pitchFamily="18" charset="0"/>
                                  </a:rPr>
                                  <m:t>𝛽</m:t>
                                </m:r>
                              </m:e>
                              <m:sub>
                                <m:r>
                                  <a:rPr lang="ko-KR" altLang="ar-AE" sz="2800" i="1">
                                    <a:latin typeface="Cambria Math" panose="02040503050406030204" pitchFamily="18" charset="0"/>
                                  </a:rPr>
                                  <m:t>𝑘</m:t>
                                </m:r>
                              </m:sub>
                              <m:sup>
                                <m:r>
                                  <a:rPr lang="ar-AE" altLang="ko-KR" sz="2800">
                                    <a:latin typeface="Cambria Math" panose="02040503050406030204" pitchFamily="18" charset="0"/>
                                  </a:rPr>
                                  <m:t>′</m:t>
                                </m:r>
                              </m:sup>
                            </m:sSubSup>
                          </m:e>
                        </m:d>
                      </m:oMath>
                    </m:oMathPara>
                  </a14:m>
                  <a:endParaRPr lang="ar-AE"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The channels most responsible for encoding emotion-relevant information.</a:t>
                  </a: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Hierarchical: Layer-wise hyperpriors induce posterior shrinkage for stable channel ranking.</a:t>
                  </a:r>
                </a:p>
                <a:p>
                  <a:pPr algn="just"/>
                  <a:endParaRPr lang="en-US"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Stage 3 — Inter-Channel Dependency Modeling</a:t>
                  </a: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Pairwise channel interactions were assessed using distance correlation between channel activation traces. Functional subnetworks of emotion-sensitive channels.</a:t>
                  </a:r>
                </a:p>
                <a:p>
                  <a:pPr algn="just"/>
                  <a:endParaRPr lang="en-US"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Dependency coefficient</a:t>
                  </a:r>
                </a:p>
                <a:p>
                  <a:pPr algn="just"/>
                  <a14:m>
                    <m:oMathPara xmlns:m="http://schemas.openxmlformats.org/officeDocument/2006/math">
                      <m:oMathParaPr>
                        <m:jc m:val="centerGroup"/>
                      </m:oMathParaPr>
                      <m:oMath xmlns:m="http://schemas.openxmlformats.org/officeDocument/2006/math">
                        <m:r>
                          <m:rPr>
                            <m:nor/>
                          </m:rPr>
                          <a:rPr lang="en-US" altLang="ko-KR" sz="2800">
                            <a:latin typeface="나눔고딕 Light" panose="020D0904000000000000" pitchFamily="50" charset="-127"/>
                            <a:ea typeface="나눔고딕 Light" panose="020D0904000000000000" pitchFamily="50" charset="-127"/>
                            <a:cs typeface="Arial" panose="020B0604020202020204" pitchFamily="34" charset="0"/>
                          </a:rPr>
                          <m:t>dCor</m:t>
                        </m:r>
                        <m:d>
                          <m:dPr>
                            <m:sepChr m:val=","/>
                            <m:ctrlPr>
                              <a:rPr lang="ar-AE" altLang="ko-KR" sz="2800" i="1">
                                <a:latin typeface="Cambria Math" panose="02040503050406030204" pitchFamily="18" charset="0"/>
                              </a:rPr>
                            </m:ctrlPr>
                          </m:dPr>
                          <m:e>
                            <m:r>
                              <a:rPr lang="ko-KR" altLang="ar-AE" sz="2800" i="1">
                                <a:latin typeface="Cambria Math" panose="02040503050406030204" pitchFamily="18" charset="0"/>
                              </a:rPr>
                              <m:t>𝑖</m:t>
                            </m:r>
                          </m:e>
                          <m:e>
                            <m:r>
                              <a:rPr lang="ko-KR" altLang="ar-AE" sz="2800" i="1">
                                <a:latin typeface="Cambria Math" panose="02040503050406030204" pitchFamily="18" charset="0"/>
                              </a:rPr>
                              <m:t>𝑗</m:t>
                            </m:r>
                          </m:e>
                        </m:d>
                        <m:r>
                          <a:rPr lang="ar-AE" altLang="ko-KR" sz="2800">
                            <a:latin typeface="Cambria Math" panose="02040503050406030204" pitchFamily="18" charset="0"/>
                          </a:rPr>
                          <m:t>=</m:t>
                        </m:r>
                        <m:f>
                          <m:fPr>
                            <m:ctrlPr>
                              <a:rPr lang="ar-AE" altLang="ko-KR" sz="2800" i="1">
                                <a:latin typeface="Cambria Math" panose="02040503050406030204" pitchFamily="18" charset="0"/>
                              </a:rPr>
                            </m:ctrlPr>
                          </m:fPr>
                          <m:num>
                            <m:r>
                              <a:rPr lang="ko-KR" altLang="ar-AE" sz="2800">
                                <a:latin typeface="Cambria Math" panose="02040503050406030204" pitchFamily="18" charset="0"/>
                              </a:rPr>
                              <m:t>𝔼</m:t>
                            </m:r>
                            <m:d>
                              <m:dPr>
                                <m:begChr m:val="["/>
                                <m:endChr m:val=""/>
                                <m:ctrlPr>
                                  <a:rPr lang="ar-AE" altLang="ko-KR" sz="2800" i="1">
                                    <a:latin typeface="Cambria Math" panose="02040503050406030204" pitchFamily="18" charset="0"/>
                                  </a:rPr>
                                </m:ctrlPr>
                              </m:dPr>
                              <m:e>
                                <m:d>
                                  <m:dPr>
                                    <m:endChr m:val="]"/>
                                    <m:ctrlPr>
                                      <a:rPr lang="ar-AE" altLang="ko-KR" sz="2800" i="1">
                                        <a:latin typeface="Cambria Math" panose="02040503050406030204" pitchFamily="18" charset="0"/>
                                      </a:rPr>
                                    </m:ctrlPr>
                                  </m:dPr>
                                  <m:e>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𝑖𝑗</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𝑖</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𝑗</m:t>
                                        </m:r>
                                      </m:sub>
                                    </m:sSub>
                                    <m:r>
                                      <a:rPr lang="ar-AE" altLang="ko-KR" sz="2800">
                                        <a:latin typeface="Cambria Math" panose="02040503050406030204" pitchFamily="18" charset="0"/>
                                      </a:rPr>
                                      <m:t>+</m:t>
                                    </m:r>
                                    <m:r>
                                      <a:rPr lang="ko-KR" altLang="ar-AE" sz="2800" i="1">
                                        <a:latin typeface="Cambria Math" panose="02040503050406030204" pitchFamily="18" charset="0"/>
                                      </a:rPr>
                                      <m:t>𝑑</m:t>
                                    </m:r>
                                    <m:sSup>
                                      <m:sSupPr>
                                        <m:ctrlPr>
                                          <a:rPr lang="ar-AE" altLang="ko-KR" sz="2800" i="1">
                                            <a:latin typeface="Cambria Math" panose="02040503050406030204" pitchFamily="18" charset="0"/>
                                          </a:rPr>
                                        </m:ctrlPr>
                                      </m:sSupPr>
                                      <m:e>
                                        <m:d>
                                          <m:dPr>
                                            <m:begChr m:val=""/>
                                            <m:endChr m:val=""/>
                                            <m:ctrlPr>
                                              <a:rPr lang="ar-AE" altLang="ko-KR" sz="2800" i="1">
                                                <a:latin typeface="Cambria Math" panose="02040503050406030204" pitchFamily="18" charset="0"/>
                                              </a:rPr>
                                            </m:ctrlPr>
                                          </m:dPr>
                                          <m:e>
                                            <m:r>
                                              <a:rPr lang="ar-AE" altLang="ko-KR" sz="2800">
                                                <a:latin typeface="Cambria Math" panose="02040503050406030204" pitchFamily="18" charset="0"/>
                                              </a:rPr>
                                              <m:t>)</m:t>
                                            </m:r>
                                          </m:e>
                                        </m:d>
                                      </m:e>
                                      <m:sup>
                                        <m:r>
                                          <a:rPr lang="ar-AE" altLang="ko-KR" sz="2800">
                                            <a:latin typeface="Cambria Math" panose="02040503050406030204" pitchFamily="18" charset="0"/>
                                          </a:rPr>
                                          <m:t>2</m:t>
                                        </m:r>
                                      </m:sup>
                                    </m:sSup>
                                  </m:e>
                                </m:d>
                              </m:e>
                            </m:d>
                          </m:num>
                          <m:den>
                            <m:rad>
                              <m:radPr>
                                <m:degHide m:val="on"/>
                                <m:ctrlPr>
                                  <a:rPr lang="ar-AE" altLang="ko-KR" sz="2800" i="1">
                                    <a:latin typeface="Cambria Math" panose="02040503050406030204" pitchFamily="18" charset="0"/>
                                  </a:rPr>
                                </m:ctrlPr>
                              </m:radPr>
                              <m:deg/>
                              <m:e>
                                <m:r>
                                  <a:rPr lang="ko-KR" altLang="ar-AE" sz="2800">
                                    <a:latin typeface="Cambria Math" panose="02040503050406030204" pitchFamily="18" charset="0"/>
                                  </a:rPr>
                                  <m:t>𝔼</m:t>
                                </m:r>
                                <m:d>
                                  <m:dPr>
                                    <m:begChr m:val="["/>
                                    <m:endChr m:val=""/>
                                    <m:ctrlPr>
                                      <a:rPr lang="ar-AE" altLang="ko-KR" sz="2800" i="1">
                                        <a:latin typeface="Cambria Math" panose="02040503050406030204" pitchFamily="18" charset="0"/>
                                      </a:rPr>
                                    </m:ctrlPr>
                                  </m:dPr>
                                  <m:e>
                                    <m:d>
                                      <m:dPr>
                                        <m:endChr m:val="]"/>
                                        <m:ctrlPr>
                                          <a:rPr lang="ar-AE" altLang="ko-KR" sz="2800" i="1">
                                            <a:latin typeface="Cambria Math" panose="02040503050406030204" pitchFamily="18" charset="0"/>
                                          </a:rPr>
                                        </m:ctrlPr>
                                      </m:dPr>
                                      <m:e>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𝑖𝑗</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𝑖</m:t>
                                            </m:r>
                                          </m:sub>
                                        </m:sSub>
                                        <m:sSup>
                                          <m:sSupPr>
                                            <m:ctrlPr>
                                              <a:rPr lang="ar-AE" altLang="ko-KR" sz="2800" i="1">
                                                <a:latin typeface="Cambria Math" panose="02040503050406030204" pitchFamily="18" charset="0"/>
                                              </a:rPr>
                                            </m:ctrlPr>
                                          </m:sSupPr>
                                          <m:e>
                                            <m:d>
                                              <m:dPr>
                                                <m:begChr m:val=""/>
                                                <m:endChr m:val=""/>
                                                <m:ctrlPr>
                                                  <a:rPr lang="ar-AE" altLang="ko-KR" sz="2800" i="1">
                                                    <a:latin typeface="Cambria Math" panose="02040503050406030204" pitchFamily="18" charset="0"/>
                                                  </a:rPr>
                                                </m:ctrlPr>
                                              </m:dPr>
                                              <m:e>
                                                <m:r>
                                                  <a:rPr lang="ar-AE" altLang="ko-KR" sz="2800">
                                                    <a:latin typeface="Cambria Math" panose="02040503050406030204" pitchFamily="18" charset="0"/>
                                                  </a:rPr>
                                                  <m:t>)</m:t>
                                                </m:r>
                                              </m:e>
                                            </m:d>
                                          </m:e>
                                          <m:sup>
                                            <m:r>
                                              <a:rPr lang="ar-AE" altLang="ko-KR" sz="2800">
                                                <a:latin typeface="Cambria Math" panose="02040503050406030204" pitchFamily="18" charset="0"/>
                                              </a:rPr>
                                              <m:t>2</m:t>
                                            </m:r>
                                          </m:sup>
                                        </m:sSup>
                                      </m:e>
                                    </m:d>
                                    <m:r>
                                      <m:rPr>
                                        <m:nor/>
                                      </m:rPr>
                                      <a:rPr lang="ar-AE" altLang="ko-KR" sz="2800" i="1">
                                        <a:latin typeface="나눔고딕 Light" panose="020D0904000000000000" pitchFamily="50" charset="-127"/>
                                        <a:ea typeface="나눔고딕 Light" panose="020D0904000000000000" pitchFamily="50" charset="-127"/>
                                        <a:cs typeface="Arial" panose="020B0604020202020204" pitchFamily="34" charset="0"/>
                                      </a:rPr>
                                      <m:t>  </m:t>
                                    </m:r>
                                    <m:r>
                                      <a:rPr lang="ko-KR" altLang="ar-AE" sz="2800">
                                        <a:latin typeface="Cambria Math" panose="02040503050406030204" pitchFamily="18" charset="0"/>
                                      </a:rPr>
                                      <m:t>𝔼</m:t>
                                    </m:r>
                                    <m:d>
                                      <m:dPr>
                                        <m:begChr m:val="["/>
                                        <m:endChr m:val=""/>
                                        <m:ctrlPr>
                                          <a:rPr lang="ar-AE" altLang="ko-KR" sz="2800" i="1">
                                            <a:latin typeface="Cambria Math" panose="02040503050406030204" pitchFamily="18" charset="0"/>
                                          </a:rPr>
                                        </m:ctrlPr>
                                      </m:dPr>
                                      <m:e>
                                        <m:d>
                                          <m:dPr>
                                            <m:endChr m:val="]"/>
                                            <m:ctrlPr>
                                              <a:rPr lang="ar-AE" altLang="ko-KR" sz="2800" i="1">
                                                <a:latin typeface="Cambria Math" panose="02040503050406030204" pitchFamily="18" charset="0"/>
                                              </a:rPr>
                                            </m:ctrlPr>
                                          </m:dPr>
                                          <m:e>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𝑖𝑗</m:t>
                                                </m:r>
                                              </m:sub>
                                            </m:sSub>
                                            <m:r>
                                              <a:rPr lang="ar-AE" altLang="ko-KR" sz="2800">
                                                <a:latin typeface="Cambria Math" panose="02040503050406030204" pitchFamily="18" charset="0"/>
                                              </a:rPr>
                                              <m:t>−</m:t>
                                            </m:r>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𝑑</m:t>
                                                </m:r>
                                              </m:e>
                                              <m:sub>
                                                <m:r>
                                                  <a:rPr lang="ko-KR" altLang="ar-AE" sz="2800" i="1">
                                                    <a:latin typeface="Cambria Math" panose="02040503050406030204" pitchFamily="18" charset="0"/>
                                                  </a:rPr>
                                                  <m:t>𝑗</m:t>
                                                </m:r>
                                              </m:sub>
                                            </m:sSub>
                                            <m:sSup>
                                              <m:sSupPr>
                                                <m:ctrlPr>
                                                  <a:rPr lang="ar-AE" altLang="ko-KR" sz="2800" i="1">
                                                    <a:latin typeface="Cambria Math" panose="02040503050406030204" pitchFamily="18" charset="0"/>
                                                  </a:rPr>
                                                </m:ctrlPr>
                                              </m:sSupPr>
                                              <m:e>
                                                <m:d>
                                                  <m:dPr>
                                                    <m:begChr m:val=""/>
                                                    <m:endChr m:val=""/>
                                                    <m:ctrlPr>
                                                      <a:rPr lang="ar-AE" altLang="ko-KR" sz="2800" i="1">
                                                        <a:latin typeface="Cambria Math" panose="02040503050406030204" pitchFamily="18" charset="0"/>
                                                      </a:rPr>
                                                    </m:ctrlPr>
                                                  </m:dPr>
                                                  <m:e>
                                                    <m:r>
                                                      <a:rPr lang="ar-AE" altLang="ko-KR" sz="2800">
                                                        <a:latin typeface="Cambria Math" panose="02040503050406030204" pitchFamily="18" charset="0"/>
                                                      </a:rPr>
                                                      <m:t>)</m:t>
                                                    </m:r>
                                                  </m:e>
                                                </m:d>
                                              </m:e>
                                              <m:sup>
                                                <m:r>
                                                  <a:rPr lang="ar-AE" altLang="ko-KR" sz="2800">
                                                    <a:latin typeface="Cambria Math" panose="02040503050406030204" pitchFamily="18" charset="0"/>
                                                  </a:rPr>
                                                  <m:t>2</m:t>
                                                </m:r>
                                              </m:sup>
                                            </m:sSup>
                                          </m:e>
                                        </m:d>
                                      </m:e>
                                    </m:d>
                                  </m:e>
                                </m:d>
                              </m:e>
                            </m:rad>
                          </m:den>
                        </m:f>
                      </m:oMath>
                    </m:oMathPara>
                  </a14:m>
                  <a:endParaRPr lang="en-US"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b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br>
                  <a:endParaRPr lang="en-US"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Stage 4 — Information Flow Reconstruction</a:t>
                  </a:r>
                </a:p>
                <a:p>
                  <a:pPr algn="just"/>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Signal strength, fidelity, and phase transitions were estimated across layers to infer how emotion representations are formed and transformed.</a:t>
                  </a: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Information transfer fidelity</a:t>
                  </a:r>
                </a:p>
                <a:p>
                  <a:pPr algn="just"/>
                  <a14:m>
                    <m:oMathPara xmlns:m="http://schemas.openxmlformats.org/officeDocument/2006/math">
                      <m:oMathParaPr>
                        <m:jc m:val="centerGroup"/>
                      </m:oMathParaPr>
                      <m:oMath xmlns:m="http://schemas.openxmlformats.org/officeDocument/2006/math">
                        <m:sSub>
                          <m:sSubPr>
                            <m:ctrlPr>
                              <a:rPr lang="ar-AE" altLang="ko-KR" sz="2800" i="1">
                                <a:latin typeface="Cambria Math" panose="02040503050406030204" pitchFamily="18" charset="0"/>
                              </a:rPr>
                            </m:ctrlPr>
                          </m:sSubPr>
                          <m:e>
                            <m:r>
                              <a:rPr lang="ko-KR" altLang="ar-AE" sz="2800" i="1">
                                <a:latin typeface="Cambria Math" panose="02040503050406030204" pitchFamily="18" charset="0"/>
                              </a:rPr>
                              <m:t>𝐹</m:t>
                            </m:r>
                          </m:e>
                          <m:sub>
                            <m:r>
                              <a:rPr lang="ko-KR" altLang="ar-AE" sz="2800" i="1">
                                <a:latin typeface="Cambria Math" panose="02040503050406030204" pitchFamily="18" charset="0"/>
                              </a:rPr>
                              <m:t>𝑙</m:t>
                            </m:r>
                            <m:r>
                              <a:rPr lang="ar-AE" altLang="ko-KR" sz="2800">
                                <a:latin typeface="Cambria Math" panose="02040503050406030204" pitchFamily="18" charset="0"/>
                              </a:rPr>
                              <m:t>→</m:t>
                            </m:r>
                            <m:r>
                              <a:rPr lang="ko-KR" altLang="ar-AE" sz="2800" i="1">
                                <a:latin typeface="Cambria Math" panose="02040503050406030204" pitchFamily="18" charset="0"/>
                              </a:rPr>
                              <m:t>𝑙</m:t>
                            </m:r>
                            <m:r>
                              <a:rPr lang="ar-AE" altLang="ko-KR" sz="2800">
                                <a:latin typeface="Cambria Math" panose="02040503050406030204" pitchFamily="18" charset="0"/>
                              </a:rPr>
                              <m:t>+</m:t>
                            </m:r>
                            <m:r>
                              <a:rPr lang="ar-AE" altLang="ko-KR" sz="2800">
                                <a:latin typeface="Cambria Math" panose="02040503050406030204" pitchFamily="18" charset="0"/>
                              </a:rPr>
                              <m:t>1</m:t>
                            </m:r>
                          </m:sub>
                        </m:sSub>
                        <m:r>
                          <a:rPr lang="ar-AE" altLang="ko-KR" sz="2800">
                            <a:latin typeface="Cambria Math" panose="02040503050406030204" pitchFamily="18" charset="0"/>
                          </a:rPr>
                          <m:t>=</m:t>
                        </m:r>
                        <m:r>
                          <a:rPr lang="ar-AE" altLang="ko-KR" sz="2800">
                            <a:latin typeface="Cambria Math" panose="02040503050406030204" pitchFamily="18" charset="0"/>
                          </a:rPr>
                          <m:t>1</m:t>
                        </m:r>
                        <m:r>
                          <a:rPr lang="ar-AE" altLang="ko-KR" sz="2800">
                            <a:latin typeface="Cambria Math" panose="02040503050406030204" pitchFamily="18" charset="0"/>
                          </a:rPr>
                          <m:t>−</m:t>
                        </m:r>
                        <m:r>
                          <m:rPr>
                            <m:nor/>
                          </m:rPr>
                          <a:rPr lang="en-US" altLang="ko-KR" sz="2800" i="1">
                            <a:latin typeface="나눔고딕 Light" panose="020D0904000000000000" pitchFamily="50" charset="-127"/>
                            <a:ea typeface="나눔고딕 Light" panose="020D0904000000000000" pitchFamily="50" charset="-127"/>
                            <a:cs typeface="Arial" panose="020B0604020202020204" pitchFamily="34" charset="0"/>
                          </a:rPr>
                          <m:t>cosine</m:t>
                        </m:r>
                        <m:d>
                          <m:dPr>
                            <m:sepChr m:val=","/>
                            <m:ctrlPr>
                              <a:rPr lang="ar-AE" altLang="ko-KR" sz="2800" i="1">
                                <a:latin typeface="Cambria Math" panose="02040503050406030204" pitchFamily="18" charset="0"/>
                              </a:rPr>
                            </m:ctrlPr>
                          </m:dPr>
                          <m:e>
                            <m:sSup>
                              <m:sSupPr>
                                <m:ctrlPr>
                                  <a:rPr lang="ar-AE" altLang="ko-KR" sz="2800" i="1">
                                    <a:latin typeface="Cambria Math" panose="02040503050406030204" pitchFamily="18" charset="0"/>
                                  </a:rPr>
                                </m:ctrlPr>
                              </m:sSupPr>
                              <m:e>
                                <m:r>
                                  <a:rPr lang="ko-KR" altLang="ar-AE" sz="2800" i="1">
                                    <a:latin typeface="Cambria Math" panose="02040503050406030204" pitchFamily="18" charset="0"/>
                                  </a:rPr>
                                  <m:t>𝑐</m:t>
                                </m:r>
                              </m:e>
                              <m:sup>
                                <m:d>
                                  <m:dPr>
                                    <m:ctrlPr>
                                      <a:rPr lang="ar-AE" altLang="ko-KR" sz="2800" i="1">
                                        <a:latin typeface="Cambria Math" panose="02040503050406030204" pitchFamily="18" charset="0"/>
                                      </a:rPr>
                                    </m:ctrlPr>
                                  </m:dPr>
                                  <m:e>
                                    <m:r>
                                      <a:rPr lang="ko-KR" altLang="ar-AE" sz="2800" i="1">
                                        <a:latin typeface="Cambria Math" panose="02040503050406030204" pitchFamily="18" charset="0"/>
                                      </a:rPr>
                                      <m:t>𝑙</m:t>
                                    </m:r>
                                  </m:e>
                                </m:d>
                              </m:sup>
                            </m:sSup>
                          </m:e>
                          <m:e>
                            <m:sSup>
                              <m:sSupPr>
                                <m:ctrlPr>
                                  <a:rPr lang="ar-AE" altLang="ko-KR" sz="2800" i="1">
                                    <a:latin typeface="Cambria Math" panose="02040503050406030204" pitchFamily="18" charset="0"/>
                                  </a:rPr>
                                </m:ctrlPr>
                              </m:sSupPr>
                              <m:e>
                                <m:r>
                                  <a:rPr lang="ko-KR" altLang="ar-AE" sz="2800" i="1">
                                    <a:latin typeface="Cambria Math" panose="02040503050406030204" pitchFamily="18" charset="0"/>
                                  </a:rPr>
                                  <m:t>𝑐</m:t>
                                </m:r>
                              </m:e>
                              <m:sup>
                                <m:d>
                                  <m:dPr>
                                    <m:ctrlPr>
                                      <a:rPr lang="ar-AE" altLang="ko-KR" sz="2800" i="1">
                                        <a:latin typeface="Cambria Math" panose="02040503050406030204" pitchFamily="18" charset="0"/>
                                      </a:rPr>
                                    </m:ctrlPr>
                                  </m:dPr>
                                  <m:e>
                                    <m:r>
                                      <a:rPr lang="ko-KR" altLang="ar-AE" sz="2800" i="1">
                                        <a:latin typeface="Cambria Math" panose="02040503050406030204" pitchFamily="18" charset="0"/>
                                      </a:rPr>
                                      <m:t>𝑙</m:t>
                                    </m:r>
                                    <m:r>
                                      <a:rPr lang="ar-AE" altLang="ko-KR" sz="2800">
                                        <a:latin typeface="Cambria Math" panose="02040503050406030204" pitchFamily="18" charset="0"/>
                                      </a:rPr>
                                      <m:t>+</m:t>
                                    </m:r>
                                    <m:r>
                                      <a:rPr lang="ar-AE" altLang="ko-KR" sz="2800">
                                        <a:latin typeface="Cambria Math" panose="02040503050406030204" pitchFamily="18" charset="0"/>
                                      </a:rPr>
                                      <m:t>1</m:t>
                                    </m:r>
                                  </m:e>
                                </m:d>
                              </m:sup>
                            </m:sSup>
                          </m:e>
                        </m:d>
                      </m:oMath>
                    </m:oMathPara>
                  </a14:m>
                  <a:endParaRPr lang="ar-AE" altLang="ko-KR" sz="2800" dirty="0">
                    <a:latin typeface="나눔고딕 Light" panose="020D0904000000000000" pitchFamily="50" charset="-127"/>
                    <a:ea typeface="나눔고딕 Light" panose="020D0904000000000000" pitchFamily="50" charset="-127"/>
                    <a:cs typeface="Arial" panose="020B0604020202020204" pitchFamily="34" charset="0"/>
                  </a:endParaRPr>
                </a:p>
                <a:p>
                  <a:pPr algn="just"/>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New information gained</a:t>
                  </a:r>
                </a:p>
                <a:p>
                  <a:pPr algn="just"/>
                  <a14:m>
                    <m:oMathPara xmlns:m="http://schemas.openxmlformats.org/officeDocument/2006/math">
                      <m:oMathParaPr>
                        <m:jc m:val="centerGroup"/>
                      </m:oMathParaPr>
                      <m:oMath xmlns:m="http://schemas.openxmlformats.org/officeDocument/2006/math">
                        <m:sSubSup>
                          <m:sSubSupPr>
                            <m:ctrlPr>
                              <a:rPr lang="ar-AE" altLang="ko-KR" sz="2800" i="1">
                                <a:latin typeface="Cambria Math" panose="02040503050406030204" pitchFamily="18" charset="0"/>
                              </a:rPr>
                            </m:ctrlPr>
                          </m:sSubSupPr>
                          <m:e>
                            <m:r>
                              <a:rPr lang="ko-KR" altLang="ar-AE" sz="2800" i="1">
                                <a:latin typeface="Cambria Math" panose="02040503050406030204" pitchFamily="18" charset="0"/>
                              </a:rPr>
                              <m:t>𝐼</m:t>
                            </m:r>
                          </m:e>
                          <m:sub>
                            <m:r>
                              <a:rPr lang="ko-KR" altLang="ar-AE" sz="2800" i="1">
                                <a:latin typeface="Cambria Math" panose="02040503050406030204" pitchFamily="18" charset="0"/>
                              </a:rPr>
                              <m:t>𝑛𝑒𝑤</m:t>
                            </m:r>
                          </m:sub>
                          <m:sup>
                            <m:d>
                              <m:dPr>
                                <m:ctrlPr>
                                  <a:rPr lang="ar-AE" altLang="ko-KR" sz="2800" i="1">
                                    <a:latin typeface="Cambria Math" panose="02040503050406030204" pitchFamily="18" charset="0"/>
                                  </a:rPr>
                                </m:ctrlPr>
                              </m:dPr>
                              <m:e>
                                <m:r>
                                  <a:rPr lang="ko-KR" altLang="ar-AE" sz="2800" i="1">
                                    <a:latin typeface="Cambria Math" panose="02040503050406030204" pitchFamily="18" charset="0"/>
                                  </a:rPr>
                                  <m:t>𝑙</m:t>
                                </m:r>
                              </m:e>
                            </m:d>
                          </m:sup>
                        </m:sSubSup>
                        <m:r>
                          <a:rPr lang="ar-AE" altLang="ko-KR" sz="2800">
                            <a:latin typeface="Cambria Math" panose="02040503050406030204" pitchFamily="18" charset="0"/>
                          </a:rPr>
                          <m:t>=∥</m:t>
                        </m:r>
                        <m:sSup>
                          <m:sSupPr>
                            <m:ctrlPr>
                              <a:rPr lang="ar-AE" altLang="ko-KR" sz="2800" i="1">
                                <a:latin typeface="Cambria Math" panose="02040503050406030204" pitchFamily="18" charset="0"/>
                              </a:rPr>
                            </m:ctrlPr>
                          </m:sSupPr>
                          <m:e>
                            <m:r>
                              <a:rPr lang="ko-KR" altLang="ar-AE" sz="2800" i="1">
                                <a:latin typeface="Cambria Math" panose="02040503050406030204" pitchFamily="18" charset="0"/>
                              </a:rPr>
                              <m:t>𝑐</m:t>
                            </m:r>
                          </m:e>
                          <m:sup>
                            <m:d>
                              <m:dPr>
                                <m:ctrlPr>
                                  <a:rPr lang="ar-AE" altLang="ko-KR" sz="2800" i="1">
                                    <a:latin typeface="Cambria Math" panose="02040503050406030204" pitchFamily="18" charset="0"/>
                                  </a:rPr>
                                </m:ctrlPr>
                              </m:dPr>
                              <m:e>
                                <m:r>
                                  <a:rPr lang="ko-KR" altLang="ar-AE" sz="2800" i="1">
                                    <a:latin typeface="Cambria Math" panose="02040503050406030204" pitchFamily="18" charset="0"/>
                                  </a:rPr>
                                  <m:t>𝑙</m:t>
                                </m:r>
                                <m:r>
                                  <a:rPr lang="ar-AE" altLang="ko-KR" sz="2800">
                                    <a:latin typeface="Cambria Math" panose="02040503050406030204" pitchFamily="18" charset="0"/>
                                  </a:rPr>
                                  <m:t>+</m:t>
                                </m:r>
                                <m:r>
                                  <a:rPr lang="ar-AE" altLang="ko-KR" sz="2800">
                                    <a:latin typeface="Cambria Math" panose="02040503050406030204" pitchFamily="18" charset="0"/>
                                  </a:rPr>
                                  <m:t>1</m:t>
                                </m:r>
                              </m:e>
                            </m:d>
                          </m:sup>
                        </m:sSup>
                        <m:r>
                          <a:rPr lang="ar-AE" altLang="ko-KR" sz="2800">
                            <a:latin typeface="Cambria Math" panose="02040503050406030204" pitchFamily="18" charset="0"/>
                          </a:rPr>
                          <m:t>−</m:t>
                        </m:r>
                        <m:sSup>
                          <m:sSupPr>
                            <m:ctrlPr>
                              <a:rPr lang="ar-AE" altLang="ko-KR" sz="2800" i="1">
                                <a:latin typeface="Cambria Math" panose="02040503050406030204" pitchFamily="18" charset="0"/>
                              </a:rPr>
                            </m:ctrlPr>
                          </m:sSupPr>
                          <m:e>
                            <m:r>
                              <a:rPr lang="ko-KR" altLang="ar-AE" sz="2800" i="1">
                                <a:latin typeface="Cambria Math" panose="02040503050406030204" pitchFamily="18" charset="0"/>
                              </a:rPr>
                              <m:t>𝑐</m:t>
                            </m:r>
                          </m:e>
                          <m:sup>
                            <m:d>
                              <m:dPr>
                                <m:ctrlPr>
                                  <a:rPr lang="ar-AE" altLang="ko-KR" sz="2800" i="1">
                                    <a:latin typeface="Cambria Math" panose="02040503050406030204" pitchFamily="18" charset="0"/>
                                  </a:rPr>
                                </m:ctrlPr>
                              </m:dPr>
                              <m:e>
                                <m:r>
                                  <a:rPr lang="ko-KR" altLang="ar-AE" sz="2800" i="1">
                                    <a:latin typeface="Cambria Math" panose="02040503050406030204" pitchFamily="18" charset="0"/>
                                  </a:rPr>
                                  <m:t>𝑙</m:t>
                                </m:r>
                              </m:e>
                            </m:d>
                          </m:sup>
                        </m:sSup>
                        <m:r>
                          <a:rPr lang="ar-AE" altLang="ko-KR" sz="2800">
                            <a:latin typeface="Cambria Math" panose="02040503050406030204" pitchFamily="18" charset="0"/>
                          </a:rPr>
                          <m:t>∥</m:t>
                        </m:r>
                      </m:oMath>
                    </m:oMathPara>
                  </a14:m>
                  <a:b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br>
                  <a:r>
                    <a:rPr lang="en-US" altLang="ko-KR" sz="2800" b="1" dirty="0">
                      <a:latin typeface="나눔고딕 Light" panose="020D0904000000000000" pitchFamily="50" charset="-127"/>
                      <a:ea typeface="나눔고딕 Light" panose="020D0904000000000000" pitchFamily="50" charset="-127"/>
                      <a:cs typeface="Arial" panose="020B0604020202020204" pitchFamily="34" charset="0"/>
                    </a:rPr>
                    <a:t>low-level → emotional activation → consolidation → classification</a:t>
                  </a:r>
                  <a:r>
                    <a:rPr lang="en-US" altLang="ko-KR" sz="2800" dirty="0">
                      <a:latin typeface="나눔고딕 Light" panose="020D0904000000000000" pitchFamily="50" charset="-127"/>
                      <a:ea typeface="나눔고딕 Light" panose="020D0904000000000000" pitchFamily="50" charset="-127"/>
                      <a:cs typeface="Arial" panose="020B0604020202020204" pitchFamily="34" charset="0"/>
                    </a:rPr>
                    <a:t>.</a:t>
                  </a:r>
                </a:p>
                <a:p>
                  <a:pPr algn="just">
                    <a:lnSpc>
                      <a:spcPct val="171875"/>
                    </a:lnSpc>
                  </a:pPr>
                  <a:endParaRPr sz="2800" dirty="0">
                    <a:solidFill>
                      <a:schemeClr val="dk1"/>
                    </a:solidFill>
                    <a:latin typeface="나눔고딕 Light" panose="020D0904000000000000" pitchFamily="50" charset="-127"/>
                    <a:ea typeface="나눔고딕 Light" panose="020D0904000000000000" pitchFamily="50" charset="-127"/>
                    <a:cs typeface="Arial" panose="020B0604020202020204" pitchFamily="34" charset="0"/>
                    <a:sym typeface="Calibri"/>
                  </a:endParaRPr>
                </a:p>
              </p:txBody>
            </p:sp>
          </mc:Choice>
          <mc:Fallback>
            <p:sp>
              <p:nvSpPr>
                <p:cNvPr id="90" name="Google Shape;90;p1"/>
                <p:cNvSpPr>
                  <a:spLocks noRot="1" noChangeAspect="1" noMove="1" noResize="1" noEditPoints="1" noAdjustHandles="1" noChangeArrowheads="1" noChangeShapeType="1" noTextEdit="1"/>
                </p:cNvSpPr>
                <p:nvPr/>
              </p:nvSpPr>
              <p:spPr>
                <a:xfrm>
                  <a:off x="423527" y="8973251"/>
                  <a:ext cx="16560000" cy="24836396"/>
                </a:xfrm>
                <a:prstGeom prst="rect">
                  <a:avLst/>
                </a:prstGeom>
                <a:blipFill>
                  <a:blip r:embed="rId4"/>
                  <a:stretch>
                    <a:fillRect l="-816" t="-289" r="-773"/>
                  </a:stretch>
                </a:blipFill>
                <a:ln w="19050" cap="flat" cmpd="sng">
                  <a:solidFill>
                    <a:srgbClr val="0F0F70"/>
                  </a:solidFill>
                  <a:prstDash val="solid"/>
                  <a:miter lim="800000"/>
                  <a:headEnd type="none" w="sm" len="sm"/>
                  <a:tailEnd type="none" w="sm" len="sm"/>
                </a:ln>
              </p:spPr>
              <p:txBody>
                <a:bodyPr/>
                <a:lstStyle/>
                <a:p>
                  <a:r>
                    <a:rPr lang="ko-KR" altLang="en-US">
                      <a:noFill/>
                    </a:rPr>
                    <a:t> </a:t>
                  </a:r>
                </a:p>
              </p:txBody>
            </p:sp>
          </mc:Fallback>
        </mc:AlternateContent>
        <p:sp>
          <p:nvSpPr>
            <p:cNvPr id="91" name="Google Shape;91;p1"/>
            <p:cNvSpPr/>
            <p:nvPr/>
          </p:nvSpPr>
          <p:spPr>
            <a:xfrm>
              <a:off x="416036" y="7585194"/>
              <a:ext cx="16560000" cy="1329419"/>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METHODS</a:t>
              </a:r>
              <a:endParaRPr sz="4441" b="1" dirty="0">
                <a:solidFill>
                  <a:schemeClr val="lt1"/>
                </a:solidFill>
              </a:endParaRPr>
            </a:p>
          </p:txBody>
        </p:sp>
      </p:grpSp>
      <p:grpSp>
        <p:nvGrpSpPr>
          <p:cNvPr id="92" name="Google Shape;92;p1"/>
          <p:cNvGrpSpPr/>
          <p:nvPr/>
        </p:nvGrpSpPr>
        <p:grpSpPr>
          <a:xfrm>
            <a:off x="16569401" y="27624282"/>
            <a:ext cx="14170178" cy="10765534"/>
            <a:chOff x="33775710" y="11904936"/>
            <a:chExt cx="16308000" cy="17135076"/>
          </a:xfrm>
        </p:grpSpPr>
        <p:sp>
          <p:nvSpPr>
            <p:cNvPr id="93" name="Google Shape;93;p1"/>
            <p:cNvSpPr/>
            <p:nvPr/>
          </p:nvSpPr>
          <p:spPr>
            <a:xfrm>
              <a:off x="33775710" y="13754368"/>
              <a:ext cx="16308000" cy="15285644"/>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56250"/>
                </a:lnSpc>
              </a:pPr>
              <a:r>
                <a:rPr lang="en-US" altLang="ko-KR" sz="3200" b="1" dirty="0">
                  <a:latin typeface="나눔고딕 ExtraBold" panose="020D0904000000000000" pitchFamily="50" charset="-127"/>
                  <a:ea typeface="나눔고딕 ExtraBold" panose="020D0904000000000000" pitchFamily="50" charset="-127"/>
                </a:rPr>
                <a:t>1. Emotion representations emerge non-uniformly across the CNN hierarchy, demonstrating that affective information is concentrated at a specific computational stage.</a:t>
              </a:r>
            </a:p>
            <a:p>
              <a:pPr algn="just">
                <a:lnSpc>
                  <a:spcPct val="156250"/>
                </a:lnSpc>
              </a:pPr>
              <a:r>
                <a:rPr lang="en-US" altLang="ko-KR" sz="3200" b="1" dirty="0">
                  <a:latin typeface="나눔고딕 ExtraBold" panose="020D0904000000000000" pitchFamily="50" charset="-127"/>
                  <a:ea typeface="나눔고딕 ExtraBold" panose="020D0904000000000000" pitchFamily="50" charset="-127"/>
                </a:rPr>
                <a:t>2. Information flow analysis reveals a two-stage process: substantial feature transformation in early layers, followed by near-perfect fidelity transfer into the representational peak.</a:t>
              </a:r>
            </a:p>
            <a:p>
              <a:pPr algn="just">
                <a:lnSpc>
                  <a:spcPct val="156250"/>
                </a:lnSpc>
              </a:pPr>
              <a:r>
                <a:rPr lang="en-US" altLang="ko-KR" sz="3200" b="1" dirty="0">
                  <a:latin typeface="나눔고딕 ExtraBold" panose="020D0904000000000000" pitchFamily="50" charset="-127"/>
                  <a:ea typeface="나눔고딕 ExtraBold" panose="020D0904000000000000" pitchFamily="50" charset="-127"/>
                </a:rPr>
                <a:t>3. Small subset of channels carry a majority of affect-relevant signals; the top 28 channels reproduce more than 90% of the full-model performance</a:t>
              </a:r>
            </a:p>
            <a:p>
              <a:pPr algn="just">
                <a:lnSpc>
                  <a:spcPct val="156250"/>
                </a:lnSpc>
              </a:pPr>
              <a:r>
                <a:rPr lang="en-US" sz="3200" b="1" dirty="0">
                  <a:latin typeface="나눔고딕 ExtraBold" panose="020D0904000000000000" pitchFamily="50" charset="-127"/>
                  <a:ea typeface="나눔고딕 ExtraBold" panose="020D0904000000000000" pitchFamily="50" charset="-127"/>
                  <a:cs typeface="Calibri"/>
                  <a:sym typeface="Calibri"/>
                </a:rPr>
                <a:t>4. </a:t>
              </a:r>
              <a:r>
                <a:rPr lang="en-US" altLang="ko-KR" sz="3200" b="1" dirty="0">
                  <a:latin typeface="나눔고딕 ExtraBold" panose="020D0904000000000000" pitchFamily="50" charset="-127"/>
                  <a:ea typeface="나눔고딕 ExtraBold" panose="020D0904000000000000" pitchFamily="50" charset="-127"/>
                </a:rPr>
                <a:t>Hierarchical Bayesian modeling confirms that emotional channels exhibit stable, high-confidence posteriors across priors and sampling schemes, suggesting that emotional coding is a robust property of the network and not an artifact of training noise or dataset imbalance.</a:t>
              </a:r>
              <a:endParaRPr sz="3200" b="1" dirty="0">
                <a:latin typeface="나눔고딕 ExtraBold" panose="020D0904000000000000" pitchFamily="50" charset="-127"/>
                <a:ea typeface="나눔고딕 ExtraBold" panose="020D0904000000000000" pitchFamily="50" charset="-127"/>
                <a:cs typeface="Calibri"/>
                <a:sym typeface="Calibri"/>
              </a:endParaRPr>
            </a:p>
          </p:txBody>
        </p:sp>
        <p:sp>
          <p:nvSpPr>
            <p:cNvPr id="94" name="Google Shape;94;p1"/>
            <p:cNvSpPr/>
            <p:nvPr/>
          </p:nvSpPr>
          <p:spPr>
            <a:xfrm>
              <a:off x="33775710" y="11904936"/>
              <a:ext cx="16308000" cy="1734932"/>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CONCLUSIONS</a:t>
              </a:r>
              <a:endParaRPr sz="5450" b="1" dirty="0">
                <a:solidFill>
                  <a:srgbClr val="FFFFFF"/>
                </a:solidFill>
              </a:endParaRPr>
            </a:p>
          </p:txBody>
        </p:sp>
      </p:grpSp>
      <p:grpSp>
        <p:nvGrpSpPr>
          <p:cNvPr id="95" name="Google Shape;95;p1"/>
          <p:cNvGrpSpPr/>
          <p:nvPr/>
        </p:nvGrpSpPr>
        <p:grpSpPr>
          <a:xfrm>
            <a:off x="16545104" y="6281419"/>
            <a:ext cx="14170178" cy="21320991"/>
            <a:chOff x="15610114" y="15717428"/>
            <a:chExt cx="14366634" cy="4513341"/>
          </a:xfrm>
        </p:grpSpPr>
        <p:sp>
          <p:nvSpPr>
            <p:cNvPr id="96" name="Google Shape;96;p1"/>
            <p:cNvSpPr/>
            <p:nvPr/>
          </p:nvSpPr>
          <p:spPr>
            <a:xfrm>
              <a:off x="15610114" y="15786654"/>
              <a:ext cx="14366632" cy="4444115"/>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a:p>
              <a:pPr marL="742950" indent="-742950" algn="just">
                <a:buAutoNum type="arabicPeriod"/>
              </a:pPr>
              <a:endParaRPr lang="en-US" altLang="ko-KR" sz="3200" dirty="0">
                <a:latin typeface="나눔고딕 ExtraBold" panose="020D0904000000000000" pitchFamily="50" charset="-127"/>
                <a:ea typeface="나눔고딕 ExtraBold" panose="020D0904000000000000" pitchFamily="50" charset="-127"/>
              </a:endParaRPr>
            </a:p>
            <a:p>
              <a:pPr marL="742950" indent="-742950" algn="just">
                <a:buAutoNum type="arabicPeriod"/>
              </a:pPr>
              <a:endParaRPr lang="en-US" altLang="ko-KR" sz="3200" dirty="0">
                <a:latin typeface="나눔고딕 ExtraBold" panose="020D0904000000000000" pitchFamily="50" charset="-127"/>
                <a:ea typeface="나눔고딕 ExtraBold" panose="020D0904000000000000" pitchFamily="50" charset="-127"/>
              </a:endParaRPr>
            </a:p>
            <a:p>
              <a:pPr marL="742950" indent="-742950" algn="just">
                <a:buAutoNum type="arabicPeriod"/>
              </a:pPr>
              <a:endParaRPr lang="en-US" altLang="ko-KR" sz="3200" dirty="0">
                <a:latin typeface="나눔고딕 ExtraBold" panose="020D0904000000000000" pitchFamily="50" charset="-127"/>
                <a:ea typeface="나눔고딕 ExtraBold" panose="020D0904000000000000" pitchFamily="50" charset="-127"/>
              </a:endParaRPr>
            </a:p>
            <a:p>
              <a:pPr marL="742950" indent="-742950" algn="just">
                <a:buAutoNum type="arabicPeriod"/>
              </a:pPr>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altLang="ko-KR" sz="3200" dirty="0">
                <a:latin typeface="나눔고딕 ExtraBold" panose="020D0904000000000000" pitchFamily="50" charset="-127"/>
                <a:ea typeface="나눔고딕 ExtraBold" panose="020D0904000000000000" pitchFamily="50" charset="-127"/>
              </a:endParaRPr>
            </a:p>
            <a:p>
              <a:pPr algn="just"/>
              <a:endParaRPr lang="en-US" sz="3200" dirty="0">
                <a:solidFill>
                  <a:schemeClr val="dk1"/>
                </a:solidFill>
                <a:latin typeface="나눔고딕 ExtraBold" panose="020D0904000000000000" pitchFamily="50" charset="-127"/>
                <a:ea typeface="나눔고딕 ExtraBold" panose="020D0904000000000000" pitchFamily="50" charset="-127"/>
                <a:cs typeface="Calibri"/>
                <a:sym typeface="Calibri"/>
              </a:endParaRPr>
            </a:p>
          </p:txBody>
        </p:sp>
        <p:sp>
          <p:nvSpPr>
            <p:cNvPr id="97" name="Google Shape;97;p1"/>
            <p:cNvSpPr/>
            <p:nvPr/>
          </p:nvSpPr>
          <p:spPr>
            <a:xfrm>
              <a:off x="15610115" y="15717428"/>
              <a:ext cx="14366633" cy="237617"/>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RESULTS</a:t>
              </a:r>
              <a:endParaRPr sz="4441" b="1" dirty="0">
                <a:solidFill>
                  <a:schemeClr val="lt1"/>
                </a:solidFill>
                <a:latin typeface="Calibri"/>
                <a:ea typeface="Calibri"/>
                <a:cs typeface="Calibri"/>
                <a:sym typeface="Calibri"/>
              </a:endParaRPr>
            </a:p>
          </p:txBody>
        </p:sp>
      </p:grpSp>
      <p:grpSp>
        <p:nvGrpSpPr>
          <p:cNvPr id="98" name="Google Shape;98;p1"/>
          <p:cNvGrpSpPr/>
          <p:nvPr/>
        </p:nvGrpSpPr>
        <p:grpSpPr>
          <a:xfrm>
            <a:off x="1633577" y="12675871"/>
            <a:ext cx="14170178" cy="9280292"/>
            <a:chOff x="414164" y="12491495"/>
            <a:chExt cx="16560000" cy="11596997"/>
          </a:xfrm>
        </p:grpSpPr>
        <p:sp>
          <p:nvSpPr>
            <p:cNvPr id="99" name="Google Shape;99;p1"/>
            <p:cNvSpPr/>
            <p:nvPr/>
          </p:nvSpPr>
          <p:spPr>
            <a:xfrm>
              <a:off x="414164" y="13287191"/>
              <a:ext cx="16560000" cy="10801301"/>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71875"/>
                </a:lnSpc>
              </a:pPr>
              <a:r>
                <a:rPr lang="en-US" altLang="ko-KR" sz="3200" b="1" dirty="0">
                  <a:solidFill>
                    <a:schemeClr val="dk1"/>
                  </a:solidFill>
                  <a:latin typeface="나눔고딕 ExtraBold" panose="020D0904000000000000" pitchFamily="50" charset="-127"/>
                  <a:ea typeface="나눔고딕 ExtraBold" panose="020D0904000000000000" pitchFamily="50" charset="-127"/>
                  <a:cs typeface="Batang"/>
                  <a:sym typeface="Batang"/>
                </a:rPr>
                <a:t>Integrating a unified framework to explain how neural systems systematically process emotions from sensory input to behavioral output.</a:t>
              </a:r>
            </a:p>
            <a:p>
              <a:pPr marL="514350" indent="-514350" algn="just">
                <a:lnSpc>
                  <a:spcPct val="171875"/>
                </a:lnSpc>
                <a:buAutoNum type="arabicPeriod"/>
              </a:pPr>
              <a:r>
                <a:rPr lang="en-US" altLang="ko-KR" sz="2800" b="1" dirty="0">
                  <a:solidFill>
                    <a:schemeClr val="dk1"/>
                  </a:solidFill>
                  <a:latin typeface="나눔고딕 ExtraBold" panose="020D0904000000000000" pitchFamily="50" charset="-127"/>
                  <a:ea typeface="나눔고딕 ExtraBold" panose="020D0904000000000000" pitchFamily="50" charset="-127"/>
                  <a:cs typeface="Batang"/>
                  <a:sym typeface="Batang"/>
                </a:rPr>
                <a:t>To identify where emotion-relevant information emerges across the CNN hierarchy, by quantifying layer-wise representational separability of emotional categories.</a:t>
              </a:r>
            </a:p>
            <a:p>
              <a:pPr marL="514350" indent="-514350" algn="just">
                <a:lnSpc>
                  <a:spcPct val="171875"/>
                </a:lnSpc>
                <a:buAutoNum type="arabicPeriod"/>
              </a:pPr>
              <a:r>
                <a:rPr lang="en-US" altLang="ko-KR" sz="2800" b="1" dirty="0">
                  <a:solidFill>
                    <a:schemeClr val="dk1"/>
                  </a:solidFill>
                  <a:latin typeface="나눔고딕 ExtraBold" panose="020D0904000000000000" pitchFamily="50" charset="-127"/>
                  <a:ea typeface="나눔고딕 ExtraBold" panose="020D0904000000000000" pitchFamily="50" charset="-127"/>
                  <a:cs typeface="Batang"/>
                  <a:sym typeface="Batang"/>
                </a:rPr>
                <a:t>To isolate the minimal set of channels that encode emotion with high confidence, using Bayesian inference and Thompson sampling to estimate channel-level reliability.</a:t>
              </a:r>
            </a:p>
            <a:p>
              <a:pPr marL="514350" indent="-514350" algn="just">
                <a:lnSpc>
                  <a:spcPct val="171875"/>
                </a:lnSpc>
                <a:buAutoNum type="arabicPeriod"/>
              </a:pPr>
              <a:r>
                <a:rPr lang="en-US" altLang="ko-KR" sz="2800" b="1" dirty="0">
                  <a:solidFill>
                    <a:schemeClr val="dk1"/>
                  </a:solidFill>
                  <a:latin typeface="나눔고딕 ExtraBold" panose="020D0904000000000000" pitchFamily="50" charset="-127"/>
                  <a:ea typeface="나눔고딕 ExtraBold" panose="020D0904000000000000" pitchFamily="50" charset="-127"/>
                  <a:cs typeface="Batang"/>
                  <a:sym typeface="Batang"/>
                </a:rPr>
                <a:t>To characterize how emotional information is consolidated and transferred across layers, through inter-channel dependency analysis and information flow reconstruction.</a:t>
              </a:r>
            </a:p>
            <a:p>
              <a:pPr algn="just">
                <a:lnSpc>
                  <a:spcPct val="171875"/>
                </a:lnSpc>
              </a:pPr>
              <a:endParaRPr lang="en-US" altLang="ko-KR" sz="2800" b="1" dirty="0">
                <a:solidFill>
                  <a:schemeClr val="dk1"/>
                </a:solidFill>
                <a:latin typeface="나눔고딕 ExtraBold" panose="020D0904000000000000" pitchFamily="50" charset="-127"/>
                <a:ea typeface="나눔고딕 ExtraBold" panose="020D0904000000000000" pitchFamily="50" charset="-127"/>
                <a:cs typeface="Batang"/>
                <a:sym typeface="Batang"/>
              </a:endParaRPr>
            </a:p>
            <a:p>
              <a:pPr algn="just">
                <a:lnSpc>
                  <a:spcPct val="171875"/>
                </a:lnSpc>
              </a:pPr>
              <a:r>
                <a:rPr lang="en-US" altLang="ko-KR" sz="2800" b="1" dirty="0">
                  <a:solidFill>
                    <a:schemeClr val="dk1"/>
                  </a:solidFill>
                  <a:latin typeface="나눔고딕 ExtraBold" panose="020D0904000000000000" pitchFamily="50" charset="-127"/>
                  <a:ea typeface="나눔고딕 ExtraBold" panose="020D0904000000000000" pitchFamily="50" charset="-127"/>
                  <a:cs typeface="Batang"/>
                  <a:sym typeface="Batang"/>
                </a:rPr>
                <a:t> </a:t>
              </a:r>
            </a:p>
          </p:txBody>
        </p:sp>
        <p:sp>
          <p:nvSpPr>
            <p:cNvPr id="100" name="Google Shape;100;p1"/>
            <p:cNvSpPr/>
            <p:nvPr/>
          </p:nvSpPr>
          <p:spPr>
            <a:xfrm>
              <a:off x="414164" y="12491495"/>
              <a:ext cx="16560000" cy="1104231"/>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OBJECTIVES</a:t>
              </a:r>
              <a:endParaRPr sz="5450" b="1" dirty="0">
                <a:solidFill>
                  <a:schemeClr val="lt1"/>
                </a:solidFill>
              </a:endParaRPr>
            </a:p>
          </p:txBody>
        </p:sp>
      </p:grpSp>
      <p:grpSp>
        <p:nvGrpSpPr>
          <p:cNvPr id="101" name="Google Shape;101;p1"/>
          <p:cNvGrpSpPr/>
          <p:nvPr/>
        </p:nvGrpSpPr>
        <p:grpSpPr>
          <a:xfrm>
            <a:off x="16545104" y="38748254"/>
            <a:ext cx="14182490" cy="3321704"/>
            <a:chOff x="15261857" y="37362883"/>
            <a:chExt cx="14424713" cy="3092244"/>
          </a:xfrm>
        </p:grpSpPr>
        <p:sp>
          <p:nvSpPr>
            <p:cNvPr id="102" name="Google Shape;102;p1"/>
            <p:cNvSpPr/>
            <p:nvPr/>
          </p:nvSpPr>
          <p:spPr>
            <a:xfrm>
              <a:off x="15286569" y="38131250"/>
              <a:ext cx="14400000" cy="2323877"/>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marL="285750" indent="-285750">
                <a:buFont typeface="Arial" panose="020B0604020202020204" pitchFamily="34" charset="0"/>
                <a:buChar char="•"/>
              </a:pPr>
              <a:r>
                <a:rPr lang="en-US" altLang="ko-KR" sz="1600" dirty="0">
                  <a:latin typeface="210 나무고딕 EB" panose="02020603020101020101" pitchFamily="18" charset="-127"/>
                  <a:ea typeface="210 나무고딕 EB" panose="02020603020101020101" pitchFamily="18" charset="-127"/>
                </a:rPr>
                <a:t> Barrett, Lisa Feldman, and Ajay B. Satpute. "Historical pitfalls and new directions in the neuroscience of emotion." </a:t>
              </a:r>
              <a:r>
                <a:rPr lang="en-US" altLang="ko-KR" sz="1600" i="1" dirty="0">
                  <a:latin typeface="210 나무고딕 EB" panose="02020603020101020101" pitchFamily="18" charset="-127"/>
                  <a:ea typeface="210 나무고딕 EB" panose="02020603020101020101" pitchFamily="18" charset="-127"/>
                </a:rPr>
                <a:t>Neuroscience letters</a:t>
              </a:r>
              <a:r>
                <a:rPr lang="en-US" altLang="ko-KR" sz="1600" dirty="0">
                  <a:latin typeface="210 나무고딕 EB" panose="02020603020101020101" pitchFamily="18" charset="-127"/>
                  <a:ea typeface="210 나무고딕 EB" panose="02020603020101020101" pitchFamily="18" charset="-127"/>
                </a:rPr>
                <a:t> 693 (2019): 9-18.</a:t>
              </a:r>
            </a:p>
            <a:p>
              <a:pPr marL="285750" indent="-285750">
                <a:buFont typeface="Arial" panose="020B0604020202020204" pitchFamily="34" charset="0"/>
                <a:buChar char="•"/>
              </a:pPr>
              <a:r>
                <a:rPr lang="en-US" altLang="ko-KR" sz="1600" dirty="0">
                  <a:latin typeface="210 나무고딕 EB" panose="02020603020101020101" pitchFamily="18" charset="-127"/>
                  <a:ea typeface="210 나무고딕 EB" panose="02020603020101020101" pitchFamily="18" charset="-127"/>
                </a:rPr>
                <a:t>Kragel, Philip A., et al. "Decoding spontaneous emotional states in the human brain." </a:t>
              </a:r>
              <a:r>
                <a:rPr lang="en-US" altLang="ko-KR" sz="1600" i="1" dirty="0" err="1">
                  <a:latin typeface="210 나무고딕 EB" panose="02020603020101020101" pitchFamily="18" charset="-127"/>
                  <a:ea typeface="210 나무고딕 EB" panose="02020603020101020101" pitchFamily="18" charset="-127"/>
                </a:rPr>
                <a:t>PLoS</a:t>
              </a:r>
              <a:r>
                <a:rPr lang="en-US" altLang="ko-KR" sz="1600" i="1" dirty="0">
                  <a:latin typeface="210 나무고딕 EB" panose="02020603020101020101" pitchFamily="18" charset="-127"/>
                  <a:ea typeface="210 나무고딕 EB" panose="02020603020101020101" pitchFamily="18" charset="-127"/>
                </a:rPr>
                <a:t> biology</a:t>
              </a:r>
              <a:r>
                <a:rPr lang="en-US" altLang="ko-KR" sz="1600" dirty="0">
                  <a:latin typeface="210 나무고딕 EB" panose="02020603020101020101" pitchFamily="18" charset="-127"/>
                  <a:ea typeface="210 나무고딕 EB" panose="02020603020101020101" pitchFamily="18" charset="-127"/>
                </a:rPr>
                <a:t> 14.9 (2016): e2000106. </a:t>
              </a:r>
            </a:p>
            <a:p>
              <a:pPr marL="285750" indent="-285750">
                <a:buFont typeface="Arial" panose="020B0604020202020204" pitchFamily="34" charset="0"/>
                <a:buChar char="•"/>
              </a:pPr>
              <a:r>
                <a:rPr lang="en-US" altLang="ko-KR" sz="1600" dirty="0" err="1">
                  <a:latin typeface="210 나무고딕 EB" panose="02020603020101020101" pitchFamily="18" charset="-127"/>
                  <a:ea typeface="210 나무고딕 EB" panose="02020603020101020101" pitchFamily="18" charset="-127"/>
                </a:rPr>
                <a:t>Kriegeskorte</a:t>
              </a:r>
              <a:r>
                <a:rPr lang="en-US" altLang="ko-KR" sz="1600" dirty="0">
                  <a:latin typeface="210 나무고딕 EB" panose="02020603020101020101" pitchFamily="18" charset="-127"/>
                  <a:ea typeface="210 나무고딕 EB" panose="02020603020101020101" pitchFamily="18" charset="-127"/>
                </a:rPr>
                <a:t>, N- </a:t>
              </a:r>
              <a:r>
                <a:rPr lang="en-US" altLang="ko-KR" sz="1600" dirty="0" err="1">
                  <a:latin typeface="210 나무고딕 EB" panose="02020603020101020101" pitchFamily="18" charset="-127"/>
                  <a:ea typeface="210 나무고딕 EB" panose="02020603020101020101" pitchFamily="18" charset="-127"/>
                </a:rPr>
                <a:t>ikolaus</a:t>
              </a:r>
              <a:r>
                <a:rPr lang="en-US" altLang="ko-KR" sz="1600" dirty="0">
                  <a:latin typeface="210 나무고딕 EB" panose="02020603020101020101" pitchFamily="18" charset="-127"/>
                  <a:ea typeface="210 나무고딕 EB" panose="02020603020101020101" pitchFamily="18" charset="-127"/>
                </a:rPr>
                <a:t>, Marieke Mur, and Peter A. </a:t>
              </a:r>
              <a:r>
                <a:rPr lang="en-US" altLang="ko-KR" sz="1600" dirty="0" err="1">
                  <a:latin typeface="210 나무고딕 EB" panose="02020603020101020101" pitchFamily="18" charset="-127"/>
                  <a:ea typeface="210 나무고딕 EB" panose="02020603020101020101" pitchFamily="18" charset="-127"/>
                </a:rPr>
                <a:t>Bandettini</a:t>
              </a:r>
              <a:r>
                <a:rPr lang="en-US" altLang="ko-KR" sz="1600" dirty="0">
                  <a:latin typeface="210 나무고딕 EB" panose="02020603020101020101" pitchFamily="18" charset="-127"/>
                  <a:ea typeface="210 나무고딕 EB" panose="02020603020101020101" pitchFamily="18" charset="-127"/>
                </a:rPr>
                <a:t>. "Representational similarity analysis-connecting the branches of systems neuroscience." </a:t>
              </a:r>
              <a:r>
                <a:rPr lang="en-US" altLang="ko-KR" sz="1600" i="1" dirty="0">
                  <a:latin typeface="210 나무고딕 EB" panose="02020603020101020101" pitchFamily="18" charset="-127"/>
                  <a:ea typeface="210 나무고딕 EB" panose="02020603020101020101" pitchFamily="18" charset="-127"/>
                </a:rPr>
                <a:t>Frontiers in systems neuroscience</a:t>
              </a:r>
              <a:r>
                <a:rPr lang="en-US" altLang="ko-KR" sz="1600" dirty="0">
                  <a:latin typeface="210 나무고딕 EB" panose="02020603020101020101" pitchFamily="18" charset="-127"/>
                  <a:ea typeface="210 나무고딕 EB" panose="02020603020101020101" pitchFamily="18" charset="-127"/>
                </a:rPr>
                <a:t> 2 (2008): 249.</a:t>
              </a:r>
            </a:p>
            <a:p>
              <a:pPr marL="285750" indent="-285750">
                <a:buFont typeface="Arial" panose="020B0604020202020204" pitchFamily="34" charset="0"/>
                <a:buChar char="•"/>
              </a:pPr>
              <a:r>
                <a:rPr lang="en-US" altLang="ko-KR" sz="1600" dirty="0">
                  <a:latin typeface="210 나무고딕 EB" panose="02020603020101020101" pitchFamily="18" charset="-127"/>
                  <a:ea typeface="210 나무고딕 EB" panose="02020603020101020101" pitchFamily="18" charset="-127"/>
                </a:rPr>
                <a:t> </a:t>
              </a:r>
              <a:r>
                <a:rPr lang="en-US" altLang="ko-KR" sz="1600" dirty="0" err="1">
                  <a:latin typeface="210 나무고딕 EB" panose="02020603020101020101" pitchFamily="18" charset="-127"/>
                  <a:ea typeface="210 나무고딕 EB" panose="02020603020101020101" pitchFamily="18" charset="-127"/>
                </a:rPr>
                <a:t>Yamins</a:t>
              </a:r>
              <a:r>
                <a:rPr lang="en-US" altLang="ko-KR" sz="1600" dirty="0">
                  <a:latin typeface="210 나무고딕 EB" panose="02020603020101020101" pitchFamily="18" charset="-127"/>
                  <a:ea typeface="210 나무고딕 EB" panose="02020603020101020101" pitchFamily="18" charset="-127"/>
                </a:rPr>
                <a:t>, Daniel LK, et al. "</a:t>
              </a:r>
              <a:r>
                <a:rPr lang="en-US" altLang="ko-KR" sz="1600" i="1" dirty="0" err="1">
                  <a:latin typeface="210 나무고딕 EB" panose="02020603020101020101" pitchFamily="18" charset="-127"/>
                  <a:ea typeface="210 나무고딕 EB" panose="02020603020101020101" pitchFamily="18" charset="-127"/>
                </a:rPr>
                <a:t>i</a:t>
              </a:r>
              <a:r>
                <a:rPr lang="en-US" altLang="ko-KR" sz="1600" dirty="0" err="1">
                  <a:latin typeface="210 나무고딕 EB" panose="02020603020101020101" pitchFamily="18" charset="-127"/>
                  <a:ea typeface="210 나무고딕 EB" panose="02020603020101020101" pitchFamily="18" charset="-127"/>
                </a:rPr>
                <a:t>Performance</a:t>
              </a:r>
              <a:r>
                <a:rPr lang="en-US" altLang="ko-KR" sz="1600" dirty="0">
                  <a:latin typeface="210 나무고딕 EB" panose="02020603020101020101" pitchFamily="18" charset="-127"/>
                  <a:ea typeface="210 나무고딕 EB" panose="02020603020101020101" pitchFamily="18" charset="-127"/>
                </a:rPr>
                <a:t>-optimized hierarchical models predict neural responses in higher visual cortex." </a:t>
              </a:r>
              <a:r>
                <a:rPr lang="en-US" altLang="ko-KR" sz="1600" i="1" dirty="0">
                  <a:latin typeface="210 나무고딕 EB" panose="02020603020101020101" pitchFamily="18" charset="-127"/>
                  <a:ea typeface="210 나무고딕 EB" panose="02020603020101020101" pitchFamily="18" charset="-127"/>
                </a:rPr>
                <a:t>Proceedings of the national academy of </a:t>
              </a:r>
              <a:r>
                <a:rPr lang="en-US" altLang="ko-KR" sz="1600" i="1" dirty="0" err="1">
                  <a:latin typeface="210 나무고딕 EB" panose="02020603020101020101" pitchFamily="18" charset="-127"/>
                  <a:ea typeface="210 나무고딕 EB" panose="02020603020101020101" pitchFamily="18" charset="-127"/>
                </a:rPr>
                <a:t>scences</a:t>
              </a:r>
              <a:r>
                <a:rPr lang="en-US" altLang="ko-KR" sz="1600" dirty="0">
                  <a:latin typeface="210 나무고딕 EB" panose="02020603020101020101" pitchFamily="18" charset="-127"/>
                  <a:ea typeface="210 나무고딕 EB" panose="02020603020101020101" pitchFamily="18" charset="-127"/>
                </a:rPr>
                <a:t> 111.23 (2014): 8619-8624.</a:t>
              </a:r>
            </a:p>
            <a:p>
              <a:pPr marL="285750" indent="-285750">
                <a:buFont typeface="Arial" panose="020B0604020202020204" pitchFamily="34" charset="0"/>
                <a:buChar char="•"/>
              </a:pPr>
              <a:r>
                <a:rPr lang="en-US" altLang="ko-KR" sz="1600" dirty="0">
                  <a:latin typeface="210 나무고딕 EB" panose="02020603020101020101" pitchFamily="18" charset="-127"/>
                  <a:ea typeface="210 나무고딕 EB" panose="02020603020101020101" pitchFamily="18" charset="-127"/>
                </a:rPr>
                <a:t>Zhou, Bolei, et al. "Interpreting deep visual representations via network dissection." </a:t>
              </a:r>
              <a:r>
                <a:rPr lang="en-US" altLang="ko-KR" sz="1600" i="1" dirty="0">
                  <a:latin typeface="210 나무고딕 EB" panose="02020603020101020101" pitchFamily="18" charset="-127"/>
                  <a:ea typeface="210 나무고딕 EB" panose="02020603020101020101" pitchFamily="18" charset="-127"/>
                </a:rPr>
                <a:t>IEEE transactions on pattern analysis and machine intelligence</a:t>
              </a:r>
              <a:r>
                <a:rPr lang="en-US" altLang="ko-KR" sz="1600" dirty="0">
                  <a:latin typeface="210 나무고딕 EB" panose="02020603020101020101" pitchFamily="18" charset="-127"/>
                  <a:ea typeface="210 나무고딕 EB" panose="02020603020101020101" pitchFamily="18" charset="-127"/>
                </a:rPr>
                <a:t> 41.9 (2018): 2131-2145.</a:t>
              </a:r>
              <a:endParaRPr sz="2000" dirty="0">
                <a:solidFill>
                  <a:schemeClr val="lt1"/>
                </a:solidFill>
                <a:latin typeface="210 나무고딕 EB" panose="02020603020101020101" pitchFamily="18" charset="-127"/>
                <a:ea typeface="210 나무고딕 EB" panose="02020603020101020101" pitchFamily="18" charset="-127"/>
                <a:cs typeface="Calibri"/>
                <a:sym typeface="Calibri"/>
              </a:endParaRPr>
            </a:p>
          </p:txBody>
        </p:sp>
        <p:sp>
          <p:nvSpPr>
            <p:cNvPr id="103" name="Google Shape;103;p1"/>
            <p:cNvSpPr/>
            <p:nvPr/>
          </p:nvSpPr>
          <p:spPr>
            <a:xfrm>
              <a:off x="15261857" y="37362883"/>
              <a:ext cx="14424713" cy="768406"/>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REFERENCES</a:t>
              </a:r>
              <a:endParaRPr sz="4441" b="1" dirty="0">
                <a:solidFill>
                  <a:srgbClr val="FFFFFF"/>
                </a:solidFill>
              </a:endParaRPr>
            </a:p>
          </p:txBody>
        </p:sp>
      </p:grpSp>
      <p:pic>
        <p:nvPicPr>
          <p:cNvPr id="104" name="Google Shape;104;p1"/>
          <p:cNvPicPr preferRelativeResize="0"/>
          <p:nvPr/>
        </p:nvPicPr>
        <p:blipFill rotWithShape="1">
          <a:blip r:embed="rId5">
            <a:alphaModFix/>
          </a:blip>
          <a:srcRect t="85800"/>
          <a:stretch/>
        </p:blipFill>
        <p:spPr>
          <a:xfrm>
            <a:off x="24434800" y="42067545"/>
            <a:ext cx="7037733" cy="825426"/>
          </a:xfrm>
          <a:prstGeom prst="rect">
            <a:avLst/>
          </a:prstGeom>
          <a:noFill/>
          <a:ln>
            <a:noFill/>
          </a:ln>
        </p:spPr>
      </p:pic>
      <p:pic>
        <p:nvPicPr>
          <p:cNvPr id="19" name="그림 18" descr="텍스트, 스크린샷, 도표, 원이(가) 표시된 사진&#10;&#10;AI 생성 콘텐츠는 정확하지 않을 수 있습니다.">
            <a:extLst>
              <a:ext uri="{FF2B5EF4-FFF2-40B4-BE49-F238E27FC236}">
                <a16:creationId xmlns:a16="http://schemas.microsoft.com/office/drawing/2014/main" id="{A65C1342-9B5F-CC46-2FDB-7BAD5184D414}"/>
              </a:ext>
            </a:extLst>
          </p:cNvPr>
          <p:cNvPicPr>
            <a:picLocks noChangeAspect="1"/>
          </p:cNvPicPr>
          <p:nvPr/>
        </p:nvPicPr>
        <p:blipFill>
          <a:blip r:embed="rId6"/>
          <a:stretch>
            <a:fillRect/>
          </a:stretch>
        </p:blipFill>
        <p:spPr>
          <a:xfrm>
            <a:off x="23792853" y="20648780"/>
            <a:ext cx="6881024" cy="4415094"/>
          </a:xfrm>
          <a:prstGeom prst="rect">
            <a:avLst/>
          </a:prstGeom>
        </p:spPr>
      </p:pic>
      <p:grpSp>
        <p:nvGrpSpPr>
          <p:cNvPr id="12" name="그룹 11">
            <a:extLst>
              <a:ext uri="{FF2B5EF4-FFF2-40B4-BE49-F238E27FC236}">
                <a16:creationId xmlns:a16="http://schemas.microsoft.com/office/drawing/2014/main" id="{6F2B0251-5F3E-E4F3-EE04-9E5A9C1262DA}"/>
              </a:ext>
            </a:extLst>
          </p:cNvPr>
          <p:cNvGrpSpPr/>
          <p:nvPr/>
        </p:nvGrpSpPr>
        <p:grpSpPr>
          <a:xfrm>
            <a:off x="16569312" y="7468919"/>
            <a:ext cx="13971812" cy="6534375"/>
            <a:chOff x="-34222676" y="5230283"/>
            <a:chExt cx="32399290" cy="17870409"/>
          </a:xfrm>
        </p:grpSpPr>
        <p:pic>
          <p:nvPicPr>
            <p:cNvPr id="3" name="그림 2" descr="텍스트, 도표, 스크린샷, 그래프이(가) 표시된 사진&#10;&#10;AI 생성 콘텐츠는 정확하지 않을 수 있습니다.">
              <a:extLst>
                <a:ext uri="{FF2B5EF4-FFF2-40B4-BE49-F238E27FC236}">
                  <a16:creationId xmlns:a16="http://schemas.microsoft.com/office/drawing/2014/main" id="{46F35B67-B841-3A5C-FF7D-96AF66776C64}"/>
                </a:ext>
              </a:extLst>
            </p:cNvPr>
            <p:cNvPicPr>
              <a:picLocks noChangeAspect="1"/>
            </p:cNvPicPr>
            <p:nvPr/>
          </p:nvPicPr>
          <p:blipFill>
            <a:blip r:embed="rId7"/>
            <a:srcRect b="32800"/>
            <a:stretch>
              <a:fillRect/>
            </a:stretch>
          </p:blipFill>
          <p:spPr>
            <a:xfrm>
              <a:off x="-34222676" y="5230283"/>
              <a:ext cx="32399290" cy="17870409"/>
            </a:xfrm>
            <a:prstGeom prst="rect">
              <a:avLst/>
            </a:prstGeom>
          </p:spPr>
        </p:pic>
        <p:pic>
          <p:nvPicPr>
            <p:cNvPr id="9" name="그림 8" descr="텍스트, 도표, 스크린샷, 그래프이(가) 표시된 사진&#10;&#10;AI 생성 콘텐츠는 정확하지 않을 수 있습니다.">
              <a:extLst>
                <a:ext uri="{FF2B5EF4-FFF2-40B4-BE49-F238E27FC236}">
                  <a16:creationId xmlns:a16="http://schemas.microsoft.com/office/drawing/2014/main" id="{89708B38-96E0-31AB-1406-DC5410D5CA04}"/>
                </a:ext>
              </a:extLst>
            </p:cNvPr>
            <p:cNvPicPr>
              <a:picLocks noChangeAspect="1"/>
            </p:cNvPicPr>
            <p:nvPr/>
          </p:nvPicPr>
          <p:blipFill>
            <a:blip r:embed="rId7"/>
            <a:srcRect l="63873" t="35720" b="21542"/>
            <a:stretch>
              <a:fillRect/>
            </a:stretch>
          </p:blipFill>
          <p:spPr>
            <a:xfrm>
              <a:off x="-34222676" y="5230283"/>
              <a:ext cx="10289466" cy="9209617"/>
            </a:xfrm>
            <a:prstGeom prst="rect">
              <a:avLst/>
            </a:prstGeom>
          </p:spPr>
        </p:pic>
        <p:sp>
          <p:nvSpPr>
            <p:cNvPr id="10" name="직사각형 9">
              <a:extLst>
                <a:ext uri="{FF2B5EF4-FFF2-40B4-BE49-F238E27FC236}">
                  <a16:creationId xmlns:a16="http://schemas.microsoft.com/office/drawing/2014/main" id="{9077E921-DF5F-CE6E-41AD-F14AD810E754}"/>
                </a:ext>
              </a:extLst>
            </p:cNvPr>
            <p:cNvSpPr/>
            <p:nvPr/>
          </p:nvSpPr>
          <p:spPr>
            <a:xfrm>
              <a:off x="-13319103" y="14239166"/>
              <a:ext cx="11123605" cy="8679238"/>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8" name="직사각형 17">
            <a:extLst>
              <a:ext uri="{FF2B5EF4-FFF2-40B4-BE49-F238E27FC236}">
                <a16:creationId xmlns:a16="http://schemas.microsoft.com/office/drawing/2014/main" id="{5FFE35AA-9090-B04E-3D21-4B0A5847ACC4}"/>
              </a:ext>
            </a:extLst>
          </p:cNvPr>
          <p:cNvSpPr/>
          <p:nvPr/>
        </p:nvSpPr>
        <p:spPr>
          <a:xfrm>
            <a:off x="17411140" y="7514790"/>
            <a:ext cx="417514" cy="203016"/>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1200" b="1" dirty="0">
                <a:solidFill>
                  <a:schemeClr val="tx1"/>
                </a:solidFill>
                <a:latin typeface="210 나무고딕 EB" panose="02020603020101020101" pitchFamily="18" charset="-127"/>
                <a:ea typeface="210 나무고딕 EB" panose="02020603020101020101" pitchFamily="18" charset="-127"/>
              </a:rPr>
              <a:t>a.</a:t>
            </a:r>
            <a:endParaRPr lang="ko-KR" altLang="en-US" sz="1200" b="1" dirty="0">
              <a:solidFill>
                <a:schemeClr val="tx1"/>
              </a:solidFill>
              <a:latin typeface="210 나무고딕 EB" panose="02020603020101020101" pitchFamily="18" charset="-127"/>
              <a:ea typeface="210 나무고딕 EB" panose="02020603020101020101" pitchFamily="18" charset="-127"/>
            </a:endParaRPr>
          </a:p>
        </p:txBody>
      </p:sp>
      <p:sp>
        <p:nvSpPr>
          <p:cNvPr id="26" name="직사각형 25">
            <a:extLst>
              <a:ext uri="{FF2B5EF4-FFF2-40B4-BE49-F238E27FC236}">
                <a16:creationId xmlns:a16="http://schemas.microsoft.com/office/drawing/2014/main" id="{70250892-21BB-D9EB-2AC1-2126216FEF93}"/>
              </a:ext>
            </a:extLst>
          </p:cNvPr>
          <p:cNvSpPr/>
          <p:nvPr/>
        </p:nvSpPr>
        <p:spPr>
          <a:xfrm>
            <a:off x="21052845" y="10911031"/>
            <a:ext cx="9554656" cy="3188844"/>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2000" b="1" dirty="0">
                <a:solidFill>
                  <a:schemeClr val="tx1"/>
                </a:solidFill>
                <a:latin typeface="210 나무고딕 EB" panose="02020603020101020101" pitchFamily="18" charset="-127"/>
                <a:ea typeface="210 나무고딕 EB" panose="02020603020101020101" pitchFamily="18" charset="-127"/>
              </a:rPr>
              <a:t>(a) Hierarchical Bayesian inference shrinks noisy channel estimates toward layer-specific priors, stabilizing signal strength while preserving high-performing channels.</a:t>
            </a:r>
          </a:p>
          <a:p>
            <a:pPr marL="457200" indent="-457200" algn="just">
              <a:buAutoNum type="alphaLcParenBoth"/>
            </a:pPr>
            <a:endParaRPr lang="en-US" altLang="ko-KR" sz="2000" b="1" dirty="0">
              <a:solidFill>
                <a:schemeClr val="tx1"/>
              </a:solidFill>
              <a:latin typeface="210 나무고딕 EB" panose="02020603020101020101" pitchFamily="18" charset="-127"/>
              <a:ea typeface="210 나무고딕 EB" panose="02020603020101020101" pitchFamily="18" charset="-127"/>
            </a:endParaRPr>
          </a:p>
          <a:p>
            <a:pPr algn="just"/>
            <a:r>
              <a:rPr lang="en-US" altLang="ko-KR" sz="2000" b="1" dirty="0">
                <a:solidFill>
                  <a:schemeClr val="tx1"/>
                </a:solidFill>
                <a:latin typeface="210 나무고딕 EB" panose="02020603020101020101" pitchFamily="18" charset="-127"/>
                <a:ea typeface="210 나무고딕 EB" panose="02020603020101020101" pitchFamily="18" charset="-127"/>
              </a:rPr>
              <a:t>(b) A small subset of channels exhibits consistently high posterior means with tight confidence intervals, indicating concentrated emotion-relevant information.</a:t>
            </a:r>
          </a:p>
          <a:p>
            <a:pPr algn="just"/>
            <a:endParaRPr lang="en-US" altLang="ko-KR" sz="2000" b="1" dirty="0">
              <a:solidFill>
                <a:schemeClr val="tx1"/>
              </a:solidFill>
              <a:latin typeface="210 나무고딕 EB" panose="02020603020101020101" pitchFamily="18" charset="-127"/>
              <a:ea typeface="210 나무고딕 EB" panose="02020603020101020101" pitchFamily="18" charset="-127"/>
            </a:endParaRPr>
          </a:p>
          <a:p>
            <a:pPr algn="just"/>
            <a:r>
              <a:rPr lang="en-US" altLang="ko-KR" sz="2000" b="1" dirty="0">
                <a:solidFill>
                  <a:schemeClr val="tx1"/>
                </a:solidFill>
                <a:latin typeface="210 나무고딕 EB" panose="02020603020101020101" pitchFamily="18" charset="-127"/>
                <a:ea typeface="210 나무고딕 EB" panose="02020603020101020101" pitchFamily="18" charset="-127"/>
              </a:rPr>
              <a:t>(c) Thompson sampling rapidly converges to the optimal channel subset, confirming efficient identification of informative channels far above chance level.</a:t>
            </a:r>
            <a:endParaRPr lang="ko-KR" altLang="en-US" sz="2000" b="1" dirty="0">
              <a:solidFill>
                <a:schemeClr val="tx1"/>
              </a:solidFill>
              <a:latin typeface="210 나무고딕 EB" panose="02020603020101020101" pitchFamily="18" charset="-127"/>
              <a:ea typeface="210 나무고딕 EB" panose="02020603020101020101" pitchFamily="18" charset="-127"/>
            </a:endParaRPr>
          </a:p>
        </p:txBody>
      </p:sp>
      <p:sp>
        <p:nvSpPr>
          <p:cNvPr id="32" name="직사각형 31">
            <a:extLst>
              <a:ext uri="{FF2B5EF4-FFF2-40B4-BE49-F238E27FC236}">
                <a16:creationId xmlns:a16="http://schemas.microsoft.com/office/drawing/2014/main" id="{4D248364-0453-8C3F-102D-6E15B50B6FB3}"/>
              </a:ext>
            </a:extLst>
          </p:cNvPr>
          <p:cNvSpPr/>
          <p:nvPr/>
        </p:nvSpPr>
        <p:spPr>
          <a:xfrm>
            <a:off x="24017286" y="7648511"/>
            <a:ext cx="417514" cy="203016"/>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1200" b="1" dirty="0">
                <a:solidFill>
                  <a:schemeClr val="tx1"/>
                </a:solidFill>
                <a:latin typeface="210 나무고딕 EB" panose="02020603020101020101" pitchFamily="18" charset="-127"/>
                <a:ea typeface="210 나무고딕 EB" panose="02020603020101020101" pitchFamily="18" charset="-127"/>
              </a:rPr>
              <a:t>b.</a:t>
            </a:r>
            <a:endParaRPr lang="ko-KR" altLang="en-US" sz="1200" b="1" dirty="0">
              <a:solidFill>
                <a:schemeClr val="tx1"/>
              </a:solidFill>
              <a:latin typeface="210 나무고딕 EB" panose="02020603020101020101" pitchFamily="18" charset="-127"/>
              <a:ea typeface="210 나무고딕 EB" panose="02020603020101020101" pitchFamily="18" charset="-127"/>
            </a:endParaRPr>
          </a:p>
        </p:txBody>
      </p:sp>
      <p:sp>
        <p:nvSpPr>
          <p:cNvPr id="33" name="직사각형 32">
            <a:extLst>
              <a:ext uri="{FF2B5EF4-FFF2-40B4-BE49-F238E27FC236}">
                <a16:creationId xmlns:a16="http://schemas.microsoft.com/office/drawing/2014/main" id="{8C707FE1-394E-7CFC-27DC-961D052D9F13}"/>
              </a:ext>
            </a:extLst>
          </p:cNvPr>
          <p:cNvSpPr/>
          <p:nvPr/>
        </p:nvSpPr>
        <p:spPr>
          <a:xfrm>
            <a:off x="17202383" y="10862376"/>
            <a:ext cx="417514" cy="203016"/>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1200" b="1" dirty="0">
                <a:solidFill>
                  <a:schemeClr val="tx1"/>
                </a:solidFill>
                <a:latin typeface="210 나무고딕 EB" panose="02020603020101020101" pitchFamily="18" charset="-127"/>
                <a:ea typeface="210 나무고딕 EB" panose="02020603020101020101" pitchFamily="18" charset="-127"/>
              </a:rPr>
              <a:t>c.</a:t>
            </a:r>
            <a:endParaRPr lang="ko-KR" altLang="en-US" sz="1200" b="1" dirty="0">
              <a:solidFill>
                <a:schemeClr val="tx1"/>
              </a:solidFill>
              <a:latin typeface="210 나무고딕 EB" panose="02020603020101020101" pitchFamily="18" charset="-127"/>
              <a:ea typeface="210 나무고딕 EB" panose="02020603020101020101" pitchFamily="18" charset="-127"/>
            </a:endParaRPr>
          </a:p>
        </p:txBody>
      </p:sp>
      <p:sp>
        <p:nvSpPr>
          <p:cNvPr id="36" name="직사각형 35">
            <a:extLst>
              <a:ext uri="{FF2B5EF4-FFF2-40B4-BE49-F238E27FC236}">
                <a16:creationId xmlns:a16="http://schemas.microsoft.com/office/drawing/2014/main" id="{9DDC7D9E-A473-5DF6-5654-E1040C36F6FA}"/>
              </a:ext>
            </a:extLst>
          </p:cNvPr>
          <p:cNvSpPr/>
          <p:nvPr/>
        </p:nvSpPr>
        <p:spPr>
          <a:xfrm>
            <a:off x="16932329" y="14613378"/>
            <a:ext cx="4141217" cy="6021507"/>
          </a:xfrm>
          <a:prstGeom prst="rect">
            <a:avLst/>
          </a:prstGeom>
          <a:solidFill>
            <a:srgbClr val="FCF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400" b="1" dirty="0">
                <a:solidFill>
                  <a:schemeClr val="tx1"/>
                </a:solidFill>
                <a:latin typeface="210 나무고딕 EB" panose="02020603020101020101" pitchFamily="18" charset="-127"/>
                <a:ea typeface="210 나무고딕 EB" panose="02020603020101020101" pitchFamily="18" charset="-127"/>
              </a:rPr>
              <a:t>(d) Emotion-related channels show stronger internal coherence than cross-domain correlations,</a:t>
            </a:r>
          </a:p>
          <a:p>
            <a:r>
              <a:rPr lang="en-US" altLang="ko-KR" sz="2400" b="1" dirty="0">
                <a:solidFill>
                  <a:schemeClr val="tx1"/>
                </a:solidFill>
                <a:latin typeface="210 나무고딕 EB" panose="02020603020101020101" pitchFamily="18" charset="-127"/>
                <a:ea typeface="210 나무고딕 EB" panose="02020603020101020101" pitchFamily="18" charset="-127"/>
              </a:rPr>
              <a:t>indicating a distinct affective subspace emerging at Conv3.</a:t>
            </a:r>
          </a:p>
          <a:p>
            <a:endParaRPr lang="en-US" altLang="ko-KR" sz="2400" b="1" dirty="0">
              <a:solidFill>
                <a:schemeClr val="tx1"/>
              </a:solidFill>
              <a:latin typeface="210 나무고딕 EB" panose="02020603020101020101" pitchFamily="18" charset="-127"/>
              <a:ea typeface="210 나무고딕 EB" panose="02020603020101020101" pitchFamily="18" charset="-127"/>
            </a:endParaRPr>
          </a:p>
          <a:p>
            <a:r>
              <a:rPr lang="en-US" altLang="ko-KR" sz="2400" b="1" dirty="0">
                <a:solidFill>
                  <a:schemeClr val="tx1"/>
                </a:solidFill>
                <a:latin typeface="210 나무고딕 EB" panose="02020603020101020101" pitchFamily="18" charset="-127"/>
                <a:ea typeface="210 나무고딕 EB" panose="02020603020101020101" pitchFamily="18" charset="-127"/>
              </a:rPr>
              <a:t>(e) Combining object and emotion features yields higher accuracy than either alone,</a:t>
            </a:r>
          </a:p>
          <a:p>
            <a:r>
              <a:rPr lang="en-US" altLang="ko-KR" sz="2400" b="1" dirty="0">
                <a:solidFill>
                  <a:schemeClr val="tx1"/>
                </a:solidFill>
                <a:latin typeface="210 나무고딕 EB" panose="02020603020101020101" pitchFamily="18" charset="-127"/>
                <a:ea typeface="210 나무고딕 EB" panose="02020603020101020101" pitchFamily="18" charset="-127"/>
              </a:rPr>
              <a:t>demonstrating synergistic integration without representational entanglement.</a:t>
            </a:r>
          </a:p>
        </p:txBody>
      </p:sp>
      <p:grpSp>
        <p:nvGrpSpPr>
          <p:cNvPr id="42" name="그룹 41">
            <a:extLst>
              <a:ext uri="{FF2B5EF4-FFF2-40B4-BE49-F238E27FC236}">
                <a16:creationId xmlns:a16="http://schemas.microsoft.com/office/drawing/2014/main" id="{EE43EE31-0E12-0018-8D4E-75FE961426FE}"/>
              </a:ext>
            </a:extLst>
          </p:cNvPr>
          <p:cNvGrpSpPr/>
          <p:nvPr/>
        </p:nvGrpSpPr>
        <p:grpSpPr>
          <a:xfrm>
            <a:off x="21119221" y="14408782"/>
            <a:ext cx="9421903" cy="6258114"/>
            <a:chOff x="33077168" y="20642343"/>
            <a:chExt cx="9421903" cy="7285849"/>
          </a:xfrm>
        </p:grpSpPr>
        <p:grpSp>
          <p:nvGrpSpPr>
            <p:cNvPr id="41" name="그룹 40">
              <a:extLst>
                <a:ext uri="{FF2B5EF4-FFF2-40B4-BE49-F238E27FC236}">
                  <a16:creationId xmlns:a16="http://schemas.microsoft.com/office/drawing/2014/main" id="{013B5D2B-3E26-048A-940B-2737ECD0D7C4}"/>
                </a:ext>
              </a:extLst>
            </p:cNvPr>
            <p:cNvGrpSpPr/>
            <p:nvPr/>
          </p:nvGrpSpPr>
          <p:grpSpPr>
            <a:xfrm>
              <a:off x="33077168" y="20642343"/>
              <a:ext cx="9421903" cy="7285849"/>
              <a:chOff x="33077168" y="20642343"/>
              <a:chExt cx="9421903" cy="7285849"/>
            </a:xfrm>
          </p:grpSpPr>
          <p:grpSp>
            <p:nvGrpSpPr>
              <p:cNvPr id="35" name="그룹 34">
                <a:extLst>
                  <a:ext uri="{FF2B5EF4-FFF2-40B4-BE49-F238E27FC236}">
                    <a16:creationId xmlns:a16="http://schemas.microsoft.com/office/drawing/2014/main" id="{48F841FA-E941-0400-2047-1A4AE91B8BC5}"/>
                  </a:ext>
                </a:extLst>
              </p:cNvPr>
              <p:cNvGrpSpPr/>
              <p:nvPr/>
            </p:nvGrpSpPr>
            <p:grpSpPr>
              <a:xfrm>
                <a:off x="33077168" y="20642343"/>
                <a:ext cx="9421903" cy="7285849"/>
                <a:chOff x="-7795223" y="7070405"/>
                <a:chExt cx="11392518" cy="6770286"/>
              </a:xfrm>
            </p:grpSpPr>
            <p:pic>
              <p:nvPicPr>
                <p:cNvPr id="15" name="그림 14" descr="텍스트, 스크린샷, 도표, 다채로움이(가) 표시된 사진&#10;&#10;AI 생성 콘텐츠는 정확하지 않을 수 있습니다.">
                  <a:extLst>
                    <a:ext uri="{FF2B5EF4-FFF2-40B4-BE49-F238E27FC236}">
                      <a16:creationId xmlns:a16="http://schemas.microsoft.com/office/drawing/2014/main" id="{4EAA2936-F3C3-31B6-3F86-9B1D1F14042C}"/>
                    </a:ext>
                  </a:extLst>
                </p:cNvPr>
                <p:cNvPicPr>
                  <a:picLocks noChangeAspect="1"/>
                </p:cNvPicPr>
                <p:nvPr/>
              </p:nvPicPr>
              <p:blipFill>
                <a:blip r:embed="rId8"/>
                <a:srcRect r="66562" b="50195"/>
                <a:stretch>
                  <a:fillRect/>
                </a:stretch>
              </p:blipFill>
              <p:spPr>
                <a:xfrm>
                  <a:off x="-7795223" y="7070405"/>
                  <a:ext cx="5696259" cy="6770286"/>
                </a:xfrm>
                <a:prstGeom prst="rect">
                  <a:avLst/>
                </a:prstGeom>
              </p:spPr>
            </p:pic>
            <p:pic>
              <p:nvPicPr>
                <p:cNvPr id="34" name="그림 33" descr="텍스트, 스크린샷, 도표, 다채로움이(가) 표시된 사진&#10;&#10;AI 생성 콘텐츠는 정확하지 않을 수 있습니다.">
                  <a:extLst>
                    <a:ext uri="{FF2B5EF4-FFF2-40B4-BE49-F238E27FC236}">
                      <a16:creationId xmlns:a16="http://schemas.microsoft.com/office/drawing/2014/main" id="{27B714A8-6AD2-B271-5758-3C05A1DC3C05}"/>
                    </a:ext>
                  </a:extLst>
                </p:cNvPr>
                <p:cNvPicPr>
                  <a:picLocks noChangeAspect="1"/>
                </p:cNvPicPr>
                <p:nvPr/>
              </p:nvPicPr>
              <p:blipFill>
                <a:blip r:embed="rId8"/>
                <a:srcRect t="50195" r="66562"/>
                <a:stretch>
                  <a:fillRect/>
                </a:stretch>
              </p:blipFill>
              <p:spPr>
                <a:xfrm>
                  <a:off x="-2098964" y="7070405"/>
                  <a:ext cx="5696259" cy="6770286"/>
                </a:xfrm>
                <a:prstGeom prst="rect">
                  <a:avLst/>
                </a:prstGeom>
              </p:spPr>
            </p:pic>
          </p:grpSp>
          <p:sp>
            <p:nvSpPr>
              <p:cNvPr id="38" name="직사각형 37">
                <a:extLst>
                  <a:ext uri="{FF2B5EF4-FFF2-40B4-BE49-F238E27FC236}">
                    <a16:creationId xmlns:a16="http://schemas.microsoft.com/office/drawing/2014/main" id="{9EEB0DA5-EC2A-C104-1115-7CC405B5CA92}"/>
                  </a:ext>
                </a:extLst>
              </p:cNvPr>
              <p:cNvSpPr/>
              <p:nvPr/>
            </p:nvSpPr>
            <p:spPr>
              <a:xfrm>
                <a:off x="33668076" y="20642343"/>
                <a:ext cx="593932" cy="4141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1600" b="1" dirty="0">
                    <a:solidFill>
                      <a:schemeClr val="tx1"/>
                    </a:solidFill>
                    <a:latin typeface="210 나무고딕 EB" panose="02020603020101020101" pitchFamily="18" charset="-127"/>
                    <a:ea typeface="210 나무고딕 EB" panose="02020603020101020101" pitchFamily="18" charset="-127"/>
                  </a:rPr>
                  <a:t>d.</a:t>
                </a:r>
                <a:endParaRPr lang="ko-KR" altLang="en-US" sz="1600" b="1" dirty="0">
                  <a:solidFill>
                    <a:schemeClr val="tx1"/>
                  </a:solidFill>
                  <a:latin typeface="210 나무고딕 EB" panose="02020603020101020101" pitchFamily="18" charset="-127"/>
                  <a:ea typeface="210 나무고딕 EB" panose="02020603020101020101" pitchFamily="18" charset="-127"/>
                </a:endParaRPr>
              </a:p>
            </p:txBody>
          </p:sp>
        </p:grpSp>
        <p:sp>
          <p:nvSpPr>
            <p:cNvPr id="40" name="직사각형 39">
              <a:extLst>
                <a:ext uri="{FF2B5EF4-FFF2-40B4-BE49-F238E27FC236}">
                  <a16:creationId xmlns:a16="http://schemas.microsoft.com/office/drawing/2014/main" id="{8116DF09-98F3-068D-24F8-B09BE86C09A9}"/>
                </a:ext>
              </a:extLst>
            </p:cNvPr>
            <p:cNvSpPr/>
            <p:nvPr/>
          </p:nvSpPr>
          <p:spPr>
            <a:xfrm>
              <a:off x="38006261" y="20661005"/>
              <a:ext cx="547829" cy="2582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1600" b="1" dirty="0">
                  <a:solidFill>
                    <a:schemeClr val="tx1"/>
                  </a:solidFill>
                  <a:latin typeface="210 나무고딕 EB" panose="02020603020101020101" pitchFamily="18" charset="-127"/>
                  <a:ea typeface="210 나무고딕 EB" panose="02020603020101020101" pitchFamily="18" charset="-127"/>
                </a:rPr>
                <a:t>e.</a:t>
              </a:r>
              <a:endParaRPr lang="ko-KR" altLang="en-US" sz="1600" b="1" dirty="0">
                <a:solidFill>
                  <a:schemeClr val="tx1"/>
                </a:solidFill>
                <a:latin typeface="210 나무고딕 EB" panose="02020603020101020101" pitchFamily="18" charset="-127"/>
                <a:ea typeface="210 나무고딕 EB" panose="02020603020101020101" pitchFamily="18" charset="-127"/>
              </a:endParaRPr>
            </a:p>
          </p:txBody>
        </p:sp>
      </p:grpSp>
      <p:pic>
        <p:nvPicPr>
          <p:cNvPr id="17" name="그림 16" descr="텍스트, 도표, 그래프, 라인이(가) 표시된 사진&#10;&#10;AI 생성 콘텐츠는 정확하지 않을 수 있습니다.">
            <a:extLst>
              <a:ext uri="{FF2B5EF4-FFF2-40B4-BE49-F238E27FC236}">
                <a16:creationId xmlns:a16="http://schemas.microsoft.com/office/drawing/2014/main" id="{B8B56AA6-19D7-FAF4-3200-3BAA7D17E1C7}"/>
              </a:ext>
            </a:extLst>
          </p:cNvPr>
          <p:cNvPicPr>
            <a:picLocks noChangeAspect="1"/>
          </p:cNvPicPr>
          <p:nvPr/>
        </p:nvPicPr>
        <p:blipFill>
          <a:blip r:embed="rId9"/>
          <a:stretch>
            <a:fillRect/>
          </a:stretch>
        </p:blipFill>
        <p:spPr>
          <a:xfrm>
            <a:off x="16724946" y="20621271"/>
            <a:ext cx="7292340" cy="4476749"/>
          </a:xfrm>
          <a:prstGeom prst="rect">
            <a:avLst/>
          </a:prstGeom>
        </p:spPr>
      </p:pic>
      <p:sp>
        <p:nvSpPr>
          <p:cNvPr id="43" name="직사각형 42">
            <a:extLst>
              <a:ext uri="{FF2B5EF4-FFF2-40B4-BE49-F238E27FC236}">
                <a16:creationId xmlns:a16="http://schemas.microsoft.com/office/drawing/2014/main" id="{ECBF397A-03B6-8DE4-EDDE-661D5C30D394}"/>
              </a:ext>
            </a:extLst>
          </p:cNvPr>
          <p:cNvSpPr/>
          <p:nvPr/>
        </p:nvSpPr>
        <p:spPr>
          <a:xfrm>
            <a:off x="18241107" y="20549334"/>
            <a:ext cx="318342" cy="2681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210 나무고딕 EB" panose="02020603020101020101" pitchFamily="18" charset="-127"/>
                <a:ea typeface="210 나무고딕 EB" panose="02020603020101020101" pitchFamily="18" charset="-127"/>
              </a:rPr>
              <a:t>f.</a:t>
            </a:r>
            <a:endParaRPr lang="ko-KR" altLang="en-US" sz="1200" b="1" dirty="0">
              <a:solidFill>
                <a:schemeClr val="tx1"/>
              </a:solidFill>
              <a:latin typeface="210 나무고딕 EB" panose="02020603020101020101" pitchFamily="18" charset="-127"/>
              <a:ea typeface="210 나무고딕 EB" panose="02020603020101020101" pitchFamily="18" charset="-127"/>
            </a:endParaRPr>
          </a:p>
        </p:txBody>
      </p:sp>
      <p:sp>
        <p:nvSpPr>
          <p:cNvPr id="44" name="직사각형 43">
            <a:extLst>
              <a:ext uri="{FF2B5EF4-FFF2-40B4-BE49-F238E27FC236}">
                <a16:creationId xmlns:a16="http://schemas.microsoft.com/office/drawing/2014/main" id="{8B97BFA4-25BC-0989-84C9-9B219920F451}"/>
              </a:ext>
            </a:extLst>
          </p:cNvPr>
          <p:cNvSpPr/>
          <p:nvPr/>
        </p:nvSpPr>
        <p:spPr>
          <a:xfrm>
            <a:off x="21550958" y="20549334"/>
            <a:ext cx="318342" cy="2681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210 나무고딕 EB" panose="02020603020101020101" pitchFamily="18" charset="-127"/>
                <a:ea typeface="210 나무고딕 EB" panose="02020603020101020101" pitchFamily="18" charset="-127"/>
              </a:rPr>
              <a:t>g.</a:t>
            </a:r>
            <a:endParaRPr lang="ko-KR" altLang="en-US" sz="1200" b="1" dirty="0">
              <a:solidFill>
                <a:schemeClr val="tx1"/>
              </a:solidFill>
              <a:latin typeface="210 나무고딕 EB" panose="02020603020101020101" pitchFamily="18" charset="-127"/>
              <a:ea typeface="210 나무고딕 EB" panose="02020603020101020101" pitchFamily="18" charset="-127"/>
            </a:endParaRPr>
          </a:p>
        </p:txBody>
      </p:sp>
      <p:sp>
        <p:nvSpPr>
          <p:cNvPr id="46" name="직사각형 45">
            <a:extLst>
              <a:ext uri="{FF2B5EF4-FFF2-40B4-BE49-F238E27FC236}">
                <a16:creationId xmlns:a16="http://schemas.microsoft.com/office/drawing/2014/main" id="{A591F34C-029E-96B4-8C2D-B9CFB70DFCE6}"/>
              </a:ext>
            </a:extLst>
          </p:cNvPr>
          <p:cNvSpPr/>
          <p:nvPr/>
        </p:nvSpPr>
        <p:spPr>
          <a:xfrm>
            <a:off x="26045796" y="20597654"/>
            <a:ext cx="318342" cy="2681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210 나무고딕 EB" panose="02020603020101020101" pitchFamily="18" charset="-127"/>
                <a:ea typeface="210 나무고딕 EB" panose="02020603020101020101" pitchFamily="18" charset="-127"/>
              </a:rPr>
              <a:t>h.</a:t>
            </a:r>
            <a:endParaRPr lang="ko-KR" altLang="en-US" sz="1200" b="1" dirty="0">
              <a:solidFill>
                <a:schemeClr val="tx1"/>
              </a:solidFill>
              <a:latin typeface="210 나무고딕 EB" panose="02020603020101020101" pitchFamily="18" charset="-127"/>
              <a:ea typeface="210 나무고딕 EB" panose="02020603020101020101" pitchFamily="18" charset="-127"/>
            </a:endParaRPr>
          </a:p>
        </p:txBody>
      </p:sp>
      <p:sp>
        <p:nvSpPr>
          <p:cNvPr id="47" name="TextBox 46">
            <a:extLst>
              <a:ext uri="{FF2B5EF4-FFF2-40B4-BE49-F238E27FC236}">
                <a16:creationId xmlns:a16="http://schemas.microsoft.com/office/drawing/2014/main" id="{70D7EA81-6506-D6CF-4CF5-85D5E3502620}"/>
              </a:ext>
            </a:extLst>
          </p:cNvPr>
          <p:cNvSpPr txBox="1"/>
          <p:nvPr/>
        </p:nvSpPr>
        <p:spPr>
          <a:xfrm>
            <a:off x="16724946" y="25065417"/>
            <a:ext cx="14170176" cy="2554545"/>
          </a:xfrm>
          <a:prstGeom prst="rect">
            <a:avLst/>
          </a:prstGeom>
          <a:noFill/>
        </p:spPr>
        <p:txBody>
          <a:bodyPr wrap="square" rtlCol="0">
            <a:spAutoFit/>
          </a:bodyPr>
          <a:lstStyle/>
          <a:p>
            <a:r>
              <a:rPr lang="en-US" altLang="ko-KR" sz="2000" b="1" dirty="0">
                <a:latin typeface="210 나무고딕 EB" panose="02020603020101020101" pitchFamily="18" charset="-127"/>
                <a:ea typeface="210 나무고딕 EB" panose="02020603020101020101" pitchFamily="18" charset="-127"/>
              </a:rPr>
              <a:t>(f) Most channels remain object-dominant, while a small subset of mid-level channels becomes emotion-selective, indicating sparse and hierarchical affective encoding.</a:t>
            </a:r>
          </a:p>
          <a:p>
            <a:endParaRPr lang="en-US" altLang="ko-KR" sz="2000" b="1" dirty="0">
              <a:latin typeface="210 나무고딕 EB" panose="02020603020101020101" pitchFamily="18" charset="-127"/>
              <a:ea typeface="210 나무고딕 EB" panose="02020603020101020101" pitchFamily="18" charset="-127"/>
            </a:endParaRPr>
          </a:p>
          <a:p>
            <a:r>
              <a:rPr lang="en-US" altLang="ko-KR" sz="2000" b="1" dirty="0">
                <a:latin typeface="210 나무고딕 EB" panose="02020603020101020101" pitchFamily="18" charset="-127"/>
                <a:ea typeface="210 나무고딕 EB" panose="02020603020101020101" pitchFamily="18" charset="-127"/>
              </a:rPr>
              <a:t>(g) Emotion classification accuracy saturates rapidly, with only 28 Conv3 channels capturing over 90% of the full-model performance.</a:t>
            </a:r>
          </a:p>
          <a:p>
            <a:endParaRPr lang="en-US" altLang="ko-KR" sz="2000" b="1" dirty="0">
              <a:latin typeface="210 나무고딕 EB" panose="02020603020101020101" pitchFamily="18" charset="-127"/>
              <a:ea typeface="210 나무고딕 EB" panose="02020603020101020101" pitchFamily="18" charset="-127"/>
            </a:endParaRPr>
          </a:p>
          <a:p>
            <a:r>
              <a:rPr lang="en-US" altLang="ko-KR" sz="2000" b="1" dirty="0">
                <a:latin typeface="210 나무고딕 EB" panose="02020603020101020101" pitchFamily="18" charset="-127"/>
                <a:ea typeface="210 나무고딕 EB" panose="02020603020101020101" pitchFamily="18" charset="-127"/>
              </a:rPr>
              <a:t>(h) Information flow analysis reveals Conv3 as a bottleneck layer where emotional information peaks before redistribution in deeper layers.</a:t>
            </a:r>
            <a:endParaRPr lang="ko-KR" altLang="en-US" sz="2000" b="1" dirty="0">
              <a:latin typeface="210 나무고딕 EB" panose="02020603020101020101" pitchFamily="18" charset="-127"/>
              <a:ea typeface="210 나무고딕 EB" panose="02020603020101020101" pitchFamily="18" charset="-127"/>
            </a:endParaRPr>
          </a:p>
        </p:txBody>
      </p:sp>
    </p:spTree>
  </p:cSld>
  <p:clrMapOvr>
    <a:masterClrMapping/>
  </p:clrMapOvr>
</p:sld>
</file>

<file path=ppt/theme/theme1.xml><?xml version="1.0" encoding="utf-8"?>
<a:theme xmlns:a="http://schemas.openxmlformats.org/drawingml/2006/main" name="Office 테마">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3376</TotalTime>
  <Words>906</Words>
  <Application>Microsoft Office PowerPoint</Application>
  <PresentationFormat>사용자 지정</PresentationFormat>
  <Paragraphs>114</Paragraphs>
  <Slides>1</Slides>
  <Notes>1</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vt:i4>
      </vt:variant>
    </vt:vector>
  </HeadingPairs>
  <TitlesOfParts>
    <vt:vector size="8" baseType="lpstr">
      <vt:lpstr>Cambria Math</vt:lpstr>
      <vt:lpstr>Arial</vt:lpstr>
      <vt:lpstr>나눔고딕 Light</vt:lpstr>
      <vt:lpstr>나눔고딕 ExtraBold</vt:lpstr>
      <vt:lpstr>210 나무고딕 EB</vt:lpstr>
      <vt:lpstr>Calibri</vt:lpstr>
      <vt:lpstr>Office 테마</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Brain</dc:creator>
  <cp:lastModifiedBy>재원 이</cp:lastModifiedBy>
  <cp:revision>10</cp:revision>
  <dcterms:created xsi:type="dcterms:W3CDTF">2016-10-11T09:46:40Z</dcterms:created>
  <dcterms:modified xsi:type="dcterms:W3CDTF">2025-12-12T08:12:59Z</dcterms:modified>
</cp:coreProperties>
</file>