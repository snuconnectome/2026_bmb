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200" r:id="rId1"/>
  </p:sldMasterIdLst>
  <p:notesMasterIdLst>
    <p:notesMasterId r:id="rId6"/>
  </p:notesMasterIdLst>
  <p:sldIdLst>
    <p:sldId id="256" r:id="rId2"/>
    <p:sldId id="306" r:id="rId3"/>
    <p:sldId id="295" r:id="rId4"/>
    <p:sldId id="305" r:id="rId5"/>
  </p:sldIdLst>
  <p:sldSz cx="12192000" cy="6858000"/>
  <p:notesSz cx="6858000" cy="9144000"/>
  <p:defaultTextStyle>
    <a:defPPr>
      <a:defRPr lang="en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32"/>
    <p:restoredTop sz="92993"/>
  </p:normalViewPr>
  <p:slideViewPr>
    <p:cSldViewPr snapToGrid="0" snapToObjects="1">
      <p:cViewPr varScale="1">
        <p:scale>
          <a:sx n="119" d="100"/>
          <a:sy n="119" d="100"/>
        </p:scale>
        <p:origin x="80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FA65EF-7F76-3C42-A6E3-115693756AA7}" type="datetimeFigureOut">
              <a:rPr lang="en-US" smtClean="0"/>
              <a:t>9/2/25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0C8DAE-0E51-304E-9F8C-3AE4F286FB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251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8336E-BC03-6C84-9C48-DE0FBBA503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0C40E0-D457-DC84-BA4B-02BAD1C72B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97EF9F-99A1-42C9-0CB2-7826BC349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B631B-2526-AA47-8291-64BA95FA363D}" type="datetimeFigureOut">
              <a:rPr lang="en-US" smtClean="0"/>
              <a:t>9/2/25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38770C-8747-F75C-262E-3FCB29377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7651FB-EF24-C0DC-788C-AC491D16D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5603-10A1-4A4C-B879-6D642ECB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3230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461D6-B3B1-CA58-FE7B-11B2E9155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08EF90-5E43-EABB-635B-279EAC7D6C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340FCA-1751-E542-5B72-31E961985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B631B-2526-AA47-8291-64BA95FA363D}" type="datetimeFigureOut">
              <a:rPr lang="en-US" smtClean="0"/>
              <a:t>9/2/25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EFEF62-1605-92A8-7F3D-04CFD7F0A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2C13CC-ED21-ADA5-5B49-4E72AC8AB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5603-10A1-4A4C-B879-6D642ECB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602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843CF-FD43-EC6F-FC66-574A967D8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8C621A-C8C3-CE67-2351-AAAF70A20B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CEE1F9-5244-C8B7-9842-560B5DD88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B631B-2526-AA47-8291-64BA95FA363D}" type="datetimeFigureOut">
              <a:rPr lang="en-US" smtClean="0"/>
              <a:t>9/2/25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30F693-6AD8-C5E7-B999-44EA7BD01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D05F4A-AC2D-8E3A-E35A-639EA8C48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5603-10A1-4A4C-B879-6D642ECB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676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CFBCB-43B7-E900-07AB-920217A56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1E334-0D8E-5D50-4823-F0817CEF38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DD4D69-DD04-B657-B384-2DCE92019D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5352E2-E78A-E00D-F34D-E9E00B1E0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B631B-2526-AA47-8291-64BA95FA363D}" type="datetimeFigureOut">
              <a:rPr lang="en-US" smtClean="0"/>
              <a:t>9/2/25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5B5250-5CE7-E4C2-38C9-FE675F936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6C7C6C-B99C-770D-3AAB-4D42A86DD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5603-10A1-4A4C-B879-6D642ECB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945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FD87D-9810-2E23-749C-1403052DF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6E5A15-32D7-FB70-CEE7-BDB5A27415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678440-C80B-8FE1-61F0-4D55EF7663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FBA6A-6735-A08E-5627-9E59D93B5B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9A57B5-7268-2970-D9EA-78AE8952BA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860905-C99C-DDCB-D77F-C1B899B82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B631B-2526-AA47-8291-64BA95FA363D}" type="datetimeFigureOut">
              <a:rPr lang="en-US" smtClean="0"/>
              <a:t>9/2/25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F0FB15-7094-CBF1-29BB-392F309F4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2385A1-B0FC-4602-A166-E1568A80F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5603-10A1-4A4C-B879-6D642ECB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356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A36D5-3745-B9C5-4E19-3CDDB7C14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940086-A7B8-EBEF-2351-7A6174402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B631B-2526-AA47-8291-64BA95FA363D}" type="datetimeFigureOut">
              <a:rPr lang="en-US" smtClean="0"/>
              <a:t>9/2/25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17BE20-9BAB-8F2D-847A-CC9416F38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CE4C80-7251-1AAC-230F-AF7970AA1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5603-10A1-4A4C-B879-6D642ECB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266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283122-8B65-3893-A65D-B92B659FC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B631B-2526-AA47-8291-64BA95FA363D}" type="datetimeFigureOut">
              <a:rPr lang="en-US" smtClean="0"/>
              <a:t>9/2/25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6DD92F-FADA-A92B-AF29-C602E7A60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A1F80F-189E-5D0B-3C35-F6CA2E667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5603-10A1-4A4C-B879-6D642ECB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666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B564B-4333-4248-134D-2FA430C51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B4D761-3678-E7D4-B28B-F52D79D384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4A321D-A6C7-3591-0D8D-143B5AA902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5AAF11-7A6C-009B-4349-92E9C41D4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B631B-2526-AA47-8291-64BA95FA363D}" type="datetimeFigureOut">
              <a:rPr lang="en-US" smtClean="0"/>
              <a:t>9/2/25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E7D287-D924-F8C9-845E-FE17EA1A3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73605E-FDF4-1AC7-C7B7-53535EFDB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5603-10A1-4A4C-B879-6D642ECB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742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94804-CDBF-EB26-EFDA-B60E664D1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405707-85AE-CD5B-B64F-30750022EA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E7B51C-99DE-B915-E2AE-A3BD8338DE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F6F1F8-C824-C9CF-4E5A-9B276FDD6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B631B-2526-AA47-8291-64BA95FA363D}" type="datetimeFigureOut">
              <a:rPr lang="en-US" smtClean="0"/>
              <a:t>9/2/25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503E62-EBD0-D1AB-3BE1-2D9603959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B1AB92-E97F-27C6-F17B-52887B7CB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5603-10A1-4A4C-B879-6D642ECB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211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CBAF5-CD83-DCC8-E83A-B88C5BE66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2E2D7E-6E4F-71B5-AD73-77D267E7B6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D539DD-793C-4C6C-F1DD-A36333C19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B631B-2526-AA47-8291-64BA95FA363D}" type="datetimeFigureOut">
              <a:rPr lang="en-US" smtClean="0"/>
              <a:t>9/2/25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A1B484-236C-9AB5-F963-1D58E40C7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81A557-FF0B-A9A4-4DD9-3970584A7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5603-10A1-4A4C-B879-6D642ECB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9358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7ECA42-DCD8-2042-EFE6-4180F4F786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031149-AA56-7C4C-82EB-AD5BFC4563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1B6C7E-5250-CBB2-D321-0AC7F7A57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B631B-2526-AA47-8291-64BA95FA363D}" type="datetimeFigureOut">
              <a:rPr lang="en-US" smtClean="0"/>
              <a:t>9/2/25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391C8B-1826-B043-51E8-D65852D6D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702E93-8E7D-7D0F-4C15-B66CB1FC8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5603-10A1-4A4C-B879-6D642ECB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1855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73A89B-2F68-391F-45D5-673F28DC7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0269E6-EF10-161B-5941-A5013B8A58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44AB5A-55D3-822E-22E3-38874E4162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6B631B-2526-AA47-8291-64BA95FA363D}" type="datetimeFigureOut">
              <a:rPr lang="en-US" smtClean="0"/>
              <a:t>9/2/25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762160-435C-DE44-6A10-DBABE0D4C3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4B7969-8C21-17A0-B9D2-87ECE185B4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45603-10A1-4A4C-B879-6D642ECB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85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01" r:id="rId1"/>
    <p:sldLayoutId id="2147484202" r:id="rId2"/>
    <p:sldLayoutId id="2147484203" r:id="rId3"/>
    <p:sldLayoutId id="2147484204" r:id="rId4"/>
    <p:sldLayoutId id="2147484205" r:id="rId5"/>
    <p:sldLayoutId id="2147484206" r:id="rId6"/>
    <p:sldLayoutId id="2147484207" r:id="rId7"/>
    <p:sldLayoutId id="2147484208" r:id="rId8"/>
    <p:sldLayoutId id="2147484209" r:id="rId9"/>
    <p:sldLayoutId id="2147484210" r:id="rId10"/>
    <p:sldLayoutId id="214748421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9" name="Rectangle 108">
            <a:extLst>
              <a:ext uri="{FF2B5EF4-FFF2-40B4-BE49-F238E27FC236}">
                <a16:creationId xmlns:a16="http://schemas.microsoft.com/office/drawing/2014/main" id="{A93898FF-D987-4B0E-BFB4-85F5EB356D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FEB84055-029C-4E86-8844-D05D96C024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1" name="Picture 110">
            <a:extLst>
              <a:ext uri="{FF2B5EF4-FFF2-40B4-BE49-F238E27FC236}">
                <a16:creationId xmlns:a16="http://schemas.microsoft.com/office/drawing/2014/main" id="{8A2842C0-6210-4FDB-B1FF-C14C927377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952" cy="6862380"/>
          </a:xfrm>
          <a:prstGeom prst="rect">
            <a:avLst/>
          </a:prstGeom>
        </p:spPr>
      </p:pic>
      <p:sp>
        <p:nvSpPr>
          <p:cNvPr id="112" name="Rectangle 111">
            <a:extLst>
              <a:ext uri="{FF2B5EF4-FFF2-40B4-BE49-F238E27FC236}">
                <a16:creationId xmlns:a16="http://schemas.microsoft.com/office/drawing/2014/main" id="{799037F2-4CAF-446B-90DB-1480B247AA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7128589C-AF3D-49CF-BD92-C1D1D2F53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95844" y="1110000"/>
            <a:ext cx="10195740" cy="4629235"/>
          </a:xfrm>
          <a:prstGeom prst="rect">
            <a:avLst/>
          </a:prstGeom>
          <a:solidFill>
            <a:schemeClr val="bg1"/>
          </a:solidFill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64FA0E-1C60-E840-AF4E-19BB653B09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91485" y="1600200"/>
            <a:ext cx="8201552" cy="2295748"/>
          </a:xfrm>
        </p:spPr>
        <p:txBody>
          <a:bodyPr anchor="b">
            <a:normAutofit/>
          </a:bodyPr>
          <a:lstStyle/>
          <a:p>
            <a:r>
              <a:rPr lang="ko-KR" altLang="en-US" sz="4800"/>
              <a:t>뇌</a:t>
            </a:r>
            <a:r>
              <a:rPr lang="en-US" altLang="ko-KR" sz="4800"/>
              <a:t>-</a:t>
            </a:r>
            <a:r>
              <a:rPr lang="ko-KR" altLang="en-US" sz="4800"/>
              <a:t>마음</a:t>
            </a:r>
            <a:r>
              <a:rPr lang="en-US" altLang="ko-KR" sz="4800"/>
              <a:t>-</a:t>
            </a:r>
            <a:r>
              <a:rPr lang="ko-KR" altLang="en-US" sz="4800"/>
              <a:t>행동</a:t>
            </a:r>
            <a:br>
              <a:rPr lang="en-US" sz="4800"/>
            </a:br>
            <a:br>
              <a:rPr lang="en-US" sz="4800"/>
            </a:br>
            <a:r>
              <a:rPr lang="ko-KR" altLang="en-US" sz="4800" b="1"/>
              <a:t>세미나</a:t>
            </a:r>
            <a:endParaRPr lang="en-US" sz="4800" b="1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BD79F7-D101-7C4B-B484-66B7EA6C47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91485" y="4067661"/>
            <a:ext cx="8201552" cy="1118764"/>
          </a:xfrm>
        </p:spPr>
        <p:txBody>
          <a:bodyPr anchor="t">
            <a:normAutofit/>
          </a:bodyPr>
          <a:lstStyle/>
          <a:p>
            <a:r>
              <a:rPr lang="ko-KR" altLang="en-US" sz="2000">
                <a:solidFill>
                  <a:schemeClr val="tx1">
                    <a:alpha val="70000"/>
                  </a:schemeClr>
                </a:solidFill>
              </a:rPr>
              <a:t>이수현  교수</a:t>
            </a:r>
            <a:endParaRPr lang="en-US" sz="2000">
              <a:solidFill>
                <a:schemeClr val="tx1">
                  <a:alpha val="7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11918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F1849D0-0C07-41CA-D9F6-D9496A4114A5}"/>
              </a:ext>
            </a:extLst>
          </p:cNvPr>
          <p:cNvSpPr txBox="1"/>
          <p:nvPr/>
        </p:nvSpPr>
        <p:spPr>
          <a:xfrm>
            <a:off x="70104" y="666495"/>
            <a:ext cx="12051792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arenR"/>
            </a:pPr>
            <a:r>
              <a:rPr lang="ko-KR" altLang="en-US" sz="1600" dirty="0"/>
              <a:t>심리학</a:t>
            </a:r>
            <a:r>
              <a:rPr lang="en-US" altLang="ko-KR" sz="1600" dirty="0"/>
              <a:t>, </a:t>
            </a:r>
            <a:r>
              <a:rPr lang="ko-KR" altLang="en-US" sz="1600" dirty="0"/>
              <a:t>인지과학</a:t>
            </a:r>
            <a:r>
              <a:rPr lang="en-US" altLang="ko-KR" sz="1600" dirty="0"/>
              <a:t>, </a:t>
            </a:r>
            <a:r>
              <a:rPr lang="ko-KR" altLang="en-US" sz="1600" dirty="0"/>
              <a:t>신경과학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정보학</a:t>
            </a:r>
            <a:r>
              <a:rPr lang="en-US" altLang="ko-KR" sz="1600" dirty="0"/>
              <a:t>, </a:t>
            </a:r>
            <a:r>
              <a:rPr lang="ko-KR" altLang="en-US" sz="1600" dirty="0"/>
              <a:t>생명과학</a:t>
            </a:r>
            <a:r>
              <a:rPr lang="en-US" altLang="ko-KR" sz="1600" dirty="0"/>
              <a:t>, </a:t>
            </a:r>
            <a:r>
              <a:rPr lang="en-US" sz="1600" dirty="0"/>
              <a:t>AI </a:t>
            </a:r>
            <a:r>
              <a:rPr lang="ko-KR" altLang="en-US" sz="1600" dirty="0"/>
              <a:t>분야 등 뇌</a:t>
            </a:r>
            <a:r>
              <a:rPr lang="en-US" altLang="ko-KR" sz="1600" dirty="0"/>
              <a:t>-</a:t>
            </a:r>
            <a:r>
              <a:rPr lang="ko-KR" altLang="en-US" sz="1600" dirty="0"/>
              <a:t>마음</a:t>
            </a:r>
            <a:r>
              <a:rPr lang="en-US" altLang="ko-KR" sz="1600" dirty="0"/>
              <a:t>-</a:t>
            </a:r>
            <a:r>
              <a:rPr lang="ko-KR" altLang="en-US" sz="1600" dirty="0"/>
              <a:t>행동 연계전공 관련 세미나 혹은 </a:t>
            </a:r>
            <a:r>
              <a:rPr lang="ko-KR" altLang="en-US" sz="1600" dirty="0" err="1"/>
              <a:t>심포지움에</a:t>
            </a:r>
            <a:r>
              <a:rPr lang="ko-KR" altLang="en-US" sz="1600" dirty="0"/>
              <a:t> </a:t>
            </a:r>
            <a:r>
              <a:rPr lang="en-US" altLang="ko-KR" sz="1600" dirty="0"/>
              <a:t>10</a:t>
            </a:r>
            <a:r>
              <a:rPr lang="ko-KR" altLang="en-US" sz="1600" dirty="0"/>
              <a:t>회 이상 참여하고 보고서를 작성하여 제출해야 합니다</a:t>
            </a:r>
            <a:r>
              <a:rPr lang="en-US" altLang="ko-KR" sz="1600" dirty="0"/>
              <a:t>.</a:t>
            </a:r>
          </a:p>
          <a:p>
            <a:pPr marL="342900" indent="-342900">
              <a:buAutoNum type="arabicParenR"/>
            </a:pPr>
            <a:endParaRPr lang="en-US" altLang="ko-KR" sz="1600" dirty="0"/>
          </a:p>
          <a:p>
            <a:pPr marL="342900" indent="-342900">
              <a:buAutoNum type="arabicParenR"/>
            </a:pPr>
            <a:r>
              <a:rPr lang="ko-KR" altLang="en-US" sz="1600" dirty="0"/>
              <a:t>세미나 안내는 연계전공 뇌</a:t>
            </a:r>
            <a:r>
              <a:rPr lang="en-US" altLang="ko-KR" sz="1600" dirty="0"/>
              <a:t>-</a:t>
            </a:r>
            <a:r>
              <a:rPr lang="ko-KR" altLang="en-US" sz="1600" dirty="0"/>
              <a:t>마음</a:t>
            </a:r>
            <a:r>
              <a:rPr lang="en-US" altLang="ko-KR" sz="1600" dirty="0"/>
              <a:t>-</a:t>
            </a:r>
            <a:r>
              <a:rPr lang="ko-KR" altLang="en-US" sz="1600" dirty="0"/>
              <a:t>행동 또는 심리학과 홈페이지의 공지사항 안내와</a:t>
            </a:r>
            <a:r>
              <a:rPr lang="en-US" altLang="ko-KR" sz="1600" dirty="0"/>
              <a:t>  </a:t>
            </a:r>
            <a:r>
              <a:rPr lang="en-US" altLang="ko-KR" sz="1600" dirty="0" err="1"/>
              <a:t>eTL</a:t>
            </a:r>
            <a:r>
              <a:rPr lang="en-US" altLang="ko-KR" sz="1600" dirty="0"/>
              <a:t> </a:t>
            </a:r>
            <a:r>
              <a:rPr lang="ko-KR" altLang="en-US" sz="1600" dirty="0"/>
              <a:t>공지사항 안내를 참고해 주세요</a:t>
            </a:r>
            <a:r>
              <a:rPr lang="en-US" altLang="ko-KR" sz="1600" dirty="0"/>
              <a:t>. </a:t>
            </a:r>
          </a:p>
          <a:p>
            <a:pPr marL="342900" indent="-342900">
              <a:buAutoNum type="arabicParenR"/>
            </a:pPr>
            <a:endParaRPr lang="en-US" altLang="ko-KR" sz="1600" dirty="0"/>
          </a:p>
          <a:p>
            <a:pPr marL="342900" indent="-342900">
              <a:buAutoNum type="arabicParenR"/>
            </a:pPr>
            <a:r>
              <a:rPr lang="en-US" altLang="ko-KR" sz="1600" dirty="0"/>
              <a:t>* </a:t>
            </a:r>
            <a:r>
              <a:rPr lang="ko-KR" altLang="en-US" sz="1600" dirty="0"/>
              <a:t>유의사항</a:t>
            </a:r>
            <a:r>
              <a:rPr lang="en-US" altLang="ko-KR" sz="1600" dirty="0"/>
              <a:t>: </a:t>
            </a:r>
            <a:r>
              <a:rPr lang="ko-KR" altLang="en-US" sz="1600" dirty="0"/>
              <a:t>세미나 보고서 제출 인정은 뇌</a:t>
            </a:r>
            <a:r>
              <a:rPr lang="en-US" altLang="ko-KR" sz="1600" dirty="0"/>
              <a:t>-</a:t>
            </a:r>
            <a:r>
              <a:rPr lang="ko-KR" altLang="en-US" sz="1600" dirty="0"/>
              <a:t>마음</a:t>
            </a:r>
            <a:r>
              <a:rPr lang="en-US" altLang="ko-KR" sz="1600" dirty="0"/>
              <a:t>-</a:t>
            </a:r>
            <a:r>
              <a:rPr lang="ko-KR" altLang="en-US" sz="1600" dirty="0"/>
              <a:t>행동 또는 심리학과 홈페이지 공지사항에 안내된 세미나</a:t>
            </a:r>
            <a:r>
              <a:rPr lang="en-US" altLang="ko-KR" sz="1600" dirty="0"/>
              <a:t>, </a:t>
            </a:r>
            <a:r>
              <a:rPr lang="ko-KR" altLang="en-US" sz="1600" dirty="0"/>
              <a:t>또는  </a:t>
            </a:r>
            <a:r>
              <a:rPr lang="en-US" altLang="ko-KR" sz="1600" dirty="0" err="1"/>
              <a:t>eTL</a:t>
            </a:r>
            <a:r>
              <a:rPr lang="ko-KR" altLang="en-US" sz="1600" dirty="0" err="1"/>
              <a:t>에</a:t>
            </a:r>
            <a:r>
              <a:rPr lang="ko-KR" altLang="en-US" sz="1600" dirty="0"/>
              <a:t>  공지된 세미나에 한정합니다</a:t>
            </a:r>
            <a:r>
              <a:rPr lang="en-US" altLang="ko-KR" sz="1600" dirty="0"/>
              <a:t>. </a:t>
            </a:r>
            <a:r>
              <a:rPr lang="ko-KR" altLang="en-US" sz="1600" dirty="0"/>
              <a:t>이 점 유의해주세요</a:t>
            </a:r>
            <a:r>
              <a:rPr lang="en-US" altLang="ko-KR" sz="1600" dirty="0"/>
              <a:t>! </a:t>
            </a:r>
          </a:p>
          <a:p>
            <a:pPr marL="342900" indent="-342900">
              <a:buAutoNum type="arabicParenR"/>
            </a:pPr>
            <a:endParaRPr lang="en-US" altLang="ko-KR" sz="1600" dirty="0"/>
          </a:p>
          <a:p>
            <a:pPr marL="342900" indent="-342900">
              <a:buAutoNum type="arabicParenR"/>
            </a:pPr>
            <a:r>
              <a:rPr lang="ko-KR" altLang="en-US" sz="1600" dirty="0"/>
              <a:t>조교가 미리 안내 한 세미나 외에</a:t>
            </a:r>
            <a:r>
              <a:rPr lang="en-US" altLang="ko-KR" sz="1600" dirty="0"/>
              <a:t>,</a:t>
            </a:r>
            <a:r>
              <a:rPr lang="ko-KR" altLang="en-US" sz="1600" dirty="0"/>
              <a:t> 관련 세미나를 수강하는 학생이 제출 인정 세미나로 안내해달라고 요청할 수 있습니다</a:t>
            </a:r>
            <a:r>
              <a:rPr lang="en-US" altLang="ko-KR" sz="1600" dirty="0"/>
              <a:t>.</a:t>
            </a:r>
            <a:r>
              <a:rPr lang="ko-KR" altLang="en-US" sz="1600" dirty="0"/>
              <a:t> 이 때</a:t>
            </a:r>
            <a:r>
              <a:rPr lang="en-US" altLang="ko-KR" sz="1600" dirty="0"/>
              <a:t>,</a:t>
            </a:r>
            <a:r>
              <a:rPr lang="ko-KR" altLang="en-US" sz="1600" dirty="0"/>
              <a:t> 유의할 점은</a:t>
            </a:r>
            <a:r>
              <a:rPr lang="en-US" altLang="ko-KR" sz="1600" dirty="0"/>
              <a:t>,</a:t>
            </a:r>
            <a:r>
              <a:rPr lang="ko-KR" altLang="en-US" sz="1600" dirty="0"/>
              <a:t> 늦어도 이틀 전</a:t>
            </a:r>
            <a:r>
              <a:rPr lang="en-US" altLang="ko-KR" sz="1600" dirty="0"/>
              <a:t>(48</a:t>
            </a:r>
            <a:r>
              <a:rPr lang="ko-KR" altLang="en-US" sz="1600" dirty="0"/>
              <a:t>시간 전</a:t>
            </a:r>
            <a:r>
              <a:rPr lang="en-US" altLang="ko-KR" sz="1600" dirty="0"/>
              <a:t>)</a:t>
            </a:r>
            <a:r>
              <a:rPr lang="ko-KR" altLang="en-US" sz="1600" dirty="0"/>
              <a:t>에는 조교에게 이메일로 안내해달라고 </a:t>
            </a:r>
            <a:r>
              <a:rPr lang="ko-KR" altLang="en-US" sz="1600" dirty="0" err="1"/>
              <a:t>요청해주셔야</a:t>
            </a:r>
            <a:r>
              <a:rPr lang="ko-KR" altLang="en-US" sz="1600" dirty="0"/>
              <a:t> 합니다</a:t>
            </a:r>
            <a:r>
              <a:rPr lang="en-US" altLang="ko-KR" sz="1600" dirty="0"/>
              <a:t>!</a:t>
            </a:r>
            <a:r>
              <a:rPr lang="ko-KR" altLang="en-US" sz="1600" dirty="0"/>
              <a:t> 그렇지 않은 경우에는 인정 세미나 리스트에 포함시키기 어렵다는 점 유의해주시기 바랍니다</a:t>
            </a:r>
            <a:r>
              <a:rPr lang="en-US" altLang="ko-KR" sz="1600" dirty="0"/>
              <a:t>.</a:t>
            </a:r>
          </a:p>
          <a:p>
            <a:pPr marL="342900" indent="-342900">
              <a:buAutoNum type="arabicParenR"/>
            </a:pPr>
            <a:endParaRPr lang="en-US" altLang="ko-KR" sz="1600" dirty="0"/>
          </a:p>
          <a:p>
            <a:pPr marL="342900" indent="-342900">
              <a:buAutoNum type="arabicParenR"/>
            </a:pPr>
            <a:r>
              <a:rPr lang="ko-KR" altLang="en-US" sz="1600" dirty="0"/>
              <a:t>* 유의사항</a:t>
            </a:r>
            <a:r>
              <a:rPr lang="en-US" altLang="ko-KR" sz="1600" dirty="0"/>
              <a:t>:</a:t>
            </a:r>
            <a:r>
              <a:rPr lang="ko-KR" altLang="en-US" sz="1600" dirty="0"/>
              <a:t> 다른 세미나 수업에서 </a:t>
            </a:r>
            <a:r>
              <a:rPr lang="en-US" altLang="ko-KR" sz="1600" dirty="0"/>
              <a:t>credit </a:t>
            </a:r>
            <a:r>
              <a:rPr lang="ko-KR" altLang="en-US" sz="1600" dirty="0"/>
              <a:t>인정 받은 세미나는 중복하여 점수를 받을 수 없습니다</a:t>
            </a:r>
            <a:r>
              <a:rPr lang="en-US" altLang="ko-KR" sz="1600" dirty="0"/>
              <a:t>.</a:t>
            </a:r>
            <a:r>
              <a:rPr lang="ko-KR" altLang="en-US" sz="1600" dirty="0"/>
              <a:t> 이 점 유의해주세요</a:t>
            </a:r>
            <a:r>
              <a:rPr lang="en-US" altLang="ko-KR" sz="1600" dirty="0"/>
              <a:t>!</a:t>
            </a:r>
            <a:r>
              <a:rPr lang="ko-KR" altLang="en-US" sz="1600" dirty="0"/>
              <a:t> </a:t>
            </a:r>
            <a:r>
              <a:rPr lang="ko-KR" altLang="en-US" sz="1600" dirty="0" err="1"/>
              <a:t>적발시</a:t>
            </a:r>
            <a:r>
              <a:rPr lang="ko-KR" altLang="en-US" sz="1600" dirty="0"/>
              <a:t> </a:t>
            </a:r>
            <a:r>
              <a:rPr lang="en-US" altLang="ko-KR" sz="1600" dirty="0"/>
              <a:t>0</a:t>
            </a:r>
            <a:r>
              <a:rPr lang="ko-KR" altLang="en-US" sz="1600" dirty="0"/>
              <a:t>점 처리합니다</a:t>
            </a:r>
            <a:r>
              <a:rPr lang="en-US" altLang="ko-KR" sz="1600" dirty="0"/>
              <a:t>.</a:t>
            </a:r>
          </a:p>
          <a:p>
            <a:pPr marL="342900" indent="-342900">
              <a:buAutoNum type="arabicParenR"/>
            </a:pPr>
            <a:endParaRPr lang="en-US" altLang="ko-KR" sz="1600" dirty="0"/>
          </a:p>
          <a:p>
            <a:pPr marL="342900" indent="-342900">
              <a:buAutoNum type="arabicParenR"/>
            </a:pPr>
            <a:r>
              <a:rPr lang="en-US" altLang="ko-KR" sz="1600" dirty="0"/>
              <a:t>10</a:t>
            </a:r>
            <a:r>
              <a:rPr lang="ko-KR" altLang="en-US" sz="1600" dirty="0"/>
              <a:t>월 </a:t>
            </a:r>
            <a:r>
              <a:rPr lang="en-US" altLang="ko-KR" sz="1600" dirty="0"/>
              <a:t>24</a:t>
            </a:r>
            <a:r>
              <a:rPr lang="ko-KR" altLang="en-US" sz="1600" dirty="0"/>
              <a:t>일 </a:t>
            </a:r>
            <a:r>
              <a:rPr lang="en-US" altLang="ko-KR" sz="1600" dirty="0"/>
              <a:t>(</a:t>
            </a:r>
            <a:r>
              <a:rPr lang="ko-KR" altLang="en-US" sz="1600" dirty="0"/>
              <a:t>금</a:t>
            </a:r>
            <a:r>
              <a:rPr lang="en-US" altLang="ko-KR" sz="1600" dirty="0"/>
              <a:t>)</a:t>
            </a:r>
            <a:r>
              <a:rPr lang="ko-KR" altLang="en-US" sz="1600" dirty="0"/>
              <a:t> 까지 </a:t>
            </a:r>
            <a:r>
              <a:rPr lang="en-US" sz="1600" dirty="0" err="1"/>
              <a:t>eTL</a:t>
            </a:r>
            <a:r>
              <a:rPr lang="en-US" sz="1600" dirty="0"/>
              <a:t> </a:t>
            </a:r>
            <a:r>
              <a:rPr lang="ko-KR" altLang="en-US" sz="1600" dirty="0"/>
              <a:t>보고서 업로드 창에 연계전공 관련 세미나 </a:t>
            </a:r>
            <a:r>
              <a:rPr lang="en-US" altLang="ko-KR" sz="1600" dirty="0"/>
              <a:t>5</a:t>
            </a:r>
            <a:r>
              <a:rPr lang="ko-KR" altLang="en-US" sz="1600" dirty="0"/>
              <a:t>개 이상의 보고서를 제출해야 합니다</a:t>
            </a:r>
            <a:r>
              <a:rPr lang="en-US" altLang="ko-KR" sz="1600" dirty="0"/>
              <a:t>. </a:t>
            </a:r>
            <a:r>
              <a:rPr lang="ko-KR" altLang="en-US" sz="1600" dirty="0"/>
              <a:t>양식에 따라 </a:t>
            </a:r>
            <a:r>
              <a:rPr lang="en-US" altLang="ko-KR" sz="1600" dirty="0"/>
              <a:t>5</a:t>
            </a:r>
            <a:r>
              <a:rPr lang="ko-KR" altLang="en-US" sz="1600" dirty="0"/>
              <a:t>개 이상의 보고서를 업로드 해주세요 </a:t>
            </a:r>
            <a:r>
              <a:rPr lang="en-US" altLang="ko-KR" sz="1600" dirty="0"/>
              <a:t>–</a:t>
            </a:r>
            <a:r>
              <a:rPr lang="ko-KR" altLang="en-US" sz="1600" dirty="0"/>
              <a:t> </a:t>
            </a:r>
            <a:r>
              <a:rPr lang="en-US" altLang="ko-KR" sz="1600" dirty="0"/>
              <a:t>5</a:t>
            </a:r>
            <a:r>
              <a:rPr lang="ko-KR" altLang="en-US" sz="1600" dirty="0"/>
              <a:t>개 초과하는 것은 괜찮음</a:t>
            </a:r>
            <a:r>
              <a:rPr lang="en-US" altLang="ko-KR" sz="1600" dirty="0"/>
              <a:t>.</a:t>
            </a:r>
          </a:p>
          <a:p>
            <a:pPr marL="342900" indent="-342900">
              <a:buAutoNum type="arabicParenR"/>
            </a:pPr>
            <a:endParaRPr lang="en-US" altLang="ko-KR" sz="1600" dirty="0"/>
          </a:p>
          <a:p>
            <a:pPr marL="342900" indent="-342900">
              <a:buAutoNum type="arabicParenR"/>
            </a:pPr>
            <a:r>
              <a:rPr lang="en-US" altLang="ko-KR" sz="1600" dirty="0"/>
              <a:t>12</a:t>
            </a:r>
            <a:r>
              <a:rPr lang="ko-KR" altLang="en-US" sz="1600" dirty="0"/>
              <a:t>월 </a:t>
            </a:r>
            <a:r>
              <a:rPr lang="en-US" altLang="ko-KR" sz="1600" dirty="0"/>
              <a:t>12</a:t>
            </a:r>
            <a:r>
              <a:rPr lang="ko-KR" altLang="en-US" sz="1600" dirty="0"/>
              <a:t>일 </a:t>
            </a:r>
            <a:r>
              <a:rPr lang="en-US" altLang="ko-KR" sz="1600" dirty="0"/>
              <a:t>(</a:t>
            </a:r>
            <a:r>
              <a:rPr lang="ko-KR" altLang="en-US" sz="1600" dirty="0"/>
              <a:t>금</a:t>
            </a:r>
            <a:r>
              <a:rPr lang="en-US" altLang="ko-KR" sz="1600" dirty="0"/>
              <a:t>) </a:t>
            </a:r>
            <a:r>
              <a:rPr lang="ko-KR" altLang="en-US" sz="1600" dirty="0"/>
              <a:t>까지 </a:t>
            </a:r>
            <a:r>
              <a:rPr lang="en-US" sz="1600" dirty="0" err="1"/>
              <a:t>eTL</a:t>
            </a:r>
            <a:r>
              <a:rPr lang="en-US" sz="1600" dirty="0"/>
              <a:t> </a:t>
            </a:r>
            <a:r>
              <a:rPr lang="ko-KR" altLang="en-US" sz="1600" dirty="0"/>
              <a:t>보고서 업로드 창에 연계전공 관련 세미나 </a:t>
            </a:r>
            <a:r>
              <a:rPr lang="en-US" altLang="ko-KR" sz="1600" dirty="0"/>
              <a:t>10</a:t>
            </a:r>
            <a:r>
              <a:rPr lang="ko-KR" altLang="en-US" sz="1600" dirty="0"/>
              <a:t>개 이상의 보고서를 제출해야 합니다</a:t>
            </a:r>
            <a:r>
              <a:rPr lang="en-US" altLang="ko-KR" sz="1600" dirty="0"/>
              <a:t>(10</a:t>
            </a:r>
            <a:r>
              <a:rPr lang="ko-KR" altLang="en-US" sz="1600" dirty="0"/>
              <a:t>월에 제출한 개수 포함하여 총 개수 </a:t>
            </a:r>
            <a:r>
              <a:rPr lang="en-US" altLang="ko-KR" sz="1600" dirty="0"/>
              <a:t>10</a:t>
            </a:r>
            <a:r>
              <a:rPr lang="ko-KR" altLang="en-US" sz="1600" dirty="0"/>
              <a:t>개 입니다</a:t>
            </a:r>
            <a:r>
              <a:rPr lang="en-US" altLang="ko-KR" sz="1600" dirty="0"/>
              <a:t>). </a:t>
            </a:r>
            <a:r>
              <a:rPr lang="ko-KR" altLang="en-US" sz="1600" dirty="0"/>
              <a:t> * 양식에 따라 </a:t>
            </a:r>
            <a:r>
              <a:rPr lang="en-US" altLang="ko-KR" sz="1600" dirty="0"/>
              <a:t>10</a:t>
            </a:r>
            <a:r>
              <a:rPr lang="ko-KR" altLang="en-US" sz="1600" dirty="0"/>
              <a:t>개 이상을 제출해야만 수료가 가능합니다</a:t>
            </a:r>
            <a:r>
              <a:rPr lang="en-US" altLang="ko-KR" sz="1600" dirty="0"/>
              <a:t>.</a:t>
            </a:r>
          </a:p>
          <a:p>
            <a:pPr marL="342900" indent="-342900">
              <a:buAutoNum type="arabicParenR"/>
            </a:pPr>
            <a:endParaRPr lang="en-US" altLang="ko-KR" sz="1600" dirty="0"/>
          </a:p>
          <a:p>
            <a:pPr marL="342900" indent="-342900">
              <a:buAutoNum type="arabicParenR"/>
            </a:pPr>
            <a:r>
              <a:rPr lang="ko-KR" altLang="en-US" sz="1600" dirty="0"/>
              <a:t>보고서 양식은 </a:t>
            </a:r>
            <a:r>
              <a:rPr lang="en-US" altLang="ko-KR" sz="1600" dirty="0" err="1"/>
              <a:t>eTL</a:t>
            </a:r>
            <a:r>
              <a:rPr lang="en-US" altLang="ko-KR" sz="1600" dirty="0"/>
              <a:t> </a:t>
            </a:r>
            <a:r>
              <a:rPr lang="ko-KR" altLang="en-US" sz="1600" dirty="0"/>
              <a:t>공지에 업로드 되어 있는 양식을 사용해주세요</a:t>
            </a:r>
            <a:r>
              <a:rPr lang="en-US" altLang="ko-KR" sz="1600" dirty="0"/>
              <a:t>. </a:t>
            </a:r>
            <a:r>
              <a:rPr lang="ko-KR" altLang="en-US" sz="1600" dirty="0"/>
              <a:t>보고서 파일 제출 시</a:t>
            </a:r>
            <a:r>
              <a:rPr lang="en-US" altLang="ko-KR" sz="1600" dirty="0"/>
              <a:t>, </a:t>
            </a:r>
            <a:r>
              <a:rPr lang="ko-KR" altLang="en-US" sz="1600" dirty="0"/>
              <a:t>파일명은 “보고서</a:t>
            </a:r>
            <a:r>
              <a:rPr lang="en-US" altLang="ko-KR" sz="1600" dirty="0"/>
              <a:t>_</a:t>
            </a:r>
            <a:r>
              <a:rPr lang="ko-KR" altLang="en-US" sz="1600" dirty="0"/>
              <a:t>홍길동</a:t>
            </a:r>
            <a:r>
              <a:rPr lang="en-US" altLang="ko-KR" sz="1600" dirty="0"/>
              <a:t>_2025.</a:t>
            </a:r>
            <a:r>
              <a:rPr lang="en-US" sz="1600" dirty="0"/>
              <a:t>XX.XX”</a:t>
            </a:r>
            <a:r>
              <a:rPr lang="ko-KR" altLang="en-US" sz="1600" dirty="0"/>
              <a:t>로 합니다</a:t>
            </a:r>
            <a:r>
              <a:rPr lang="en-US" altLang="ko-KR" sz="1600" dirty="0"/>
              <a:t>. </a:t>
            </a:r>
            <a:r>
              <a:rPr lang="ko-KR" altLang="en-US" sz="1600" dirty="0"/>
              <a:t>수기나 타이핑 작성 모두 가능하나</a:t>
            </a:r>
            <a:r>
              <a:rPr lang="en-US" altLang="ko-KR" sz="1600" dirty="0"/>
              <a:t>, </a:t>
            </a:r>
            <a:r>
              <a:rPr lang="ko-KR" altLang="en-US" sz="1600" dirty="0"/>
              <a:t>내용을 알아보는데 문제가 없어야 합니다</a:t>
            </a:r>
            <a:r>
              <a:rPr lang="en-US" altLang="ko-KR" sz="1600" dirty="0"/>
              <a:t>.</a:t>
            </a:r>
            <a:endParaRPr lang="en-KR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449B95-A8F0-0B9E-F9C5-84803190EF23}"/>
              </a:ext>
            </a:extLst>
          </p:cNvPr>
          <p:cNvSpPr txBox="1"/>
          <p:nvPr/>
        </p:nvSpPr>
        <p:spPr>
          <a:xfrm>
            <a:off x="70104" y="0"/>
            <a:ext cx="120517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KR" sz="2800" b="1" dirty="0"/>
              <a:t>진행 안내</a:t>
            </a:r>
          </a:p>
        </p:txBody>
      </p:sp>
    </p:spTree>
    <p:extLst>
      <p:ext uri="{BB962C8B-B14F-4D97-AF65-F5344CB8AC3E}">
        <p14:creationId xmlns:p14="http://schemas.microsoft.com/office/powerpoint/2010/main" val="23149383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paper&#10;&#10;Description automatically generated">
            <a:extLst>
              <a:ext uri="{FF2B5EF4-FFF2-40B4-BE49-F238E27FC236}">
                <a16:creationId xmlns:a16="http://schemas.microsoft.com/office/drawing/2014/main" id="{D0B60433-9BCD-1AF7-FC11-6F15C06FF1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5412" y="0"/>
            <a:ext cx="50611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5163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A93898FF-D987-4B0E-BFB4-85F5EB356D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EB84055-029C-4E86-8844-D05D96C024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8A2842C0-6210-4FDB-B1FF-C14C927377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952" cy="6862380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799037F2-4CAF-446B-90DB-1480B247AA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128589C-AF3D-49CF-BD92-C1D1D2F53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95844" y="1110000"/>
            <a:ext cx="10195740" cy="4629235"/>
          </a:xfrm>
          <a:prstGeom prst="rect">
            <a:avLst/>
          </a:prstGeom>
          <a:solidFill>
            <a:schemeClr val="bg1"/>
          </a:solidFill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606CC4-5104-1F4D-A810-C0D6EFF68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1485" y="1600200"/>
            <a:ext cx="8201552" cy="229574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Q &amp; 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DF09FA-A28C-7740-A3A1-AC4B8F0D4015}"/>
              </a:ext>
            </a:extLst>
          </p:cNvPr>
          <p:cNvSpPr txBox="1"/>
          <p:nvPr/>
        </p:nvSpPr>
        <p:spPr>
          <a:xfrm>
            <a:off x="6092261" y="5257800"/>
            <a:ext cx="5361036" cy="11187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ko-KR" altLang="en-US" sz="2000" dirty="0">
                <a:solidFill>
                  <a:schemeClr val="tx1">
                    <a:alpha val="70000"/>
                  </a:schemeClr>
                </a:solidFill>
              </a:rPr>
              <a:t>문의</a:t>
            </a:r>
            <a:r>
              <a:rPr lang="en-US" altLang="ko-KR" sz="2000" kern="1200" dirty="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rPr>
              <a:t>: </a:t>
            </a:r>
            <a:r>
              <a:rPr lang="ko-KR" altLang="en-US" sz="2000" kern="1200" dirty="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rPr>
              <a:t>한재원 조교 </a:t>
            </a:r>
            <a:r>
              <a:rPr lang="en-US" altLang="ko-KR" sz="2000" kern="1200" dirty="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rPr>
              <a:t>(</a:t>
            </a:r>
            <a:r>
              <a:rPr lang="en-US" sz="2000" b="0" i="0" kern="1200" dirty="0">
                <a:solidFill>
                  <a:schemeClr val="tx1">
                    <a:alpha val="70000"/>
                  </a:schemeClr>
                </a:solidFill>
                <a:effectLst/>
                <a:latin typeface="+mn-lt"/>
                <a:ea typeface="+mn-ea"/>
                <a:cs typeface="+mn-cs"/>
              </a:rPr>
              <a:t>jw981127@snu.ac.kr</a:t>
            </a:r>
            <a:r>
              <a:rPr lang="en-US" altLang="ko-KR" sz="2000" kern="1200" dirty="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rPr>
              <a:t>)</a:t>
            </a:r>
            <a:endParaRPr lang="en-US" sz="2000" kern="1200" dirty="0">
              <a:solidFill>
                <a:schemeClr val="tx1">
                  <a:alpha val="70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7985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535</TotalTime>
  <Words>308</Words>
  <Application>Microsoft Macintosh PowerPoint</Application>
  <PresentationFormat>Widescreen</PresentationFormat>
  <Paragraphs>20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뇌-마음-행동  세미나</vt:lpstr>
      <vt:lpstr>PowerPoint Presentation</vt:lpstr>
      <vt:lpstr>PowerPoint Presentation</vt:lpstr>
      <vt:lpstr>Q &amp; 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Sue-Hyun Lee</dc:creator>
  <cp:lastModifiedBy>Sue-Hyun Lee</cp:lastModifiedBy>
  <cp:revision>92</cp:revision>
  <dcterms:created xsi:type="dcterms:W3CDTF">2020-04-27T08:21:55Z</dcterms:created>
  <dcterms:modified xsi:type="dcterms:W3CDTF">2025-09-02T07:47:29Z</dcterms:modified>
</cp:coreProperties>
</file>