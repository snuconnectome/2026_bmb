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094" autoAdjust="0"/>
  </p:normalViewPr>
  <p:slideViewPr>
    <p:cSldViewPr snapToGrid="0">
      <p:cViewPr>
        <p:scale>
          <a:sx n="33" d="100"/>
          <a:sy n="33" d="100"/>
        </p:scale>
        <p:origin x="509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88149" y="-300270"/>
            <a:ext cx="19422990" cy="62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endParaRPr sz="2826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altLang="ko-KR" sz="8000" b="1" dirty="0">
                <a:solidFill>
                  <a:schemeClr val="dk1"/>
                </a:solidFill>
              </a:rPr>
              <a:t>Caffeinated Soda intake </a:t>
            </a:r>
          </a:p>
          <a:p>
            <a:pPr algn="ctr"/>
            <a:r>
              <a:rPr lang="en-US" altLang="ko-KR" sz="8000" b="1" dirty="0">
                <a:solidFill>
                  <a:schemeClr val="dk1"/>
                </a:solidFill>
              </a:rPr>
              <a:t>as a Predictor of Substance Use </a:t>
            </a:r>
          </a:p>
          <a:p>
            <a:pPr algn="ctr"/>
            <a:r>
              <a:rPr lang="en-US" altLang="ko-KR" sz="8000" b="1" dirty="0">
                <a:solidFill>
                  <a:schemeClr val="dk1"/>
                </a:solidFill>
              </a:rPr>
              <a:t>in Adolescents</a:t>
            </a:r>
            <a:endParaRPr lang="en-US" sz="2400" dirty="0"/>
          </a:p>
          <a:p>
            <a:pPr algn="ctr"/>
            <a:endParaRPr sz="24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서울대학교</a:t>
            </a:r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심리</a:t>
            </a:r>
            <a:r>
              <a:rPr lang="en-US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학과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ko-KR" altLang="en-US" sz="363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안우영</a:t>
            </a:r>
            <a:r>
              <a:rPr lang="en-US" altLang="ko-KR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정유한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wjddbgks123@snu.ac.kr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598192" y="6309351"/>
            <a:ext cx="14170178" cy="12579072"/>
            <a:chOff x="699916" y="7415151"/>
            <a:chExt cx="19004401" cy="950936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002509" cy="86850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  <a:p>
              <a:pPr marL="288407" indent="-57681" algn="just">
                <a:lnSpc>
                  <a:spcPct val="150000"/>
                </a:lnSpc>
                <a:buClr>
                  <a:schemeClr val="dk1"/>
                </a:buClr>
                <a:buSzPts val="3600"/>
              </a:pPr>
              <a:r>
                <a:rPr lang="en-US" sz="3633" dirty="0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						</a:t>
              </a:r>
              <a:endParaRPr sz="3633" dirty="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80744" y="19644943"/>
            <a:ext cx="14176588" cy="22127979"/>
            <a:chOff x="414164" y="18461634"/>
            <a:chExt cx="16567491" cy="12998884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475704"/>
              <a:ext cx="16560000" cy="1198481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PARTICIPANT / 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455971" y="31019372"/>
            <a:ext cx="14200658" cy="7649136"/>
            <a:chOff x="33775710" y="14968956"/>
            <a:chExt cx="16343078" cy="12890889"/>
          </a:xfrm>
        </p:grpSpPr>
        <p:sp>
          <p:nvSpPr>
            <p:cNvPr id="93" name="Google Shape;93;p1"/>
            <p:cNvSpPr/>
            <p:nvPr/>
          </p:nvSpPr>
          <p:spPr>
            <a:xfrm>
              <a:off x="33810788" y="16703494"/>
              <a:ext cx="16308000" cy="1115635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lang="en-US" altLang="ko-KR" sz="323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CONCLUSIONS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455970" y="6426156"/>
            <a:ext cx="14170178" cy="24282777"/>
            <a:chOff x="15610114" y="15717428"/>
            <a:chExt cx="14366634" cy="4513341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786654"/>
              <a:ext cx="14366632" cy="444411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RESULTS</a:t>
              </a:r>
              <a:endParaRPr sz="4441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892CB8-0490-D0EF-169C-8A238D6C0C84}"/>
              </a:ext>
            </a:extLst>
          </p:cNvPr>
          <p:cNvGrpSpPr/>
          <p:nvPr/>
        </p:nvGrpSpPr>
        <p:grpSpPr>
          <a:xfrm>
            <a:off x="16634236" y="8469556"/>
            <a:ext cx="13991912" cy="10575149"/>
            <a:chOff x="16426131" y="7625689"/>
            <a:chExt cx="14145878" cy="10575149"/>
          </a:xfrm>
        </p:grpSpPr>
        <p:pic>
          <p:nvPicPr>
            <p:cNvPr id="4" name="그림 3" descr="텍스트, 스크린샷, 번호, 도표이(가) 표시된 사진&#10;&#10;자동 생성된 설명">
              <a:extLst>
                <a:ext uri="{FF2B5EF4-FFF2-40B4-BE49-F238E27FC236}">
                  <a16:creationId xmlns:a16="http://schemas.microsoft.com/office/drawing/2014/main" id="{2530E555-7D4E-FD7C-6FE7-C10DE8D58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37392" y="10150208"/>
              <a:ext cx="11099874" cy="4689787"/>
            </a:xfrm>
            <a:prstGeom prst="rect">
              <a:avLst/>
            </a:prstGeom>
          </p:spPr>
        </p:pic>
        <p:pic>
          <p:nvPicPr>
            <p:cNvPr id="6" name="그림 5" descr="텍스트, 스크린샷이(가) 표시된 사진&#10;&#10;자동 생성된 설명">
              <a:extLst>
                <a:ext uri="{FF2B5EF4-FFF2-40B4-BE49-F238E27FC236}">
                  <a16:creationId xmlns:a16="http://schemas.microsoft.com/office/drawing/2014/main" id="{8C1CB432-A642-2CE7-E170-ACCB0C3F6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889694" y="15459836"/>
              <a:ext cx="2741001" cy="2741002"/>
            </a:xfrm>
            <a:prstGeom prst="rect">
              <a:avLst/>
            </a:prstGeom>
          </p:spPr>
        </p:pic>
        <p:pic>
          <p:nvPicPr>
            <p:cNvPr id="8" name="그림 7" descr="텍스트, 스크린샷이(가) 표시된 사진&#10;&#10;자동 생성된 설명">
              <a:extLst>
                <a:ext uri="{FF2B5EF4-FFF2-40B4-BE49-F238E27FC236}">
                  <a16:creationId xmlns:a16="http://schemas.microsoft.com/office/drawing/2014/main" id="{98FA2B43-757B-E48D-7FAE-6461EBF09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029048" y="15459836"/>
              <a:ext cx="2741001" cy="2741002"/>
            </a:xfrm>
            <a:prstGeom prst="rect">
              <a:avLst/>
            </a:prstGeom>
          </p:spPr>
        </p:pic>
        <p:pic>
          <p:nvPicPr>
            <p:cNvPr id="12" name="그림 11" descr="텍스트, 그래프, 라인, 도표이(가) 표시된 사진&#10;&#10;자동 생성된 설명">
              <a:extLst>
                <a:ext uri="{FF2B5EF4-FFF2-40B4-BE49-F238E27FC236}">
                  <a16:creationId xmlns:a16="http://schemas.microsoft.com/office/drawing/2014/main" id="{577B3311-6B76-F64A-9056-F6A999982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228560" y="15459836"/>
              <a:ext cx="2741001" cy="274100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E38905-9DF6-19F4-6653-F187A2CA4F0B}"/>
                </a:ext>
              </a:extLst>
            </p:cNvPr>
            <p:cNvSpPr txBox="1"/>
            <p:nvPr/>
          </p:nvSpPr>
          <p:spPr>
            <a:xfrm>
              <a:off x="16426131" y="7625689"/>
              <a:ext cx="14145878" cy="229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800" b="1" dirty="0"/>
                <a:t>(A). neurobehavioral risk factors for SUDs predict caffeinate soda intake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3200" dirty="0"/>
                <a:t>Daily-drinkers (N=86) VS. Non-drinkers (N=1728)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B558EB2-3F8D-59C3-4036-C01184641AB4}"/>
                </a:ext>
              </a:extLst>
            </p:cNvPr>
            <p:cNvSpPr txBox="1"/>
            <p:nvPr/>
          </p:nvSpPr>
          <p:spPr>
            <a:xfrm>
              <a:off x="17905865" y="14607113"/>
              <a:ext cx="4127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Training Dataset</a:t>
              </a:r>
            </a:p>
            <a:p>
              <a:pPr algn="ctr"/>
              <a:r>
                <a:rPr lang="en-US" altLang="ko-KR" sz="2400" b="1" dirty="0"/>
                <a:t>(Mean AUC score = 0.81)</a:t>
              </a:r>
              <a:endParaRPr lang="ko-KR" altLang="en-US" sz="2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F47E0E-2175-927D-34A4-C6BDE51F7432}"/>
                </a:ext>
              </a:extLst>
            </p:cNvPr>
            <p:cNvSpPr txBox="1"/>
            <p:nvPr/>
          </p:nvSpPr>
          <p:spPr>
            <a:xfrm>
              <a:off x="24824806" y="14718537"/>
              <a:ext cx="4127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Test Dataset</a:t>
              </a:r>
            </a:p>
            <a:p>
              <a:pPr algn="ctr"/>
              <a:r>
                <a:rPr lang="en-US" altLang="ko-KR" sz="2400" b="1" dirty="0"/>
                <a:t>(Mean AUC score = 0.68)</a:t>
              </a:r>
              <a:endParaRPr lang="ko-KR" altLang="en-US" sz="2400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DCE6ED-283F-037A-6203-A510BCB94FA2}"/>
              </a:ext>
            </a:extLst>
          </p:cNvPr>
          <p:cNvGrpSpPr/>
          <p:nvPr/>
        </p:nvGrpSpPr>
        <p:grpSpPr>
          <a:xfrm>
            <a:off x="16593701" y="19428515"/>
            <a:ext cx="14145878" cy="7932230"/>
            <a:chOff x="16666956" y="6774245"/>
            <a:chExt cx="14145878" cy="793223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982D39-84E3-800F-05EC-0D6B9CE6C9AE}"/>
                </a:ext>
              </a:extLst>
            </p:cNvPr>
            <p:cNvSpPr txBox="1"/>
            <p:nvPr/>
          </p:nvSpPr>
          <p:spPr>
            <a:xfrm>
              <a:off x="16666956" y="6774245"/>
              <a:ext cx="14145878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800" b="1" dirty="0"/>
                <a:t>(B). Caffeinated soda intake </a:t>
              </a:r>
            </a:p>
            <a:p>
              <a:pPr algn="ctr"/>
              <a:r>
                <a:rPr lang="en-US" altLang="ko-KR" sz="4800" b="1" dirty="0"/>
                <a:t>predicts future substance use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3200" dirty="0"/>
                <a:t>Substance Users (N=34) VS. Non-Users (N=1780)</a:t>
              </a:r>
            </a:p>
            <a:p>
              <a:pPr algn="ctr"/>
              <a:endParaRPr lang="ko-KR" altLang="en-US" sz="48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F5A978-CA0D-7DCF-E64E-8E3F4526593F}"/>
                </a:ext>
              </a:extLst>
            </p:cNvPr>
            <p:cNvSpPr txBox="1"/>
            <p:nvPr/>
          </p:nvSpPr>
          <p:spPr>
            <a:xfrm>
              <a:off x="17763640" y="13764054"/>
              <a:ext cx="4127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Training Dataset</a:t>
              </a:r>
            </a:p>
            <a:p>
              <a:pPr algn="ctr"/>
              <a:r>
                <a:rPr lang="en-US" altLang="ko-KR" sz="2400" b="1" dirty="0"/>
                <a:t>(Mean AUC score = 0.90)</a:t>
              </a:r>
              <a:endParaRPr lang="ko-KR" alt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85C3F7-1013-8521-5A39-DFB30D79E22F}"/>
                </a:ext>
              </a:extLst>
            </p:cNvPr>
            <p:cNvSpPr txBox="1"/>
            <p:nvPr/>
          </p:nvSpPr>
          <p:spPr>
            <a:xfrm>
              <a:off x="24682581" y="13875478"/>
              <a:ext cx="4127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Test Dataset</a:t>
              </a:r>
            </a:p>
            <a:p>
              <a:pPr algn="ctr"/>
              <a:r>
                <a:rPr lang="en-US" altLang="ko-KR" sz="2400" b="1" dirty="0"/>
                <a:t>(Mean AUC score = 0.78)</a:t>
              </a:r>
              <a:endParaRPr lang="ko-KR" altLang="en-US" sz="2400" b="1" dirty="0"/>
            </a:p>
          </p:txBody>
        </p:sp>
      </p:grpSp>
      <p:pic>
        <p:nvPicPr>
          <p:cNvPr id="28" name="그림 27" descr="텍스트, 스크린샷, 도표이(가) 표시된 사진&#10;&#10;자동 생성된 설명">
            <a:extLst>
              <a:ext uri="{FF2B5EF4-FFF2-40B4-BE49-F238E27FC236}">
                <a16:creationId xmlns:a16="http://schemas.microsoft.com/office/drawing/2014/main" id="{10B2A101-8E4A-D3CF-EAB1-A7D43F248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64577" y="27354897"/>
            <a:ext cx="2739600" cy="2739600"/>
          </a:xfrm>
          <a:prstGeom prst="rect">
            <a:avLst/>
          </a:prstGeom>
        </p:spPr>
      </p:pic>
      <p:pic>
        <p:nvPicPr>
          <p:cNvPr id="30" name="그림 29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B732406B-4BEC-8A1A-2FD9-4679DEE6FE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0455" y="27302808"/>
            <a:ext cx="2739600" cy="2739600"/>
          </a:xfrm>
          <a:prstGeom prst="rect">
            <a:avLst/>
          </a:prstGeom>
        </p:spPr>
      </p:pic>
      <p:pic>
        <p:nvPicPr>
          <p:cNvPr id="34" name="그림 33" descr="텍스트, 라인, 그래프, 도표이(가) 표시된 사진&#10;&#10;자동 생성된 설명">
            <a:extLst>
              <a:ext uri="{FF2B5EF4-FFF2-40B4-BE49-F238E27FC236}">
                <a16:creationId xmlns:a16="http://schemas.microsoft.com/office/drawing/2014/main" id="{C21B8418-A355-BC65-DFB4-2981F33226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47995" y="27302808"/>
            <a:ext cx="2739600" cy="27396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368D6DE-6E0C-85C4-7ABC-9C7DA9918D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9914" y="23948786"/>
            <a:ext cx="5656470" cy="2621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D030CB-6146-5633-9178-9E03B41206D6}"/>
              </a:ext>
            </a:extLst>
          </p:cNvPr>
          <p:cNvSpPr txBox="1"/>
          <p:nvPr/>
        </p:nvSpPr>
        <p:spPr>
          <a:xfrm>
            <a:off x="1856203" y="21505959"/>
            <a:ext cx="13910756" cy="225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Data</a:t>
            </a:r>
          </a:p>
          <a:p>
            <a:pPr algn="ctr"/>
            <a:r>
              <a:rPr lang="en-US" altLang="ko-KR" sz="4000" dirty="0"/>
              <a:t>Adolescent Brain Cognitive Development (ABCD) Study</a:t>
            </a:r>
          </a:p>
          <a:p>
            <a:pPr algn="ctr">
              <a:lnSpc>
                <a:spcPct val="150000"/>
              </a:lnSpc>
            </a:pPr>
            <a:r>
              <a:rPr lang="en-US" altLang="ko-KR" sz="4000" dirty="0"/>
              <a:t>2 year</a:t>
            </a:r>
            <a:r>
              <a:rPr lang="ko-KR" altLang="en-US" sz="4000" dirty="0"/>
              <a:t> </a:t>
            </a:r>
            <a:r>
              <a:rPr lang="en-US" altLang="ko-KR" sz="4000" dirty="0"/>
              <a:t>follow</a:t>
            </a:r>
            <a:r>
              <a:rPr lang="ko-KR" altLang="en-US" sz="4000" dirty="0"/>
              <a:t> </a:t>
            </a:r>
            <a:r>
              <a:rPr lang="en-US" altLang="ko-KR" sz="4000" dirty="0"/>
              <a:t>up</a:t>
            </a:r>
            <a:r>
              <a:rPr lang="ko-KR" altLang="en-US" sz="4000" dirty="0"/>
              <a:t> </a:t>
            </a:r>
            <a:r>
              <a:rPr lang="en-US" altLang="ko-KR" sz="4000" dirty="0"/>
              <a:t>data</a:t>
            </a:r>
            <a:r>
              <a:rPr lang="ko-KR" altLang="en-US" sz="4000" dirty="0"/>
              <a:t> </a:t>
            </a:r>
            <a:r>
              <a:rPr lang="en-US" altLang="ko-KR" sz="4000" dirty="0"/>
              <a:t>&amp;</a:t>
            </a:r>
            <a:r>
              <a:rPr lang="ko-KR" altLang="en-US" sz="4000" dirty="0"/>
              <a:t> </a:t>
            </a:r>
            <a:r>
              <a:rPr lang="en-US" altLang="ko-KR" sz="4000" dirty="0"/>
              <a:t>3</a:t>
            </a:r>
            <a:r>
              <a:rPr lang="ko-KR" altLang="en-US" sz="4000" dirty="0"/>
              <a:t> </a:t>
            </a:r>
            <a:r>
              <a:rPr lang="en-US" altLang="ko-KR" sz="4000" dirty="0"/>
              <a:t>year</a:t>
            </a:r>
            <a:r>
              <a:rPr lang="ko-KR" altLang="en-US" sz="4000" dirty="0"/>
              <a:t> </a:t>
            </a:r>
            <a:r>
              <a:rPr lang="en-US" altLang="ko-KR" sz="4000" dirty="0"/>
              <a:t>follow</a:t>
            </a:r>
            <a:r>
              <a:rPr lang="ko-KR" altLang="en-US" sz="4000" dirty="0"/>
              <a:t> </a:t>
            </a:r>
            <a:r>
              <a:rPr lang="en-US" altLang="ko-KR" sz="4000" dirty="0"/>
              <a:t>up</a:t>
            </a:r>
            <a:r>
              <a:rPr lang="ko-KR" altLang="en-US" sz="4000" dirty="0"/>
              <a:t> </a:t>
            </a:r>
            <a:r>
              <a:rPr lang="en-US" altLang="ko-KR" sz="4000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17AFB-D645-6E76-3748-706B58896D11}"/>
              </a:ext>
            </a:extLst>
          </p:cNvPr>
          <p:cNvSpPr txBox="1"/>
          <p:nvPr/>
        </p:nvSpPr>
        <p:spPr>
          <a:xfrm>
            <a:off x="2462672" y="13809994"/>
            <a:ext cx="126978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u="sng" dirty="0"/>
              <a:t>Research Question</a:t>
            </a:r>
          </a:p>
          <a:p>
            <a:r>
              <a:rPr lang="en-US" altLang="ko-KR" sz="4400" b="1" dirty="0"/>
              <a:t>(A) </a:t>
            </a:r>
            <a:r>
              <a:rPr lang="en-US" altLang="ko-KR" sz="4400" dirty="0"/>
              <a:t> Do neurobehavioral risk factors for SUDs predict caffeinated soda intake?</a:t>
            </a:r>
          </a:p>
          <a:p>
            <a:pPr marL="914400" indent="-914400">
              <a:buAutoNum type="arabicParenBoth"/>
            </a:pPr>
            <a:endParaRPr lang="en-US" altLang="ko-KR" sz="4800" dirty="0"/>
          </a:p>
          <a:p>
            <a:r>
              <a:rPr lang="en-US" altLang="ko-KR" sz="4400" b="1" dirty="0"/>
              <a:t>(B) </a:t>
            </a:r>
            <a:r>
              <a:rPr lang="en-US" altLang="ko-KR" sz="4400" dirty="0"/>
              <a:t>Does caffeinated soda intake predicts future substance use(Alcohol, Nicotine, Cannabis use)?</a:t>
            </a:r>
            <a:endParaRPr lang="ko-KR" altLang="en-US" sz="4400" dirty="0"/>
          </a:p>
          <a:p>
            <a:endParaRPr lang="en-US" altLang="ko-KR" sz="4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4B4F7B-090B-58DB-91E7-EA30D5930172}"/>
              </a:ext>
            </a:extLst>
          </p:cNvPr>
          <p:cNvSpPr txBox="1"/>
          <p:nvPr/>
        </p:nvSpPr>
        <p:spPr>
          <a:xfrm>
            <a:off x="2869941" y="7738190"/>
            <a:ext cx="1188328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/>
              <a:t>Mina Kwon et al(2024) shows </a:t>
            </a:r>
          </a:p>
          <a:p>
            <a:pPr algn="ctr"/>
            <a:r>
              <a:rPr lang="en-US" altLang="ko-KR" sz="4800" dirty="0"/>
              <a:t>caffeinated soda</a:t>
            </a:r>
            <a:r>
              <a:rPr lang="en-US" altLang="ko-KR" sz="4800" b="1" baseline="30000" dirty="0"/>
              <a:t>1)</a:t>
            </a:r>
            <a:r>
              <a:rPr lang="en-US" altLang="ko-KR" sz="4800" dirty="0"/>
              <a:t> intake is associated with future Alcohol sipping</a:t>
            </a:r>
            <a:r>
              <a:rPr lang="en-US" altLang="ko-KR" sz="4800" b="1" baseline="30000" dirty="0"/>
              <a:t>2)</a:t>
            </a:r>
            <a:r>
              <a:rPr lang="en-US" altLang="ko-KR" sz="4800" dirty="0"/>
              <a:t> for children.</a:t>
            </a:r>
          </a:p>
          <a:p>
            <a:pPr algn="ctr"/>
            <a:endParaRPr lang="en-US" altLang="ko-KR" sz="4800" dirty="0"/>
          </a:p>
          <a:p>
            <a:pPr algn="ctr"/>
            <a:r>
              <a:rPr lang="en-US" altLang="ko-KR" sz="4800" dirty="0"/>
              <a:t>How about heavier substance use?</a:t>
            </a:r>
          </a:p>
          <a:p>
            <a:pPr algn="ctr"/>
            <a:r>
              <a:rPr lang="en-US" altLang="ko-KR" sz="4000" dirty="0"/>
              <a:t>(Substance use = Alcohol</a:t>
            </a:r>
            <a:r>
              <a:rPr lang="en-US" altLang="ko-KR" sz="4000" b="1" baseline="30000" dirty="0"/>
              <a:t>3)</a:t>
            </a:r>
            <a:r>
              <a:rPr lang="en-US" altLang="ko-KR" sz="4000" dirty="0"/>
              <a:t>, nicotine, cannabis use)</a:t>
            </a:r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800" b="1" baseline="30000" dirty="0"/>
              <a:t>1)</a:t>
            </a:r>
            <a:r>
              <a:rPr lang="en-US" altLang="ko-KR" sz="2800" dirty="0"/>
              <a:t> e.g. Coke, </a:t>
            </a:r>
            <a:r>
              <a:rPr lang="en-US" altLang="ko-KR" sz="2800" dirty="0" err="1"/>
              <a:t>Dr.pepper</a:t>
            </a:r>
            <a:r>
              <a:rPr lang="en-US" altLang="ko-KR" sz="2800" dirty="0"/>
              <a:t>, Mountain Dew</a:t>
            </a:r>
            <a:endParaRPr lang="en-US" altLang="ko-KR" sz="2800" b="1" baseline="30000" dirty="0"/>
          </a:p>
          <a:p>
            <a:pPr algn="ctr"/>
            <a:r>
              <a:rPr lang="en-US" altLang="ko-KR" sz="2800" b="1" baseline="30000" dirty="0"/>
              <a:t>2)</a:t>
            </a:r>
            <a:r>
              <a:rPr lang="en-US" altLang="ko-KR" sz="2800" dirty="0"/>
              <a:t> Alcohol sipping: one sip of alcohol</a:t>
            </a:r>
          </a:p>
          <a:p>
            <a:pPr algn="ctr"/>
            <a:r>
              <a:rPr lang="en-US" altLang="ko-KR" sz="2800" b="1" baseline="30000" dirty="0"/>
              <a:t>3)</a:t>
            </a:r>
            <a:r>
              <a:rPr lang="en-US" altLang="ko-KR" sz="2800" dirty="0"/>
              <a:t> Alcohol use: a full drink of alcohol</a:t>
            </a:r>
            <a:endParaRPr lang="ko-KR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673F8-AE94-DF29-E7EC-57F34EFB1184}"/>
              </a:ext>
            </a:extLst>
          </p:cNvPr>
          <p:cNvSpPr txBox="1"/>
          <p:nvPr/>
        </p:nvSpPr>
        <p:spPr>
          <a:xfrm>
            <a:off x="1727197" y="26716138"/>
            <a:ext cx="139107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Method</a:t>
            </a:r>
          </a:p>
          <a:p>
            <a:pPr algn="ctr"/>
            <a:r>
              <a:rPr lang="en-US" altLang="ko-KR" sz="4400" dirty="0"/>
              <a:t>Classification model using Lasso Regression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04A93FF-75D0-B2A8-B201-C8622657F7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4672" y="28213801"/>
            <a:ext cx="13993818" cy="10276058"/>
          </a:xfrm>
          <a:prstGeom prst="rect">
            <a:avLst/>
          </a:prstGeom>
        </p:spPr>
      </p:pic>
      <p:grpSp>
        <p:nvGrpSpPr>
          <p:cNvPr id="2" name="Google Shape;92;p1">
            <a:extLst>
              <a:ext uri="{FF2B5EF4-FFF2-40B4-BE49-F238E27FC236}">
                <a16:creationId xmlns:a16="http://schemas.microsoft.com/office/drawing/2014/main" id="{7FC2A9B1-4C59-250D-FB2B-F3674D0E89B2}"/>
              </a:ext>
            </a:extLst>
          </p:cNvPr>
          <p:cNvGrpSpPr/>
          <p:nvPr/>
        </p:nvGrpSpPr>
        <p:grpSpPr>
          <a:xfrm>
            <a:off x="16455969" y="38983572"/>
            <a:ext cx="14235780" cy="2773534"/>
            <a:chOff x="33775709" y="14968952"/>
            <a:chExt cx="16308001" cy="12890893"/>
          </a:xfrm>
        </p:grpSpPr>
        <p:sp>
          <p:nvSpPr>
            <p:cNvPr id="11" name="Google Shape;93;p1">
              <a:extLst>
                <a:ext uri="{FF2B5EF4-FFF2-40B4-BE49-F238E27FC236}">
                  <a16:creationId xmlns:a16="http://schemas.microsoft.com/office/drawing/2014/main" id="{A9F89672-9D63-7D7C-1B1B-B8C499CBF5E8}"/>
                </a:ext>
              </a:extLst>
            </p:cNvPr>
            <p:cNvSpPr/>
            <p:nvPr/>
          </p:nvSpPr>
          <p:spPr>
            <a:xfrm>
              <a:off x="33775710" y="16703493"/>
              <a:ext cx="16308000" cy="1115635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lang="en-US" altLang="ko-KR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endParaRPr>
            </a:p>
            <a:p>
              <a:pPr algn="just">
                <a:lnSpc>
                  <a:spcPct val="156250"/>
                </a:lnSpc>
              </a:pPr>
              <a:r>
                <a:rPr lang="en-US" altLang="ko-KR" sz="24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Kwon, M., Kim, H., Yang, J., Lee, Y., Hur, J. K., Lee, T. H., ... &amp; Ahn, W. Y. (2024). Caffeinated soda intake in children is associated with neurobehavioral risk factors for substance misuse. </a:t>
              </a:r>
              <a:r>
                <a:rPr lang="en-US" altLang="ko-KR" sz="2400" b="0" i="1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Substance Use &amp; Misuse</a:t>
              </a:r>
              <a:r>
                <a:rPr lang="en-US" altLang="ko-KR" sz="24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, </a:t>
              </a:r>
              <a:r>
                <a:rPr lang="en-US" altLang="ko-KR" sz="2400" b="0" i="1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59</a:t>
              </a:r>
              <a:r>
                <a:rPr lang="en-US" altLang="ko-KR" sz="24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(1), 79-89.</a:t>
              </a:r>
              <a:endParaRPr sz="2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4;p1">
              <a:extLst>
                <a:ext uri="{FF2B5EF4-FFF2-40B4-BE49-F238E27FC236}">
                  <a16:creationId xmlns:a16="http://schemas.microsoft.com/office/drawing/2014/main" id="{A6690C7D-7EEB-AEEB-C086-00BF46E021D3}"/>
                </a:ext>
              </a:extLst>
            </p:cNvPr>
            <p:cNvSpPr/>
            <p:nvPr/>
          </p:nvSpPr>
          <p:spPr>
            <a:xfrm>
              <a:off x="33775709" y="14968952"/>
              <a:ext cx="16308000" cy="2689375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4400" b="1" dirty="0">
                  <a:solidFill>
                    <a:srgbClr val="FFFFFF"/>
                  </a:solidFill>
                </a:rPr>
                <a:t>REFERENCE</a:t>
              </a:r>
              <a:endParaRPr sz="48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C7CDC6-F90D-A666-0ADB-14C29034F6E9}"/>
              </a:ext>
            </a:extLst>
          </p:cNvPr>
          <p:cNvSpPr txBox="1"/>
          <p:nvPr/>
        </p:nvSpPr>
        <p:spPr>
          <a:xfrm>
            <a:off x="13561593" y="31491746"/>
            <a:ext cx="1344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E5B34-F07C-6BCF-4A5F-B046BF2DD733}"/>
              </a:ext>
            </a:extLst>
          </p:cNvPr>
          <p:cNvSpPr txBox="1"/>
          <p:nvPr/>
        </p:nvSpPr>
        <p:spPr>
          <a:xfrm>
            <a:off x="13561593" y="35046949"/>
            <a:ext cx="1344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7752DB-07F6-D48A-E109-DCD0CE356DF4}"/>
              </a:ext>
            </a:extLst>
          </p:cNvPr>
          <p:cNvSpPr txBox="1"/>
          <p:nvPr/>
        </p:nvSpPr>
        <p:spPr>
          <a:xfrm>
            <a:off x="1901389" y="38546341"/>
            <a:ext cx="1382038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b="1" dirty="0"/>
              <a:t>(A): </a:t>
            </a:r>
            <a:r>
              <a:rPr lang="en-US" altLang="ko-KR" sz="4000" dirty="0"/>
              <a:t>Classification of </a:t>
            </a:r>
            <a:r>
              <a:rPr lang="en-US" altLang="ko-KR" sz="4000" u="sng" dirty="0"/>
              <a:t>caffeinated soda intake group </a:t>
            </a:r>
          </a:p>
          <a:p>
            <a:pPr algn="ctr"/>
            <a:r>
              <a:rPr lang="en-US" altLang="ko-KR" sz="4000" dirty="0"/>
              <a:t>using </a:t>
            </a:r>
            <a:r>
              <a:rPr lang="en-US" altLang="ko-KR" sz="4000" u="sng" dirty="0"/>
              <a:t>neurobehavioral risk factors of SUDs </a:t>
            </a:r>
          </a:p>
          <a:p>
            <a:pPr algn="ctr"/>
            <a:r>
              <a:rPr lang="en-US" altLang="ko-KR" sz="4000" dirty="0"/>
              <a:t>  </a:t>
            </a:r>
          </a:p>
          <a:p>
            <a:pPr algn="ctr"/>
            <a:r>
              <a:rPr lang="en-US" altLang="ko-KR" sz="4000" dirty="0"/>
              <a:t>	</a:t>
            </a:r>
            <a:r>
              <a:rPr lang="en-US" altLang="ko-KR" sz="4000" b="1" dirty="0"/>
              <a:t>(B): </a:t>
            </a:r>
            <a:r>
              <a:rPr lang="en-US" altLang="ko-KR" sz="4000" dirty="0"/>
              <a:t>Classification of </a:t>
            </a:r>
            <a:r>
              <a:rPr lang="en-US" altLang="ko-KR" sz="4000" u="sng" dirty="0"/>
              <a:t>Substance use group </a:t>
            </a:r>
          </a:p>
          <a:p>
            <a:pPr algn="ctr"/>
            <a:r>
              <a:rPr lang="en-US" altLang="ko-KR" sz="4000" dirty="0"/>
              <a:t>Using </a:t>
            </a:r>
            <a:r>
              <a:rPr lang="en-US" altLang="ko-KR" sz="4000" u="sng" dirty="0"/>
              <a:t>caffeinated soda intake</a:t>
            </a:r>
            <a:endParaRPr lang="en-US" altLang="ko-KR" sz="36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7C2E9-2882-2223-8D06-1DAEA4D8A1EA}"/>
              </a:ext>
            </a:extLst>
          </p:cNvPr>
          <p:cNvSpPr txBox="1"/>
          <p:nvPr/>
        </p:nvSpPr>
        <p:spPr>
          <a:xfrm>
            <a:off x="8979877" y="24290214"/>
            <a:ext cx="6761719" cy="165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dirty="0">
                <a:solidFill>
                  <a:schemeClr val="dk1"/>
                </a:solidFill>
              </a:rPr>
              <a:t>11~12 years old Adolescents </a:t>
            </a:r>
          </a:p>
          <a:p>
            <a:pPr algn="ctr">
              <a:lnSpc>
                <a:spcPct val="150000"/>
              </a:lnSpc>
            </a:pPr>
            <a:r>
              <a:rPr lang="en-US" altLang="ko-KR" sz="3600" dirty="0">
                <a:solidFill>
                  <a:schemeClr val="dk1"/>
                </a:solidFill>
              </a:rPr>
              <a:t>(N = 1814)</a:t>
            </a:r>
            <a:endParaRPr lang="ko-KR" altLang="en-US" sz="3600" dirty="0"/>
          </a:p>
        </p:txBody>
      </p:sp>
      <p:pic>
        <p:nvPicPr>
          <p:cNvPr id="35" name="그림 34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44BCE72D-A934-AB53-4DD7-8BADE9F73C81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6985122" y="21951642"/>
            <a:ext cx="9136800" cy="4158000"/>
          </a:xfrm>
          <a:prstGeom prst="rect">
            <a:avLst/>
          </a:prstGeom>
        </p:spPr>
      </p:pic>
      <p:sp>
        <p:nvSpPr>
          <p:cNvPr id="40" name="액자 39">
            <a:extLst>
              <a:ext uri="{FF2B5EF4-FFF2-40B4-BE49-F238E27FC236}">
                <a16:creationId xmlns:a16="http://schemas.microsoft.com/office/drawing/2014/main" id="{89257141-F8F8-DC0E-7B3D-BD0CD5D0D5C4}"/>
              </a:ext>
            </a:extLst>
          </p:cNvPr>
          <p:cNvSpPr/>
          <p:nvPr/>
        </p:nvSpPr>
        <p:spPr>
          <a:xfrm>
            <a:off x="18885402" y="11631632"/>
            <a:ext cx="1737360" cy="36553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액자 40">
            <a:extLst>
              <a:ext uri="{FF2B5EF4-FFF2-40B4-BE49-F238E27FC236}">
                <a16:creationId xmlns:a16="http://schemas.microsoft.com/office/drawing/2014/main" id="{7DEE3170-D21D-CF02-DAE3-0733B97209DE}"/>
              </a:ext>
            </a:extLst>
          </p:cNvPr>
          <p:cNvSpPr/>
          <p:nvPr/>
        </p:nvSpPr>
        <p:spPr>
          <a:xfrm>
            <a:off x="18735041" y="13711852"/>
            <a:ext cx="1899920" cy="36553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액자 41">
            <a:extLst>
              <a:ext uri="{FF2B5EF4-FFF2-40B4-BE49-F238E27FC236}">
                <a16:creationId xmlns:a16="http://schemas.microsoft.com/office/drawing/2014/main" id="{D88C28F3-DA68-D572-3C9B-4B50BA5E3022}"/>
              </a:ext>
            </a:extLst>
          </p:cNvPr>
          <p:cNvSpPr/>
          <p:nvPr/>
        </p:nvSpPr>
        <p:spPr>
          <a:xfrm>
            <a:off x="18129047" y="14973811"/>
            <a:ext cx="2505914" cy="36553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액자 43">
            <a:extLst>
              <a:ext uri="{FF2B5EF4-FFF2-40B4-BE49-F238E27FC236}">
                <a16:creationId xmlns:a16="http://schemas.microsoft.com/office/drawing/2014/main" id="{0E5D8312-8B2B-5871-84DA-2CC55E270E03}"/>
              </a:ext>
            </a:extLst>
          </p:cNvPr>
          <p:cNvSpPr/>
          <p:nvPr/>
        </p:nvSpPr>
        <p:spPr>
          <a:xfrm>
            <a:off x="16985120" y="23465716"/>
            <a:ext cx="2898000" cy="36553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6" name="그림 4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2F44233-57A7-C782-BA0C-602CA68381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121922" y="21945794"/>
            <a:ext cx="4421163" cy="447253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280246A8-941A-A584-CC21-ACE2B86EB9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632280" y="21655181"/>
            <a:ext cx="1771897" cy="39058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28156A17-2BDF-D330-1CA5-A5190E34BE5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3352" t="-2952" r="46120" b="2950"/>
          <a:stretch/>
        </p:blipFill>
        <p:spPr>
          <a:xfrm>
            <a:off x="28203774" y="21644754"/>
            <a:ext cx="186524" cy="39058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42F88151-4739-3043-BD1B-0E8048700831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3352" t="-2952" r="41165" b="29218"/>
          <a:stretch/>
        </p:blipFill>
        <p:spPr>
          <a:xfrm>
            <a:off x="28599560" y="21644754"/>
            <a:ext cx="274320" cy="287985"/>
          </a:xfrm>
          <a:prstGeom prst="rect">
            <a:avLst/>
          </a:prstGeom>
        </p:spPr>
      </p:pic>
      <p:pic>
        <p:nvPicPr>
          <p:cNvPr id="55" name="그림 54" descr="텍스트, 도표, 폰트, 번호이(가) 표시된 사진&#10;&#10;자동 생성된 설명">
            <a:extLst>
              <a:ext uri="{FF2B5EF4-FFF2-40B4-BE49-F238E27FC236}">
                <a16:creationId xmlns:a16="http://schemas.microsoft.com/office/drawing/2014/main" id="{6D6EB64F-35FB-D65F-D007-4F083D224E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666640" y="27354897"/>
            <a:ext cx="2739600" cy="2739600"/>
          </a:xfrm>
          <a:prstGeom prst="rect">
            <a:avLst/>
          </a:prstGeom>
        </p:spPr>
      </p:pic>
      <p:pic>
        <p:nvPicPr>
          <p:cNvPr id="57" name="그림 56" descr="텍스트, 그래프, 도표, 폰트이(가) 표시된 사진&#10;&#10;자동 생성된 설명">
            <a:extLst>
              <a:ext uri="{FF2B5EF4-FFF2-40B4-BE49-F238E27FC236}">
                <a16:creationId xmlns:a16="http://schemas.microsoft.com/office/drawing/2014/main" id="{D1B72FAE-B05E-B12F-E845-87E07FA88D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160172" y="16318373"/>
            <a:ext cx="2739600" cy="273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8B5989-1948-1F75-732F-9AFFE1F5F834}"/>
              </a:ext>
            </a:extLst>
          </p:cNvPr>
          <p:cNvSpPr txBox="1"/>
          <p:nvPr/>
        </p:nvSpPr>
        <p:spPr>
          <a:xfrm>
            <a:off x="17599418" y="32679328"/>
            <a:ext cx="118832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u="sng" dirty="0"/>
              <a:t>Caffeinated soda intake is a strong predictor of future substance use.</a:t>
            </a:r>
          </a:p>
          <a:p>
            <a:pPr algn="ctr"/>
            <a:endParaRPr lang="en-US" altLang="ko-KR" sz="4800" dirty="0"/>
          </a:p>
          <a:p>
            <a:pPr algn="ctr"/>
            <a:endParaRPr lang="en-US" altLang="ko-KR" sz="4800" dirty="0"/>
          </a:p>
          <a:p>
            <a:pPr algn="ctr"/>
            <a:r>
              <a:rPr lang="en-US" altLang="ko-KR" sz="4800" u="sng" dirty="0"/>
              <a:t>This result shows the potential risk of caffeinated soda intake to adolescents.</a:t>
            </a:r>
          </a:p>
          <a:p>
            <a:pPr algn="ctr"/>
            <a:endParaRPr lang="en-US" altLang="ko-KR" sz="4800" dirty="0"/>
          </a:p>
          <a:p>
            <a:pPr algn="ctr"/>
            <a:endParaRPr lang="en-US" altLang="ko-KR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389</Words>
  <Application>Microsoft Office PowerPoint</Application>
  <PresentationFormat>사용자 지정</PresentationFormat>
  <Paragraphs>61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Batang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유한 정</cp:lastModifiedBy>
  <cp:revision>50</cp:revision>
  <dcterms:created xsi:type="dcterms:W3CDTF">2016-10-11T09:46:40Z</dcterms:created>
  <dcterms:modified xsi:type="dcterms:W3CDTF">2024-12-12T04:29:19Z</dcterms:modified>
</cp:coreProperties>
</file>