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399288" cy="43200638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" roundtripDataSignature="AMtx7mgQQex2AJcqbRTXDH5A0xWDSmUd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8"/>
    <p:restoredTop sz="94694"/>
  </p:normalViewPr>
  <p:slideViewPr>
    <p:cSldViewPr snapToGrid="0">
      <p:cViewPr>
        <p:scale>
          <a:sx n="33" d="100"/>
          <a:sy n="33" d="100"/>
        </p:scale>
        <p:origin x="509" y="-5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68350"/>
            <a:ext cx="287655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68350"/>
            <a:ext cx="287655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5"/>
              <a:buFont typeface="Calibri"/>
              <a:buNone/>
              <a:defRPr sz="200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4049912" y="22690339"/>
            <a:ext cx="24299466" cy="10430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/>
            </a:lvl1pPr>
            <a:lvl2pPr lvl="1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/>
            </a:lvl2pPr>
            <a:lvl3pPr lvl="2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/>
            </a:lvl3pPr>
            <a:lvl4pPr lvl="3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4pPr>
            <a:lvl5pPr lvl="4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5pPr>
            <a:lvl6pPr lvl="5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6pPr>
            <a:lvl7pPr lvl="6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7pPr>
            <a:lvl8pPr lvl="7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8pPr>
            <a:lvl9pPr lvl="8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2227452" y="11500169"/>
            <a:ext cx="27944386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2210578" y="10770173"/>
            <a:ext cx="27944386" cy="1797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5"/>
              <a:buFont typeface="Calibri"/>
              <a:buNone/>
              <a:defRPr sz="200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>
                <a:solidFill>
                  <a:schemeClr val="dk1"/>
                </a:solidFill>
              </a:defRPr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6622"/>
              <a:buNone/>
              <a:defRPr sz="6684">
                <a:solidFill>
                  <a:srgbClr val="888888"/>
                </a:solidFill>
              </a:defRPr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960"/>
              <a:buNone/>
              <a:defRPr sz="6015">
                <a:solidFill>
                  <a:srgbClr val="888888"/>
                </a:solidFill>
              </a:defRPr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2227451" y="11500169"/>
            <a:ext cx="13769698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16402139" y="11500169"/>
            <a:ext cx="13769698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2231671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 b="1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 b="1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 b="1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2231675" y="15780234"/>
            <a:ext cx="13706415" cy="232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16402141" y="10590160"/>
            <a:ext cx="13773918" cy="519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 b="1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 b="1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 b="1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16402141" y="15780234"/>
            <a:ext cx="13773918" cy="232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2231671" y="2880043"/>
            <a:ext cx="10449613" cy="1008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69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13773918" y="6220102"/>
            <a:ext cx="16402140" cy="3070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909765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0595"/>
              <a:buChar char="•"/>
              <a:defRPr sz="10694"/>
            </a:lvl1pPr>
            <a:lvl2pPr marL="922904" lvl="1" indent="-82490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9271"/>
              <a:buChar char="•"/>
              <a:defRPr sz="9357"/>
            </a:lvl2pPr>
            <a:lvl3pPr marL="1384356" lvl="2" indent="-7399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7946"/>
              <a:buChar char="•"/>
              <a:defRPr sz="8020"/>
            </a:lvl3pPr>
            <a:lvl4pPr marL="1845808" lvl="3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4pPr>
            <a:lvl5pPr marL="2307260" lvl="4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5pPr>
            <a:lvl6pPr marL="2768712" lvl="5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6pPr>
            <a:lvl7pPr marL="3230164" lvl="6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7pPr>
            <a:lvl8pPr marL="3691616" lvl="7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8pPr>
            <a:lvl9pPr marL="4153068" lvl="8" indent="-655133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2231671" y="12960192"/>
            <a:ext cx="10449613" cy="2401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78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4010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2231671" y="2880043"/>
            <a:ext cx="10449613" cy="1008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69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3773918" y="6220102"/>
            <a:ext cx="16402140" cy="3070045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2231671" y="12960192"/>
            <a:ext cx="10449613" cy="2401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78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4010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494441" y="11233180"/>
            <a:ext cx="27410408" cy="27944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373519" y="17112258"/>
            <a:ext cx="36610544" cy="6986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5801169" y="10328658"/>
            <a:ext cx="36610544" cy="20553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68"/>
              <a:buFont typeface="Calibri"/>
              <a:buNone/>
              <a:defRPr sz="145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2227452" y="11500169"/>
            <a:ext cx="27944386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817308" algn="l" rtl="0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9271"/>
              <a:buFont typeface="Arial"/>
              <a:buChar char="•"/>
              <a:defRPr sz="92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733171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7946"/>
              <a:buFont typeface="Arial"/>
              <a:buChar char="•"/>
              <a:defRPr sz="794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649097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Font typeface="Arial"/>
              <a:buChar char="•"/>
              <a:defRPr sz="66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607059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473559" y="1106334"/>
            <a:ext cx="19422990" cy="4255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73" tIns="46124" rIns="92273" bIns="46124" anchor="t" anchorCtr="0">
            <a:spAutoFit/>
          </a:bodyPr>
          <a:lstStyle/>
          <a:p>
            <a:pPr algn="ctr"/>
            <a:endParaRPr sz="2826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-US" altLang="ko-KR" sz="5450" b="1" dirty="0">
                <a:solidFill>
                  <a:schemeClr val="dk1"/>
                </a:solidFill>
              </a:rPr>
              <a:t>Bipolar measurement of affective valence does not differentiate neutral and ambivalent responses</a:t>
            </a:r>
          </a:p>
          <a:p>
            <a:pPr algn="ctr"/>
            <a:endParaRPr lang="en-US" sz="242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-US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Psychology</a:t>
            </a:r>
            <a:r>
              <a:rPr lang="en-US" sz="3633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altLang="ko-KR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Brain Cognitive Science</a:t>
            </a:r>
            <a:r>
              <a:rPr lang="en-US" altLang="ko-KR" sz="3633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363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-US" altLang="ko-KR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Taeyang</a:t>
            </a:r>
            <a:r>
              <a:rPr lang="ko-KR" altLang="en-US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Lee</a:t>
            </a:r>
            <a:r>
              <a:rPr lang="en-US" altLang="ko-KR" sz="3633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altLang="ko-KR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altLang="ko-KR" sz="3633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Jinwoo</a:t>
            </a:r>
            <a:r>
              <a:rPr lang="ko-KR" altLang="en-US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Lee</a:t>
            </a:r>
            <a:r>
              <a:rPr lang="en-US" altLang="ko-KR" sz="3633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altLang="ko-KR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altLang="ko-KR" sz="3633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Minseok</a:t>
            </a:r>
            <a:r>
              <a:rPr lang="ko-KR" altLang="en-US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Koo</a:t>
            </a:r>
            <a:r>
              <a:rPr lang="en-US" altLang="ko-KR" sz="3633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altLang="ko-KR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altLang="ko-KR" sz="3633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Jiook</a:t>
            </a:r>
            <a:r>
              <a:rPr lang="ko-KR" altLang="en-US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</a:t>
            </a:r>
            <a:r>
              <a:rPr lang="en-US" altLang="ko-KR" sz="3633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1,2</a:t>
            </a:r>
            <a:r>
              <a:rPr lang="en-US" altLang="ko-KR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altLang="ko-KR" sz="3633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Sangah</a:t>
            </a:r>
            <a:r>
              <a:rPr lang="en-US" altLang="ko-KR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Lee</a:t>
            </a:r>
            <a:r>
              <a:rPr lang="en-US" altLang="ko-KR" sz="3633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363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-US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rlaxodid5539@snu.ac.kr</a:t>
            </a:r>
            <a:endParaRPr sz="363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6898" y="754086"/>
            <a:ext cx="4365056" cy="44761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1"/>
          <p:cNvGrpSpPr/>
          <p:nvPr/>
        </p:nvGrpSpPr>
        <p:grpSpPr>
          <a:xfrm>
            <a:off x="1638384" y="5692473"/>
            <a:ext cx="14170178" cy="8628974"/>
            <a:chOff x="699916" y="6964451"/>
            <a:chExt cx="19004401" cy="6523219"/>
          </a:xfrm>
        </p:grpSpPr>
        <p:sp>
          <p:nvSpPr>
            <p:cNvPr id="87" name="Google Shape;87;p1"/>
            <p:cNvSpPr/>
            <p:nvPr/>
          </p:nvSpPr>
          <p:spPr>
            <a:xfrm>
              <a:off x="699916" y="7788809"/>
              <a:ext cx="19002509" cy="5698861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/>
              <a:endParaRPr sz="1817" dirty="0">
                <a:solidFill>
                  <a:schemeClr val="dk1"/>
                </a:solidFill>
                <a:latin typeface="+mn-ea"/>
                <a:ea typeface="+mn-ea"/>
                <a:cs typeface="Batang"/>
                <a:sym typeface="Batang"/>
              </a:endParaRPr>
            </a:p>
            <a:p>
              <a:pPr marL="288407" indent="-288407" algn="just">
                <a:lnSpc>
                  <a:spcPct val="150000"/>
                </a:lnSpc>
                <a:buClr>
                  <a:schemeClr val="dk1"/>
                </a:buClr>
                <a:buSzPts val="3600"/>
                <a:buFont typeface="Batang"/>
                <a:buChar char="-"/>
              </a:pPr>
              <a:r>
                <a:rPr lang="en-US" altLang="ko-KR" sz="2600" dirty="0">
                  <a:solidFill>
                    <a:schemeClr val="dk1"/>
                  </a:solidFill>
                  <a:latin typeface="+mn-lt"/>
                  <a:ea typeface="+mn-ea"/>
                  <a:cs typeface="Batang"/>
                  <a:sym typeface="Batang"/>
                </a:rPr>
                <a:t>There are numerous reports suggesting that </a:t>
              </a:r>
              <a:r>
                <a:rPr lang="en-US" altLang="ko-KR" sz="2600" b="1" dirty="0">
                  <a:solidFill>
                    <a:schemeClr val="dk1"/>
                  </a:solidFill>
                  <a:latin typeface="+mn-lt"/>
                  <a:ea typeface="+mn-ea"/>
                  <a:cs typeface="Batang"/>
                  <a:sym typeface="Batang"/>
                </a:rPr>
                <a:t>ambivalent affect has distinct neural representations</a:t>
              </a:r>
              <a:r>
                <a:rPr lang="en-US" altLang="ko-KR" sz="2600" dirty="0">
                  <a:solidFill>
                    <a:schemeClr val="dk1"/>
                  </a:solidFill>
                  <a:latin typeface="+mn-lt"/>
                  <a:ea typeface="+mn-ea"/>
                  <a:cs typeface="Batang"/>
                  <a:sym typeface="Batang"/>
                </a:rPr>
                <a:t> and physiological response profiles at the cortical level, compared to simple neutral, positive, or negative affect(Lettieri et al., 2019; .Vaccaro et al., 2024).</a:t>
              </a:r>
            </a:p>
            <a:p>
              <a:pPr marL="288407" indent="-288407" algn="just">
                <a:lnSpc>
                  <a:spcPct val="150000"/>
                </a:lnSpc>
                <a:buClr>
                  <a:schemeClr val="dk1"/>
                </a:buClr>
                <a:buSzPts val="3600"/>
                <a:buFont typeface="Batang"/>
                <a:buChar char="-"/>
              </a:pPr>
              <a:r>
                <a:rPr lang="en-US" altLang="ko-KR" sz="2600" dirty="0">
                  <a:solidFill>
                    <a:schemeClr val="dk1"/>
                  </a:solidFill>
                  <a:latin typeface="+mn-lt"/>
                  <a:ea typeface="+mn-ea"/>
                  <a:cs typeface="Batang"/>
                  <a:sym typeface="Batang"/>
                </a:rPr>
                <a:t>However, the commonly used </a:t>
              </a:r>
              <a:r>
                <a:rPr lang="en-US" altLang="ko-KR" sz="2600" b="1" dirty="0">
                  <a:solidFill>
                    <a:schemeClr val="dk1"/>
                  </a:solidFill>
                  <a:latin typeface="+mn-lt"/>
                  <a:ea typeface="+mn-ea"/>
                  <a:cs typeface="Batang"/>
                  <a:sym typeface="Batang"/>
                </a:rPr>
                <a:t>bipolar measurement of affective valence does not allow for ambivalent responses</a:t>
              </a:r>
              <a:r>
                <a:rPr lang="en-US" altLang="ko-KR" sz="2600" dirty="0">
                  <a:solidFill>
                    <a:schemeClr val="dk1"/>
                  </a:solidFill>
                  <a:latin typeface="+mn-lt"/>
                  <a:ea typeface="+mn-ea"/>
                  <a:cs typeface="Batang"/>
                  <a:sym typeface="Batang"/>
                </a:rPr>
                <a:t> at the self-report level.</a:t>
              </a:r>
            </a:p>
            <a:p>
              <a:pPr marL="288407" indent="-288407" algn="just">
                <a:lnSpc>
                  <a:spcPct val="150000"/>
                </a:lnSpc>
                <a:buClr>
                  <a:schemeClr val="dk1"/>
                </a:buClr>
                <a:buSzPts val="3600"/>
                <a:buFont typeface="Batang"/>
                <a:buChar char="-"/>
              </a:pPr>
              <a:r>
                <a:rPr lang="en-US" altLang="ko-KR" sz="2600" dirty="0">
                  <a:solidFill>
                    <a:schemeClr val="dk1"/>
                  </a:solidFill>
                  <a:latin typeface="+mn-lt"/>
                  <a:ea typeface="+mn-ea"/>
                  <a:cs typeface="Batang"/>
                  <a:sym typeface="Batang"/>
                </a:rPr>
                <a:t>As a result, it implicitly encourages participants to choose which valence is more dominant in ambivalent states, leading to a dichotomous evaluation that fails to clearly capture such ambivalent experiences(Schneider et al., 2016).</a:t>
              </a:r>
              <a:endParaRPr lang="en-US" altLang="ko-KR" sz="2600" dirty="0">
                <a:solidFill>
                  <a:schemeClr val="dk1"/>
                </a:solidFill>
                <a:latin typeface="+mn-ea"/>
                <a:ea typeface="+mn-ea"/>
                <a:cs typeface="Batang"/>
                <a:sym typeface="Batang"/>
              </a:endParaRPr>
            </a:p>
            <a:p>
              <a:pPr marL="288407" indent="-288407">
                <a:lnSpc>
                  <a:spcPct val="150000"/>
                </a:lnSpc>
                <a:buClr>
                  <a:schemeClr val="dk1"/>
                </a:buClr>
                <a:buSzPts val="3600"/>
                <a:buFont typeface="Batang"/>
                <a:buChar char="-"/>
              </a:pPr>
              <a:r>
                <a:rPr lang="en-US" altLang="ko-KR" sz="2600" dirty="0"/>
                <a:t>Therefore, we designed the stimuli that combine conflicting valence information and hypothesized that </a:t>
              </a:r>
              <a:r>
                <a:rPr lang="en-US" altLang="ko-KR" sz="2600" b="1" dirty="0"/>
                <a:t>such ambivalent responses would be distinguishable from neutral and univalent responses at the neural level</a:t>
              </a:r>
              <a:r>
                <a:rPr lang="en-US" altLang="ko-KR" sz="2600" dirty="0"/>
                <a:t>. However, at the self-report level, using bipolar measurements, they would not be differentiated from neutral responses.</a:t>
              </a:r>
              <a:endParaRPr lang="ko-KR" altLang="en-US" sz="2600" dirty="0">
                <a:solidFill>
                  <a:schemeClr val="dk1"/>
                </a:solidFill>
                <a:latin typeface="+mn-ea"/>
                <a:ea typeface="+mn-ea"/>
                <a:cs typeface="Batang"/>
                <a:sym typeface="Batang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699916" y="6964451"/>
              <a:ext cx="19004401" cy="824358"/>
            </a:xfrm>
            <a:prstGeom prst="rect">
              <a:avLst/>
            </a:prstGeom>
            <a:solidFill>
              <a:srgbClr val="0F0F70"/>
            </a:solidFill>
            <a:ln w="1270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>
                  <a:solidFill>
                    <a:srgbClr val="FFFFFF"/>
                  </a:solidFill>
                </a:rPr>
                <a:t>INTRODUCTION</a:t>
              </a:r>
              <a:endParaRPr sz="5450" b="1">
                <a:solidFill>
                  <a:srgbClr val="FFFFFF"/>
                </a:solidFill>
              </a:endParaRPr>
            </a:p>
          </p:txBody>
        </p:sp>
      </p:grpSp>
      <p:grpSp>
        <p:nvGrpSpPr>
          <p:cNvPr id="89" name="Google Shape;89;p1"/>
          <p:cNvGrpSpPr/>
          <p:nvPr/>
        </p:nvGrpSpPr>
        <p:grpSpPr>
          <a:xfrm>
            <a:off x="1617744" y="14498812"/>
            <a:ext cx="14176588" cy="15692950"/>
            <a:chOff x="414164" y="17692970"/>
            <a:chExt cx="16567491" cy="13767548"/>
          </a:xfrm>
        </p:grpSpPr>
        <p:sp>
          <p:nvSpPr>
            <p:cNvPr id="90" name="Google Shape;90;p1"/>
            <p:cNvSpPr/>
            <p:nvPr/>
          </p:nvSpPr>
          <p:spPr>
            <a:xfrm>
              <a:off x="421655" y="19475704"/>
              <a:ext cx="16560000" cy="11984814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>
                <a:lnSpc>
                  <a:spcPct val="171875"/>
                </a:lnSpc>
              </a:pPr>
              <a:endParaRPr sz="32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just">
                <a:lnSpc>
                  <a:spcPct val="171875"/>
                </a:lnSpc>
              </a:pPr>
              <a:endParaRPr sz="32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414164" y="17692970"/>
              <a:ext cx="16558350" cy="829776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chemeClr val="lt1"/>
                  </a:solidFill>
                </a:rPr>
                <a:t>METHODS</a:t>
              </a:r>
              <a:endParaRPr sz="4441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92" name="Google Shape;92;p1"/>
          <p:cNvGrpSpPr/>
          <p:nvPr/>
        </p:nvGrpSpPr>
        <p:grpSpPr>
          <a:xfrm>
            <a:off x="16543690" y="25202255"/>
            <a:ext cx="14195889" cy="10397258"/>
            <a:chOff x="33746120" y="5706817"/>
            <a:chExt cx="16337590" cy="22153028"/>
          </a:xfrm>
        </p:grpSpPr>
        <p:sp>
          <p:nvSpPr>
            <p:cNvPr id="93" name="Google Shape;93;p1"/>
            <p:cNvSpPr/>
            <p:nvPr/>
          </p:nvSpPr>
          <p:spPr>
            <a:xfrm>
              <a:off x="33775710" y="16703493"/>
              <a:ext cx="16308000" cy="11156352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>
                <a:lnSpc>
                  <a:spcPct val="156250"/>
                </a:lnSpc>
              </a:pPr>
              <a:endParaRPr sz="323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33746120" y="5706817"/>
              <a:ext cx="16337590" cy="2343693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rgbClr val="FFFFFF"/>
                  </a:solidFill>
                </a:rPr>
                <a:t>DISCUSSIONS</a:t>
              </a:r>
              <a:endParaRPr sz="5450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1616334" y="6373153"/>
            <a:ext cx="29098946" cy="25399895"/>
            <a:chOff x="474371" y="15718580"/>
            <a:chExt cx="29502375" cy="5040106"/>
          </a:xfrm>
        </p:grpSpPr>
        <p:sp>
          <p:nvSpPr>
            <p:cNvPr id="96" name="Google Shape;96;p1"/>
            <p:cNvSpPr/>
            <p:nvPr/>
          </p:nvSpPr>
          <p:spPr>
            <a:xfrm>
              <a:off x="15610114" y="15718580"/>
              <a:ext cx="14366632" cy="3425018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endParaRPr sz="32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474371" y="20521069"/>
              <a:ext cx="14366633" cy="237617"/>
            </a:xfrm>
            <a:prstGeom prst="rect">
              <a:avLst/>
            </a:prstGeom>
            <a:solidFill>
              <a:srgbClr val="0F0F70"/>
            </a:solidFill>
            <a:ln w="1270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rgbClr val="FFFFFF"/>
                  </a:solidFill>
                </a:rPr>
                <a:t>RESULTS</a:t>
              </a:r>
              <a:endParaRPr sz="4441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1"/>
          <p:cNvGrpSpPr/>
          <p:nvPr/>
        </p:nvGrpSpPr>
        <p:grpSpPr>
          <a:xfrm>
            <a:off x="16542277" y="36332253"/>
            <a:ext cx="14203458" cy="5073657"/>
            <a:chOff x="15286569" y="35138922"/>
            <a:chExt cx="14446039" cy="5024995"/>
          </a:xfrm>
        </p:grpSpPr>
        <p:sp>
          <p:nvSpPr>
            <p:cNvPr id="102" name="Google Shape;102;p1"/>
            <p:cNvSpPr/>
            <p:nvPr/>
          </p:nvSpPr>
          <p:spPr>
            <a:xfrm>
              <a:off x="15286569" y="37840040"/>
              <a:ext cx="14400000" cy="2323877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endParaRPr sz="1817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15307895" y="35138922"/>
              <a:ext cx="14424713" cy="1102087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rgbClr val="FFFFFF"/>
                  </a:solidFill>
                </a:rPr>
                <a:t>REFERENCES</a:t>
              </a:r>
              <a:endParaRPr sz="4441" b="1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04" name="Google Shape;104;p1"/>
          <p:cNvPicPr preferRelativeResize="0"/>
          <p:nvPr/>
        </p:nvPicPr>
        <p:blipFill rotWithShape="1">
          <a:blip r:embed="rId4">
            <a:alphaModFix/>
          </a:blip>
          <a:srcRect t="85800"/>
          <a:stretch/>
        </p:blipFill>
        <p:spPr>
          <a:xfrm>
            <a:off x="24434800" y="42067545"/>
            <a:ext cx="7037733" cy="82542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87;p1">
            <a:extLst>
              <a:ext uri="{FF2B5EF4-FFF2-40B4-BE49-F238E27FC236}">
                <a16:creationId xmlns:a16="http://schemas.microsoft.com/office/drawing/2014/main" id="{43B2F59F-5525-0F20-CFCD-0460F29B0ADE}"/>
              </a:ext>
            </a:extLst>
          </p:cNvPr>
          <p:cNvSpPr/>
          <p:nvPr/>
        </p:nvSpPr>
        <p:spPr>
          <a:xfrm>
            <a:off x="16543691" y="37445012"/>
            <a:ext cx="14168767" cy="431208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F0F7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273" tIns="46124" rIns="92273" bIns="46124" anchor="t" anchorCtr="0">
            <a:noAutofit/>
          </a:bodyPr>
          <a:lstStyle/>
          <a:p>
            <a:pPr algn="just"/>
            <a:endParaRPr sz="1817" dirty="0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7" name="Google Shape;87;p1">
            <a:extLst>
              <a:ext uri="{FF2B5EF4-FFF2-40B4-BE49-F238E27FC236}">
                <a16:creationId xmlns:a16="http://schemas.microsoft.com/office/drawing/2014/main" id="{0001863A-3E49-6535-53DA-296E53E01E01}"/>
              </a:ext>
            </a:extLst>
          </p:cNvPr>
          <p:cNvSpPr/>
          <p:nvPr/>
        </p:nvSpPr>
        <p:spPr>
          <a:xfrm>
            <a:off x="1625565" y="15518932"/>
            <a:ext cx="14168767" cy="1467283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F0F7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273" tIns="46124" rIns="92273" bIns="46124" anchor="t" anchorCtr="0">
            <a:noAutofit/>
          </a:bodyPr>
          <a:lstStyle/>
          <a:p>
            <a:pPr algn="just"/>
            <a:endParaRPr sz="1817" dirty="0">
              <a:solidFill>
                <a:schemeClr val="dk1"/>
              </a:solidFill>
              <a:latin typeface="+mn-ea"/>
              <a:ea typeface="+mn-ea"/>
              <a:cs typeface="Batang"/>
              <a:sym typeface="Batang"/>
            </a:endParaRPr>
          </a:p>
          <a:p>
            <a:pPr marL="288407" indent="-288407">
              <a:lnSpc>
                <a:spcPct val="150000"/>
              </a:lnSpc>
              <a:buClr>
                <a:schemeClr val="dk1"/>
              </a:buClr>
              <a:buSzPts val="3600"/>
              <a:buFont typeface="Batang"/>
              <a:buChar char="-"/>
            </a:pPr>
            <a:r>
              <a:rPr lang="en-US" altLang="ko-KR" sz="2600" b="1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Data</a:t>
            </a:r>
            <a:r>
              <a:rPr lang="ko-KR" altLang="en-US" sz="2600" b="1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 </a:t>
            </a:r>
            <a:r>
              <a:rPr lang="en-US" altLang="ko-KR" sz="2600" b="1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Collection</a:t>
            </a:r>
            <a:b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</a:br>
            <a: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Participants : 57 (31 Female), Age : 25.35 (</a:t>
            </a:r>
            <a:r>
              <a:rPr lang="en-US" altLang="ko-KR" sz="2600" i="1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SD</a:t>
            </a:r>
            <a: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 = 4.23)</a:t>
            </a:r>
            <a:b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</a:br>
            <a: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Collect 32 Channels EEG data and Use 26 Channel’s data for analysis</a:t>
            </a:r>
            <a:b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</a:br>
            <a:b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</a:br>
            <a:endParaRPr lang="en-US" altLang="ko-KR" sz="2600" dirty="0">
              <a:solidFill>
                <a:schemeClr val="dk1"/>
              </a:solidFill>
              <a:latin typeface="+mn-lt"/>
              <a:ea typeface="+mn-ea"/>
              <a:cs typeface="Batang"/>
              <a:sym typeface="Batang"/>
            </a:endParaRPr>
          </a:p>
          <a:p>
            <a:pPr marL="288407" indent="-288407">
              <a:lnSpc>
                <a:spcPct val="150000"/>
              </a:lnSpc>
              <a:buClr>
                <a:schemeClr val="dk1"/>
              </a:buClr>
              <a:buSzPts val="3600"/>
              <a:buFont typeface="Batang"/>
              <a:buChar char="-"/>
            </a:pPr>
            <a:endParaRPr lang="en-US" altLang="ko-KR" sz="2800" dirty="0">
              <a:solidFill>
                <a:schemeClr val="dk1"/>
              </a:solidFill>
              <a:latin typeface="+mn-lt"/>
              <a:ea typeface="+mn-ea"/>
              <a:cs typeface="Batang"/>
              <a:sym typeface="Batang"/>
            </a:endParaRPr>
          </a:p>
          <a:p>
            <a:pPr marL="288407" indent="-288407">
              <a:lnSpc>
                <a:spcPct val="150000"/>
              </a:lnSpc>
              <a:buClr>
                <a:schemeClr val="dk1"/>
              </a:buClr>
              <a:buSzPts val="3600"/>
              <a:buFont typeface="Batang"/>
              <a:buChar char="-"/>
            </a:pPr>
            <a:endParaRPr lang="en-US" altLang="ko-KR" sz="2800" dirty="0">
              <a:solidFill>
                <a:schemeClr val="dk1"/>
              </a:solidFill>
              <a:latin typeface="+mn-lt"/>
              <a:ea typeface="+mn-ea"/>
              <a:cs typeface="Batang"/>
              <a:sym typeface="Batang"/>
            </a:endParaRPr>
          </a:p>
          <a:p>
            <a:pPr marL="288407" indent="-288407">
              <a:lnSpc>
                <a:spcPct val="150000"/>
              </a:lnSpc>
              <a:buClr>
                <a:schemeClr val="dk1"/>
              </a:buClr>
              <a:buSzPts val="3600"/>
              <a:buFont typeface="Batang"/>
              <a:buChar char="-"/>
            </a:pPr>
            <a:endParaRPr lang="en-US" altLang="ko-KR" sz="2800" dirty="0">
              <a:solidFill>
                <a:schemeClr val="dk1"/>
              </a:solidFill>
              <a:latin typeface="+mn-lt"/>
              <a:ea typeface="+mn-ea"/>
              <a:cs typeface="Batang"/>
              <a:sym typeface="Batang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3600"/>
            </a:pPr>
            <a:endParaRPr lang="en-US" altLang="ko-KR" sz="2800" dirty="0">
              <a:solidFill>
                <a:schemeClr val="dk1"/>
              </a:solidFill>
              <a:latin typeface="+mn-lt"/>
              <a:ea typeface="+mn-ea"/>
              <a:cs typeface="Batang"/>
              <a:sym typeface="Batang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3600"/>
            </a:pPr>
            <a:endParaRPr lang="en-US" altLang="ko-KR" sz="2800" dirty="0">
              <a:solidFill>
                <a:schemeClr val="dk1"/>
              </a:solidFill>
              <a:latin typeface="+mn-lt"/>
              <a:ea typeface="+mn-ea"/>
              <a:cs typeface="Batang"/>
              <a:sym typeface="Batang"/>
            </a:endParaRPr>
          </a:p>
          <a:p>
            <a:pPr marL="288407" indent="-288407">
              <a:lnSpc>
                <a:spcPct val="150000"/>
              </a:lnSpc>
              <a:buClr>
                <a:schemeClr val="dk1"/>
              </a:buClr>
              <a:buSzPts val="3600"/>
              <a:buFont typeface="Batang"/>
              <a:buChar char="-"/>
            </a:pPr>
            <a:r>
              <a:rPr lang="en-US" altLang="ko-KR" sz="2600" b="1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Method of Analysis</a:t>
            </a:r>
            <a:b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</a:br>
            <a: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1. Training an emotional stimuli classifier based on 3D CNN</a:t>
            </a:r>
            <a:r>
              <a:rPr lang="en-US" altLang="ko-KR" sz="28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.</a:t>
            </a:r>
          </a:p>
          <a:p>
            <a:pPr marL="288407" indent="-288407">
              <a:lnSpc>
                <a:spcPct val="150000"/>
              </a:lnSpc>
              <a:buClr>
                <a:schemeClr val="dk1"/>
              </a:buClr>
              <a:buSzPts val="3600"/>
              <a:buFont typeface="Batang"/>
              <a:buChar char="-"/>
            </a:pPr>
            <a:endParaRPr lang="en-US" altLang="ko-KR" sz="2800" dirty="0">
              <a:solidFill>
                <a:schemeClr val="dk1"/>
              </a:solidFill>
              <a:latin typeface="+mn-lt"/>
              <a:ea typeface="+mn-ea"/>
              <a:cs typeface="Batang"/>
              <a:sym typeface="Batang"/>
            </a:endParaRPr>
          </a:p>
          <a:p>
            <a:pPr marL="288407" indent="-288407">
              <a:lnSpc>
                <a:spcPct val="150000"/>
              </a:lnSpc>
              <a:buClr>
                <a:schemeClr val="dk1"/>
              </a:buClr>
              <a:buSzPts val="3600"/>
              <a:buFont typeface="Batang"/>
              <a:buChar char="-"/>
            </a:pPr>
            <a:endParaRPr lang="en-US" altLang="ko-KR" sz="2800" dirty="0">
              <a:solidFill>
                <a:schemeClr val="dk1"/>
              </a:solidFill>
              <a:latin typeface="+mn-lt"/>
              <a:ea typeface="+mn-ea"/>
              <a:cs typeface="Batang"/>
              <a:sym typeface="Batang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3600"/>
            </a:pPr>
            <a:br>
              <a:rPr lang="en-US" altLang="ko-KR" sz="28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</a:br>
            <a:r>
              <a:rPr lang="en-US" altLang="ko-KR" sz="28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	</a:t>
            </a:r>
          </a:p>
          <a:p>
            <a:pPr marL="288407" indent="-288407">
              <a:lnSpc>
                <a:spcPct val="150000"/>
              </a:lnSpc>
              <a:buClr>
                <a:schemeClr val="dk1"/>
              </a:buClr>
              <a:buSzPts val="3600"/>
              <a:buFont typeface="Batang"/>
              <a:buChar char="-"/>
            </a:pPr>
            <a:endParaRPr lang="en-US" altLang="ko-KR" sz="2800" dirty="0">
              <a:solidFill>
                <a:schemeClr val="dk1"/>
              </a:solidFill>
              <a:latin typeface="+mn-lt"/>
              <a:ea typeface="+mn-ea"/>
              <a:cs typeface="Batang"/>
              <a:sym typeface="Batang"/>
            </a:endParaRPr>
          </a:p>
          <a:p>
            <a:pPr marL="288407" indent="-288407">
              <a:lnSpc>
                <a:spcPct val="150000"/>
              </a:lnSpc>
              <a:buClr>
                <a:schemeClr val="dk1"/>
              </a:buClr>
              <a:buSzPts val="3600"/>
              <a:buFont typeface="Batang"/>
              <a:buChar char="-"/>
            </a:pPr>
            <a:endParaRPr lang="en-US" altLang="ko-KR" sz="2800" dirty="0">
              <a:solidFill>
                <a:schemeClr val="dk1"/>
              </a:solidFill>
              <a:latin typeface="+mn-lt"/>
              <a:ea typeface="+mn-ea"/>
              <a:cs typeface="Batang"/>
              <a:sym typeface="Batang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3600"/>
            </a:pPr>
            <a:br>
              <a:rPr lang="en-US" altLang="ko-KR" sz="28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</a:br>
            <a: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2. Model analysis through Integrated Gradients.</a:t>
            </a:r>
            <a:br>
              <a:rPr lang="en-US" altLang="ko-KR" sz="28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</a:br>
            <a:r>
              <a:rPr lang="en-US" altLang="ko-KR" sz="28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	</a:t>
            </a:r>
          </a:p>
        </p:txBody>
      </p:sp>
      <p:sp>
        <p:nvSpPr>
          <p:cNvPr id="17" name="Google Shape;87;p1">
            <a:extLst>
              <a:ext uri="{FF2B5EF4-FFF2-40B4-BE49-F238E27FC236}">
                <a16:creationId xmlns:a16="http://schemas.microsoft.com/office/drawing/2014/main" id="{2BF24E31-22FF-210D-A44C-B84DC418BDC7}"/>
              </a:ext>
            </a:extLst>
          </p:cNvPr>
          <p:cNvSpPr/>
          <p:nvPr/>
        </p:nvSpPr>
        <p:spPr>
          <a:xfrm>
            <a:off x="1617744" y="31773048"/>
            <a:ext cx="14168767" cy="9984051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F0F7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273" tIns="46124" rIns="92273" bIns="46124" anchor="t" anchorCtr="0">
            <a:noAutofit/>
          </a:bodyPr>
          <a:lstStyle/>
          <a:p>
            <a:pPr algn="just"/>
            <a:endParaRPr sz="1817" dirty="0">
              <a:solidFill>
                <a:schemeClr val="dk1"/>
              </a:solidFill>
              <a:latin typeface="+mn-ea"/>
              <a:ea typeface="+mn-ea"/>
              <a:cs typeface="Batang"/>
              <a:sym typeface="Batang"/>
            </a:endParaRPr>
          </a:p>
          <a:p>
            <a:pPr marL="288407" indent="-288407" algn="just">
              <a:lnSpc>
                <a:spcPct val="150000"/>
              </a:lnSpc>
              <a:buClr>
                <a:schemeClr val="dk1"/>
              </a:buClr>
              <a:buSzPts val="3600"/>
              <a:buFont typeface="Batang"/>
              <a:buChar char="-"/>
            </a:pPr>
            <a:r>
              <a:rPr lang="en-US" altLang="ko-KR" sz="2600" b="1" dirty="0">
                <a:solidFill>
                  <a:schemeClr val="dk1"/>
                </a:solidFill>
                <a:latin typeface="+mn-ea"/>
                <a:ea typeface="+mn-ea"/>
                <a:cs typeface="Batang"/>
                <a:sym typeface="Batang"/>
              </a:rPr>
              <a:t>Behavioral</a:t>
            </a:r>
            <a:r>
              <a:rPr lang="ko-KR" altLang="en-US" sz="2600" b="1" dirty="0">
                <a:solidFill>
                  <a:schemeClr val="dk1"/>
                </a:solidFill>
                <a:latin typeface="+mn-ea"/>
                <a:ea typeface="+mn-ea"/>
                <a:cs typeface="Batang"/>
                <a:sym typeface="Batang"/>
              </a:rPr>
              <a:t> </a:t>
            </a:r>
            <a:r>
              <a:rPr lang="en-US" altLang="ko-KR" sz="2600" b="1" dirty="0">
                <a:solidFill>
                  <a:schemeClr val="dk1"/>
                </a:solidFill>
                <a:latin typeface="+mn-ea"/>
                <a:ea typeface="+mn-ea"/>
                <a:cs typeface="Batang"/>
                <a:sym typeface="Batang"/>
              </a:rPr>
              <a:t>Results</a:t>
            </a:r>
          </a:p>
          <a:p>
            <a:pPr marL="288407" indent="-288407" algn="just">
              <a:lnSpc>
                <a:spcPct val="150000"/>
              </a:lnSpc>
              <a:buClr>
                <a:schemeClr val="dk1"/>
              </a:buClr>
              <a:buSzPts val="3600"/>
              <a:buFont typeface="Batang"/>
              <a:buChar char="-"/>
            </a:pPr>
            <a:endParaRPr lang="en-US" altLang="ko-KR" sz="2800" b="1" dirty="0">
              <a:solidFill>
                <a:schemeClr val="dk1"/>
              </a:solidFill>
              <a:latin typeface="+mn-ea"/>
              <a:ea typeface="+mn-ea"/>
              <a:cs typeface="Batang"/>
              <a:sym typeface="Batang"/>
            </a:endParaRPr>
          </a:p>
          <a:p>
            <a:pPr marL="288407" indent="-288407" algn="just">
              <a:lnSpc>
                <a:spcPct val="150000"/>
              </a:lnSpc>
              <a:buClr>
                <a:schemeClr val="dk1"/>
              </a:buClr>
              <a:buSzPts val="3600"/>
              <a:buFont typeface="Batang"/>
              <a:buChar char="-"/>
            </a:pPr>
            <a:endParaRPr lang="en-US" sz="3200" b="1" dirty="0">
              <a:solidFill>
                <a:schemeClr val="dk1"/>
              </a:solidFill>
              <a:latin typeface="+mn-ea"/>
              <a:ea typeface="+mn-ea"/>
              <a:cs typeface="Batang"/>
              <a:sym typeface="Batang"/>
            </a:endParaRPr>
          </a:p>
          <a:p>
            <a:pPr marL="288407" indent="-288407" algn="just">
              <a:lnSpc>
                <a:spcPct val="150000"/>
              </a:lnSpc>
              <a:buClr>
                <a:schemeClr val="dk1"/>
              </a:buClr>
              <a:buSzPts val="3600"/>
              <a:buFont typeface="Batang"/>
              <a:buChar char="-"/>
            </a:pPr>
            <a:endParaRPr lang="en-US" sz="3200" b="1" dirty="0">
              <a:solidFill>
                <a:schemeClr val="dk1"/>
              </a:solidFill>
              <a:latin typeface="+mn-ea"/>
              <a:ea typeface="+mn-ea"/>
              <a:cs typeface="Batang"/>
              <a:sym typeface="Batang"/>
            </a:endParaRPr>
          </a:p>
          <a:p>
            <a:pPr marL="288407" indent="-288407" algn="just">
              <a:lnSpc>
                <a:spcPct val="150000"/>
              </a:lnSpc>
              <a:buClr>
                <a:schemeClr val="dk1"/>
              </a:buClr>
              <a:buSzPts val="3600"/>
              <a:buFont typeface="Batang"/>
              <a:buChar char="-"/>
            </a:pPr>
            <a:endParaRPr lang="en-US" sz="3200" b="1" dirty="0">
              <a:solidFill>
                <a:schemeClr val="dk1"/>
              </a:solidFill>
              <a:latin typeface="+mn-ea"/>
              <a:ea typeface="+mn-ea"/>
              <a:cs typeface="Batang"/>
              <a:sym typeface="Batang"/>
            </a:endParaRPr>
          </a:p>
          <a:p>
            <a:pPr algn="just">
              <a:lnSpc>
                <a:spcPct val="150000"/>
              </a:lnSpc>
              <a:buClr>
                <a:schemeClr val="dk1"/>
              </a:buClr>
              <a:buSzPts val="3600"/>
            </a:pPr>
            <a:endParaRPr lang="en-US" sz="3200" b="1" dirty="0">
              <a:solidFill>
                <a:schemeClr val="dk1"/>
              </a:solidFill>
              <a:latin typeface="+mn-ea"/>
              <a:ea typeface="+mn-ea"/>
              <a:cs typeface="Batang"/>
              <a:sym typeface="Batang"/>
            </a:endParaRPr>
          </a:p>
          <a:p>
            <a:pPr marL="288407" indent="-288407">
              <a:lnSpc>
                <a:spcPct val="150000"/>
              </a:lnSpc>
              <a:buClr>
                <a:schemeClr val="dk1"/>
              </a:buClr>
              <a:buSzPts val="3600"/>
              <a:buFont typeface="Batang"/>
              <a:buChar char="-"/>
            </a:pPr>
            <a:r>
              <a:rPr lang="en-US" altLang="ko-KR" sz="2600" b="1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Model Training Results</a:t>
            </a:r>
            <a:br>
              <a:rPr lang="en-US" altLang="ko-KR" sz="2600" b="1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</a:br>
            <a:r>
              <a:rPr lang="en-US" altLang="ko-KR" sz="2600" b="1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 </a:t>
            </a:r>
            <a: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1) Confusion</a:t>
            </a:r>
            <a:r>
              <a:rPr lang="ko-KR" altLang="en-US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 </a:t>
            </a:r>
            <a: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matrix</a:t>
            </a:r>
            <a:endParaRPr lang="en-US" altLang="ko-KR" sz="2600" b="1" dirty="0">
              <a:solidFill>
                <a:schemeClr val="dk1"/>
              </a:solidFill>
              <a:latin typeface="+mn-lt"/>
              <a:ea typeface="+mn-ea"/>
              <a:cs typeface="Batang"/>
              <a:sym typeface="Batang"/>
            </a:endParaRPr>
          </a:p>
        </p:txBody>
      </p:sp>
      <p:sp>
        <p:nvSpPr>
          <p:cNvPr id="19" name="Google Shape;87;p1">
            <a:extLst>
              <a:ext uri="{FF2B5EF4-FFF2-40B4-BE49-F238E27FC236}">
                <a16:creationId xmlns:a16="http://schemas.microsoft.com/office/drawing/2014/main" id="{C7467EFD-7740-8D2C-3AFB-A4129E276552}"/>
              </a:ext>
            </a:extLst>
          </p:cNvPr>
          <p:cNvSpPr/>
          <p:nvPr/>
        </p:nvSpPr>
        <p:spPr>
          <a:xfrm>
            <a:off x="16543690" y="5692474"/>
            <a:ext cx="14168767" cy="19425898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F0F7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273" tIns="46124" rIns="92273" bIns="46124" anchor="t" anchorCtr="0">
            <a:noAutofit/>
          </a:bodyPr>
          <a:lstStyle/>
          <a:p>
            <a:pPr algn="just"/>
            <a:endParaRPr sz="1817" dirty="0">
              <a:solidFill>
                <a:schemeClr val="dk1"/>
              </a:solidFill>
              <a:latin typeface="+mn-ea"/>
              <a:ea typeface="+mn-ea"/>
              <a:cs typeface="Batang"/>
              <a:sym typeface="Batang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3600"/>
            </a:pPr>
            <a: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  2) Results of Model’s Test Performances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3600"/>
            </a:pPr>
            <a:endParaRPr lang="en-US" altLang="ko-KR" sz="2600" dirty="0">
              <a:solidFill>
                <a:schemeClr val="dk1"/>
              </a:solidFill>
              <a:latin typeface="+mn-lt"/>
              <a:ea typeface="+mn-ea"/>
              <a:cs typeface="Batang"/>
              <a:sym typeface="Batang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3600"/>
            </a:pPr>
            <a:endParaRPr lang="en-US" altLang="ko-KR" sz="2600" dirty="0">
              <a:solidFill>
                <a:schemeClr val="dk1"/>
              </a:solidFill>
              <a:latin typeface="+mn-lt"/>
              <a:ea typeface="+mn-ea"/>
              <a:cs typeface="Batang"/>
              <a:sym typeface="Batang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3600"/>
            </a:pPr>
            <a:endParaRPr lang="en-US" altLang="ko-KR" sz="2600" dirty="0">
              <a:solidFill>
                <a:schemeClr val="dk1"/>
              </a:solidFill>
              <a:latin typeface="+mn-lt"/>
              <a:ea typeface="+mn-ea"/>
              <a:cs typeface="Batang"/>
              <a:sym typeface="Batang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3600"/>
            </a:pPr>
            <a:endParaRPr lang="en-US" altLang="ko-KR" sz="2600" dirty="0">
              <a:solidFill>
                <a:schemeClr val="dk1"/>
              </a:solidFill>
              <a:latin typeface="+mn-lt"/>
              <a:ea typeface="+mn-ea"/>
              <a:cs typeface="Batang"/>
              <a:sym typeface="Batang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3600"/>
            </a:pPr>
            <a:endParaRPr lang="en-US" altLang="ko-KR" sz="2600" dirty="0">
              <a:solidFill>
                <a:schemeClr val="dk1"/>
              </a:solidFill>
              <a:latin typeface="+mn-lt"/>
              <a:ea typeface="+mn-ea"/>
              <a:cs typeface="Batang"/>
              <a:sym typeface="Batang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3600"/>
            </a:pPr>
            <a: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  3) Results of Wilcoxon rank sum test</a:t>
            </a:r>
          </a:p>
          <a:p>
            <a:pPr marL="288407" indent="-288407">
              <a:lnSpc>
                <a:spcPct val="150000"/>
              </a:lnSpc>
              <a:buClr>
                <a:schemeClr val="dk1"/>
              </a:buClr>
              <a:buSzPts val="3600"/>
              <a:buFont typeface="Batang"/>
              <a:buChar char="-"/>
            </a:pPr>
            <a:endParaRPr lang="en-US" altLang="ko-KR" sz="3200" dirty="0">
              <a:solidFill>
                <a:schemeClr val="dk1"/>
              </a:solidFill>
              <a:latin typeface="+mn-ea"/>
              <a:ea typeface="+mn-ea"/>
              <a:cs typeface="Batang"/>
              <a:sym typeface="Batang"/>
            </a:endParaRPr>
          </a:p>
          <a:p>
            <a:pPr marL="288407" indent="-288407">
              <a:lnSpc>
                <a:spcPct val="150000"/>
              </a:lnSpc>
              <a:buClr>
                <a:schemeClr val="dk1"/>
              </a:buClr>
              <a:buSzPts val="3600"/>
              <a:buFont typeface="Batang"/>
              <a:buChar char="-"/>
            </a:pPr>
            <a:endParaRPr lang="en-US" altLang="ko-KR" sz="3200" dirty="0">
              <a:solidFill>
                <a:schemeClr val="dk1"/>
              </a:solidFill>
              <a:latin typeface="+mn-ea"/>
              <a:ea typeface="+mn-ea"/>
              <a:cs typeface="Batang"/>
              <a:sym typeface="Batang"/>
            </a:endParaRPr>
          </a:p>
          <a:p>
            <a:pPr marL="288407" indent="-288407">
              <a:lnSpc>
                <a:spcPct val="150000"/>
              </a:lnSpc>
              <a:buClr>
                <a:schemeClr val="dk1"/>
              </a:buClr>
              <a:buSzPts val="3600"/>
              <a:buFont typeface="Batang"/>
              <a:buChar char="-"/>
            </a:pPr>
            <a:endParaRPr lang="en-US" altLang="ko-KR" sz="3200" dirty="0">
              <a:solidFill>
                <a:schemeClr val="dk1"/>
              </a:solidFill>
              <a:latin typeface="+mn-ea"/>
              <a:ea typeface="+mn-ea"/>
              <a:cs typeface="Batang"/>
              <a:sym typeface="Batang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3600"/>
            </a:pPr>
            <a:endParaRPr lang="en-US" altLang="ko-KR" sz="3200" dirty="0">
              <a:solidFill>
                <a:schemeClr val="dk1"/>
              </a:solidFill>
              <a:latin typeface="+mn-ea"/>
              <a:ea typeface="+mn-ea"/>
              <a:cs typeface="Batang"/>
              <a:sym typeface="Batang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3600"/>
            </a:pPr>
            <a:endParaRPr lang="en-US" altLang="ko-KR" sz="3200" dirty="0">
              <a:solidFill>
                <a:schemeClr val="dk1"/>
              </a:solidFill>
              <a:latin typeface="+mn-ea"/>
              <a:ea typeface="+mn-ea"/>
              <a:cs typeface="Batang"/>
              <a:sym typeface="Batang"/>
            </a:endParaRPr>
          </a:p>
          <a:p>
            <a:pPr marL="288407" indent="-288407">
              <a:lnSpc>
                <a:spcPct val="150000"/>
              </a:lnSpc>
              <a:buClr>
                <a:schemeClr val="dk1"/>
              </a:buClr>
              <a:buSzPts val="3600"/>
              <a:buFont typeface="Batang"/>
              <a:buChar char="-"/>
            </a:pPr>
            <a:r>
              <a:rPr lang="en-US" altLang="ko-KR" sz="2600" b="1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Model Analysis Results</a:t>
            </a:r>
            <a:b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</a:br>
            <a: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1) Variance contribution </a:t>
            </a:r>
            <a:b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</a:br>
            <a: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Time : 0.0149, Channels : 0.0421, Powerband : 0.1634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3600"/>
            </a:pPr>
            <a: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  2) Difference of Attribution Maps</a:t>
            </a:r>
          </a:p>
        </p:txBody>
      </p:sp>
      <p:sp>
        <p:nvSpPr>
          <p:cNvPr id="26" name="Google Shape;87;p1">
            <a:extLst>
              <a:ext uri="{FF2B5EF4-FFF2-40B4-BE49-F238E27FC236}">
                <a16:creationId xmlns:a16="http://schemas.microsoft.com/office/drawing/2014/main" id="{A8D91BA7-898F-B6EE-A187-B092DFBF7194}"/>
              </a:ext>
            </a:extLst>
          </p:cNvPr>
          <p:cNvSpPr/>
          <p:nvPr/>
        </p:nvSpPr>
        <p:spPr>
          <a:xfrm>
            <a:off x="16543690" y="26334700"/>
            <a:ext cx="14200889" cy="9765511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F0F7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273" tIns="46124" rIns="92273" bIns="46124" anchor="t" anchorCtr="0">
            <a:noAutofit/>
          </a:bodyPr>
          <a:lstStyle/>
          <a:p>
            <a:pPr algn="just"/>
            <a:endParaRPr sz="1817" dirty="0">
              <a:solidFill>
                <a:schemeClr val="dk1"/>
              </a:solidFill>
              <a:latin typeface="+mn-ea"/>
              <a:ea typeface="+mn-ea"/>
              <a:cs typeface="Batang"/>
              <a:sym typeface="Batang"/>
            </a:endParaRPr>
          </a:p>
          <a:p>
            <a:pPr marL="288407" indent="-288407">
              <a:lnSpc>
                <a:spcPct val="150000"/>
              </a:lnSpc>
              <a:buClr>
                <a:schemeClr val="dk1"/>
              </a:buClr>
              <a:buSzPts val="3600"/>
              <a:buFont typeface="Batang"/>
              <a:buChar char="-"/>
            </a:pPr>
            <a: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Ambivalent emotions exhibited a more negative valence compared to neutral emotions. In particular, the </a:t>
            </a:r>
            <a:r>
              <a:rPr lang="en-US" altLang="ko-KR" sz="2600" b="1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Neg-Pos condition showed lower valence than neutral</a:t>
            </a:r>
            <a: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, which can be explained in the context of </a:t>
            </a:r>
            <a:r>
              <a:rPr lang="en-US" altLang="ko-KR" sz="2600" b="1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Negativity Bias</a:t>
            </a:r>
            <a: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(Norris, 2021; Waugh et al., 2019).</a:t>
            </a:r>
          </a:p>
          <a:p>
            <a:pPr marL="288407" indent="-288407">
              <a:lnSpc>
                <a:spcPct val="150000"/>
              </a:lnSpc>
              <a:buClr>
                <a:schemeClr val="dk1"/>
              </a:buClr>
              <a:buSzPts val="3600"/>
              <a:buFont typeface="Batang"/>
              <a:buChar char="-"/>
            </a:pPr>
            <a: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EEG patterns differed distinctly across the emotional conditions.</a:t>
            </a:r>
            <a:b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</a:br>
            <a: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1) </a:t>
            </a:r>
            <a:r>
              <a:rPr lang="en-US" altLang="ko-KR" sz="2600" b="1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The partial activation of frontal beta waves observed in the Neg-Neg condition </a:t>
            </a:r>
            <a: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especially in right hemisphere is associated with negative emotions(</a:t>
            </a:r>
            <a:r>
              <a:rPr lang="fi-FI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Güntekin, B., &amp; Başar, E., 2010</a:t>
            </a:r>
            <a: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).</a:t>
            </a:r>
            <a:b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</a:br>
            <a: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2) </a:t>
            </a:r>
            <a:r>
              <a:rPr lang="en-US" altLang="ko-KR" sz="2600" b="1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The high beta wave patterns observed in the Pos-Pos condition </a:t>
            </a:r>
            <a: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are associated with positive emotions(Mishra et al., 2022).</a:t>
            </a:r>
            <a:b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</a:br>
            <a: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3) </a:t>
            </a:r>
            <a:r>
              <a:rPr lang="en-US" altLang="ko-KR" sz="2600" b="1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The part of frontal theta waves observed in the Pos-Neg condition </a:t>
            </a:r>
            <a:r>
              <a:rPr lang="en-US" altLang="ko-KR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is associated with emotional regulation, suggesting a connection to ambivalent emotion(Park et al., 2011).</a:t>
            </a:r>
          </a:p>
          <a:p>
            <a:pPr marL="288407" indent="-288407">
              <a:lnSpc>
                <a:spcPct val="150000"/>
              </a:lnSpc>
              <a:buClr>
                <a:schemeClr val="dk1"/>
              </a:buClr>
              <a:buSzPts val="3600"/>
              <a:buFont typeface="Batang"/>
              <a:buChar char="-"/>
            </a:pPr>
            <a:r>
              <a:rPr lang="en-US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This study highlights </a:t>
            </a:r>
            <a:r>
              <a:rPr lang="en-US" sz="2600" b="1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the limitation of using a simple 1D valence measure in accurately linking the neural differences</a:t>
            </a:r>
            <a:r>
              <a:rPr lang="en-US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 observed between neutral and ambivalent emotions to behavioral outcomes.</a:t>
            </a:r>
          </a:p>
          <a:p>
            <a:pPr marL="288407" indent="-288407">
              <a:lnSpc>
                <a:spcPct val="150000"/>
              </a:lnSpc>
              <a:buClr>
                <a:schemeClr val="dk1"/>
              </a:buClr>
              <a:buSzPts val="3600"/>
              <a:buFont typeface="Batang"/>
              <a:buChar char="-"/>
            </a:pPr>
            <a:r>
              <a:rPr lang="en-US" sz="2600" dirty="0">
                <a:solidFill>
                  <a:schemeClr val="dk1"/>
                </a:solidFill>
                <a:latin typeface="+mn-lt"/>
                <a:ea typeface="+mn-ea"/>
                <a:cs typeface="Batang"/>
                <a:sym typeface="Batang"/>
              </a:rPr>
              <a:t>Future research could explore whether nonbipolar measurements, such as a 2D valence scale, can better capture these subtle differences.</a:t>
            </a:r>
          </a:p>
        </p:txBody>
      </p:sp>
      <p:sp>
        <p:nvSpPr>
          <p:cNvPr id="32" name="Google Shape;87;p1">
            <a:extLst>
              <a:ext uri="{FF2B5EF4-FFF2-40B4-BE49-F238E27FC236}">
                <a16:creationId xmlns:a16="http://schemas.microsoft.com/office/drawing/2014/main" id="{9BD758A7-4C7A-D75B-8701-1AF30A755CEF}"/>
              </a:ext>
            </a:extLst>
          </p:cNvPr>
          <p:cNvSpPr/>
          <p:nvPr/>
        </p:nvSpPr>
        <p:spPr>
          <a:xfrm>
            <a:off x="16543690" y="37445013"/>
            <a:ext cx="14194478" cy="431208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F0F7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273" tIns="46124" rIns="92273" bIns="46124" anchor="t" anchorCtr="0"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Lettieri, G., </a:t>
            </a:r>
            <a:r>
              <a:rPr lang="en-US" altLang="ko-KR" sz="1200" b="0" i="0" dirty="0" err="1">
                <a:solidFill>
                  <a:srgbClr val="222222"/>
                </a:solidFill>
                <a:effectLst/>
              </a:rPr>
              <a:t>Handjaras</a:t>
            </a: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, G., Ricciardi, E., Leo, A., Papale, P., Betta, M., … &amp; </a:t>
            </a:r>
            <a:r>
              <a:rPr lang="en-US" altLang="ko-KR" sz="1200" b="0" i="0" dirty="0" err="1">
                <a:solidFill>
                  <a:srgbClr val="222222"/>
                </a:solidFill>
                <a:effectLst/>
              </a:rPr>
              <a:t>Cecchetti</a:t>
            </a: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, L. (2019). </a:t>
            </a:r>
            <a:r>
              <a:rPr lang="en-US" altLang="ko-KR" sz="1200" b="0" i="0" dirty="0" err="1">
                <a:solidFill>
                  <a:srgbClr val="222222"/>
                </a:solidFill>
                <a:effectLst/>
              </a:rPr>
              <a:t>Emotionotopy</a:t>
            </a: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 in the human right temporo-parietal cortex. Nature communications, 10(1), 5568.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Vaccaro, A. G., Wu, H., Iyer, R., </a:t>
            </a:r>
            <a:r>
              <a:rPr lang="en-US" altLang="ko-KR" sz="1200" b="0" i="0" dirty="0" err="1">
                <a:solidFill>
                  <a:srgbClr val="222222"/>
                </a:solidFill>
                <a:effectLst/>
              </a:rPr>
              <a:t>Shakthivel</a:t>
            </a: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, S., Christie, N. C., Damasio, A., &amp; Kaplan, J. (2024). Neural patterns associated with mixed valence feelings differ in consistency and predictability throughout the brain. Cerebral Cortex, 34(4), bhae122.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Schneider, I. K., Veenstra, L., van </a:t>
            </a:r>
            <a:r>
              <a:rPr lang="en-US" altLang="ko-KR" sz="1200" b="0" i="0" dirty="0" err="1">
                <a:solidFill>
                  <a:srgbClr val="222222"/>
                </a:solidFill>
                <a:effectLst/>
              </a:rPr>
              <a:t>Harreveld</a:t>
            </a: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, F., Schwarz, N., &amp; </a:t>
            </a:r>
            <a:r>
              <a:rPr lang="en-US" altLang="ko-KR" sz="1200" b="0" i="0" dirty="0" err="1">
                <a:solidFill>
                  <a:srgbClr val="222222"/>
                </a:solidFill>
                <a:effectLst/>
              </a:rPr>
              <a:t>Koole</a:t>
            </a: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, S. L. (2016). Let’s not be indifferent about neutrality: Neutral ratings in the International Affective Picture System (IAPS) mask mixed affective responses. </a:t>
            </a:r>
            <a:r>
              <a:rPr lang="en-US" altLang="ko-KR" sz="1200" b="0" i="1" dirty="0">
                <a:solidFill>
                  <a:srgbClr val="222222"/>
                </a:solidFill>
                <a:effectLst/>
              </a:rPr>
              <a:t>Emotion</a:t>
            </a: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, </a:t>
            </a:r>
            <a:r>
              <a:rPr lang="en-US" altLang="ko-KR" sz="1200" b="0" i="1" dirty="0">
                <a:solidFill>
                  <a:srgbClr val="222222"/>
                </a:solidFill>
                <a:effectLst/>
              </a:rPr>
              <a:t>16</a:t>
            </a: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(4), 426.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Lin, C., Bulls, L. S., </a:t>
            </a:r>
            <a:r>
              <a:rPr lang="en-US" altLang="ko-KR" sz="1200" b="0" i="0" dirty="0" err="1">
                <a:solidFill>
                  <a:srgbClr val="222222"/>
                </a:solidFill>
                <a:effectLst/>
              </a:rPr>
              <a:t>Tepfer</a:t>
            </a: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, L. J., Vyas, A. D., &amp; Thornton, M. A. (2023). Advancing naturalistic affective science with deep learning. Affective Science, 4(3), 550-562.</a:t>
            </a:r>
            <a:endParaRPr lang="en-US" altLang="ko-KR" sz="1200" dirty="0">
              <a:solidFill>
                <a:srgbClr val="222222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0" i="0" dirty="0" err="1">
                <a:solidFill>
                  <a:srgbClr val="222222"/>
                </a:solidFill>
                <a:effectLst/>
              </a:rPr>
              <a:t>Viinikainen</a:t>
            </a: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, M., </a:t>
            </a:r>
            <a:r>
              <a:rPr lang="en-US" altLang="ko-KR" sz="1200" b="0" i="0" dirty="0" err="1">
                <a:solidFill>
                  <a:srgbClr val="222222"/>
                </a:solidFill>
                <a:effectLst/>
              </a:rPr>
              <a:t>Jääskeläinen</a:t>
            </a: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, I. P., Alexandrov, Y., Balk, M. H., </a:t>
            </a:r>
            <a:r>
              <a:rPr lang="en-US" altLang="ko-KR" sz="1200" b="0" i="0" dirty="0" err="1">
                <a:solidFill>
                  <a:srgbClr val="222222"/>
                </a:solidFill>
                <a:effectLst/>
              </a:rPr>
              <a:t>Autti</a:t>
            </a: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, T., &amp; Sams, M. (2010). Nonlinear relationship between emotional valence and brain activity: evidence of separate negative and positive valence dimensions. Human brain mapping, 31(7), 1030-1040.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0" i="0" dirty="0" err="1">
                <a:solidFill>
                  <a:srgbClr val="222222"/>
                </a:solidFill>
                <a:effectLst/>
              </a:rPr>
              <a:t>Smilkov</a:t>
            </a: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, D., </a:t>
            </a:r>
            <a:r>
              <a:rPr lang="en-US" altLang="ko-KR" sz="1200" b="0" i="0" dirty="0" err="1">
                <a:solidFill>
                  <a:srgbClr val="222222"/>
                </a:solidFill>
                <a:effectLst/>
              </a:rPr>
              <a:t>Thorat</a:t>
            </a: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, N., Kim, B., </a:t>
            </a:r>
            <a:r>
              <a:rPr lang="en-US" altLang="ko-KR" sz="1200" b="0" i="0" dirty="0" err="1">
                <a:solidFill>
                  <a:srgbClr val="222222"/>
                </a:solidFill>
                <a:effectLst/>
              </a:rPr>
              <a:t>Viégas</a:t>
            </a: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, F., &amp; Wattenberg, M. (2017). </a:t>
            </a:r>
            <a:r>
              <a:rPr lang="en-US" altLang="ko-KR" sz="1200" b="0" i="0" dirty="0" err="1">
                <a:solidFill>
                  <a:srgbClr val="222222"/>
                </a:solidFill>
                <a:effectLst/>
              </a:rPr>
              <a:t>Smoothgrad</a:t>
            </a: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: removing noise by adding noise. </a:t>
            </a:r>
            <a:r>
              <a:rPr lang="en-US" altLang="ko-KR" sz="1200" b="0" i="0" dirty="0" err="1">
                <a:solidFill>
                  <a:srgbClr val="222222"/>
                </a:solidFill>
                <a:effectLst/>
              </a:rPr>
              <a:t>arXiv</a:t>
            </a: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 preprint arXiv:1706.03825.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Norris, C. J. (2021). The negativity bias, revisited: Evidence from neuroscience measures and an individual differences approach. Social neuroscience, 16(1), 68-82.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Waugh, C. E., Running, K. E., Reynolds, O. C., &amp; </a:t>
            </a:r>
            <a:r>
              <a:rPr lang="en-US" altLang="ko-KR" sz="1200" b="0" i="0" dirty="0" err="1">
                <a:solidFill>
                  <a:srgbClr val="222222"/>
                </a:solidFill>
                <a:effectLst/>
              </a:rPr>
              <a:t>Gotlib</a:t>
            </a: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, I. H. (2019). People are better at maintaining positive than negative emotional states. Emotion, 19(1), 132.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0" i="0" dirty="0" err="1">
                <a:solidFill>
                  <a:srgbClr val="222222"/>
                </a:solidFill>
                <a:effectLst/>
              </a:rPr>
              <a:t>Güntekin</a:t>
            </a: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, B., &amp; </a:t>
            </a:r>
            <a:r>
              <a:rPr lang="en-US" altLang="ko-KR" sz="1200" b="0" i="0" dirty="0" err="1">
                <a:solidFill>
                  <a:srgbClr val="222222"/>
                </a:solidFill>
                <a:effectLst/>
              </a:rPr>
              <a:t>Başar</a:t>
            </a: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, E. (2010). Event-related beta oscillations are affected by emotional eliciting stimuli. Neuroscience letters, 483(3), 173-178.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Mishra, S., Srinivasan, N., &amp; Tiwary, U. S. (2022). Dynamic functional connectivity of emotion processing in beta band with naturalistic emotion stimuli. Brain sciences, 12(8), 1106.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0" i="0" dirty="0">
                <a:solidFill>
                  <a:srgbClr val="222222"/>
                </a:solidFill>
                <a:effectLst/>
              </a:rPr>
              <a:t>Park, K. S., Choi, H., Lee, K. J., Lee, J. Y., An, K. O., &amp; Kim, E. J. (2011). Emotion recognition based on the asymmetric left and right activation. International Journal of Medicine and Medical Sciences, 3(6), 201-209. 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F3C2D096-0464-A0C0-F79E-BDFB4257C4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773" y="36001013"/>
            <a:ext cx="7677436" cy="540489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FDFA0C1-7696-6E68-0AD2-803093AC4C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3574" y="18115209"/>
            <a:ext cx="10013625" cy="377170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B5FE56A-8AA1-E6E2-098A-67D359CD6E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6059" y="23311050"/>
            <a:ext cx="6628982" cy="27663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80CAA89-BB0F-9311-852C-09432942F654}"/>
              </a:ext>
            </a:extLst>
          </p:cNvPr>
          <p:cNvSpPr txBox="1"/>
          <p:nvPr/>
        </p:nvSpPr>
        <p:spPr>
          <a:xfrm>
            <a:off x="4007536" y="29815242"/>
            <a:ext cx="235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/>
              <a:t>(</a:t>
            </a:r>
            <a:r>
              <a:rPr lang="en-US" altLang="ko-KR" sz="1800" dirty="0" err="1"/>
              <a:t>Smilkov</a:t>
            </a:r>
            <a:r>
              <a:rPr lang="en-US" altLang="ko-KR" sz="1800" dirty="0"/>
              <a:t> et al., 2017)</a:t>
            </a:r>
            <a:endParaRPr lang="ko-KR" altLang="en-US" sz="18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518AF68-E09B-FF4A-FC2E-65EF2E061D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88082" y="28436791"/>
            <a:ext cx="4168864" cy="124586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C6BA48D-66B2-976B-4F90-52B38C8A66B5}"/>
              </a:ext>
            </a:extLst>
          </p:cNvPr>
          <p:cNvSpPr txBox="1"/>
          <p:nvPr/>
        </p:nvSpPr>
        <p:spPr>
          <a:xfrm>
            <a:off x="6227256" y="32332248"/>
            <a:ext cx="955925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600" dirty="0"/>
              <a:t>Neg-Pos &amp;</a:t>
            </a:r>
            <a:r>
              <a:rPr lang="ko-KR" altLang="en-US" sz="2600" dirty="0"/>
              <a:t> </a:t>
            </a:r>
            <a:r>
              <a:rPr lang="en-US" altLang="ko-KR" sz="2600" dirty="0"/>
              <a:t>Pos-Neg</a:t>
            </a:r>
            <a:br>
              <a:rPr lang="en-US" altLang="ko-KR" sz="2600" dirty="0"/>
            </a:br>
            <a:r>
              <a:rPr lang="en-US" altLang="ko-KR" sz="2600" dirty="0"/>
              <a:t>Mean difference = -0.159,</a:t>
            </a:r>
            <a:r>
              <a:rPr lang="ko-KR" altLang="en-US" sz="2600" dirty="0"/>
              <a:t> </a:t>
            </a:r>
            <a:r>
              <a:rPr lang="en-US" altLang="ko-KR" sz="2600" i="1" dirty="0"/>
              <a:t>t</a:t>
            </a:r>
            <a:r>
              <a:rPr lang="ko-KR" altLang="en-US" sz="2600" b="1" dirty="0"/>
              <a:t> </a:t>
            </a:r>
            <a:r>
              <a:rPr lang="en-US" altLang="ko-KR" sz="2600" dirty="0"/>
              <a:t>=</a:t>
            </a:r>
            <a:r>
              <a:rPr lang="ko-KR" altLang="en-US" sz="2600" dirty="0"/>
              <a:t> </a:t>
            </a:r>
            <a:r>
              <a:rPr lang="en-US" altLang="ko-KR" sz="2600" dirty="0"/>
              <a:t>-1.870 (</a:t>
            </a:r>
            <a:r>
              <a:rPr lang="en-US" altLang="ko-KR" sz="2600" i="1" dirty="0"/>
              <a:t>p</a:t>
            </a:r>
            <a:r>
              <a:rPr lang="en-US" altLang="ko-KR" sz="2600" dirty="0"/>
              <a:t>&lt;.628)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600" dirty="0"/>
              <a:t>Pos-Neg &amp; Neutral</a:t>
            </a:r>
            <a:br>
              <a:rPr lang="en-US" altLang="ko-KR" sz="2600" dirty="0"/>
            </a:br>
            <a:r>
              <a:rPr lang="en-US" altLang="ko-KR" sz="2600" dirty="0"/>
              <a:t>Mean difference = -0.197,</a:t>
            </a:r>
            <a:r>
              <a:rPr lang="ko-KR" altLang="en-US" sz="2600" dirty="0"/>
              <a:t> </a:t>
            </a:r>
            <a:r>
              <a:rPr lang="en-US" altLang="ko-KR" sz="2600" i="1" dirty="0"/>
              <a:t>t</a:t>
            </a:r>
            <a:r>
              <a:rPr lang="ko-KR" altLang="en-US" sz="2600" b="1" dirty="0"/>
              <a:t> </a:t>
            </a:r>
            <a:r>
              <a:rPr lang="en-US" altLang="ko-KR" sz="2600" dirty="0"/>
              <a:t>=</a:t>
            </a:r>
            <a:r>
              <a:rPr lang="ko-KR" altLang="en-US" sz="2600" dirty="0"/>
              <a:t> </a:t>
            </a:r>
            <a:r>
              <a:rPr lang="en-US" altLang="ko-KR" sz="2600" dirty="0"/>
              <a:t>-2.305 (</a:t>
            </a:r>
            <a:r>
              <a:rPr lang="en-US" altLang="ko-KR" sz="2600" i="1" dirty="0"/>
              <a:t>p</a:t>
            </a:r>
            <a:r>
              <a:rPr lang="en-US" altLang="ko-KR" sz="2600" dirty="0"/>
              <a:t>&lt;.221)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600" dirty="0"/>
              <a:t>Neg-Pos &amp; Neutral</a:t>
            </a:r>
            <a:br>
              <a:rPr lang="en-US" altLang="ko-KR" sz="2600" dirty="0"/>
            </a:br>
            <a:r>
              <a:rPr lang="en-US" altLang="ko-KR" sz="2600" dirty="0"/>
              <a:t>Mean difference = -0.356,</a:t>
            </a:r>
            <a:r>
              <a:rPr lang="ko-KR" altLang="en-US" sz="2600" dirty="0"/>
              <a:t> </a:t>
            </a:r>
            <a:r>
              <a:rPr lang="en-US" altLang="ko-KR" sz="2600" i="1" dirty="0"/>
              <a:t>t</a:t>
            </a:r>
            <a:r>
              <a:rPr lang="ko-KR" altLang="en-US" sz="2600" b="1" dirty="0"/>
              <a:t> </a:t>
            </a:r>
            <a:r>
              <a:rPr lang="en-US" altLang="ko-KR" sz="2600" dirty="0"/>
              <a:t>=</a:t>
            </a:r>
            <a:r>
              <a:rPr lang="ko-KR" altLang="en-US" sz="2600" dirty="0"/>
              <a:t> </a:t>
            </a:r>
            <a:r>
              <a:rPr lang="en-US" altLang="ko-KR" sz="2600" dirty="0"/>
              <a:t>-4.175 (</a:t>
            </a:r>
            <a:r>
              <a:rPr lang="en-US" altLang="ko-KR" sz="2600" i="1" dirty="0"/>
              <a:t>p</a:t>
            </a:r>
            <a:r>
              <a:rPr lang="en-US" altLang="ko-KR" sz="2600" dirty="0"/>
              <a:t>&lt;.001)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1CEFB2F-DE2F-5512-859B-0103252FE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999149"/>
              </p:ext>
            </p:extLst>
          </p:nvPr>
        </p:nvGraphicFramePr>
        <p:xfrm>
          <a:off x="17424478" y="6855956"/>
          <a:ext cx="8202167" cy="283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13010">
                  <a:extLst>
                    <a:ext uri="{9D8B030D-6E8A-4147-A177-3AD203B41FA5}">
                      <a16:colId xmlns:a16="http://schemas.microsoft.com/office/drawing/2014/main" val="3343484829"/>
                    </a:ext>
                  </a:extLst>
                </a:gridCol>
                <a:gridCol w="2129719">
                  <a:extLst>
                    <a:ext uri="{9D8B030D-6E8A-4147-A177-3AD203B41FA5}">
                      <a16:colId xmlns:a16="http://schemas.microsoft.com/office/drawing/2014/main" val="2695974064"/>
                    </a:ext>
                  </a:extLst>
                </a:gridCol>
                <a:gridCol w="2129719">
                  <a:extLst>
                    <a:ext uri="{9D8B030D-6E8A-4147-A177-3AD203B41FA5}">
                      <a16:colId xmlns:a16="http://schemas.microsoft.com/office/drawing/2014/main" val="1877381822"/>
                    </a:ext>
                  </a:extLst>
                </a:gridCol>
                <a:gridCol w="2129719">
                  <a:extLst>
                    <a:ext uri="{9D8B030D-6E8A-4147-A177-3AD203B41FA5}">
                      <a16:colId xmlns:a16="http://schemas.microsoft.com/office/drawing/2014/main" val="1523075757"/>
                    </a:ext>
                  </a:extLst>
                </a:gridCol>
              </a:tblGrid>
              <a:tr h="7799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Metric</a:t>
                      </a:r>
                      <a:endParaRPr lang="ko-KR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Test Accuracy</a:t>
                      </a:r>
                      <a:endParaRPr lang="ko-KR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Weighted F1</a:t>
                      </a:r>
                      <a:endParaRPr lang="ko-KR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Multi-class</a:t>
                      </a:r>
                    </a:p>
                    <a:p>
                      <a:pPr algn="ctr" latinLnBrk="1"/>
                      <a:r>
                        <a:rPr lang="en-US" altLang="ko-KR" sz="2800" dirty="0"/>
                        <a:t>AUROC</a:t>
                      </a:r>
                      <a:endParaRPr lang="ko-KR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2688661"/>
                  </a:ext>
                </a:extLst>
              </a:tr>
              <a:tr h="7799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Trained</a:t>
                      </a:r>
                    </a:p>
                    <a:p>
                      <a:pPr algn="ctr" latinLnBrk="1"/>
                      <a:r>
                        <a:rPr lang="en-US" altLang="ko-KR" sz="2800" dirty="0"/>
                        <a:t>model</a:t>
                      </a:r>
                      <a:endParaRPr lang="ko-KR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1" dirty="0"/>
                        <a:t>0.6729</a:t>
                      </a:r>
                    </a:p>
                    <a:p>
                      <a:pPr algn="ctr" latinLnBrk="1"/>
                      <a:r>
                        <a:rPr lang="en-US" altLang="ko-KR" sz="2800" dirty="0"/>
                        <a:t>(</a:t>
                      </a:r>
                      <a:r>
                        <a:rPr lang="en-US" altLang="ko-KR" sz="2800" i="1" dirty="0"/>
                        <a:t>SD</a:t>
                      </a:r>
                      <a:r>
                        <a:rPr lang="en-US" altLang="ko-KR" sz="2800" dirty="0"/>
                        <a:t>=0.0160)</a:t>
                      </a:r>
                      <a:endParaRPr lang="ko-KR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1" dirty="0"/>
                        <a:t>0.6731</a:t>
                      </a:r>
                    </a:p>
                    <a:p>
                      <a:pPr algn="ctr" latinLnBrk="1"/>
                      <a:r>
                        <a:rPr lang="en-US" altLang="ko-KR" sz="2800" dirty="0"/>
                        <a:t>(</a:t>
                      </a:r>
                      <a:r>
                        <a:rPr lang="en-US" altLang="ko-KR" sz="2800" i="1" dirty="0"/>
                        <a:t>SD</a:t>
                      </a:r>
                      <a:r>
                        <a:rPr lang="en-US" altLang="ko-KR" sz="2800" dirty="0"/>
                        <a:t>=0.0161)</a:t>
                      </a:r>
                      <a:endParaRPr lang="ko-KR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1" dirty="0"/>
                        <a:t>0.8596</a:t>
                      </a:r>
                    </a:p>
                    <a:p>
                      <a:pPr algn="ctr" latinLnBrk="1"/>
                      <a:r>
                        <a:rPr lang="en-US" altLang="ko-KR" sz="2800" dirty="0"/>
                        <a:t>(</a:t>
                      </a:r>
                      <a:r>
                        <a:rPr lang="en-US" altLang="ko-KR" sz="2800" i="1" dirty="0"/>
                        <a:t>SD</a:t>
                      </a:r>
                      <a:r>
                        <a:rPr lang="en-US" altLang="ko-KR" sz="2800" dirty="0"/>
                        <a:t>=0.0096)</a:t>
                      </a:r>
                      <a:endParaRPr lang="ko-KR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6767386"/>
                  </a:ext>
                </a:extLst>
              </a:tr>
              <a:tr h="7799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Random</a:t>
                      </a:r>
                    </a:p>
                    <a:p>
                      <a:pPr algn="ctr" latinLnBrk="1"/>
                      <a:r>
                        <a:rPr lang="en-US" altLang="ko-KR" sz="2800" dirty="0"/>
                        <a:t>model</a:t>
                      </a:r>
                      <a:endParaRPr lang="ko-KR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0" dirty="0"/>
                        <a:t>0.2024</a:t>
                      </a:r>
                    </a:p>
                    <a:p>
                      <a:pPr algn="ctr" latinLnBrk="1"/>
                      <a:r>
                        <a:rPr lang="en-US" altLang="ko-KR" sz="2800" dirty="0"/>
                        <a:t>(</a:t>
                      </a:r>
                      <a:r>
                        <a:rPr lang="en-US" altLang="ko-KR" sz="2800" i="1" dirty="0"/>
                        <a:t>SD</a:t>
                      </a:r>
                      <a:r>
                        <a:rPr lang="en-US" altLang="ko-KR" sz="2800" dirty="0"/>
                        <a:t>=0.0101)</a:t>
                      </a:r>
                      <a:endParaRPr lang="ko-KR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0" dirty="0"/>
                        <a:t>0.1126</a:t>
                      </a:r>
                    </a:p>
                    <a:p>
                      <a:pPr algn="ctr" latinLnBrk="1"/>
                      <a:r>
                        <a:rPr lang="en-US" altLang="ko-KR" sz="2800" dirty="0"/>
                        <a:t>(</a:t>
                      </a:r>
                      <a:r>
                        <a:rPr lang="en-US" altLang="ko-KR" sz="2800" i="1" dirty="0"/>
                        <a:t>SD</a:t>
                      </a:r>
                      <a:r>
                        <a:rPr lang="en-US" altLang="ko-KR" sz="2800" dirty="0"/>
                        <a:t>=0.0268)</a:t>
                      </a:r>
                      <a:endParaRPr lang="ko-KR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0" dirty="0"/>
                        <a:t>0.5007</a:t>
                      </a:r>
                    </a:p>
                    <a:p>
                      <a:pPr algn="ctr" latinLnBrk="1"/>
                      <a:r>
                        <a:rPr lang="en-US" altLang="ko-KR" sz="2800" dirty="0"/>
                        <a:t>(</a:t>
                      </a:r>
                      <a:r>
                        <a:rPr lang="en-US" altLang="ko-KR" sz="2800" i="1" dirty="0"/>
                        <a:t>SD</a:t>
                      </a:r>
                      <a:r>
                        <a:rPr lang="en-US" altLang="ko-KR" sz="2800" dirty="0"/>
                        <a:t>=0.0091)</a:t>
                      </a:r>
                      <a:endParaRPr lang="ko-KR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094197"/>
                  </a:ext>
                </a:extLst>
              </a:tr>
            </a:tbl>
          </a:graphicData>
        </a:graphic>
      </p:graphicFrame>
      <p:pic>
        <p:nvPicPr>
          <p:cNvPr id="27" name="그림 26">
            <a:extLst>
              <a:ext uri="{FF2B5EF4-FFF2-40B4-BE49-F238E27FC236}">
                <a16:creationId xmlns:a16="http://schemas.microsoft.com/office/drawing/2014/main" id="{23C303B5-EB32-FED0-FEE5-F4133ACC85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975552" y="19816148"/>
            <a:ext cx="13550161" cy="369785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DBF51E99-41DE-4A8C-D455-9356AD491E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36769" y="16239221"/>
            <a:ext cx="13498534" cy="360657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1FE844E5-182D-419B-9AC2-F562EBA5E55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15125" y="32604430"/>
            <a:ext cx="4184822" cy="3495781"/>
          </a:xfrm>
          <a:prstGeom prst="rect">
            <a:avLst/>
          </a:prstGeom>
        </p:spPr>
      </p:pic>
      <p:sp>
        <p:nvSpPr>
          <p:cNvPr id="39" name="직사각형 38">
            <a:extLst>
              <a:ext uri="{FF2B5EF4-FFF2-40B4-BE49-F238E27FC236}">
                <a16:creationId xmlns:a16="http://schemas.microsoft.com/office/drawing/2014/main" id="{9C6183ED-691E-79B5-D225-A025F82776CA}"/>
              </a:ext>
            </a:extLst>
          </p:cNvPr>
          <p:cNvSpPr/>
          <p:nvPr/>
        </p:nvSpPr>
        <p:spPr>
          <a:xfrm>
            <a:off x="2088082" y="26242649"/>
            <a:ext cx="11844909" cy="122571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/>
              <a:t>Since brain responses related to emotions exhibit nonlinear characteristics, we opted for a nonlinear approach by training the classifier using deep learning(Lin</a:t>
            </a:r>
            <a:r>
              <a:rPr lang="ko-KR" altLang="en-US" sz="2400" dirty="0"/>
              <a:t> </a:t>
            </a:r>
            <a:r>
              <a:rPr lang="en-US" altLang="ko-KR" sz="2400" dirty="0"/>
              <a:t>et al., 2023; </a:t>
            </a:r>
            <a:r>
              <a:rPr lang="en-US" altLang="ko-KR" sz="2400" dirty="0" err="1"/>
              <a:t>Viinikainen</a:t>
            </a:r>
            <a:r>
              <a:rPr lang="en-US" altLang="ko-KR" sz="2400" dirty="0"/>
              <a:t> et al., 2010).</a:t>
            </a:r>
            <a:endParaRPr lang="ko-KR" altLang="en-US" sz="24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8535819-DC3C-51CF-95A4-D6C9A188963B}"/>
              </a:ext>
            </a:extLst>
          </p:cNvPr>
          <p:cNvSpPr/>
          <p:nvPr/>
        </p:nvSpPr>
        <p:spPr>
          <a:xfrm>
            <a:off x="6359463" y="28759234"/>
            <a:ext cx="6716458" cy="89716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</a:rPr>
              <a:t>By this process, we can identify which features are important for emotion classification.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1F1AC1C-150D-331D-5760-4DC26DA64EB2}"/>
              </a:ext>
            </a:extLst>
          </p:cNvPr>
          <p:cNvSpPr/>
          <p:nvPr/>
        </p:nvSpPr>
        <p:spPr>
          <a:xfrm>
            <a:off x="6232153" y="34997664"/>
            <a:ext cx="9282167" cy="131971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</a:rPr>
              <a:t>The overall pattern was 'NN &lt; NP &lt; PN &lt; Neutral &lt; PP,' with no significant differences observed between Neg-Pos and Pos-Neg, and between Pos-Neg and Neutral.</a:t>
            </a:r>
            <a:endParaRPr lang="ko-KR" altLang="en-US" sz="24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47F3B90-963B-C806-EF8C-B390DB5D6102}"/>
              </a:ext>
            </a:extLst>
          </p:cNvPr>
          <p:cNvSpPr/>
          <p:nvPr/>
        </p:nvSpPr>
        <p:spPr>
          <a:xfrm>
            <a:off x="1766373" y="38123073"/>
            <a:ext cx="6744582" cy="102848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</a:rPr>
              <a:t>The model demonstrated balanced performance across all emotional conditions.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8AC4F5A-3E15-AE66-807B-798C2245F03A}"/>
              </a:ext>
            </a:extLst>
          </p:cNvPr>
          <p:cNvSpPr/>
          <p:nvPr/>
        </p:nvSpPr>
        <p:spPr>
          <a:xfrm>
            <a:off x="16736770" y="23624339"/>
            <a:ext cx="13788944" cy="122571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/>
              <a:t>The channel-frequency maps representing emotional conditions differed across all emotional conditions. The neural responses for Neg-Pos, Pos-Neg, Neg-Neg, Neutral, and Pos-Pos conditions are all distinct.</a:t>
            </a:r>
            <a:endParaRPr lang="ko-KR" altLang="en-US" sz="2400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1704A9F-79AF-80AD-EC0B-7B1255E10975}"/>
              </a:ext>
            </a:extLst>
          </p:cNvPr>
          <p:cNvSpPr/>
          <p:nvPr/>
        </p:nvSpPr>
        <p:spPr>
          <a:xfrm>
            <a:off x="25333842" y="14664320"/>
            <a:ext cx="4901461" cy="120045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</a:rPr>
              <a:t>Pick dimensions of channels and powerband to make 2D map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DC6C1F6C-6E60-B7C4-AFEC-467247A081D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896549" y="10076263"/>
            <a:ext cx="4495639" cy="3371729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DD4BDCD1-7D40-7A1B-F3B1-929BC7CB6CA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273472" y="10107014"/>
            <a:ext cx="4495639" cy="3371729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9122A7BE-0C11-4E10-EA4B-7B83AAE8511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777833" y="10119079"/>
            <a:ext cx="4495639" cy="3371729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B2199BEF-8696-6594-76F7-B1F4171FA0B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03824" y="23288141"/>
            <a:ext cx="6552770" cy="2766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1249</TotalTime>
  <Words>1274</Words>
  <Application>Microsoft Office PowerPoint</Application>
  <PresentationFormat>사용자 지정</PresentationFormat>
  <Paragraphs>100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Batang</vt:lpstr>
      <vt:lpstr>Arial</vt:lpstr>
      <vt:lpstr>Calibri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Brain</dc:creator>
  <cp:lastModifiedBy>태양 김</cp:lastModifiedBy>
  <cp:revision>32</cp:revision>
  <dcterms:created xsi:type="dcterms:W3CDTF">2016-10-11T09:46:40Z</dcterms:created>
  <dcterms:modified xsi:type="dcterms:W3CDTF">2024-12-13T13:29:47Z</dcterms:modified>
</cp:coreProperties>
</file>