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43200638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QQex2AJcqbRTXDH5A0xWDSmUd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828" autoAdjust="0"/>
    <p:restoredTop sz="94694"/>
  </p:normalViewPr>
  <p:slideViewPr>
    <p:cSldViewPr snapToGrid="0">
      <p:cViewPr>
        <p:scale>
          <a:sx n="25" d="100"/>
          <a:sy n="25" d="100"/>
        </p:scale>
        <p:origin x="1260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4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68350"/>
            <a:ext cx="287655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4049912" y="22690339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/>
            </a:lvl1pPr>
            <a:lvl2pPr lvl="1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/>
            </a:lvl2pPr>
            <a:lvl3pPr lvl="2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/>
            </a:lvl3pPr>
            <a:lvl4pPr lvl="3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4pPr>
            <a:lvl5pPr lvl="4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5pPr>
            <a:lvl6pPr lvl="5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6pPr>
            <a:lvl7pPr lvl="6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7pPr>
            <a:lvl8pPr lvl="7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8pPr>
            <a:lvl9pPr lvl="8" algn="ctr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2210578" y="10770173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65"/>
              <a:buFont typeface="Calibri"/>
              <a:buNone/>
              <a:defRPr sz="200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>
                <a:solidFill>
                  <a:schemeClr val="dk1"/>
                </a:solidFill>
              </a:defRPr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6622"/>
              <a:buNone/>
              <a:defRPr sz="6684">
                <a:solidFill>
                  <a:srgbClr val="888888"/>
                </a:solidFill>
              </a:defRPr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960"/>
              <a:buNone/>
              <a:defRPr sz="6015">
                <a:solidFill>
                  <a:srgbClr val="888888"/>
                </a:solidFill>
              </a:defRPr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rgbClr val="888888"/>
              </a:buClr>
              <a:buSzPts val="5297"/>
              <a:buNone/>
              <a:defRPr sz="534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2227451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16402139" y="11500169"/>
            <a:ext cx="13769698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2231671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2231675" y="15780234"/>
            <a:ext cx="13706415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16402141" y="10590160"/>
            <a:ext cx="13773918" cy="5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7946"/>
              <a:buNone/>
              <a:defRPr sz="8020" b="1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None/>
              <a:defRPr sz="6684" b="1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960"/>
              <a:buNone/>
              <a:defRPr sz="6015" b="1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16402141" y="15780234"/>
            <a:ext cx="13773918" cy="232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909765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0595"/>
              <a:buChar char="•"/>
              <a:defRPr sz="10694"/>
            </a:lvl1pPr>
            <a:lvl2pPr marL="922904" lvl="1" indent="-82490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9271"/>
              <a:buChar char="•"/>
              <a:defRPr sz="9357"/>
            </a:lvl2pPr>
            <a:lvl3pPr marL="1384356" lvl="2" indent="-7399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7946"/>
              <a:buChar char="•"/>
              <a:defRPr sz="8020"/>
            </a:lvl3pPr>
            <a:lvl4pPr marL="1845808" lvl="3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4pPr>
            <a:lvl5pPr marL="2307260" lvl="4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5pPr>
            <a:lvl6pPr marL="2768712" lvl="5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6pPr>
            <a:lvl7pPr marL="3230164" lvl="6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7pPr>
            <a:lvl8pPr marL="3691616" lvl="7" indent="-655134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8pPr>
            <a:lvl9pPr marL="4153068" lvl="8" indent="-655133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6622"/>
              <a:buChar char="•"/>
              <a:defRPr sz="6684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231671" y="2880043"/>
            <a:ext cx="10449613" cy="100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95"/>
              <a:buFont typeface="Calibri"/>
              <a:buNone/>
              <a:defRPr sz="1069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3773918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231671" y="12960192"/>
            <a:ext cx="10449613" cy="24010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230726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5297"/>
              <a:buNone/>
              <a:defRPr sz="5346"/>
            </a:lvl1pPr>
            <a:lvl2pPr marL="922904" lvl="1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4635"/>
              <a:buNone/>
              <a:defRPr sz="4678"/>
            </a:lvl2pPr>
            <a:lvl3pPr marL="1384356" lvl="2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973"/>
              <a:buNone/>
              <a:defRPr sz="4010"/>
            </a:lvl3pPr>
            <a:lvl4pPr marL="1845808" lvl="3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4pPr>
            <a:lvl5pPr marL="2307260" lvl="4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5pPr>
            <a:lvl6pPr marL="2768712" lvl="5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6pPr>
            <a:lvl7pPr marL="3230164" lvl="6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7pPr>
            <a:lvl8pPr marL="3691616" lvl="7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8pPr>
            <a:lvl9pPr marL="4153068" lvl="8" indent="-230726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3311"/>
              <a:buNone/>
              <a:defRPr sz="3342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494441" y="11233180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373519" y="17112258"/>
            <a:ext cx="36610544" cy="6986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5801169" y="10328658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61452" lvl="0" indent="-346089" algn="l">
              <a:lnSpc>
                <a:spcPct val="90000"/>
              </a:lnSpc>
              <a:spcBef>
                <a:spcPts val="334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22904" lvl="1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84356" lvl="2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45808" lvl="3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307260" lvl="4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68712" lvl="5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30164" lvl="6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91616" lvl="7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53068" lvl="8" indent="-346089" algn="l">
              <a:lnSpc>
                <a:spcPct val="90000"/>
              </a:lnSpc>
              <a:spcBef>
                <a:spcPts val="16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227452" y="2300043"/>
            <a:ext cx="27944386" cy="8350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68"/>
              <a:buFont typeface="Calibri"/>
              <a:buNone/>
              <a:defRPr sz="145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227452" y="11500169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817308" algn="l" rtl="0">
              <a:lnSpc>
                <a:spcPct val="90000"/>
              </a:lnSpc>
              <a:spcBef>
                <a:spcPts val="3311"/>
              </a:spcBef>
              <a:spcAft>
                <a:spcPts val="0"/>
              </a:spcAft>
              <a:buClr>
                <a:schemeClr val="dk1"/>
              </a:buClr>
              <a:buSzPts val="9271"/>
              <a:buFont typeface="Arial"/>
              <a:buChar char="•"/>
              <a:defRPr sz="92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733171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7946"/>
              <a:buFont typeface="Arial"/>
              <a:buChar char="•"/>
              <a:defRPr sz="794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649097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6622"/>
              <a:buFont typeface="Arial"/>
              <a:buChar char="•"/>
              <a:defRPr sz="66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07060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07059" algn="l" rtl="0">
              <a:lnSpc>
                <a:spcPct val="90000"/>
              </a:lnSpc>
              <a:spcBef>
                <a:spcPts val="1655"/>
              </a:spcBef>
              <a:spcAft>
                <a:spcPts val="0"/>
              </a:spcAft>
              <a:buClr>
                <a:schemeClr val="dk1"/>
              </a:buClr>
              <a:buSzPts val="5960"/>
              <a:buFont typeface="Arial"/>
              <a:buChar char="•"/>
              <a:defRPr sz="59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227452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0732265" y="40040600"/>
            <a:ext cx="10934759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1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2881997" y="40040600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01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1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485334" y="1068623"/>
            <a:ext cx="17428620" cy="462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273" tIns="46124" rIns="92273" bIns="46124" anchor="t" anchorCtr="0">
            <a:spAutoFit/>
          </a:bodyPr>
          <a:lstStyle/>
          <a:p>
            <a:pPr algn="ctr"/>
            <a:r>
              <a:rPr lang="en-US" altLang="ko-KR" sz="8074" b="1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</a:rPr>
              <a:t> VR </a:t>
            </a:r>
            <a:r>
              <a:rPr lang="ko-KR" altLang="en-US" sz="8074" b="1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</a:rPr>
              <a:t>환경에서 실재감이   커뮤니케이션에 미치는 영향</a:t>
            </a:r>
            <a:endParaRPr sz="2826" dirty="0">
              <a:solidFill>
                <a:schemeClr val="dk1"/>
              </a:solidFill>
              <a:latin typeface="아리따-돋움4.0(OTF)-Bold" panose="02020603020101020101" pitchFamily="18" charset="-127"/>
              <a:ea typeface="아리따-돋움4.0(OTF)-Bold" panose="02020603020101020101" pitchFamily="18" charset="-127"/>
              <a:cs typeface="Calibri"/>
              <a:sym typeface="Calibri"/>
            </a:endParaRPr>
          </a:p>
          <a:p>
            <a:pPr algn="ctr"/>
            <a:endParaRPr sz="2422" dirty="0">
              <a:solidFill>
                <a:schemeClr val="dk1"/>
              </a:solidFill>
              <a:latin typeface="아리따-돋움4.0(OTF)-Bold" panose="02020603020101020101" pitchFamily="18" charset="-127"/>
              <a:ea typeface="아리따-돋움4.0(OTF)-Bold" panose="02020603020101020101" pitchFamily="18" charset="-127"/>
              <a:cs typeface="Calibri"/>
              <a:sym typeface="Calibri"/>
            </a:endParaRPr>
          </a:p>
          <a:p>
            <a:pPr algn="ctr"/>
            <a:r>
              <a:rPr lang="en-US" sz="3633" dirty="0" err="1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서울대학교</a:t>
            </a:r>
            <a:r>
              <a:rPr lang="en-US" sz="3633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 </a:t>
            </a:r>
            <a:r>
              <a:rPr lang="ko-KR" altLang="en-US" sz="3633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생명과</a:t>
            </a:r>
            <a:r>
              <a:rPr lang="en-US" sz="3633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학</a:t>
            </a:r>
            <a:r>
              <a:rPr lang="ko-KR" altLang="en-US" sz="3633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부</a:t>
            </a:r>
            <a:endParaRPr sz="3633" dirty="0">
              <a:solidFill>
                <a:schemeClr val="dk1"/>
              </a:solidFill>
              <a:latin typeface="아리따-돋움4.0(OTF)-Bold" panose="02020603020101020101" pitchFamily="18" charset="-127"/>
              <a:ea typeface="아리따-돋움4.0(OTF)-Bold" panose="02020603020101020101" pitchFamily="18" charset="-127"/>
              <a:cs typeface="Calibri"/>
              <a:sym typeface="Calibri"/>
            </a:endParaRPr>
          </a:p>
          <a:p>
            <a:pPr algn="ctr"/>
            <a:r>
              <a:rPr lang="ko-KR" altLang="en-US" sz="3633" dirty="0">
                <a:solidFill>
                  <a:schemeClr val="dk1"/>
                </a:solidFill>
                <a:latin typeface="아리따-돋움4.0(OTF)-Bold" panose="02020603020101020101" pitchFamily="18" charset="-127"/>
                <a:ea typeface="아리따-돋움4.0(OTF)-Bold" panose="02020603020101020101" pitchFamily="18" charset="-127"/>
                <a:cs typeface="Calibri"/>
                <a:sym typeface="Calibri"/>
              </a:rPr>
              <a:t>정경섭</a:t>
            </a:r>
            <a:endParaRPr sz="3633" dirty="0">
              <a:solidFill>
                <a:schemeClr val="dk1"/>
              </a:solidFill>
              <a:latin typeface="아리따-돋움4.0(OTF)-Bold" panose="02020603020101020101" pitchFamily="18" charset="-127"/>
              <a:ea typeface="아리따-돋움4.0(OTF)-Bold" panose="02020603020101020101" pitchFamily="18" charset="-127"/>
              <a:cs typeface="Calibri"/>
              <a:sym typeface="Calibri"/>
            </a:endParaRPr>
          </a:p>
          <a:p>
            <a:pPr algn="ctr"/>
            <a:r>
              <a:rPr lang="en-US" sz="3633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ksjeong321@snu.ac.kr</a:t>
            </a:r>
            <a:endParaRPr sz="36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6898" y="754086"/>
            <a:ext cx="4365056" cy="4476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"/>
          <p:cNvGrpSpPr/>
          <p:nvPr/>
        </p:nvGrpSpPr>
        <p:grpSpPr>
          <a:xfrm>
            <a:off x="1638384" y="6288663"/>
            <a:ext cx="14170178" cy="12579072"/>
            <a:chOff x="699916" y="7415151"/>
            <a:chExt cx="19004401" cy="9509363"/>
          </a:xfrm>
        </p:grpSpPr>
        <p:sp>
          <p:nvSpPr>
            <p:cNvPr id="87" name="Google Shape;87;p1"/>
            <p:cNvSpPr/>
            <p:nvPr/>
          </p:nvSpPr>
          <p:spPr>
            <a:xfrm>
              <a:off x="699916" y="8239509"/>
              <a:ext cx="19002509" cy="8685005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altLang="ko-KR" sz="1800" b="1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#</a:t>
              </a:r>
              <a:r>
                <a:rPr lang="ko-KR" altLang="en-US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컴퓨터 매개 커뮤니케이션 </a:t>
              </a:r>
              <a:r>
                <a:rPr lang="en-US" altLang="ko-KR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(CMC)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텍스트</a:t>
              </a: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음성</a:t>
              </a: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비디오 등 다양한 형식의 </a:t>
              </a:r>
              <a:r>
                <a:rPr lang="ko-KR" altLang="en-US" sz="32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디지털 채널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을 활용하여 사람들이 의사 소통하는 과정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기술의 발달로 인해 음성 및 영상 통화</a:t>
              </a: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그리고 </a:t>
              </a:r>
              <a:r>
                <a:rPr lang="ko-KR" altLang="en-US" sz="32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가상현실</a:t>
              </a:r>
              <a:r>
                <a:rPr lang="en-US" altLang="ko-KR" sz="32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(Virtual Reality, VR)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환경에서의 실시간 상호작용까지 확장되고 있음</a:t>
              </a:r>
              <a:endParaRPr lang="en-US" altLang="ko-KR" sz="40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# </a:t>
              </a:r>
              <a:r>
                <a:rPr lang="ko-KR" altLang="en-US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실재감 </a:t>
              </a:r>
              <a:r>
                <a:rPr lang="en-US" altLang="ko-KR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(Presence)</a:t>
              </a:r>
            </a:p>
            <a:p>
              <a:pPr marL="457200" indent="-457200" algn="just">
                <a:lnSpc>
                  <a:spcPct val="150000"/>
                </a:lnSpc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사용자가 가상환경 내에서 자신이 실제로 존재한다고 느끼는 주관적 감각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FontTx/>
                <a:buChar char="-"/>
              </a:pPr>
              <a:r>
                <a:rPr lang="ko-KR" altLang="en-US" sz="32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공간적 실재감 </a:t>
              </a: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(Spatial presence):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컴퓨터로 매개된 커뮤니케이션 공간에 존재한다는 느낌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FontTx/>
                <a:buChar char="-"/>
              </a:pPr>
              <a:r>
                <a:rPr lang="ko-KR" altLang="en-US" sz="32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사회적 실재감 </a:t>
              </a: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(Social presence):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커뮤니케이션 대상자와 함께 있다는 느낌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# ITC-SOPI </a:t>
              </a:r>
              <a:r>
                <a:rPr lang="ko-KR" altLang="en-US" sz="40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척도</a:t>
              </a:r>
              <a:endParaRPr lang="en-US" altLang="ko-KR" sz="4000" b="1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marL="457200" indent="-457200" algn="just">
                <a:lnSpc>
                  <a:spcPct val="150000"/>
                </a:lnSpc>
                <a:buFontTx/>
                <a:buChar char="-"/>
              </a:pP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사용자가 가상환경에서 느끼는 실재감을 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ko-KR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   </a:t>
              </a:r>
              <a:r>
                <a:rPr lang="ko-KR" altLang="en-US" sz="32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측정하기 위해 설문 도구</a:t>
              </a:r>
              <a:endParaRPr lang="en-US" altLang="ko-KR"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endParaRPr sz="32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699916" y="7415151"/>
              <a:ext cx="19004401" cy="824358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INTRODUCTION</a:t>
              </a:r>
              <a:endParaRPr sz="5450" b="1">
                <a:solidFill>
                  <a:srgbClr val="FFFFFF"/>
                </a:solidFill>
              </a:endParaRPr>
            </a:p>
          </p:txBody>
        </p:sp>
      </p:grpSp>
      <p:grpSp>
        <p:nvGrpSpPr>
          <p:cNvPr id="89" name="Google Shape;89;p1"/>
          <p:cNvGrpSpPr/>
          <p:nvPr/>
        </p:nvGrpSpPr>
        <p:grpSpPr>
          <a:xfrm>
            <a:off x="1631975" y="25095200"/>
            <a:ext cx="14176588" cy="16661899"/>
            <a:chOff x="414164" y="18461634"/>
            <a:chExt cx="16567491" cy="12998884"/>
          </a:xfrm>
        </p:grpSpPr>
        <p:sp>
          <p:nvSpPr>
            <p:cNvPr id="90" name="Google Shape;90;p1"/>
            <p:cNvSpPr/>
            <p:nvPr/>
          </p:nvSpPr>
          <p:spPr>
            <a:xfrm>
              <a:off x="421655" y="19475704"/>
              <a:ext cx="16560000" cy="11984814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just">
                <a:lnSpc>
                  <a:spcPct val="171875"/>
                </a:lnSpc>
              </a:pPr>
              <a:endParaRPr sz="32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414164" y="18461634"/>
              <a:ext cx="16560000" cy="1014071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chemeClr val="lt1"/>
                  </a:solidFill>
                </a:rPr>
                <a:t>METHODS</a:t>
              </a:r>
              <a:endParaRPr sz="4441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92" name="Google Shape;92;p1"/>
          <p:cNvGrpSpPr/>
          <p:nvPr/>
        </p:nvGrpSpPr>
        <p:grpSpPr>
          <a:xfrm>
            <a:off x="16569401" y="27904594"/>
            <a:ext cx="14170179" cy="10831786"/>
            <a:chOff x="33775709" y="14968956"/>
            <a:chExt cx="16308001" cy="12890889"/>
          </a:xfrm>
        </p:grpSpPr>
        <p:sp>
          <p:nvSpPr>
            <p:cNvPr id="93" name="Google Shape;93;p1"/>
            <p:cNvSpPr/>
            <p:nvPr/>
          </p:nvSpPr>
          <p:spPr>
            <a:xfrm>
              <a:off x="33775709" y="16703492"/>
              <a:ext cx="16308000" cy="11156353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6250"/>
                </a:lnSpc>
              </a:pPr>
              <a:r>
                <a:rPr lang="en-US" altLang="ko-KR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# </a:t>
              </a:r>
              <a:r>
                <a:rPr lang="ko-KR" altLang="en-US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정량적 분석에 대한 해석</a:t>
              </a:r>
              <a:endParaRPr lang="en-US" altLang="ko-KR" sz="32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  <a:p>
              <a:pPr algn="just">
                <a:lnSpc>
                  <a:spcPct val="15625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공간적 실재감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(A)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과 사회적 실재감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(B)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사이 약한 양의 상관관계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커뮤니케이션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(C)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와 환경의 제약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(D)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사이 음의 상관관계 등을 발견할 수 있었다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 </a:t>
              </a:r>
            </a:p>
            <a:p>
              <a:pPr algn="just">
                <a:lnSpc>
                  <a:spcPct val="15625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상관계수가 극단적으로 크거나 작지 않기 때문에 </a:t>
              </a:r>
              <a:r>
                <a:rPr lang="ko-KR" altLang="en-US" sz="24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일반적인 상황에서도 성립한다고 보장하기는 힘들다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제한된 </a:t>
              </a:r>
              <a:r>
                <a:rPr lang="ko-KR" altLang="en-US" sz="2400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실험자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 수로 인해 각 설문 문항에 대한 신뢰도 또한 검증이 어려웠다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</a:p>
            <a:p>
              <a:pPr algn="just">
                <a:lnSpc>
                  <a:spcPct val="15625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커뮤니케이션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(C)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의 낮은 내부 상관성에서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, CMC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환경에서는 실재감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(A, B)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이나 환경적 제약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(D)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와 </a:t>
              </a:r>
              <a:r>
                <a:rPr lang="ko-KR" altLang="en-US" sz="24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독립적으로 작용하는 다양한 요인이 존재할 것으로 예상된다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  <a:endParaRPr lang="en-US" altLang="ko-KR" sz="28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  <a:p>
              <a:pPr algn="just">
                <a:lnSpc>
                  <a:spcPct val="156250"/>
                </a:lnSpc>
              </a:pPr>
              <a:r>
                <a:rPr lang="en-US" altLang="ko-KR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# </a:t>
              </a:r>
              <a:r>
                <a:rPr lang="ko-KR" altLang="en-US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정성적 분석에 대한 논의</a:t>
              </a:r>
              <a:endParaRPr lang="en-US" altLang="ko-KR" sz="32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  <a:p>
              <a:pPr algn="just">
                <a:lnSpc>
                  <a:spcPct val="15625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앞선 문항들의 예시에서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폐쇄 공간은 사용자에게 더 강한 몰입감과 물리적 상호작용 기능을 제공하여 실제감과 커뮤니케이션에 대해 높은 척도의 응답을 유도하였다고 볼 수 있다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</a:p>
            <a:p>
              <a:pPr algn="just">
                <a:lnSpc>
                  <a:spcPct val="15625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다만 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VR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이용자의 과거 경험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시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/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청각적 인지 능력 등 </a:t>
              </a:r>
              <a:r>
                <a:rPr lang="ko-KR" altLang="en-US" sz="24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너무나 많은 변수가 존재한다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</a:p>
            <a:p>
              <a:pPr algn="just">
                <a:lnSpc>
                  <a:spcPct val="156250"/>
                </a:lnSpc>
              </a:pPr>
              <a:r>
                <a:rPr lang="en-US" altLang="ko-KR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# </a:t>
              </a:r>
              <a:r>
                <a:rPr lang="ko-KR" altLang="en-US" sz="32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연구 의의 및 제언</a:t>
              </a:r>
              <a:endParaRPr lang="en-US" altLang="ko-KR" sz="32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  <a:p>
              <a:pPr algn="just">
                <a:lnSpc>
                  <a:spcPct val="156250"/>
                </a:lnSpc>
              </a:pP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 본 연구는 가상환경에서의 실재감과 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CMC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경험 간의 관계를 다각적으로 분석하며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단순히 특정 맥락이나 이론적 논의에 머물렀던 기존 연구를 확장한다는 데 의의가 있다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나아가 감각에 의한 </a:t>
              </a:r>
              <a:r>
                <a:rPr lang="ko-KR" altLang="en-US" sz="2400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변인을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 분리하고 실시간으로 측정할 수 있는 인지과학의 방법론을 채용하는 등 복합적인 실험 설계 및 분석의 필요를 제안하고자 한다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  <a:endParaRPr sz="24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3775710" y="14968956"/>
              <a:ext cx="16308000" cy="1734932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CONCLUSIONS</a:t>
              </a:r>
              <a:endParaRPr sz="545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95" name="Google Shape;95;p1"/>
          <p:cNvGrpSpPr/>
          <p:nvPr/>
        </p:nvGrpSpPr>
        <p:grpSpPr>
          <a:xfrm>
            <a:off x="16545104" y="6281419"/>
            <a:ext cx="14170178" cy="21312735"/>
            <a:chOff x="15610114" y="15717428"/>
            <a:chExt cx="14366634" cy="4513341"/>
          </a:xfrm>
        </p:grpSpPr>
        <p:sp>
          <p:nvSpPr>
            <p:cNvPr id="96" name="Google Shape;96;p1"/>
            <p:cNvSpPr/>
            <p:nvPr/>
          </p:nvSpPr>
          <p:spPr>
            <a:xfrm>
              <a:off x="15610114" y="15935247"/>
              <a:ext cx="14366632" cy="4295522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lvl="0" algn="just">
                <a:lnSpc>
                  <a:spcPct val="150000"/>
                </a:lnSpc>
              </a:pPr>
              <a:endParaRPr lang="en-US" altLang="ko-KR" sz="20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36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#</a:t>
              </a:r>
              <a:r>
                <a:rPr lang="ko-KR" altLang="en-US" sz="36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문항　간　비교분석</a:t>
              </a:r>
              <a:endParaRPr lang="en-US" altLang="ko-KR" sz="36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*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실험자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5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명의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[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맵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1]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 대한 응답 결과</a:t>
              </a:r>
              <a:endParaRPr lang="en-US" altLang="ko-KR" sz="4000" b="1" dirty="0">
                <a:solidFill>
                  <a:schemeClr val="tx2">
                    <a:lumMod val="50000"/>
                  </a:schemeClr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＊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피어슨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　상관계수　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ｒ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　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ｉｎ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　（－１，　＋１）</a:t>
              </a:r>
              <a:endParaRPr lang="en-US" altLang="ko-KR" sz="1600" dirty="0">
                <a:solidFill>
                  <a:schemeClr val="tx2">
                    <a:lumMod val="50000"/>
                  </a:schemeClr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dirty="0">
                  <a:solidFill>
                    <a:schemeClr val="tx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ICT-SOPI </a:t>
              </a:r>
              <a:r>
                <a:rPr lang="ko-KR" altLang="en-US" sz="2400" dirty="0">
                  <a:solidFill>
                    <a:schemeClr val="tx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구성 요소에 따라 문항들을 </a:t>
              </a:r>
              <a:endParaRPr lang="en-US" altLang="ko-KR" sz="2400" dirty="0">
                <a:solidFill>
                  <a:schemeClr val="tx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chemeClr val="tx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네 개의 그룹으로 분류하였다</a:t>
              </a:r>
              <a:r>
                <a:rPr lang="en-US" altLang="ko-KR" sz="2400" dirty="0">
                  <a:solidFill>
                    <a:schemeClr val="tx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ko-KR" altLang="en-US" sz="400" dirty="0">
                <a:solidFill>
                  <a:schemeClr val="tx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공간적　실재감　（</a:t>
              </a:r>
              <a:r>
                <a:rPr lang="ko-KR" altLang="en-US" sz="2400" b="1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Ａ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）</a:t>
              </a:r>
              <a:endParaRPr lang="en-US" altLang="ko-KR" sz="24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: 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1~8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특정 콘텐츠나 시각적 요소를 통해 </a:t>
              </a:r>
              <a:endParaRPr lang="en-US" altLang="ko-KR" sz="20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 사용자가 느끼는 몰입감을 측정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사회적　실재감　（</a:t>
              </a:r>
              <a:r>
                <a:rPr lang="ko-KR" altLang="en-US" sz="2400" b="1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Ｂ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）</a:t>
              </a:r>
              <a:endParaRPr lang="en-US" altLang="ko-KR" sz="24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：　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9~13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상대 유저 및 그들의 아바타와의 </a:t>
              </a:r>
              <a:endParaRPr lang="en-US" altLang="ko-KR" sz="20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 상호작용에서 느끼는 사회적 연결감과 존재감을 측정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커뮤니케이션　（</a:t>
              </a:r>
              <a:r>
                <a:rPr lang="ko-KR" altLang="en-US" sz="2400" b="1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Ｃ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）</a:t>
              </a:r>
              <a:endParaRPr lang="en-US" altLang="ko-KR" sz="24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：　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14~18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CMC </a:t>
              </a: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맥락에서의 정보 교환 및 </a:t>
              </a:r>
              <a:endParaRPr lang="en-US" altLang="ko-KR" sz="20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 상호작용 관련 요소를 포함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환경의　제약　（</a:t>
              </a:r>
              <a:r>
                <a:rPr lang="ko-KR" altLang="en-US" sz="2400" b="1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Ｄ</a:t>
              </a:r>
              <a:r>
                <a:rPr lang="ko-KR" altLang="en-US" sz="24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）</a:t>
              </a:r>
              <a:endParaRPr lang="en-US" altLang="ko-KR" sz="24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：　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19~22</a:t>
              </a:r>
              <a:r>
                <a:rPr lang="ko-KR" altLang="en-US" sz="2000" u="sng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 </a:t>
              </a:r>
              <a:r>
                <a:rPr lang="ko-KR" altLang="en-US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가상환경의 기술적 제약이나 몰입 경험에 방해가 되는 요소들을 다룸</a:t>
              </a:r>
              <a:r>
                <a:rPr lang="en-US" altLang="ko-KR" sz="20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endParaRPr lang="en-US" altLang="ko-KR" sz="28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36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＃　분류　간　비교분석</a:t>
              </a:r>
              <a:endParaRPr lang="en-US" altLang="ko-KR" sz="36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endParaRPr lang="en-US" altLang="ko-KR" sz="18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공간적 실재감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(A)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과 사회적 실재감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(B)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은 서로 약한 양의 상관관계를 보였으며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(r=0.011),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커뮤니케이션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(C)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과 환경의 제약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(D)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은 음의 상관관계를 보였다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(r=-0.226).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내부 상관성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: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커뮤니케이션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(C)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에서 낮고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(r=0.145),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환경의 제약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(D)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에서 높았다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(r=0.495).</a:t>
              </a:r>
            </a:p>
            <a:p>
              <a:pPr lvl="0" algn="just">
                <a:lnSpc>
                  <a:spcPct val="150000"/>
                </a:lnSpc>
              </a:pPr>
              <a:endParaRPr lang="en-US" altLang="ko-KR" sz="24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en-US" altLang="ko-KR" sz="36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# </a:t>
              </a:r>
              <a:r>
                <a:rPr lang="ko-KR" altLang="en-US" sz="36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인터뷰를　통한　심층　분석</a:t>
              </a:r>
              <a:endParaRPr lang="en-US" altLang="ko-KR" sz="36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*</a:t>
              </a:r>
              <a:r>
                <a:rPr lang="ko-KR" altLang="en-US" sz="1600" dirty="0" err="1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실험자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3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명의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[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맵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1], [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맵 </a:t>
              </a:r>
              <a:r>
                <a:rPr lang="en-US" altLang="ko-KR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2]</a:t>
              </a:r>
              <a:r>
                <a:rPr lang="ko-KR" altLang="en-US" sz="1600" dirty="0">
                  <a:solidFill>
                    <a:schemeClr val="tx2">
                      <a:lumMod val="50000"/>
                    </a:schemeClr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 대한 응답 결과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&gt;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10, 13, 14, 15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번에서 특히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큰 차이를 보였다</a:t>
              </a:r>
              <a:r>
                <a:rPr lang="en-US" altLang="ko-KR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</a:t>
              </a:r>
            </a:p>
            <a:p>
              <a:pPr lvl="0" algn="just">
                <a:lnSpc>
                  <a:spcPct val="150000"/>
                </a:lnSpc>
              </a:pPr>
              <a:r>
                <a:rPr lang="en-US" altLang="ko-KR" sz="24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&gt; </a:t>
              </a:r>
              <a:r>
                <a:rPr lang="ko-KR" altLang="en-US" sz="24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인터뷰 중 발화에서 새 </a:t>
              </a:r>
              <a:r>
                <a:rPr lang="ko-KR" altLang="en-US" sz="2400" dirty="0" err="1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변인을</a:t>
              </a:r>
              <a:r>
                <a:rPr lang="ko-KR" altLang="en-US" sz="24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찾고자 함</a:t>
              </a:r>
              <a:endParaRPr lang="en-US" altLang="ko-KR" sz="24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endParaRPr lang="en-US" altLang="ko-KR" sz="1800" b="1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lvl="0" algn="just">
                <a:lnSpc>
                  <a:spcPct val="150000"/>
                </a:lnSpc>
              </a:pP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1800" dirty="0">
                  <a:solidFill>
                    <a:schemeClr val="accent6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10, 13, 15</a:t>
              </a:r>
              <a:r>
                <a:rPr lang="ko-KR" altLang="en-US" sz="1800" dirty="0">
                  <a:solidFill>
                    <a:schemeClr val="accent6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: </a:t>
              </a: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특정 공간의 </a:t>
              </a:r>
              <a:r>
                <a:rPr lang="ko-KR" altLang="en-US" sz="1800" u="sng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구성 요소들과 상호작용</a:t>
              </a: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할 수 있는지</a:t>
              </a:r>
              <a:endParaRPr lang="en-US" altLang="ko-KR" sz="18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문항 </a:t>
              </a:r>
              <a:r>
                <a:rPr lang="en-US" altLang="ko-KR" sz="1800" dirty="0">
                  <a:solidFill>
                    <a:srgbClr val="C00000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14</a:t>
              </a:r>
              <a:r>
                <a:rPr lang="ko-KR" altLang="en-US" sz="1800" dirty="0">
                  <a:solidFill>
                    <a:srgbClr val="C00000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번</a:t>
              </a:r>
              <a:r>
                <a:rPr lang="en-US" altLang="ko-KR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: </a:t>
              </a: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공간의 </a:t>
              </a:r>
              <a:r>
                <a:rPr lang="ko-KR" altLang="en-US" sz="1800" u="sng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개방성과 폐쇄성</a:t>
              </a: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 따라 소통 경험에 차이가 있는지</a:t>
              </a:r>
              <a:endParaRPr lang="en-US" altLang="ko-KR" sz="18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                혹은 공간이 사용자에게 </a:t>
              </a:r>
              <a:r>
                <a:rPr lang="ko-KR" altLang="en-US" sz="1800" u="sng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익숙하게 느껴지는 정도</a:t>
              </a:r>
              <a:r>
                <a:rPr lang="ko-KR" altLang="en-US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 따라</a:t>
              </a:r>
              <a:r>
                <a:rPr lang="en-US" altLang="ko-KR" sz="18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...</a:t>
              </a:r>
            </a:p>
            <a:p>
              <a:pPr algn="just">
                <a:lnSpc>
                  <a:spcPct val="150000"/>
                </a:lnSpc>
              </a:pPr>
              <a:endParaRPr lang="en-US" altLang="ko-KR" sz="2000" b="1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ko-KR" altLang="en-US" sz="28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인터뷰 중</a:t>
              </a:r>
              <a:r>
                <a:rPr lang="en-US" altLang="ko-KR" sz="28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&gt;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“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맵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에서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)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책상 위의 카메라도 잡을 수 있고 사진도 찍혀서 신기하다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진짜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(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현실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)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같다”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– </a:t>
              </a:r>
              <a:r>
                <a:rPr lang="ko-KR" altLang="en-US" sz="2400" i="1" dirty="0" err="1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실험자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4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“(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맵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1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에서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)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너무 가까워서 목소리가 메아리처럼 두 번씩 들린다”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– </a:t>
              </a:r>
              <a:r>
                <a:rPr lang="ko-KR" altLang="en-US" sz="2400" i="1" dirty="0" err="1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실험자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5</a:t>
              </a:r>
            </a:p>
            <a:p>
              <a:pPr algn="just">
                <a:lnSpc>
                  <a:spcPct val="150000"/>
                </a:lnSpc>
              </a:pP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“내가 눈이 나빠서 그런지 초점이 안 잡힌다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.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어지럽다”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,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“(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스무고개 게임 중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)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눈을 감고 있어서 상대를 잘 보지 못했다” 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- 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어지럼증을 겪은 </a:t>
              </a:r>
              <a:r>
                <a:rPr lang="ko-KR" altLang="en-US" sz="2400" i="1" dirty="0" err="1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실험자</a:t>
              </a:r>
              <a:r>
                <a:rPr lang="ko-KR" altLang="en-US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 </a:t>
              </a:r>
              <a:r>
                <a:rPr lang="en-US" altLang="ko-KR" sz="2400" i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Batang"/>
                  <a:sym typeface="Batang"/>
                </a:rPr>
                <a:t>2</a:t>
              </a:r>
            </a:p>
            <a:p>
              <a:pPr algn="just">
                <a:lnSpc>
                  <a:spcPct val="150000"/>
                </a:lnSpc>
              </a:pPr>
              <a:endParaRPr lang="en-US" altLang="ko-KR" sz="24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Batang"/>
                <a:sym typeface="Batang"/>
              </a:endParaRPr>
            </a:p>
            <a:p>
              <a:pPr algn="just"/>
              <a:endParaRPr sz="4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15610115" y="15717428"/>
              <a:ext cx="14366633" cy="237617"/>
            </a:xfrm>
            <a:prstGeom prst="rect">
              <a:avLst/>
            </a:prstGeom>
            <a:solidFill>
              <a:srgbClr val="0F0F70"/>
            </a:solidFill>
            <a:ln w="1270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rgbClr val="FFFFFF"/>
                  </a:solidFill>
                </a:rPr>
                <a:t>RESULTS</a:t>
              </a:r>
              <a:endParaRPr sz="4441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633577" y="19294885"/>
            <a:ext cx="14170178" cy="5549346"/>
            <a:chOff x="414164" y="19253061"/>
            <a:chExt cx="16560000" cy="5611187"/>
          </a:xfrm>
        </p:grpSpPr>
        <p:sp>
          <p:nvSpPr>
            <p:cNvPr id="99" name="Google Shape;99;p1"/>
            <p:cNvSpPr/>
            <p:nvPr/>
          </p:nvSpPr>
          <p:spPr>
            <a:xfrm>
              <a:off x="414164" y="20234621"/>
              <a:ext cx="16560000" cy="462962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t" anchorCtr="0">
              <a:noAutofit/>
            </a:bodyPr>
            <a:lstStyle/>
            <a:p>
              <a:pPr algn="just">
                <a:lnSpc>
                  <a:spcPct val="150000"/>
                </a:lnSpc>
              </a:pPr>
              <a:endParaRPr lang="en-US" sz="24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Batang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# ITC-SOPI </a:t>
              </a:r>
              <a:r>
                <a:rPr lang="ko-KR" alt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척도로 측정된 </a:t>
              </a:r>
              <a:r>
                <a:rPr lang="ko-KR" altLang="en-US" sz="36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실재감</a:t>
              </a:r>
              <a:r>
                <a:rPr lang="ko-KR" alt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이 사용자의 </a:t>
              </a:r>
              <a:r>
                <a:rPr lang="en-US" altLang="ko-KR" sz="36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CMC </a:t>
              </a:r>
              <a:r>
                <a:rPr lang="ko-KR" altLang="en-US" sz="3600" b="1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경험</a:t>
              </a:r>
              <a:r>
                <a:rPr lang="ko-KR" alt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과 어떤 관계를 가지는지 비교 분석한다</a:t>
              </a:r>
              <a:r>
                <a:rPr lang="en-US" altLang="ko-KR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Batang"/>
                </a:rPr>
                <a:t>.</a:t>
              </a:r>
            </a:p>
            <a:p>
              <a:pPr algn="just">
                <a:lnSpc>
                  <a:spcPct val="150000"/>
                </a:lnSpc>
              </a:pPr>
              <a:r>
                <a:rPr lang="en-US" altLang="ko-KR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# </a:t>
              </a:r>
              <a:r>
                <a:rPr lang="ko-KR" alt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통계학적 방법론과 인터뷰를 통한 질적 방법론을 병행하여 실재감이 일반적인 </a:t>
              </a:r>
              <a:r>
                <a:rPr lang="en-US" altLang="ko-KR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CMC </a:t>
              </a:r>
              <a:r>
                <a:rPr lang="ko-KR" altLang="en-US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경험에 미치는 영향을 다각적으로 탐구한다</a:t>
              </a:r>
              <a:r>
                <a:rPr lang="en-US" altLang="ko-KR" sz="3600" dirty="0">
                  <a:solidFill>
                    <a:schemeClr val="dk1"/>
                  </a:solidFill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  <a:cs typeface="Calibri"/>
                  <a:sym typeface="Calibri"/>
                </a:rPr>
                <a:t>.</a:t>
              </a:r>
              <a:endParaRPr sz="3600" dirty="0">
                <a:solidFill>
                  <a:schemeClr val="dk1"/>
                </a:solidFill>
                <a:latin typeface="아리따-돋움4.0(OTF)-Light" panose="02020603020101020101" pitchFamily="18" charset="-127"/>
                <a:ea typeface="아리따-돋움4.0(OTF)-Light" panose="02020603020101020101" pitchFamily="18" charset="-127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14164" y="19253061"/>
              <a:ext cx="16560000" cy="981560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>
                  <a:solidFill>
                    <a:schemeClr val="lt1"/>
                  </a:solidFill>
                </a:rPr>
                <a:t>OBJECTIVES</a:t>
              </a:r>
              <a:endParaRPr sz="5450" b="1">
                <a:solidFill>
                  <a:schemeClr val="lt1"/>
                </a:solidFill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6564559" y="39046825"/>
            <a:ext cx="14182490" cy="2710275"/>
            <a:chOff x="15281644" y="36737957"/>
            <a:chExt cx="14424713" cy="3425960"/>
          </a:xfrm>
        </p:grpSpPr>
        <p:sp>
          <p:nvSpPr>
            <p:cNvPr id="102" name="Google Shape;102;p1"/>
            <p:cNvSpPr/>
            <p:nvPr/>
          </p:nvSpPr>
          <p:spPr>
            <a:xfrm>
              <a:off x="15286569" y="37840040"/>
              <a:ext cx="14400000" cy="2323877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just"/>
              <a:r>
                <a:rPr lang="en-US" altLang="ko-KR" dirty="0" err="1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Lessiter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, J., Freeman, J., Keogh, E., &amp; Davidoff, J. (2001). A cross-media presence questionnaire: The ITC-Sense of Presence Inventory. Presence: Teleoperators &amp; Virtual Environments, 10(3), 282-297.</a:t>
              </a:r>
            </a:p>
            <a:p>
              <a:pPr algn="just"/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Vasconcelos-</a:t>
              </a:r>
              <a:r>
                <a:rPr lang="en-US" altLang="ko-KR" dirty="0" err="1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Raposo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, José, et al. "Adaptation and validation of the ITC-Sense of Presence Inventory for the Portuguese language." </a:t>
              </a:r>
              <a:r>
                <a:rPr lang="en-US" altLang="ko-KR" i="1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International Journal of Human-Computer Studies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 125 (2019): 1-6.</a:t>
              </a:r>
            </a:p>
            <a:p>
              <a:pPr algn="just"/>
              <a:r>
                <a:rPr lang="ko-KR" altLang="en-US" dirty="0" err="1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정혜욱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. (2010). </a:t>
              </a:r>
              <a:r>
                <a:rPr lang="ko-KR" altLang="en-US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디지털사회의 행위자가 갖는 사회적 실재감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. </a:t>
              </a:r>
              <a:r>
                <a:rPr lang="ko-KR" altLang="en-US" dirty="0" err="1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한국영상학회논문집</a:t>
              </a:r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, 8(3), 59-76 </a:t>
              </a:r>
            </a:p>
            <a:p>
              <a:pPr algn="just"/>
              <a:r>
                <a:rPr lang="en-US" altLang="ko-KR" dirty="0">
                  <a:latin typeface="아리따-돋움4.0(OTF)-Thin" panose="02020603020101020101" pitchFamily="18" charset="-127"/>
                  <a:ea typeface="아리따-돋움4.0(OTF)-Thin" panose="02020603020101020101" pitchFamily="18" charset="-127"/>
                </a:rPr>
                <a:t>Novak, T. P., Hoffman, D. L., &amp; Yung, Y. F. (2000). Measuring the customer experience in online environments: A structural modeling approach. Marketing science, 19(1), 22-42.</a:t>
              </a: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5281644" y="36737957"/>
              <a:ext cx="14424713" cy="1102086"/>
            </a:xfrm>
            <a:prstGeom prst="rect">
              <a:avLst/>
            </a:prstGeom>
            <a:solidFill>
              <a:srgbClr val="0F0F70"/>
            </a:solidFill>
            <a:ln w="19050" cap="flat" cmpd="sng">
              <a:solidFill>
                <a:srgbClr val="0F0F7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2273" tIns="46124" rIns="92273" bIns="46124" anchor="ctr" anchorCtr="0">
              <a:noAutofit/>
            </a:bodyPr>
            <a:lstStyle/>
            <a:p>
              <a:pPr algn="ctr"/>
              <a:r>
                <a:rPr lang="en-US" sz="5450" b="1" dirty="0">
                  <a:solidFill>
                    <a:srgbClr val="FFFFFF"/>
                  </a:solidFill>
                </a:rPr>
                <a:t>REFERENCES</a:t>
              </a:r>
              <a:endParaRPr sz="4441" b="1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04" name="Google Shape;104;p1"/>
          <p:cNvPicPr preferRelativeResize="0"/>
          <p:nvPr/>
        </p:nvPicPr>
        <p:blipFill rotWithShape="1">
          <a:blip r:embed="rId4">
            <a:alphaModFix/>
          </a:blip>
          <a:srcRect t="85800"/>
          <a:stretch/>
        </p:blipFill>
        <p:spPr>
          <a:xfrm>
            <a:off x="24434800" y="42067545"/>
            <a:ext cx="7037733" cy="825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8AB1E13B-1AC1-4301-9E8E-18B80198CC9B}"/>
              </a:ext>
            </a:extLst>
          </p:cNvPr>
          <p:cNvGrpSpPr/>
          <p:nvPr/>
        </p:nvGrpSpPr>
        <p:grpSpPr>
          <a:xfrm>
            <a:off x="9514624" y="15998370"/>
            <a:ext cx="5738509" cy="2547390"/>
            <a:chOff x="1581632" y="2037143"/>
            <a:chExt cx="4329414" cy="1662173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224C955-04AC-4D6B-90DA-79DAAA847EA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77" r="44734"/>
            <a:stretch/>
          </p:blipFill>
          <p:spPr>
            <a:xfrm>
              <a:off x="1581632" y="2037143"/>
              <a:ext cx="3684849" cy="1662173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8D76ED9A-08EC-4D74-B6DF-9D7B8F868F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0333" t="7177"/>
            <a:stretch/>
          </p:blipFill>
          <p:spPr>
            <a:xfrm>
              <a:off x="5266481" y="2037143"/>
              <a:ext cx="644565" cy="1662173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5DE3E22-7DD0-454F-8B04-92621853DD66}"/>
              </a:ext>
            </a:extLst>
          </p:cNvPr>
          <p:cNvGrpSpPr/>
          <p:nvPr/>
        </p:nvGrpSpPr>
        <p:grpSpPr>
          <a:xfrm>
            <a:off x="6233917" y="26858534"/>
            <a:ext cx="9446993" cy="2945350"/>
            <a:chOff x="0" y="0"/>
            <a:chExt cx="5943600" cy="1676400"/>
          </a:xfrm>
        </p:grpSpPr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2422237C-1F7A-4370-87A6-05A2FC397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978785" cy="16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B594A022-B5E8-418A-BAF7-F83BA60567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5450" y="0"/>
              <a:ext cx="2978150" cy="16757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05C2B4A1-2222-43B5-9F5A-866FBB86F708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1823774" y="34141095"/>
            <a:ext cx="7994520" cy="7073447"/>
          </a:xfrm>
          <a:prstGeom prst="rect">
            <a:avLst/>
          </a:prstGeom>
        </p:spPr>
      </p:pic>
      <p:sp>
        <p:nvSpPr>
          <p:cNvPr id="3" name="AutoShape 2" descr="https://lookaside.fbsbx.com/elementpath/media/?media_id=663691444685263&amp;version=1732089294&amp;transcode_extension=webp">
            <a:extLst>
              <a:ext uri="{FF2B5EF4-FFF2-40B4-BE49-F238E27FC236}">
                <a16:creationId xmlns:a16="http://schemas.microsoft.com/office/drawing/2014/main" id="{C6CE7DDD-5762-44A2-8761-001C9214FF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46450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9CC38B5-669A-495D-97F1-001D286BE303}"/>
              </a:ext>
            </a:extLst>
          </p:cNvPr>
          <p:cNvGrpSpPr/>
          <p:nvPr/>
        </p:nvGrpSpPr>
        <p:grpSpPr>
          <a:xfrm>
            <a:off x="8601216" y="30296186"/>
            <a:ext cx="5377641" cy="3774233"/>
            <a:chOff x="3867449" y="31261436"/>
            <a:chExt cx="5377641" cy="3774233"/>
          </a:xfrm>
        </p:grpSpPr>
        <p:pic>
          <p:nvPicPr>
            <p:cNvPr id="1028" name="Picture 4" descr="https://blogger.googleusercontent.com/img/b/R29vZ2xl/AVvXsEjoLPHyxnS5jSljDAVrwvMJfN5C6zpu_xO1BPQV1Bkefoo8SnhrniuwwPa_rVkp1nh1qrLI6FgMyMUY3D6zAv0PV0p_OqzMmqDAh6iIHnvnl2j2rMIHa9UZg_QiryW6evfJp8ZEljP1PvE/s800/vr_stand_man_look.png">
              <a:extLst>
                <a:ext uri="{FF2B5EF4-FFF2-40B4-BE49-F238E27FC236}">
                  <a16:creationId xmlns:a16="http://schemas.microsoft.com/office/drawing/2014/main" id="{295215B5-0655-422C-8659-E312B0228D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3415" y="31261436"/>
              <a:ext cx="2061675" cy="3774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s://blogger.googleusercontent.com/img/b/R29vZ2xl/AVvXsEiRjFLSB4BZt0pneALHg3EGmhubw3IekWmtuTQP71deCylLmhoko2PMBB5Phq4BecUMQsfIouQuFmi31c2GEb70MBXJgtxBGo3NKKnrrzozOvW9eqWSOhT_SlNxGNQpsPGuqdr9a1H1QE4P/s800/vr_cable_free.png">
              <a:extLst>
                <a:ext uri="{FF2B5EF4-FFF2-40B4-BE49-F238E27FC236}">
                  <a16:creationId xmlns:a16="http://schemas.microsoft.com/office/drawing/2014/main" id="{4F8E2C7A-4EFC-4EAA-A568-BD19DDE3A5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7449" y="31584798"/>
              <a:ext cx="3084505" cy="31275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02A4F1D-0D26-44ED-9186-B518587DEBE3}"/>
              </a:ext>
            </a:extLst>
          </p:cNvPr>
          <p:cNvGrpSpPr/>
          <p:nvPr/>
        </p:nvGrpSpPr>
        <p:grpSpPr>
          <a:xfrm>
            <a:off x="1495470" y="29125723"/>
            <a:ext cx="5698604" cy="3929772"/>
            <a:chOff x="1459231" y="29006680"/>
            <a:chExt cx="5698604" cy="392977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11DF63B-8CD8-40E6-98B3-65AA91E6B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59231" y="29685827"/>
              <a:ext cx="5698604" cy="2972772"/>
            </a:xfrm>
            <a:prstGeom prst="rect">
              <a:avLst/>
            </a:prstGeom>
            <a:effectLst>
              <a:softEdge rad="317500"/>
            </a:effectLst>
          </p:spPr>
        </p:pic>
        <p:pic>
          <p:nvPicPr>
            <p:cNvPr id="1032" name="Picture 8" descr="VRChat - 위키백과, 우리 모두의 백과사전">
              <a:extLst>
                <a:ext uri="{FF2B5EF4-FFF2-40B4-BE49-F238E27FC236}">
                  <a16:creationId xmlns:a16="http://schemas.microsoft.com/office/drawing/2014/main" id="{01988A98-5213-4F07-9712-51AE1FF020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864" y="29006680"/>
              <a:ext cx="2672566" cy="1138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BB6004-357E-4847-A3A0-748ECF1A723B}"/>
                </a:ext>
              </a:extLst>
            </p:cNvPr>
            <p:cNvSpPr txBox="1"/>
            <p:nvPr/>
          </p:nvSpPr>
          <p:spPr>
            <a:xfrm>
              <a:off x="1994451" y="31982345"/>
              <a:ext cx="33314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Meta</a:t>
              </a:r>
              <a:r>
                <a:rPr lang="ko-KR" altLang="en-US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 </a:t>
              </a:r>
              <a:r>
                <a:rPr lang="en-US" altLang="ko-KR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Quest</a:t>
              </a:r>
              <a:r>
                <a:rPr lang="ko-KR" altLang="en-US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 </a:t>
              </a:r>
              <a:r>
                <a:rPr lang="en-US" altLang="ko-KR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2</a:t>
              </a:r>
              <a:r>
                <a:rPr lang="ko-KR" altLang="en-US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 기기 </a:t>
              </a:r>
              <a:r>
                <a:rPr lang="en-US" altLang="ko-KR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&amp; VR chat </a:t>
              </a:r>
              <a:r>
                <a:rPr lang="ko-KR" altLang="en-US" sz="2800" b="1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프로그램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6E8F989-4CD0-4371-A23D-B824E9480EE4}"/>
              </a:ext>
            </a:extLst>
          </p:cNvPr>
          <p:cNvSpPr txBox="1"/>
          <p:nvPr/>
        </p:nvSpPr>
        <p:spPr>
          <a:xfrm>
            <a:off x="6267064" y="26908103"/>
            <a:ext cx="9845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[</a:t>
            </a:r>
            <a:r>
              <a:rPr lang="ko-KR" altLang="en-US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맵 </a:t>
            </a:r>
            <a:r>
              <a:rPr lang="en-US" altLang="ko-KR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1]</a:t>
            </a:r>
            <a:endParaRPr lang="ko-KR" altLang="en-US" sz="2500" b="1" dirty="0">
              <a:latin typeface="아리따-돋움4.0(OTF)-Light" panose="02020603020101020101" pitchFamily="18" charset="-127"/>
              <a:ea typeface="아리따-돋움4.0(OTF)-Light" panose="02020603020101020101" pitchFamily="18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387AF1-2D04-4DDD-9790-52A91EA6A47A}"/>
              </a:ext>
            </a:extLst>
          </p:cNvPr>
          <p:cNvSpPr txBox="1"/>
          <p:nvPr/>
        </p:nvSpPr>
        <p:spPr>
          <a:xfrm>
            <a:off x="10947319" y="26908103"/>
            <a:ext cx="9845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[</a:t>
            </a:r>
            <a:r>
              <a:rPr lang="ko-KR" altLang="en-US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맵 </a:t>
            </a:r>
            <a:r>
              <a:rPr lang="en-US" altLang="ko-KR" sz="2500" b="1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rPr>
              <a:t>2]</a:t>
            </a:r>
            <a:endParaRPr lang="ko-KR" altLang="en-US" sz="2500" b="1" dirty="0">
              <a:latin typeface="아리따-돋움4.0(OTF)-Light" panose="02020603020101020101" pitchFamily="18" charset="-127"/>
              <a:ea typeface="아리따-돋움4.0(OTF)-Light" panose="02020603020101020101" pitchFamily="18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6371445-9C82-4EB9-A91A-885C54A6B448}"/>
              </a:ext>
            </a:extLst>
          </p:cNvPr>
          <p:cNvGrpSpPr/>
          <p:nvPr/>
        </p:nvGrpSpPr>
        <p:grpSpPr>
          <a:xfrm>
            <a:off x="10460562" y="34555523"/>
            <a:ext cx="5061224" cy="1768062"/>
            <a:chOff x="10579132" y="34942381"/>
            <a:chExt cx="5061224" cy="1959346"/>
          </a:xfrm>
        </p:grpSpPr>
        <p:sp>
          <p:nvSpPr>
            <p:cNvPr id="11" name="말풍선: 타원형 10">
              <a:extLst>
                <a:ext uri="{FF2B5EF4-FFF2-40B4-BE49-F238E27FC236}">
                  <a16:creationId xmlns:a16="http://schemas.microsoft.com/office/drawing/2014/main" id="{5913E092-718E-440C-8278-47D6B1CED98A}"/>
                </a:ext>
              </a:extLst>
            </p:cNvPr>
            <p:cNvSpPr/>
            <p:nvPr/>
          </p:nvSpPr>
          <p:spPr>
            <a:xfrm rot="10800000">
              <a:off x="10579132" y="34942381"/>
              <a:ext cx="5061224" cy="1959346"/>
            </a:xfrm>
            <a:prstGeom prst="wedgeEllipseCallout">
              <a:avLst>
                <a:gd name="adj1" fmla="val 35373"/>
                <a:gd name="adj2" fmla="val 62500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FBA625-F153-435E-9281-66956F871B3A}"/>
                </a:ext>
              </a:extLst>
            </p:cNvPr>
            <p:cNvSpPr txBox="1"/>
            <p:nvPr/>
          </p:nvSpPr>
          <p:spPr>
            <a:xfrm>
              <a:off x="10897524" y="35650024"/>
              <a:ext cx="43268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간단한 자기소개와 스무고개 게임</a:t>
              </a: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CD7F3B1-7B89-4686-8B13-9B3FABA19BB8}"/>
              </a:ext>
            </a:extLst>
          </p:cNvPr>
          <p:cNvGrpSpPr/>
          <p:nvPr/>
        </p:nvGrpSpPr>
        <p:grpSpPr>
          <a:xfrm>
            <a:off x="10417359" y="38076588"/>
            <a:ext cx="5177979" cy="3122341"/>
            <a:chOff x="10440466" y="38719730"/>
            <a:chExt cx="5177979" cy="3122341"/>
          </a:xfrm>
        </p:grpSpPr>
        <p:sp>
          <p:nvSpPr>
            <p:cNvPr id="13" name="말풍선: 모서리가 둥근 사각형 12">
              <a:extLst>
                <a:ext uri="{FF2B5EF4-FFF2-40B4-BE49-F238E27FC236}">
                  <a16:creationId xmlns:a16="http://schemas.microsoft.com/office/drawing/2014/main" id="{E8301443-60F5-417C-8503-701404E78136}"/>
                </a:ext>
              </a:extLst>
            </p:cNvPr>
            <p:cNvSpPr/>
            <p:nvPr/>
          </p:nvSpPr>
          <p:spPr>
            <a:xfrm>
              <a:off x="10440466" y="38719730"/>
              <a:ext cx="5177979" cy="3122341"/>
            </a:xfrm>
            <a:prstGeom prst="wedgeRoundRectCallout">
              <a:avLst>
                <a:gd name="adj1" fmla="val -59963"/>
                <a:gd name="adj2" fmla="val 18076"/>
                <a:gd name="adj3" fmla="val 16667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ITC-SOPI</a:t>
              </a:r>
              <a:r>
                <a:rPr lang="ko-KR" altLang="en-US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 요소를 개량한 설문 </a:t>
              </a:r>
              <a:r>
                <a:rPr lang="en-US" altLang="ko-KR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(22</a:t>
              </a:r>
              <a:r>
                <a:rPr lang="ko-KR" altLang="en-US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문항</a:t>
              </a:r>
              <a:r>
                <a:rPr lang="en-US" altLang="ko-KR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)</a:t>
              </a:r>
            </a:p>
            <a:p>
              <a:pPr algn="ctr"/>
              <a:endParaRPr lang="en-US" altLang="ko-KR" sz="28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endParaRPr>
            </a:p>
            <a:p>
              <a:pPr algn="ctr"/>
              <a:r>
                <a:rPr lang="ko-KR" altLang="en-US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문항　간，　분류　간</a:t>
              </a:r>
              <a:endParaRPr lang="en-US" altLang="ko-KR" sz="2800" dirty="0">
                <a:latin typeface="아리따-돋움4.0(OTF)-Light" panose="02020603020101020101" pitchFamily="18" charset="-127"/>
                <a:ea typeface="아리따-돋움4.0(OTF)-Light" panose="02020603020101020101" pitchFamily="18" charset="-127"/>
              </a:endParaRPr>
            </a:p>
            <a:p>
              <a:pPr algn="ctr"/>
              <a:r>
                <a:rPr lang="ko-KR" altLang="en-US" sz="2800" dirty="0" err="1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피어슨</a:t>
              </a:r>
              <a:r>
                <a:rPr lang="ko-KR" altLang="en-US" sz="28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　상관관계　분석</a:t>
              </a:r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28B41995-C995-4FDA-9F42-264557D1A525}"/>
                </a:ext>
              </a:extLst>
            </p:cNvPr>
            <p:cNvCxnSpPr>
              <a:cxnSpLocks/>
            </p:cNvCxnSpPr>
            <p:nvPr/>
          </p:nvCxnSpPr>
          <p:spPr>
            <a:xfrm>
              <a:off x="13029456" y="40165542"/>
              <a:ext cx="0" cy="312365"/>
            </a:xfrm>
            <a:prstGeom prst="straightConnector1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1034" name="Picture 10" descr="서울대학교 모바일 중앙도서관 - Google Play 앱">
            <a:extLst>
              <a:ext uri="{FF2B5EF4-FFF2-40B4-BE49-F238E27FC236}">
                <a16:creationId xmlns:a16="http://schemas.microsoft.com/office/drawing/2014/main" id="{4C50DCAB-E852-431B-A853-8B30164A1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027" y="26931307"/>
            <a:ext cx="1163073" cy="1163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FF5452E7-6E9D-4920-9DA8-6E142D6C97B6}"/>
              </a:ext>
            </a:extLst>
          </p:cNvPr>
          <p:cNvGrpSpPr/>
          <p:nvPr/>
        </p:nvGrpSpPr>
        <p:grpSpPr>
          <a:xfrm>
            <a:off x="10369449" y="36484610"/>
            <a:ext cx="4744573" cy="1278636"/>
            <a:chOff x="10137477" y="40295531"/>
            <a:chExt cx="4744573" cy="1278636"/>
          </a:xfrm>
        </p:grpSpPr>
        <p:pic>
          <p:nvPicPr>
            <p:cNvPr id="1036" name="Picture 12" descr="https://blogger.googleusercontent.com/img/b/R29vZ2xl/AVvXsEjT3Lw4Kzhui6iLeGfo0RbQRqYVhwM6AU-JjYlosgsj6YKVhrArrDAiUOkuDHLQleHPdNRyBoRg2fQjAAaQi59PGq5cg35-Wnf9UE0DISLtgNlZ1xTUEWZHds_oufHthie2xZqgCt7Q5pCB/s800/hand_microphone_interview.png">
              <a:extLst>
                <a:ext uri="{FF2B5EF4-FFF2-40B4-BE49-F238E27FC236}">
                  <a16:creationId xmlns:a16="http://schemas.microsoft.com/office/drawing/2014/main" id="{05D9E6FA-699B-451F-B625-63363CCAD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7477" y="40382279"/>
              <a:ext cx="1077169" cy="1191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생각 풍선: 구름 모양 32">
              <a:extLst>
                <a:ext uri="{FF2B5EF4-FFF2-40B4-BE49-F238E27FC236}">
                  <a16:creationId xmlns:a16="http://schemas.microsoft.com/office/drawing/2014/main" id="{47BB7CA6-DBB4-42DB-AA2B-5A19731E0E57}"/>
                </a:ext>
              </a:extLst>
            </p:cNvPr>
            <p:cNvSpPr/>
            <p:nvPr/>
          </p:nvSpPr>
          <p:spPr>
            <a:xfrm>
              <a:off x="11174466" y="40295531"/>
              <a:ext cx="3707584" cy="1191888"/>
            </a:xfrm>
            <a:prstGeom prst="cloudCallout">
              <a:avLst>
                <a:gd name="adj1" fmla="val 48433"/>
                <a:gd name="adj2" fmla="val 47809"/>
              </a:avLst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2400" dirty="0">
                  <a:latin typeface="아리따-돋움4.0(OTF)-Light" panose="02020603020101020101" pitchFamily="18" charset="-127"/>
                  <a:ea typeface="아리따-돋움4.0(OTF)-Light" panose="02020603020101020101" pitchFamily="18" charset="-127"/>
                </a:rPr>
                <a:t>심층　인터뷰</a:t>
              </a: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9E90407A-91DF-4BC4-84F8-A4ACE35C1B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74006" y="16487343"/>
            <a:ext cx="7914501" cy="1361294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DF307F43-34BA-474A-8985-4514DECB8681}"/>
              </a:ext>
            </a:extLst>
          </p:cNvPr>
          <p:cNvGrpSpPr/>
          <p:nvPr/>
        </p:nvGrpSpPr>
        <p:grpSpPr>
          <a:xfrm>
            <a:off x="22224001" y="7573664"/>
            <a:ext cx="8465879" cy="8216960"/>
            <a:chOff x="22132832" y="7694856"/>
            <a:chExt cx="8465879" cy="8216960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567BB3FD-87D6-4705-843D-7AB69005A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32832" y="7694856"/>
              <a:ext cx="8465879" cy="7529302"/>
            </a:xfrm>
            <a:prstGeom prst="rect">
              <a:avLst/>
            </a:prstGeom>
          </p:spPr>
        </p:pic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EAFB535-4A91-4397-811D-26A6A08C39DE}"/>
                </a:ext>
              </a:extLst>
            </p:cNvPr>
            <p:cNvGrpSpPr/>
            <p:nvPr/>
          </p:nvGrpSpPr>
          <p:grpSpPr>
            <a:xfrm rot="16200000">
              <a:off x="25463258" y="12090087"/>
              <a:ext cx="1038058" cy="6605400"/>
              <a:chOff x="21096297" y="8046672"/>
              <a:chExt cx="874512" cy="5622549"/>
            </a:xfrm>
          </p:grpSpPr>
          <p:sp>
            <p:nvSpPr>
              <p:cNvPr id="71" name="왼쪽 중괄호 70">
                <a:extLst>
                  <a:ext uri="{FF2B5EF4-FFF2-40B4-BE49-F238E27FC236}">
                    <a16:creationId xmlns:a16="http://schemas.microsoft.com/office/drawing/2014/main" id="{9903A6CD-0D50-49FD-8DBC-BFF577B85DF0}"/>
                  </a:ext>
                </a:extLst>
              </p:cNvPr>
              <p:cNvSpPr/>
              <p:nvPr/>
            </p:nvSpPr>
            <p:spPr>
              <a:xfrm>
                <a:off x="21638667" y="8046672"/>
                <a:ext cx="332142" cy="1999130"/>
              </a:xfrm>
              <a:prstGeom prst="leftBrace">
                <a:avLst>
                  <a:gd name="adj1" fmla="val 8333"/>
                  <a:gd name="adj2" fmla="val 36905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A969A36-08A1-41C9-A679-9881F5E55282}"/>
                  </a:ext>
                </a:extLst>
              </p:cNvPr>
              <p:cNvSpPr txBox="1"/>
              <p:nvPr/>
            </p:nvSpPr>
            <p:spPr>
              <a:xfrm rot="5400000">
                <a:off x="21312451" y="8656136"/>
                <a:ext cx="335593" cy="365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latin typeface="아리따-돋움4.0(OTF)-Bold" panose="02020603020101020101" pitchFamily="18" charset="-127"/>
                    <a:ea typeface="아리따-돋움4.0(OTF)-Bold" panose="02020603020101020101" pitchFamily="18" charset="-127"/>
                  </a:rPr>
                  <a:t>Ａ</a:t>
                </a:r>
                <a:endParaRPr lang="ko-KR" altLang="en-US" dirty="0">
                  <a:latin typeface="아리따-돋움4.0(OTF)-Bold" panose="02020603020101020101" pitchFamily="18" charset="-127"/>
                  <a:ea typeface="아리따-돋움4.0(OTF)-Bold" panose="02020603020101020101" pitchFamily="18" charset="-127"/>
                </a:endParaRPr>
              </a:p>
            </p:txBody>
          </p:sp>
          <p:sp>
            <p:nvSpPr>
              <p:cNvPr id="73" name="왼쪽 중괄호 72">
                <a:extLst>
                  <a:ext uri="{FF2B5EF4-FFF2-40B4-BE49-F238E27FC236}">
                    <a16:creationId xmlns:a16="http://schemas.microsoft.com/office/drawing/2014/main" id="{CAB59F9A-8C77-463B-9D67-452239F93641}"/>
                  </a:ext>
                </a:extLst>
              </p:cNvPr>
              <p:cNvSpPr/>
              <p:nvPr/>
            </p:nvSpPr>
            <p:spPr>
              <a:xfrm>
                <a:off x="21429930" y="10091550"/>
                <a:ext cx="466165" cy="1328555"/>
              </a:xfrm>
              <a:prstGeom prst="leftBrace">
                <a:avLst>
                  <a:gd name="adj1" fmla="val 8333"/>
                  <a:gd name="adj2" fmla="val 36905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4229DBE-9DE5-4CEC-9C0B-1035FB0A3FDE}"/>
                  </a:ext>
                </a:extLst>
              </p:cNvPr>
              <p:cNvSpPr txBox="1"/>
              <p:nvPr/>
            </p:nvSpPr>
            <p:spPr>
              <a:xfrm rot="5400000">
                <a:off x="21111267" y="10449123"/>
                <a:ext cx="335593" cy="365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 err="1">
                    <a:latin typeface="아리따-돋움4.0(OTF)-Bold" panose="02020603020101020101" pitchFamily="18" charset="-127"/>
                    <a:ea typeface="아리따-돋움4.0(OTF)-Bold" panose="02020603020101020101" pitchFamily="18" charset="-127"/>
                  </a:rPr>
                  <a:t>Ｂ</a:t>
                </a:r>
                <a:endParaRPr lang="ko-KR" altLang="en-US" dirty="0">
                  <a:latin typeface="아리따-돋움4.0(OTF)-Bold" panose="02020603020101020101" pitchFamily="18" charset="-127"/>
                  <a:ea typeface="아리따-돋움4.0(OTF)-Bold" panose="02020603020101020101" pitchFamily="18" charset="-127"/>
                </a:endParaRPr>
              </a:p>
            </p:txBody>
          </p:sp>
          <p:sp>
            <p:nvSpPr>
              <p:cNvPr id="75" name="왼쪽 중괄호 74">
                <a:extLst>
                  <a:ext uri="{FF2B5EF4-FFF2-40B4-BE49-F238E27FC236}">
                    <a16:creationId xmlns:a16="http://schemas.microsoft.com/office/drawing/2014/main" id="{E7B128C9-9294-4109-83BF-097646F03A21}"/>
                  </a:ext>
                </a:extLst>
              </p:cNvPr>
              <p:cNvSpPr/>
              <p:nvPr/>
            </p:nvSpPr>
            <p:spPr>
              <a:xfrm>
                <a:off x="21612376" y="11433690"/>
                <a:ext cx="332142" cy="1199216"/>
              </a:xfrm>
              <a:prstGeom prst="leftBrace">
                <a:avLst>
                  <a:gd name="adj1" fmla="val 8333"/>
                  <a:gd name="adj2" fmla="val 36905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3F4BB8F-C603-4E60-9328-439619F62211}"/>
                  </a:ext>
                </a:extLst>
              </p:cNvPr>
              <p:cNvSpPr txBox="1"/>
              <p:nvPr/>
            </p:nvSpPr>
            <p:spPr>
              <a:xfrm rot="5400000">
                <a:off x="21299544" y="11741172"/>
                <a:ext cx="330736" cy="365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아리따-돋움4.0(OTF)-Bold" panose="02020603020101020101" pitchFamily="18" charset="-127"/>
                    <a:ea typeface="아리따-돋움4.0(OTF)-Bold" panose="02020603020101020101" pitchFamily="18" charset="-127"/>
                  </a:rPr>
                  <a:t>Ｃ</a:t>
                </a:r>
                <a:endParaRPr lang="en-US" altLang="ko-KR" dirty="0">
                  <a:latin typeface="아리따-돋움4.0(OTF)-Bold" panose="02020603020101020101" pitchFamily="18" charset="-127"/>
                  <a:ea typeface="아리따-돋움4.0(OTF)-Bold" panose="02020603020101020101" pitchFamily="18" charset="-127"/>
                </a:endParaRPr>
              </a:p>
            </p:txBody>
          </p:sp>
          <p:sp>
            <p:nvSpPr>
              <p:cNvPr id="77" name="왼쪽 중괄호 76">
                <a:extLst>
                  <a:ext uri="{FF2B5EF4-FFF2-40B4-BE49-F238E27FC236}">
                    <a16:creationId xmlns:a16="http://schemas.microsoft.com/office/drawing/2014/main" id="{29176398-A19E-400F-9A77-EC6F1F9A3B40}"/>
                  </a:ext>
                </a:extLst>
              </p:cNvPr>
              <p:cNvSpPr/>
              <p:nvPr/>
            </p:nvSpPr>
            <p:spPr>
              <a:xfrm>
                <a:off x="21663012" y="12711023"/>
                <a:ext cx="287921" cy="958198"/>
              </a:xfrm>
              <a:prstGeom prst="leftBrace">
                <a:avLst>
                  <a:gd name="adj1" fmla="val 8333"/>
                  <a:gd name="adj2" fmla="val 36905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89A21A1-3FE5-4956-934A-20832DC625C2}"/>
                  </a:ext>
                </a:extLst>
              </p:cNvPr>
              <p:cNvSpPr txBox="1"/>
              <p:nvPr/>
            </p:nvSpPr>
            <p:spPr>
              <a:xfrm rot="5400000">
                <a:off x="21356568" y="12940388"/>
                <a:ext cx="340454" cy="365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>
                    <a:latin typeface="아리따-돋움4.0(OTF)-Bold" panose="02020603020101020101" pitchFamily="18" charset="-127"/>
                    <a:ea typeface="아리따-돋움4.0(OTF)-Bold" panose="02020603020101020101" pitchFamily="18" charset="-127"/>
                  </a:rPr>
                  <a:t>Ｄ</a:t>
                </a:r>
              </a:p>
            </p:txBody>
          </p:sp>
        </p:grpSp>
      </p:grpSp>
      <p:pic>
        <p:nvPicPr>
          <p:cNvPr id="44" name="그림 43">
            <a:extLst>
              <a:ext uri="{FF2B5EF4-FFF2-40B4-BE49-F238E27FC236}">
                <a16:creationId xmlns:a16="http://schemas.microsoft.com/office/drawing/2014/main" id="{EA96D8A3-C7C1-413B-B47E-2F3148E4C7D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439169" y="20234006"/>
            <a:ext cx="7120796" cy="42541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907</Words>
  <Application>Microsoft Office PowerPoint</Application>
  <PresentationFormat>사용자 지정</PresentationFormat>
  <Paragraphs>89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Batang</vt:lpstr>
      <vt:lpstr>아리따-돋움4.0(OTF)-Bold</vt:lpstr>
      <vt:lpstr>아리따-돋움4.0(OTF)-Light</vt:lpstr>
      <vt:lpstr>아리따-돋움4.0(OTF)-Thin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Brain</dc:creator>
  <cp:lastModifiedBy>USER</cp:lastModifiedBy>
  <cp:revision>35</cp:revision>
  <dcterms:created xsi:type="dcterms:W3CDTF">2016-10-11T09:46:40Z</dcterms:created>
  <dcterms:modified xsi:type="dcterms:W3CDTF">2024-12-13T19:02:06Z</dcterms:modified>
</cp:coreProperties>
</file>