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C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3" autoAdjust="0"/>
    <p:restoredTop sz="95355" autoAdjust="0"/>
  </p:normalViewPr>
  <p:slideViewPr>
    <p:cSldViewPr snapToGrid="0">
      <p:cViewPr>
        <p:scale>
          <a:sx n="25" d="100"/>
          <a:sy n="25" d="100"/>
        </p:scale>
        <p:origin x="1598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92006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2004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g"/><Relationship Id="rId19" Type="http://schemas.openxmlformats.org/officeDocument/2006/relationships/image" Target="../media/image17.emf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직사각형 200"/>
          <p:cNvSpPr/>
          <p:nvPr/>
        </p:nvSpPr>
        <p:spPr>
          <a:xfrm>
            <a:off x="15406703" y="24662159"/>
            <a:ext cx="13462775" cy="11918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직사각형 199"/>
          <p:cNvSpPr/>
          <p:nvPr/>
        </p:nvSpPr>
        <p:spPr>
          <a:xfrm>
            <a:off x="15406703" y="7730278"/>
            <a:ext cx="12756817" cy="55730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5406703" y="13337720"/>
            <a:ext cx="10270189" cy="6131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049" y="466802"/>
            <a:ext cx="4365056" cy="447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8600" y="1303147"/>
            <a:ext cx="4724751" cy="4533989"/>
          </a:xfrm>
          <a:prstGeom prst="rect">
            <a:avLst/>
          </a:prstGeom>
        </p:spPr>
      </p:pic>
      <p:sp>
        <p:nvSpPr>
          <p:cNvPr id="84" name="Google Shape;84;p1"/>
          <p:cNvSpPr/>
          <p:nvPr/>
        </p:nvSpPr>
        <p:spPr>
          <a:xfrm>
            <a:off x="3667959" y="1182630"/>
            <a:ext cx="25925730" cy="4680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 latinLnBrk="1"/>
            <a:r>
              <a:rPr lang="en-US" altLang="ko-KR" sz="8000" b="1" dirty="0"/>
              <a:t>Language </a:t>
            </a:r>
            <a:r>
              <a:rPr lang="en-US" altLang="ko-KR" sz="8000" b="1" dirty="0" smtClean="0"/>
              <a:t>Development and Event Boundaries</a:t>
            </a:r>
          </a:p>
          <a:p>
            <a:pPr algn="ctr" latinLnBrk="1"/>
            <a:r>
              <a:rPr lang="en-US" altLang="ko-KR" sz="8000" b="1" dirty="0" smtClean="0"/>
              <a:t>in Children’s </a:t>
            </a:r>
            <a:r>
              <a:rPr lang="en-US" altLang="ko-KR" sz="8000" b="1" dirty="0"/>
              <a:t>Episodic </a:t>
            </a:r>
            <a:r>
              <a:rPr lang="en-US" altLang="ko-KR" sz="8000" b="1" dirty="0" smtClean="0"/>
              <a:t>Memory</a:t>
            </a:r>
          </a:p>
          <a:p>
            <a:pPr algn="ctr" latinLnBrk="1"/>
            <a:endParaRPr lang="en-US" sz="1461" dirty="0" smtClean="0"/>
          </a:p>
          <a:p>
            <a:pPr algn="ctr" latinLnBrk="1"/>
            <a:endParaRPr sz="1461" dirty="0"/>
          </a:p>
          <a:p>
            <a:pPr algn="ctr"/>
            <a:r>
              <a:rPr lang="en-US" altLang="ko-KR" sz="3630" b="1" dirty="0" err="1">
                <a:latin typeface="Calibri" panose="020F0502020204030204" pitchFamily="34" charset="0"/>
                <a:cs typeface="Calibri" panose="020F0502020204030204" pitchFamily="34" charset="0"/>
              </a:rPr>
              <a:t>Chaeyoung</a:t>
            </a:r>
            <a:r>
              <a:rPr lang="en-US" altLang="ko-KR" sz="3630" b="1" dirty="0">
                <a:latin typeface="Calibri" panose="020F0502020204030204" pitchFamily="34" charset="0"/>
                <a:cs typeface="Calibri" panose="020F0502020204030204" pitchFamily="34" charset="0"/>
              </a:rPr>
              <a:t> Lee</a:t>
            </a:r>
            <a:r>
              <a:rPr lang="en-US" altLang="ko-KR" sz="3630" dirty="0">
                <a:latin typeface="Calibri" panose="020F0502020204030204" pitchFamily="34" charset="0"/>
                <a:cs typeface="Calibri" panose="020F0502020204030204" pitchFamily="34" charset="0"/>
              </a:rPr>
              <a:t>, advised by </a:t>
            </a:r>
            <a:r>
              <a:rPr lang="en-US" altLang="ko-KR" sz="3630" dirty="0" smtClean="0">
                <a:latin typeface="Calibri" panose="020F0502020204030204" pitchFamily="34" charset="0"/>
                <a:cs typeface="Calibri" panose="020F0502020204030204" pitchFamily="34" charset="0"/>
              </a:rPr>
              <a:t>Yu Jin </a:t>
            </a:r>
            <a:r>
              <a:rPr lang="en-US" altLang="ko-KR" sz="3630" dirty="0">
                <a:latin typeface="Calibri" panose="020F0502020204030204" pitchFamily="34" charset="0"/>
                <a:cs typeface="Calibri" panose="020F0502020204030204" pitchFamily="34" charset="0"/>
              </a:rPr>
              <a:t>Rah and Dr. Sang Ah Lee</a:t>
            </a:r>
          </a:p>
          <a:p>
            <a:pPr algn="ctr"/>
            <a:r>
              <a:rPr lang="en-US" altLang="ko-KR" sz="3630" dirty="0">
                <a:latin typeface="Calibri" panose="020F0502020204030204" pitchFamily="34" charset="0"/>
                <a:cs typeface="Calibri" panose="020F0502020204030204" pitchFamily="34" charset="0"/>
              </a:rPr>
              <a:t>Developmental Cognitive Neuroscience Lab</a:t>
            </a:r>
          </a:p>
          <a:p>
            <a:pPr algn="ctr"/>
            <a:r>
              <a:rPr lang="en-US" altLang="ko-KR" sz="3630" dirty="0">
                <a:latin typeface="Calibri" panose="020F0502020204030204" pitchFamily="34" charset="0"/>
                <a:cs typeface="Calibri" panose="020F0502020204030204" pitchFamily="34" charset="0"/>
              </a:rPr>
              <a:t>College of Nursing |  Seoul National University | </a:t>
            </a:r>
            <a:r>
              <a:rPr lang="en-US" altLang="ko-KR" sz="3630" dirty="0" smtClean="0">
                <a:latin typeface="Calibri" panose="020F0502020204030204" pitchFamily="34" charset="0"/>
                <a:cs typeface="Calibri" panose="020F0502020204030204" pitchFamily="34" charset="0"/>
              </a:rPr>
              <a:t>leecy0130@snu.ac.kr</a:t>
            </a:r>
            <a:endParaRPr sz="24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701040" y="6300271"/>
            <a:ext cx="13992935" cy="9847812"/>
            <a:chOff x="699916" y="7415151"/>
            <a:chExt cx="19004401" cy="7250753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10"/>
              <a:ext cx="19002509" cy="642639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INTRODUCTION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702408" y="21513546"/>
            <a:ext cx="13991542" cy="15385179"/>
            <a:chOff x="414164" y="18140721"/>
            <a:chExt cx="16567491" cy="17652431"/>
          </a:xfrm>
        </p:grpSpPr>
        <p:sp>
          <p:nvSpPr>
            <p:cNvPr id="90" name="Google Shape;90;p1"/>
            <p:cNvSpPr/>
            <p:nvPr/>
          </p:nvSpPr>
          <p:spPr>
            <a:xfrm>
              <a:off x="421655" y="19111243"/>
              <a:ext cx="16560000" cy="1668190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140721"/>
              <a:ext cx="16560000" cy="122340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METHODS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4965674" y="37080010"/>
            <a:ext cx="16737457" cy="3476903"/>
            <a:chOff x="33775710" y="16127703"/>
            <a:chExt cx="16308000" cy="5495618"/>
          </a:xfrm>
        </p:grpSpPr>
        <p:sp>
          <p:nvSpPr>
            <p:cNvPr id="93" name="Google Shape;93;p1"/>
            <p:cNvSpPr/>
            <p:nvPr/>
          </p:nvSpPr>
          <p:spPr>
            <a:xfrm>
              <a:off x="33775710" y="17050820"/>
              <a:ext cx="16308000" cy="4572501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sz="323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0" y="16127703"/>
              <a:ext cx="16308000" cy="1646678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 smtClean="0">
                  <a:solidFill>
                    <a:srgbClr val="FFFFFF"/>
                  </a:solidFill>
                </a:rPr>
                <a:t>DISSCUSION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4965672" y="6300272"/>
            <a:ext cx="16737459" cy="30628939"/>
            <a:chOff x="15610114" y="15456602"/>
            <a:chExt cx="14366634" cy="6869462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701055"/>
              <a:ext cx="14366632" cy="6625009"/>
            </a:xfrm>
            <a:prstGeom prst="rect">
              <a:avLst/>
            </a:prstGeom>
            <a:noFill/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456602"/>
              <a:ext cx="14366633" cy="25026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RESULTS</a:t>
              </a:r>
              <a:endParaRPr sz="4441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5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699648" y="22892232"/>
            <a:ext cx="13934199" cy="13973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600" b="1" dirty="0" smtClean="0"/>
              <a:t> Participants</a:t>
            </a:r>
          </a:p>
          <a:p>
            <a:pPr algn="just"/>
            <a:r>
              <a:rPr lang="en-US" altLang="ko-KR" sz="3600" dirty="0" smtClean="0"/>
              <a:t> :</a:t>
            </a:r>
            <a:r>
              <a:rPr lang="ko-KR" altLang="en-US" sz="3600" dirty="0" smtClean="0"/>
              <a:t> </a:t>
            </a:r>
            <a:r>
              <a:rPr lang="en-US" altLang="ko-KR" sz="3600" dirty="0" smtClean="0"/>
              <a:t>34 Children aged 7~8 years (18</a:t>
            </a:r>
            <a:r>
              <a:rPr lang="ko-KR" altLang="en-US" sz="3600" dirty="0" smtClean="0"/>
              <a:t> </a:t>
            </a:r>
            <a:r>
              <a:rPr lang="en-US" altLang="ko-KR" sz="3600" dirty="0" smtClean="0"/>
              <a:t>girls), </a:t>
            </a:r>
            <a:r>
              <a:rPr lang="en-US" altLang="ko-KR" sz="3600" dirty="0"/>
              <a:t>m</a:t>
            </a:r>
            <a:r>
              <a:rPr lang="en-US" altLang="ko-KR" sz="3600" dirty="0" smtClean="0"/>
              <a:t>ean </a:t>
            </a:r>
            <a:r>
              <a:rPr lang="en-US" altLang="ko-KR" sz="3600" dirty="0"/>
              <a:t>(</a:t>
            </a:r>
            <a:r>
              <a:rPr lang="en-US" altLang="ko-KR" sz="3600" dirty="0" smtClean="0"/>
              <a:t>SD)</a:t>
            </a:r>
            <a:r>
              <a:rPr lang="en-US" altLang="ko-KR" sz="3600" baseline="-25000" dirty="0" smtClean="0"/>
              <a:t>age</a:t>
            </a:r>
            <a:r>
              <a:rPr lang="en-US" altLang="ko-KR" sz="3600" dirty="0" smtClean="0"/>
              <a:t> </a:t>
            </a:r>
            <a:r>
              <a:rPr lang="en-US" altLang="ko-KR" sz="3600" dirty="0"/>
              <a:t>= 7.90 (0.60</a:t>
            </a:r>
            <a:r>
              <a:rPr lang="en-US" altLang="ko-KR" sz="3600" dirty="0" smtClean="0"/>
              <a:t>)</a:t>
            </a:r>
          </a:p>
          <a:p>
            <a:pPr algn="just"/>
            <a:endParaRPr lang="en-US" altLang="ko-KR" sz="1800" dirty="0" smtClean="0"/>
          </a:p>
          <a:p>
            <a:pPr algn="just"/>
            <a:r>
              <a:rPr lang="en-US" altLang="ko-KR" sz="3600" b="1" dirty="0" smtClean="0"/>
              <a:t> Experimental Design &amp; Procedure </a:t>
            </a:r>
          </a:p>
          <a:p>
            <a:pPr algn="just"/>
            <a:endParaRPr lang="en-US" altLang="ko-KR" sz="3600" b="1" dirty="0"/>
          </a:p>
          <a:p>
            <a:pPr algn="just"/>
            <a:endParaRPr lang="en-US" altLang="ko-KR" sz="3600" b="1" dirty="0" smtClean="0"/>
          </a:p>
          <a:p>
            <a:pPr algn="just"/>
            <a:endParaRPr lang="en-US" altLang="ko-KR" sz="1800" b="1" dirty="0" smtClean="0"/>
          </a:p>
          <a:p>
            <a:pPr algn="just"/>
            <a:r>
              <a:rPr lang="en-US" altLang="ko-KR" sz="3600" dirty="0" smtClean="0"/>
              <a:t> </a:t>
            </a:r>
            <a:r>
              <a:rPr lang="en-US" altLang="ko-KR" sz="3600" b="1" dirty="0" smtClean="0"/>
              <a:t>8 Video Conditions</a:t>
            </a:r>
            <a:r>
              <a:rPr lang="en-US" altLang="ko-KR" sz="3600" dirty="0" smtClean="0"/>
              <a:t> (~1 min each)</a:t>
            </a:r>
          </a:p>
          <a:p>
            <a:pPr algn="just"/>
            <a:r>
              <a:rPr lang="en-US" altLang="ko-KR" sz="3600" dirty="0"/>
              <a:t> </a:t>
            </a:r>
            <a:r>
              <a:rPr lang="en-US" altLang="ko-KR" sz="3600" dirty="0" smtClean="0"/>
              <a:t> - 2 (Spatial shift</a:t>
            </a:r>
            <a:r>
              <a:rPr lang="ko-KR" altLang="en-US" sz="3600" dirty="0" smtClean="0"/>
              <a:t> </a:t>
            </a:r>
            <a:r>
              <a:rPr lang="en-US" altLang="ko-KR" sz="3600" dirty="0" smtClean="0"/>
              <a:t>O vs. X)  - 2 (Causal vs. Parallel) </a:t>
            </a:r>
          </a:p>
          <a:p>
            <a:pPr algn="just"/>
            <a:r>
              <a:rPr lang="en-US" altLang="ko-KR" sz="3600" dirty="0"/>
              <a:t> </a:t>
            </a:r>
            <a:r>
              <a:rPr lang="en-US" altLang="ko-KR" sz="3600" dirty="0" smtClean="0"/>
              <a:t> - 2 (Character: Animal vs. Human)</a:t>
            </a:r>
          </a:p>
          <a:p>
            <a:pPr algn="just"/>
            <a:endParaRPr lang="en-US" altLang="ko-KR" sz="3600" dirty="0"/>
          </a:p>
          <a:p>
            <a:pPr algn="just"/>
            <a:endParaRPr lang="en-US" altLang="ko-KR" sz="3600" dirty="0" smtClean="0"/>
          </a:p>
          <a:p>
            <a:pPr algn="just"/>
            <a:endParaRPr lang="en-US" altLang="ko-KR" sz="3600" dirty="0"/>
          </a:p>
          <a:p>
            <a:pPr algn="just"/>
            <a:endParaRPr lang="en-US" altLang="ko-KR" sz="3600" dirty="0" smtClean="0"/>
          </a:p>
          <a:p>
            <a:pPr algn="just"/>
            <a:endParaRPr lang="en-US" altLang="ko-KR" sz="3600" dirty="0"/>
          </a:p>
          <a:p>
            <a:pPr algn="just"/>
            <a:endParaRPr lang="en-US" altLang="ko-KR" sz="3600" dirty="0" smtClean="0"/>
          </a:p>
          <a:p>
            <a:pPr algn="just"/>
            <a:endParaRPr lang="en-US" altLang="ko-KR" sz="3600" dirty="0"/>
          </a:p>
          <a:p>
            <a:pPr algn="just"/>
            <a:endParaRPr lang="en-US" altLang="ko-KR" sz="2400" dirty="0"/>
          </a:p>
          <a:p>
            <a:pPr algn="just"/>
            <a:r>
              <a:rPr lang="en-US" altLang="ko-KR" sz="3600" b="1" dirty="0" smtClean="0"/>
              <a:t> Measurements</a:t>
            </a:r>
          </a:p>
          <a:p>
            <a:pPr algn="just"/>
            <a:r>
              <a:rPr lang="en-US" altLang="ko-KR" sz="3600" b="1" dirty="0"/>
              <a:t> </a:t>
            </a:r>
            <a:r>
              <a:rPr lang="en-US" altLang="ko-KR" sz="3600" b="1" dirty="0" smtClean="0"/>
              <a:t>1. Recall Accuracy: Cosine Similarity</a:t>
            </a:r>
          </a:p>
          <a:p>
            <a:pPr algn="just"/>
            <a:r>
              <a:rPr lang="en-US" altLang="ko-KR" sz="3600" dirty="0" smtClean="0"/>
              <a:t>  </a:t>
            </a:r>
            <a:r>
              <a:rPr lang="en-US" altLang="ko-KR" sz="3600" dirty="0" smtClean="0"/>
              <a:t>Compare children’s free recall text with answer sheet </a:t>
            </a:r>
          </a:p>
          <a:p>
            <a:pPr algn="just"/>
            <a:endParaRPr lang="en-US" altLang="ko-KR" sz="1600" dirty="0"/>
          </a:p>
          <a:p>
            <a:pPr algn="just"/>
            <a:r>
              <a:rPr lang="en-US" altLang="ko-KR" sz="3600" b="1" dirty="0"/>
              <a:t> </a:t>
            </a:r>
            <a:r>
              <a:rPr lang="en-US" altLang="ko-KR" sz="3600" b="1" dirty="0" smtClean="0"/>
              <a:t>2. </a:t>
            </a:r>
            <a:r>
              <a:rPr lang="en-US" altLang="ko-KR" sz="3600" b="1" dirty="0"/>
              <a:t>L</a:t>
            </a:r>
            <a:r>
              <a:rPr lang="en-US" altLang="ko-KR" sz="3600" b="1" dirty="0" smtClean="0"/>
              <a:t>anguage Development Level</a:t>
            </a:r>
          </a:p>
          <a:p>
            <a:pPr algn="just"/>
            <a:r>
              <a:rPr lang="en-US" altLang="ko-KR" sz="3600" b="1" dirty="0"/>
              <a:t> </a:t>
            </a:r>
            <a:r>
              <a:rPr lang="en-US" altLang="ko-KR" sz="3600" dirty="0" smtClean="0"/>
              <a:t>: Number of </a:t>
            </a:r>
            <a:r>
              <a:rPr lang="en-US" altLang="ko-KR" sz="3600" dirty="0" err="1" smtClean="0"/>
              <a:t>total</a:t>
            </a:r>
            <a:r>
              <a:rPr lang="en-US" altLang="ko-KR" sz="3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en-US" altLang="ko-KR" sz="3600" dirty="0" err="1" smtClean="0"/>
              <a:t>unique</a:t>
            </a:r>
            <a:r>
              <a:rPr lang="en-US" altLang="ko-KR" sz="3600" dirty="0" smtClean="0"/>
              <a:t> words</a:t>
            </a:r>
            <a:r>
              <a:rPr lang="en-US" altLang="ko-KR" sz="3600" dirty="0"/>
              <a:t> </a:t>
            </a:r>
            <a:r>
              <a:rPr lang="en-US" altLang="ko-KR" sz="3600" dirty="0" smtClean="0"/>
              <a:t>&amp; words per sentence,</a:t>
            </a:r>
          </a:p>
          <a:p>
            <a:pPr algn="just"/>
            <a:r>
              <a:rPr lang="en-US" altLang="ko-KR" sz="3600" dirty="0"/>
              <a:t>  </a:t>
            </a:r>
            <a:r>
              <a:rPr lang="en-US" altLang="ko-KR" sz="3600" dirty="0" smtClean="0"/>
              <a:t> </a:t>
            </a:r>
            <a:r>
              <a:rPr lang="en-US" altLang="ko-KR" sz="3600" spc="-100" dirty="0" smtClean="0"/>
              <a:t>Variety </a:t>
            </a:r>
            <a:r>
              <a:rPr lang="en-US" altLang="ko-KR" sz="3600" spc="-100" dirty="0"/>
              <a:t>of </a:t>
            </a:r>
            <a:r>
              <a:rPr lang="en-US" altLang="ko-KR" sz="3600" spc="-100" dirty="0" smtClean="0"/>
              <a:t>words, Average </a:t>
            </a:r>
            <a:r>
              <a:rPr lang="en-US" altLang="ko-KR" sz="3600" spc="-100" dirty="0"/>
              <a:t>sentence length, </a:t>
            </a:r>
            <a:r>
              <a:rPr lang="en-US" altLang="ko-KR" sz="3600" spc="-100" dirty="0" smtClean="0"/>
              <a:t>Grammatical complexity,</a:t>
            </a:r>
          </a:p>
          <a:p>
            <a:pPr algn="just"/>
            <a:r>
              <a:rPr lang="en-US" altLang="ko-KR" sz="3600" dirty="0"/>
              <a:t> </a:t>
            </a:r>
            <a:r>
              <a:rPr lang="en-US" altLang="ko-KR" sz="3600" dirty="0" smtClean="0"/>
              <a:t>  Proportion </a:t>
            </a:r>
            <a:r>
              <a:rPr lang="en-US" altLang="ko-KR" sz="3600" dirty="0"/>
              <a:t>of compound </a:t>
            </a:r>
            <a:r>
              <a:rPr lang="en-US" altLang="ko-KR" sz="3600" dirty="0" smtClean="0"/>
              <a:t>sentences, </a:t>
            </a:r>
          </a:p>
          <a:p>
            <a:pPr algn="just"/>
            <a:r>
              <a:rPr lang="en-US" altLang="ko-KR" sz="3600" dirty="0"/>
              <a:t> </a:t>
            </a:r>
            <a:r>
              <a:rPr lang="en-US" altLang="ko-KR" sz="3600" dirty="0" smtClean="0"/>
              <a:t>                     &amp; parts </a:t>
            </a:r>
            <a:r>
              <a:rPr lang="en-US" altLang="ko-KR" sz="3600" dirty="0"/>
              <a:t>of speech (nouns, verbs, adjectives, adverbs</a:t>
            </a:r>
            <a:r>
              <a:rPr lang="en-US" altLang="ko-KR" sz="3600" dirty="0" smtClean="0"/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677" y="40704426"/>
            <a:ext cx="150208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en-US" altLang="ko-KR" sz="1800" b="1" dirty="0" smtClean="0"/>
              <a:t>Reference</a:t>
            </a:r>
          </a:p>
          <a:p>
            <a:pPr lvl="0" latinLnBrk="0"/>
            <a:r>
              <a:rPr lang="en-US" altLang="ko-KR" sz="1600" dirty="0" smtClean="0"/>
              <a:t>1. </a:t>
            </a:r>
            <a:r>
              <a:rPr lang="en-US" altLang="ko-KR" sz="1600" dirty="0" err="1" smtClean="0"/>
              <a:t>Ghetti</a:t>
            </a:r>
            <a:r>
              <a:rPr lang="en-US" altLang="ko-KR" sz="1600" dirty="0"/>
              <a:t>, S., &amp; Lee, J. K. (2011). Children’s episodic memory. Wiley Interdisciplinary Reviews: Cognitive </a:t>
            </a:r>
            <a:endParaRPr lang="en-US" altLang="ko-KR" sz="1600" dirty="0" smtClean="0"/>
          </a:p>
          <a:p>
            <a:pPr lvl="0" latinLnBrk="0"/>
            <a:r>
              <a:rPr lang="en-US" altLang="ko-KR" sz="1600" dirty="0" smtClean="0"/>
              <a:t>2. </a:t>
            </a:r>
            <a:r>
              <a:rPr lang="en-US" altLang="ko-KR" sz="1600" dirty="0" err="1" smtClean="0"/>
              <a:t>Clewett</a:t>
            </a:r>
            <a:r>
              <a:rPr lang="en-US" altLang="ko-KR" sz="1600" dirty="0"/>
              <a:t>, D., </a:t>
            </a:r>
            <a:r>
              <a:rPr lang="en-US" altLang="ko-KR" sz="1600" dirty="0" err="1"/>
              <a:t>DuBrow</a:t>
            </a:r>
            <a:r>
              <a:rPr lang="en-US" altLang="ko-KR" sz="1600" dirty="0"/>
              <a:t>, S., &amp; </a:t>
            </a:r>
            <a:r>
              <a:rPr lang="en-US" altLang="ko-KR" sz="1600" dirty="0" err="1"/>
              <a:t>Davachi</a:t>
            </a:r>
            <a:r>
              <a:rPr lang="en-US" altLang="ko-KR" sz="1600" dirty="0"/>
              <a:t>, L. (2019). Transcending time in the brain: How event memories are constructed from experience. Hippocampus</a:t>
            </a:r>
            <a:endParaRPr lang="ko-KR" altLang="ko-KR" sz="1600" dirty="0"/>
          </a:p>
          <a:p>
            <a:r>
              <a:rPr lang="en-US" altLang="ko-KR" sz="1600" dirty="0" smtClean="0"/>
              <a:t>3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Benear</a:t>
            </a:r>
            <a:r>
              <a:rPr lang="en-US" altLang="ko-KR" sz="1600" dirty="0"/>
              <a:t>, S. L., </a:t>
            </a:r>
            <a:r>
              <a:rPr lang="en-US" altLang="ko-KR" sz="1600" dirty="0" err="1"/>
              <a:t>Onwukanjo</a:t>
            </a:r>
            <a:r>
              <a:rPr lang="en-US" altLang="ko-KR" sz="1600" dirty="0"/>
              <a:t>, O. J., Olson, I. R., &amp; </a:t>
            </a:r>
            <a:r>
              <a:rPr lang="en-US" altLang="ko-KR" sz="1600" dirty="0" err="1"/>
              <a:t>Newcombe</a:t>
            </a:r>
            <a:r>
              <a:rPr lang="en-US" altLang="ko-KR" sz="1600" dirty="0"/>
              <a:t>, N. S. (2024). Children’s Memory for Events: The Challenge of Free Recall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en-US" altLang="ko-KR" sz="1600" dirty="0"/>
              <a:t>Journal of Cognitive </a:t>
            </a:r>
            <a:r>
              <a:rPr lang="en-US" altLang="ko-KR" sz="1600" dirty="0" smtClean="0"/>
              <a:t>Neuroscience</a:t>
            </a:r>
          </a:p>
          <a:p>
            <a:r>
              <a:rPr lang="en-US" altLang="ko-KR" sz="1600" dirty="0"/>
              <a:t>4. </a:t>
            </a:r>
            <a:r>
              <a:rPr lang="en-US" altLang="ko-KR" sz="1600" dirty="0" err="1"/>
              <a:t>Gathercole</a:t>
            </a:r>
            <a:r>
              <a:rPr lang="en-US" altLang="ko-KR" sz="1600" dirty="0"/>
              <a:t>, S. E., Pickering, S. J., Ambridge, B., &amp; Wearing, H. (2004). The structure of working memory from 4 to 15 years of age. Developmental </a:t>
            </a:r>
            <a:r>
              <a:rPr lang="en-US" altLang="ko-KR" sz="1600" dirty="0" smtClean="0"/>
              <a:t>Psychology</a:t>
            </a:r>
            <a:endParaRPr lang="en-US" altLang="ko-KR" sz="1600" dirty="0"/>
          </a:p>
          <a:p>
            <a:r>
              <a:rPr lang="en-US" altLang="ko-KR" sz="1600" dirty="0" smtClean="0"/>
              <a:t>5. </a:t>
            </a:r>
            <a:r>
              <a:rPr lang="en-US" altLang="ko-KR" sz="1600" dirty="0"/>
              <a:t>Nils </a:t>
            </a:r>
            <a:r>
              <a:rPr lang="en-US" altLang="ko-KR" sz="1600" dirty="0" err="1"/>
              <a:t>Reimers</a:t>
            </a:r>
            <a:r>
              <a:rPr lang="en-US" altLang="ko-KR" sz="1600" dirty="0"/>
              <a:t> and </a:t>
            </a:r>
            <a:r>
              <a:rPr lang="en-US" altLang="ko-KR" sz="1600" dirty="0" err="1"/>
              <a:t>Iryna</a:t>
            </a:r>
            <a:r>
              <a:rPr lang="en-US" altLang="ko-KR" sz="1600" dirty="0"/>
              <a:t> </a:t>
            </a:r>
            <a:r>
              <a:rPr lang="en-US" altLang="ko-KR" sz="1600" dirty="0" err="1" smtClean="0"/>
              <a:t>Gurevych</a:t>
            </a:r>
            <a:r>
              <a:rPr lang="en-US" altLang="ko-KR" sz="1600" dirty="0"/>
              <a:t> (2019). Sentence-BERT: Sentence </a:t>
            </a:r>
            <a:r>
              <a:rPr lang="en-US" altLang="ko-KR" sz="1600" dirty="0" err="1"/>
              <a:t>Embeddings</a:t>
            </a:r>
            <a:r>
              <a:rPr lang="en-US" altLang="ko-KR" sz="1600" dirty="0"/>
              <a:t> using Siamese BERT-Networks. Ubiquitous Knowledge </a:t>
            </a:r>
            <a:r>
              <a:rPr lang="en-US" altLang="ko-KR" sz="1800" dirty="0"/>
              <a:t>Processing </a:t>
            </a:r>
            <a:r>
              <a:rPr lang="en-US" altLang="ko-KR" sz="1800" dirty="0" smtClean="0"/>
              <a:t>Lab</a:t>
            </a:r>
          </a:p>
          <a:p>
            <a:r>
              <a:rPr lang="en-US" altLang="ko-KR" sz="1600" dirty="0" smtClean="0"/>
              <a:t>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63877" y="14791805"/>
            <a:ext cx="155841" cy="31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5076851" y="13276975"/>
            <a:ext cx="16395682" cy="1336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/>
              <a:t>  2. Language Development</a:t>
            </a:r>
            <a:r>
              <a:rPr lang="ko-KR" altLang="en-US" sz="3600" b="1" dirty="0" smtClean="0"/>
              <a:t> ↑  </a:t>
            </a:r>
            <a:r>
              <a:rPr lang="en-US" altLang="ko-KR" sz="3600" b="1" dirty="0" smtClean="0"/>
              <a:t>Recall Accuracy</a:t>
            </a:r>
            <a:r>
              <a:rPr lang="ko-KR" altLang="en-US" sz="3600" b="1" dirty="0" smtClean="0"/>
              <a:t> ↑</a:t>
            </a:r>
            <a:r>
              <a:rPr lang="en-US" altLang="ko-KR" sz="3600" b="1" dirty="0" smtClean="0"/>
              <a:t> </a:t>
            </a:r>
          </a:p>
          <a:p>
            <a:r>
              <a:rPr lang="en-US" altLang="ko-KR" sz="3420" b="1" dirty="0" smtClean="0"/>
              <a:t> </a:t>
            </a:r>
          </a:p>
          <a:p>
            <a:endParaRPr lang="en-US" altLang="ko-KR" sz="3420" b="1" dirty="0" smtClean="0"/>
          </a:p>
          <a:p>
            <a:endParaRPr lang="en-US" altLang="ko-KR" sz="3420" b="1" dirty="0"/>
          </a:p>
          <a:p>
            <a:endParaRPr lang="en-US" altLang="ko-KR" sz="3420" b="1" dirty="0" smtClean="0"/>
          </a:p>
          <a:p>
            <a:endParaRPr lang="en-US" altLang="ko-KR" sz="3420" b="1" dirty="0"/>
          </a:p>
          <a:p>
            <a:endParaRPr lang="en-US" altLang="ko-KR" sz="3420" b="1" dirty="0" smtClean="0"/>
          </a:p>
          <a:p>
            <a:endParaRPr lang="en-US" altLang="ko-KR" sz="3420" b="1" dirty="0"/>
          </a:p>
          <a:p>
            <a:endParaRPr lang="en-US" altLang="ko-KR" sz="3420" b="1" dirty="0" smtClean="0"/>
          </a:p>
          <a:p>
            <a:endParaRPr lang="en-US" altLang="ko-KR" sz="3420" b="1" dirty="0"/>
          </a:p>
          <a:p>
            <a:endParaRPr lang="en-US" altLang="ko-KR" sz="3420" b="1" dirty="0" smtClean="0"/>
          </a:p>
          <a:p>
            <a:endParaRPr lang="en-US" altLang="ko-KR" sz="3420" b="1" dirty="0" smtClean="0"/>
          </a:p>
          <a:p>
            <a:endParaRPr lang="en-US" altLang="ko-KR" sz="3420" b="1" dirty="0" smtClean="0"/>
          </a:p>
          <a:p>
            <a:r>
              <a:rPr lang="en-US" altLang="ko-KR" sz="3420" b="1" dirty="0" smtClean="0"/>
              <a:t>  </a:t>
            </a:r>
          </a:p>
          <a:p>
            <a:endParaRPr lang="en-US" altLang="ko-KR" sz="3420" b="1" dirty="0" smtClean="0"/>
          </a:p>
          <a:p>
            <a:endParaRPr lang="en-US" altLang="ko-KR" sz="3420" b="1" dirty="0"/>
          </a:p>
          <a:p>
            <a:endParaRPr lang="en-US" altLang="ko-KR" sz="3420" b="1" dirty="0" smtClean="0"/>
          </a:p>
          <a:p>
            <a:endParaRPr lang="en-US" altLang="ko-KR" sz="3420" b="1" dirty="0"/>
          </a:p>
          <a:p>
            <a:endParaRPr lang="en-US" altLang="ko-KR" sz="3420" b="1" dirty="0" smtClean="0"/>
          </a:p>
          <a:p>
            <a:endParaRPr lang="en-US" altLang="ko-KR" sz="2000" b="1" dirty="0" smtClean="0"/>
          </a:p>
          <a:p>
            <a:endParaRPr lang="en-US" altLang="ko-KR" sz="2000" b="1" dirty="0"/>
          </a:p>
          <a:p>
            <a:endParaRPr lang="en-US" altLang="ko-KR" sz="3420" dirty="0" smtClean="0"/>
          </a:p>
          <a:p>
            <a:endParaRPr lang="en-US" altLang="ko-KR" sz="3420" dirty="0"/>
          </a:p>
          <a:p>
            <a:endParaRPr lang="en-US" altLang="ko-KR" sz="3420" dirty="0" smtClean="0"/>
          </a:p>
          <a:p>
            <a:endParaRPr lang="en-US" altLang="ko-KR" sz="3420" dirty="0"/>
          </a:p>
          <a:p>
            <a:endParaRPr lang="en-US" altLang="ko-KR" sz="3420" dirty="0"/>
          </a:p>
        </p:txBody>
      </p:sp>
      <p:sp>
        <p:nvSpPr>
          <p:cNvPr id="28" name="TextBox 27"/>
          <p:cNvSpPr txBox="1"/>
          <p:nvPr/>
        </p:nvSpPr>
        <p:spPr>
          <a:xfrm>
            <a:off x="699648" y="7577126"/>
            <a:ext cx="13949308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/>
              <a:t> Episodic </a:t>
            </a:r>
            <a:r>
              <a:rPr lang="en-US" altLang="ko-KR" sz="3600" b="1" dirty="0"/>
              <a:t>Memory &amp; Event </a:t>
            </a:r>
            <a:r>
              <a:rPr lang="en-US" altLang="ko-KR" sz="3600" b="1" dirty="0" smtClean="0"/>
              <a:t>Boundary</a:t>
            </a:r>
            <a:r>
              <a:rPr lang="en-US" altLang="ko-KR" sz="3600" baseline="30000" dirty="0" smtClean="0"/>
              <a:t>1-2</a:t>
            </a:r>
            <a:endParaRPr lang="en-US" altLang="ko-KR" sz="3600" baseline="30000" dirty="0"/>
          </a:p>
          <a:p>
            <a:r>
              <a:rPr lang="en-US" altLang="ko-KR" sz="3600" dirty="0" smtClean="0"/>
              <a:t> - </a:t>
            </a:r>
            <a:r>
              <a:rPr lang="en-US" altLang="ko-KR" sz="3600" dirty="0" smtClean="0"/>
              <a:t>Age </a:t>
            </a:r>
            <a:r>
              <a:rPr lang="ko-KR" altLang="en-US" sz="3600" dirty="0"/>
              <a:t>↑</a:t>
            </a:r>
            <a:r>
              <a:rPr lang="en-US" altLang="ko-KR" sz="3600" dirty="0" smtClean="0"/>
              <a:t>  </a:t>
            </a:r>
            <a:r>
              <a:rPr lang="en-US" altLang="ko-KR" sz="3600" dirty="0"/>
              <a:t>R</a:t>
            </a:r>
            <a:r>
              <a:rPr lang="en-US" altLang="ko-KR" sz="3600" dirty="0" smtClean="0"/>
              <a:t>ecall &amp; Cognitive sophistication </a:t>
            </a:r>
            <a:r>
              <a:rPr lang="ko-KR" altLang="en-US" sz="3600" dirty="0" smtClean="0"/>
              <a:t>↑</a:t>
            </a:r>
            <a:r>
              <a:rPr lang="en-US" altLang="ko-KR" sz="3600" dirty="0" smtClean="0"/>
              <a:t> </a:t>
            </a:r>
          </a:p>
          <a:p>
            <a:r>
              <a:rPr lang="en-US" altLang="ko-KR" sz="3600" dirty="0" smtClean="0"/>
              <a:t> </a:t>
            </a:r>
            <a:r>
              <a:rPr lang="en-US" altLang="ko-KR" sz="3600" dirty="0" smtClean="0"/>
              <a:t>- Event </a:t>
            </a:r>
            <a:r>
              <a:rPr lang="en-US" altLang="ko-KR" sz="3600" dirty="0" smtClean="0"/>
              <a:t>boundaries(Spatial &amp; Contextual shifts)</a:t>
            </a:r>
          </a:p>
          <a:p>
            <a:r>
              <a:rPr lang="en-US" altLang="ko-KR" sz="3600" dirty="0"/>
              <a:t> </a:t>
            </a:r>
            <a:r>
              <a:rPr lang="en-US" altLang="ko-KR" sz="3600" dirty="0" smtClean="0"/>
              <a:t> </a:t>
            </a:r>
            <a:r>
              <a:rPr lang="en-US" altLang="ko-KR" sz="3600" dirty="0" smtClean="0"/>
              <a:t>  structure </a:t>
            </a:r>
            <a:r>
              <a:rPr lang="en-US" altLang="ko-KR" sz="3600" dirty="0"/>
              <a:t>episodic </a:t>
            </a:r>
            <a:r>
              <a:rPr lang="en-US" altLang="ko-KR" sz="3600" dirty="0" smtClean="0"/>
              <a:t>memories </a:t>
            </a:r>
            <a:r>
              <a:rPr lang="en-US" altLang="ko-KR" sz="3600" dirty="0"/>
              <a:t>via hippocampal </a:t>
            </a:r>
            <a:r>
              <a:rPr lang="en-US" altLang="ko-KR" sz="3600" dirty="0" smtClean="0"/>
              <a:t>processing</a:t>
            </a:r>
            <a:endParaRPr lang="en-US" altLang="ko-KR" sz="3600" baseline="30000" dirty="0" smtClean="0"/>
          </a:p>
          <a:p>
            <a:endParaRPr lang="en-US" altLang="ko-KR" sz="1800" dirty="0"/>
          </a:p>
          <a:p>
            <a:r>
              <a:rPr lang="en-US" altLang="ko-KR" sz="3600" b="1" dirty="0" smtClean="0"/>
              <a:t> Language </a:t>
            </a:r>
            <a:r>
              <a:rPr lang="en-US" altLang="ko-KR" sz="3600" b="1" dirty="0"/>
              <a:t>Development &amp; Free </a:t>
            </a:r>
            <a:r>
              <a:rPr lang="en-US" altLang="ko-KR" sz="3600" b="1" dirty="0" smtClean="0"/>
              <a:t>Recall</a:t>
            </a:r>
            <a:r>
              <a:rPr lang="en-US" altLang="ko-KR" sz="3600" baseline="30000" dirty="0" smtClean="0"/>
              <a:t>3-4</a:t>
            </a:r>
            <a:endParaRPr lang="en-US" altLang="ko-KR" sz="3600" baseline="30000" dirty="0"/>
          </a:p>
          <a:p>
            <a:r>
              <a:rPr lang="en-US" altLang="ko-KR" sz="3600" dirty="0" smtClean="0"/>
              <a:t>  - Language </a:t>
            </a:r>
            <a:r>
              <a:rPr lang="en-US" altLang="ko-KR" sz="3600" dirty="0"/>
              <a:t>supports episodic memory </a:t>
            </a:r>
            <a:endParaRPr lang="en-US" altLang="ko-KR" sz="3600" dirty="0" smtClean="0"/>
          </a:p>
          <a:p>
            <a:r>
              <a:rPr lang="en-US" altLang="ko-KR" sz="3600" dirty="0" smtClean="0"/>
              <a:t>  - Advanced </a:t>
            </a:r>
            <a:r>
              <a:rPr lang="en-US" altLang="ko-KR" sz="3600" dirty="0"/>
              <a:t>language skills improve free </a:t>
            </a:r>
            <a:r>
              <a:rPr lang="en-US" altLang="ko-KR" sz="3600" dirty="0" smtClean="0"/>
              <a:t>recall</a:t>
            </a:r>
          </a:p>
          <a:p>
            <a:endParaRPr lang="en-US" altLang="ko-KR" sz="1800" dirty="0" smtClean="0"/>
          </a:p>
          <a:p>
            <a:r>
              <a:rPr lang="en-US" altLang="ko-KR" sz="3600" b="1" dirty="0" smtClean="0"/>
              <a:t> Natural Language Processing</a:t>
            </a:r>
            <a:r>
              <a:rPr lang="en-US" altLang="ko-KR" sz="3600" baseline="30000" dirty="0" smtClean="0"/>
              <a:t>5-7</a:t>
            </a:r>
          </a:p>
          <a:p>
            <a:r>
              <a:rPr lang="en-US" altLang="ko-KR" sz="3600" dirty="0" smtClean="0"/>
              <a:t> </a:t>
            </a:r>
            <a:r>
              <a:rPr lang="en-US" altLang="ko-KR" sz="3600" dirty="0" smtClean="0"/>
              <a:t> - Embedding</a:t>
            </a:r>
            <a:r>
              <a:rPr lang="en-US" altLang="ko-KR" sz="3600" dirty="0" smtClean="0"/>
              <a:t>: </a:t>
            </a:r>
            <a:r>
              <a:rPr lang="en-US" altLang="ko-KR" sz="3600" dirty="0" err="1" smtClean="0"/>
              <a:t>Vectorization</a:t>
            </a:r>
            <a:r>
              <a:rPr lang="en-US" altLang="ko-KR" sz="3600" dirty="0" smtClean="0"/>
              <a:t> by processing languages</a:t>
            </a:r>
          </a:p>
          <a:p>
            <a:r>
              <a:rPr lang="en-US" altLang="ko-KR" sz="3600" dirty="0" smtClean="0"/>
              <a:t> </a:t>
            </a:r>
            <a:r>
              <a:rPr lang="en-US" altLang="ko-KR" sz="3600" dirty="0" smtClean="0"/>
              <a:t> - Cosine </a:t>
            </a:r>
            <a:r>
              <a:rPr lang="en-US" altLang="ko-KR" sz="3600" dirty="0" smtClean="0"/>
              <a:t>Similarity: </a:t>
            </a:r>
            <a:r>
              <a:rPr lang="en-US" altLang="ko-KR" sz="3600" dirty="0"/>
              <a:t>C</a:t>
            </a:r>
            <a:r>
              <a:rPr lang="en-US" altLang="ko-KR" sz="3600" dirty="0" smtClean="0"/>
              <a:t>osine </a:t>
            </a:r>
            <a:r>
              <a:rPr lang="en-US" altLang="ko-KR" sz="3600" dirty="0"/>
              <a:t>of the angle between the </a:t>
            </a:r>
            <a:r>
              <a:rPr lang="en-US" altLang="ko-KR" sz="3600" dirty="0" smtClean="0"/>
              <a:t>vectors</a:t>
            </a:r>
          </a:p>
          <a:p>
            <a:pPr algn="ctr"/>
            <a:r>
              <a:rPr lang="en-US" altLang="ko-KR" sz="3600" dirty="0"/>
              <a:t> (A . B) / (||A|| * ||B||)</a:t>
            </a:r>
          </a:p>
          <a:p>
            <a:pPr lvl="1"/>
            <a:r>
              <a:rPr lang="en-US" altLang="ko-KR" sz="3600" b="1" dirty="0" smtClean="0"/>
              <a:t> </a:t>
            </a:r>
            <a:r>
              <a:rPr lang="en-US" altLang="ko-KR" sz="3600" b="1" dirty="0"/>
              <a:t> </a:t>
            </a:r>
            <a:r>
              <a:rPr lang="en-US" altLang="ko-KR" sz="3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en-US" altLang="ko-KR" sz="3600" b="1" dirty="0" smtClean="0"/>
              <a:t> </a:t>
            </a:r>
            <a:r>
              <a:rPr lang="en-US" altLang="ko-KR" sz="3600" b="1" dirty="0">
                <a:solidFill>
                  <a:srgbClr val="FF0000"/>
                </a:solidFill>
              </a:rPr>
              <a:t>SBERT</a:t>
            </a:r>
            <a:r>
              <a:rPr lang="en-US" altLang="ko-KR" sz="3600" dirty="0">
                <a:solidFill>
                  <a:srgbClr val="FF0000"/>
                </a:solidFill>
              </a:rPr>
              <a:t>: Sentence </a:t>
            </a:r>
            <a:r>
              <a:rPr lang="en-US" altLang="ko-KR" sz="3600" dirty="0" smtClean="0">
                <a:solidFill>
                  <a:srgbClr val="FF0000"/>
                </a:solidFill>
              </a:rPr>
              <a:t>embedding - </a:t>
            </a:r>
            <a:r>
              <a:rPr lang="en-US" altLang="ko-KR" sz="3600" dirty="0">
                <a:solidFill>
                  <a:srgbClr val="FF0000"/>
                </a:solidFill>
              </a:rPr>
              <a:t>contextual &amp; semantic </a:t>
            </a:r>
            <a:r>
              <a:rPr lang="en-US" altLang="ko-KR" sz="3600" dirty="0" smtClean="0">
                <a:solidFill>
                  <a:srgbClr val="FF0000"/>
                </a:solidFill>
              </a:rPr>
              <a:t>precision </a:t>
            </a:r>
            <a:r>
              <a:rPr lang="en-US" altLang="ko-KR" sz="3600" dirty="0" smtClean="0"/>
              <a:t> </a:t>
            </a:r>
          </a:p>
          <a:p>
            <a:pPr lvl="1"/>
            <a:r>
              <a:rPr lang="en-US" altLang="ko-KR" sz="3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en-US" altLang="ko-KR" sz="3600" b="1" dirty="0" smtClean="0"/>
              <a:t> </a:t>
            </a:r>
            <a:r>
              <a:rPr lang="en-US" altLang="ko-KR" sz="3600" b="1" dirty="0" smtClean="0">
                <a:solidFill>
                  <a:srgbClr val="00B050"/>
                </a:solidFill>
              </a:rPr>
              <a:t>Word2Vec</a:t>
            </a:r>
            <a:r>
              <a:rPr lang="en-US" altLang="ko-KR" sz="3600" dirty="0">
                <a:solidFill>
                  <a:srgbClr val="00B050"/>
                </a:solidFill>
              </a:rPr>
              <a:t>: </a:t>
            </a:r>
            <a:r>
              <a:rPr lang="en-US" altLang="ko-KR" sz="3600" dirty="0" smtClean="0">
                <a:solidFill>
                  <a:srgbClr val="00B050"/>
                </a:solidFill>
              </a:rPr>
              <a:t>Word </a:t>
            </a:r>
            <a:r>
              <a:rPr lang="en-US" altLang="ko-KR" sz="3600" dirty="0">
                <a:solidFill>
                  <a:srgbClr val="00B050"/>
                </a:solidFill>
              </a:rPr>
              <a:t>associativity</a:t>
            </a:r>
            <a:r>
              <a:rPr lang="en-US" altLang="ko-KR" sz="3600" dirty="0" smtClean="0">
                <a:solidFill>
                  <a:srgbClr val="00B050"/>
                </a:solidFill>
              </a:rPr>
              <a:t> </a:t>
            </a:r>
            <a:r>
              <a:rPr lang="en-US" altLang="ko-KR" sz="3600" dirty="0">
                <a:solidFill>
                  <a:srgbClr val="00B050"/>
                </a:solidFill>
              </a:rPr>
              <a:t>through semantic </a:t>
            </a:r>
            <a:r>
              <a:rPr lang="en-US" altLang="ko-KR" sz="3600" dirty="0" smtClean="0">
                <a:solidFill>
                  <a:srgbClr val="00B050"/>
                </a:solidFill>
              </a:rPr>
              <a:t>embedding</a:t>
            </a:r>
            <a:endParaRPr lang="en-US" altLang="ko-KR" sz="3600" dirty="0" smtClean="0">
              <a:solidFill>
                <a:schemeClr val="tx1"/>
              </a:solidFill>
            </a:endParaRPr>
          </a:p>
          <a:p>
            <a:pPr lvl="1"/>
            <a:r>
              <a:rPr lang="en-US" altLang="ko-KR" sz="3600" b="1" dirty="0">
                <a:ea typeface="맑은 고딕" panose="020B0503020000020004" pitchFamily="50" charset="-127"/>
              </a:rPr>
              <a:t> </a:t>
            </a:r>
            <a:r>
              <a:rPr lang="en-US" altLang="ko-KR" sz="3600" b="1" dirty="0" smtClean="0">
                <a:ea typeface="맑은 고딕" panose="020B0503020000020004" pitchFamily="50" charset="-127"/>
              </a:rPr>
              <a:t> </a:t>
            </a:r>
            <a:r>
              <a:rPr lang="en-US" altLang="ko-KR" sz="3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en-US" altLang="ko-KR" sz="3600" b="1" dirty="0" smtClean="0">
                <a:solidFill>
                  <a:srgbClr val="0000FF"/>
                </a:solidFill>
              </a:rPr>
              <a:t>TF-IDF</a:t>
            </a:r>
            <a:r>
              <a:rPr lang="en-US" altLang="ko-KR" sz="3600" dirty="0">
                <a:solidFill>
                  <a:srgbClr val="0000FF"/>
                </a:solidFill>
              </a:rPr>
              <a:t>: Term frequency using document </a:t>
            </a:r>
            <a:r>
              <a:rPr lang="en-US" altLang="ko-KR" sz="3600" dirty="0" smtClean="0">
                <a:solidFill>
                  <a:srgbClr val="0000FF"/>
                </a:solidFill>
              </a:rPr>
              <a:t>relevance</a:t>
            </a:r>
            <a:endParaRPr lang="en-US" altLang="ko-KR" sz="3600" dirty="0">
              <a:solidFill>
                <a:schemeClr val="tx1"/>
              </a:solidFill>
            </a:endParaRPr>
          </a:p>
          <a:p>
            <a:pPr lvl="1"/>
            <a:endParaRPr lang="en-US" altLang="ko-KR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15317213" y="24637534"/>
            <a:ext cx="13664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</a:t>
            </a:r>
            <a:r>
              <a:rPr lang="en-US" altLang="ko-KR" sz="3600" b="1" dirty="0" smtClean="0"/>
              <a:t>. </a:t>
            </a:r>
            <a:r>
              <a:rPr lang="en-US" altLang="ko-KR" sz="3600" b="1" dirty="0" smtClean="0"/>
              <a:t>Parallel</a:t>
            </a:r>
            <a:r>
              <a:rPr lang="en-US" altLang="ko-KR" sz="3600" b="1" dirty="0" smtClean="0"/>
              <a:t>, </a:t>
            </a:r>
            <a:r>
              <a:rPr lang="en-US" altLang="ko-KR" sz="3600" b="1" dirty="0"/>
              <a:t>Spatial shift X </a:t>
            </a:r>
            <a:r>
              <a:rPr lang="en-US" altLang="ko-KR" sz="3600" b="1" dirty="0" smtClean="0"/>
              <a:t>Event </a:t>
            </a:r>
            <a:r>
              <a:rPr lang="en-US" altLang="ko-KR" sz="3600" b="1" dirty="0" smtClean="0"/>
              <a:t>: </a:t>
            </a:r>
            <a:r>
              <a:rPr lang="ko-KR" altLang="en-US" sz="3600" b="1" dirty="0" smtClean="0"/>
              <a:t> </a:t>
            </a:r>
            <a:r>
              <a:rPr lang="en-US" altLang="ko-KR" sz="3600" b="1" dirty="0" smtClean="0"/>
              <a:t>Recall </a:t>
            </a:r>
            <a:r>
              <a:rPr lang="en-US" altLang="ko-KR" sz="3600" b="1" dirty="0" smtClean="0"/>
              <a:t>Accuracy </a:t>
            </a:r>
            <a:r>
              <a:rPr lang="ko-KR" altLang="en-US" sz="3600" b="1" dirty="0" smtClean="0"/>
              <a:t>↑</a:t>
            </a:r>
            <a:endParaRPr lang="en-US" altLang="ko-KR" sz="3600" b="1" dirty="0" smtClean="0"/>
          </a:p>
          <a:p>
            <a:r>
              <a:rPr lang="en-US" altLang="ko-KR" sz="3600" b="1" dirty="0" smtClean="0"/>
              <a:t>    : Spatia</a:t>
            </a:r>
            <a:r>
              <a:rPr lang="en-US" altLang="ko-KR" sz="3600" b="1" dirty="0" smtClean="0"/>
              <a:t>l boundary becomes cue to recall parallel events   </a:t>
            </a:r>
            <a:endParaRPr lang="en-US" altLang="ko-KR" sz="3600" b="1" dirty="0" smtClean="0"/>
          </a:p>
        </p:txBody>
      </p:sp>
      <p:grpSp>
        <p:nvGrpSpPr>
          <p:cNvPr id="39" name="Google Shape;86;p1"/>
          <p:cNvGrpSpPr/>
          <p:nvPr/>
        </p:nvGrpSpPr>
        <p:grpSpPr>
          <a:xfrm>
            <a:off x="701041" y="16401139"/>
            <a:ext cx="13994302" cy="4806011"/>
            <a:chOff x="699916" y="12009117"/>
            <a:chExt cx="19004401" cy="8269375"/>
          </a:xfrm>
        </p:grpSpPr>
        <p:sp>
          <p:nvSpPr>
            <p:cNvPr id="41" name="Google Shape;87;p1"/>
            <p:cNvSpPr/>
            <p:nvPr/>
          </p:nvSpPr>
          <p:spPr>
            <a:xfrm>
              <a:off x="699916" y="12714667"/>
              <a:ext cx="19002509" cy="75638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42" name="Google Shape;88;p1"/>
            <p:cNvSpPr/>
            <p:nvPr/>
          </p:nvSpPr>
          <p:spPr>
            <a:xfrm>
              <a:off x="699916" y="12009117"/>
              <a:ext cx="19004401" cy="1820129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 smtClean="0">
                  <a:solidFill>
                    <a:srgbClr val="FFFFFF"/>
                  </a:solidFill>
                </a:rPr>
                <a:t>OBJECTIVES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78120" y="17738658"/>
            <a:ext cx="142900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4000" b="1" dirty="0" smtClean="0">
                <a:solidFill>
                  <a:schemeClr val="tx1"/>
                </a:solidFill>
              </a:rPr>
              <a:t>To examine relationship between the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level of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language </a:t>
            </a:r>
            <a:br>
              <a:rPr lang="en-US" altLang="ko-KR" sz="4000" b="1" dirty="0" smtClean="0">
                <a:solidFill>
                  <a:schemeClr val="tx1"/>
                </a:solidFill>
              </a:rPr>
            </a:br>
            <a:r>
              <a:rPr lang="en-US" altLang="ko-KR" sz="4000" b="1" dirty="0" smtClean="0">
                <a:solidFill>
                  <a:schemeClr val="tx1"/>
                </a:solidFill>
              </a:rPr>
              <a:t>development and memory recall in children</a:t>
            </a:r>
          </a:p>
          <a:p>
            <a:pPr marL="742950" indent="-742950">
              <a:buAutoNum type="arabicPeriod"/>
            </a:pP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en-US" altLang="ko-KR" sz="4000" b="1" dirty="0" smtClean="0">
                <a:solidFill>
                  <a:schemeClr val="tx1"/>
                </a:solidFill>
              </a:rPr>
              <a:t>2.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To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investigate the effects of event structures </a:t>
            </a:r>
          </a:p>
          <a:p>
            <a:r>
              <a:rPr lang="en-US" altLang="ko-KR" sz="4000" b="1" dirty="0">
                <a:solidFill>
                  <a:schemeClr val="tx1"/>
                </a:solidFill>
              </a:rPr>
              <a:t>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  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on children’s memory recall </a:t>
            </a:r>
          </a:p>
          <a:p>
            <a:r>
              <a:rPr lang="en-US" altLang="ko-KR" sz="4000" b="1" dirty="0">
                <a:solidFill>
                  <a:schemeClr val="tx1"/>
                </a:solidFill>
              </a:rPr>
              <a:t>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   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by measuring cosine similarity with NLP</a:t>
            </a:r>
          </a:p>
          <a:p>
            <a:pPr algn="r"/>
            <a:endParaRPr lang="en-US" altLang="ko-KR" sz="4000" b="1" dirty="0" smtClean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5712520" y="12731432"/>
            <a:ext cx="152437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/>
          <p:cNvGrpSpPr/>
          <p:nvPr/>
        </p:nvGrpSpPr>
        <p:grpSpPr>
          <a:xfrm>
            <a:off x="1912268" y="24977866"/>
            <a:ext cx="11577918" cy="1022964"/>
            <a:chOff x="1383702" y="6043108"/>
            <a:chExt cx="11577918" cy="1150172"/>
          </a:xfrm>
        </p:grpSpPr>
        <p:sp>
          <p:nvSpPr>
            <p:cNvPr id="46" name="직사각형 45"/>
            <p:cNvSpPr/>
            <p:nvPr/>
          </p:nvSpPr>
          <p:spPr>
            <a:xfrm>
              <a:off x="1383702" y="6043108"/>
              <a:ext cx="3439758" cy="11501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smtClean="0">
                  <a:solidFill>
                    <a:schemeClr val="tx1"/>
                  </a:solidFill>
                </a:rPr>
                <a:t>8 Video Encoding</a:t>
              </a:r>
              <a:endParaRPr lang="ko-KR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5452782" y="6043108"/>
              <a:ext cx="3439758" cy="115017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400" b="1" dirty="0" smtClean="0">
                  <a:solidFill>
                    <a:schemeClr val="tx1"/>
                  </a:solidFill>
                </a:rPr>
                <a:t>Free Recall</a:t>
              </a:r>
              <a:endParaRPr lang="ko-KR" altLang="en-US" sz="34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9521862" y="6043108"/>
              <a:ext cx="3439758" cy="11501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smtClean="0">
                  <a:solidFill>
                    <a:schemeClr val="tx1"/>
                  </a:solidFill>
                </a:rPr>
                <a:t>Sequence / </a:t>
              </a:r>
              <a:r>
                <a:rPr lang="en-US" altLang="ko-KR" sz="3200" b="1" dirty="0" smtClean="0">
                  <a:solidFill>
                    <a:schemeClr val="tx1"/>
                  </a:solidFill>
                </a:rPr>
                <a:t>TOJ</a:t>
              </a:r>
              <a:r>
                <a:rPr lang="en-US" altLang="ko-KR" sz="3200" dirty="0" smtClean="0">
                  <a:solidFill>
                    <a:schemeClr val="tx1"/>
                  </a:solidFill>
                </a:rPr>
                <a:t> / Recognition</a:t>
              </a:r>
              <a:endParaRPr lang="ko-KR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823460" y="6233473"/>
              <a:ext cx="20040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400" dirty="0" smtClean="0"/>
                <a:t>→</a:t>
              </a:r>
              <a:endParaRPr lang="ko-KR" altLang="en-US" sz="44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92540" y="6233473"/>
              <a:ext cx="20040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400" dirty="0" smtClean="0"/>
                <a:t>→</a:t>
              </a:r>
              <a:endParaRPr lang="ko-KR" altLang="en-US" sz="4400" dirty="0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714275"/>
              </p:ext>
            </p:extLst>
          </p:nvPr>
        </p:nvGraphicFramePr>
        <p:xfrm>
          <a:off x="911506" y="28063619"/>
          <a:ext cx="13532958" cy="36546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2308"/>
                <a:gridCol w="5859332"/>
                <a:gridCol w="5781318"/>
              </a:tblGrid>
              <a:tr h="501593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Spatial</a:t>
                      </a:r>
                      <a:r>
                        <a:rPr lang="en-US" altLang="ko-KR" sz="3200" baseline="0" dirty="0" smtClean="0">
                          <a:solidFill>
                            <a:schemeClr val="tx1"/>
                          </a:solidFill>
                        </a:rPr>
                        <a:t> shift </a:t>
                      </a:r>
                      <a:r>
                        <a:rPr lang="en-US" altLang="ko-KR" sz="3200" baseline="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Spatial</a:t>
                      </a:r>
                      <a:r>
                        <a:rPr lang="en-US" altLang="ko-KR" sz="3200" baseline="0" dirty="0" smtClean="0">
                          <a:solidFill>
                            <a:schemeClr val="tx1"/>
                          </a:solidFill>
                        </a:rPr>
                        <a:t> Shift </a:t>
                      </a:r>
                      <a:r>
                        <a:rPr lang="en-US" altLang="ko-KR" sz="3200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150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400" dirty="0" smtClean="0"/>
                        <a:t>Causal</a:t>
                      </a:r>
                      <a:endParaRPr lang="en-US" altLang="ko-KR" sz="3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CC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</a:tr>
              <a:tr h="1507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400" spc="-30" baseline="0" dirty="0" smtClean="0"/>
                        <a:t>Parallel</a:t>
                      </a:r>
                      <a:endParaRPr lang="en-US" altLang="ko-KR" sz="3400" spc="-3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CC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pSp>
        <p:nvGrpSpPr>
          <p:cNvPr id="51" name="그룹 50"/>
          <p:cNvGrpSpPr/>
          <p:nvPr/>
        </p:nvGrpSpPr>
        <p:grpSpPr>
          <a:xfrm>
            <a:off x="2948144" y="28815051"/>
            <a:ext cx="5541643" cy="1288846"/>
            <a:chOff x="4492662" y="12207548"/>
            <a:chExt cx="20140373" cy="5657850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74635" y="12207548"/>
              <a:ext cx="10058400" cy="5657850"/>
            </a:xfrm>
            <a:prstGeom prst="rect">
              <a:avLst/>
            </a:prstGeom>
          </p:spPr>
        </p:pic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2662" y="12207548"/>
              <a:ext cx="10058400" cy="5657850"/>
            </a:xfrm>
            <a:prstGeom prst="rect">
              <a:avLst/>
            </a:prstGeom>
          </p:spPr>
        </p:pic>
      </p:grpSp>
      <p:sp>
        <p:nvSpPr>
          <p:cNvPr id="63" name="TextBox 62"/>
          <p:cNvSpPr txBox="1"/>
          <p:nvPr/>
        </p:nvSpPr>
        <p:spPr>
          <a:xfrm>
            <a:off x="15317212" y="7663160"/>
            <a:ext cx="15892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3600" b="1" dirty="0" smtClean="0"/>
              <a:t>Demographic : No Significant Differences in Age &amp; Sex 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446487"/>
              </p:ext>
            </p:extLst>
          </p:nvPr>
        </p:nvGraphicFramePr>
        <p:xfrm>
          <a:off x="16155665" y="8379638"/>
          <a:ext cx="14385296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6324"/>
                <a:gridCol w="3596324"/>
                <a:gridCol w="3596324"/>
                <a:gridCol w="3596324"/>
              </a:tblGrid>
              <a:tr h="3516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Cosine</a:t>
                      </a:r>
                      <a:r>
                        <a:rPr lang="en-US" altLang="ko-KR" sz="3200" baseline="0" dirty="0" smtClean="0"/>
                        <a:t> Similarity</a:t>
                      </a:r>
                      <a:endParaRPr lang="ko-KR" altLang="en-US" sz="3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   </a:t>
                      </a:r>
                      <a:r>
                        <a:rPr lang="en-US" altLang="ko-KR" sz="3200" baseline="0" dirty="0" smtClean="0"/>
                        <a:t>   </a:t>
                      </a:r>
                      <a:r>
                        <a:rPr lang="en-US" altLang="ko-KR" sz="3200" dirty="0" smtClean="0"/>
                        <a:t>  Language</a:t>
                      </a:r>
                      <a:r>
                        <a:rPr lang="en-US" altLang="ko-KR" sz="3200" baseline="0" dirty="0" smtClean="0"/>
                        <a:t> </a:t>
                      </a:r>
                      <a:r>
                        <a:rPr lang="en-US" altLang="ko-KR" sz="3200" baseline="0" dirty="0" smtClean="0"/>
                        <a:t>Development</a:t>
                      </a:r>
                      <a:endParaRPr lang="ko-KR" altLang="en-US" sz="3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45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 Age </a:t>
                      </a:r>
                      <a:endParaRPr lang="ko-KR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Sex</a:t>
                      </a:r>
                      <a:endParaRPr lang="ko-KR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          Age</a:t>
                      </a:r>
                      <a:endParaRPr lang="ko-KR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           Sex</a:t>
                      </a:r>
                      <a:endParaRPr lang="ko-KR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68" name="그룹 67"/>
          <p:cNvGrpSpPr/>
          <p:nvPr/>
        </p:nvGrpSpPr>
        <p:grpSpPr>
          <a:xfrm>
            <a:off x="2945691" y="30281858"/>
            <a:ext cx="5540062" cy="1359304"/>
            <a:chOff x="4823460" y="19690837"/>
            <a:chExt cx="16253460" cy="4572000"/>
          </a:xfrm>
        </p:grpSpPr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3460" y="19690837"/>
              <a:ext cx="8115300" cy="4572000"/>
            </a:xfrm>
            <a:prstGeom prst="rect">
              <a:avLst/>
            </a:prstGeom>
          </p:spPr>
        </p:pic>
        <p:pic>
          <p:nvPicPr>
            <p:cNvPr id="70" name="그림 6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1620" y="19690837"/>
              <a:ext cx="8115300" cy="4572000"/>
            </a:xfrm>
            <a:prstGeom prst="rect">
              <a:avLst/>
            </a:prstGeom>
          </p:spPr>
        </p:pic>
      </p:grpSp>
      <p:grpSp>
        <p:nvGrpSpPr>
          <p:cNvPr id="71" name="그룹 70"/>
          <p:cNvGrpSpPr/>
          <p:nvPr/>
        </p:nvGrpSpPr>
        <p:grpSpPr>
          <a:xfrm>
            <a:off x="8779098" y="28811303"/>
            <a:ext cx="5537609" cy="1288846"/>
            <a:chOff x="4686982" y="26402600"/>
            <a:chExt cx="20134309" cy="5657850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982" y="26402600"/>
              <a:ext cx="10058400" cy="5657850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62891" y="26402600"/>
              <a:ext cx="10058400" cy="5657850"/>
            </a:xfrm>
            <a:prstGeom prst="rect">
              <a:avLst/>
            </a:prstGeom>
          </p:spPr>
        </p:pic>
      </p:grpSp>
      <p:grpSp>
        <p:nvGrpSpPr>
          <p:cNvPr id="74" name="그룹 73"/>
          <p:cNvGrpSpPr/>
          <p:nvPr/>
        </p:nvGrpSpPr>
        <p:grpSpPr>
          <a:xfrm>
            <a:off x="8779098" y="30272244"/>
            <a:ext cx="5545970" cy="1368918"/>
            <a:chOff x="4686982" y="34200213"/>
            <a:chExt cx="20123638" cy="5657850"/>
          </a:xfrm>
        </p:grpSpPr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982" y="34200213"/>
              <a:ext cx="10365369" cy="5657850"/>
            </a:xfrm>
            <a:prstGeom prst="rect">
              <a:avLst/>
            </a:prstGeom>
          </p:spPr>
        </p:pic>
        <p:pic>
          <p:nvPicPr>
            <p:cNvPr id="76" name="그림 75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2219" y="34200213"/>
              <a:ext cx="10058401" cy="5657850"/>
            </a:xfrm>
            <a:prstGeom prst="rect">
              <a:avLst/>
            </a:prstGeom>
          </p:spPr>
        </p:pic>
      </p:grpSp>
      <p:grpSp>
        <p:nvGrpSpPr>
          <p:cNvPr id="65" name="Google Shape;92;p1"/>
          <p:cNvGrpSpPr/>
          <p:nvPr/>
        </p:nvGrpSpPr>
        <p:grpSpPr>
          <a:xfrm>
            <a:off x="708734" y="37070824"/>
            <a:ext cx="13978890" cy="3486089"/>
            <a:chOff x="33775710" y="16343614"/>
            <a:chExt cx="16308000" cy="5279707"/>
          </a:xfrm>
        </p:grpSpPr>
        <p:sp>
          <p:nvSpPr>
            <p:cNvPr id="66" name="Google Shape;93;p1"/>
            <p:cNvSpPr/>
            <p:nvPr/>
          </p:nvSpPr>
          <p:spPr>
            <a:xfrm>
              <a:off x="33775710" y="17050820"/>
              <a:ext cx="16308000" cy="4572501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sz="323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94;p1"/>
            <p:cNvSpPr/>
            <p:nvPr/>
          </p:nvSpPr>
          <p:spPr>
            <a:xfrm>
              <a:off x="33775710" y="16343614"/>
              <a:ext cx="16308000" cy="153169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 smtClean="0">
                  <a:solidFill>
                    <a:srgbClr val="FFFFFF"/>
                  </a:solidFill>
                </a:rPr>
                <a:t>ACKNOWLEDGMENT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71561" y="38234682"/>
            <a:ext cx="138773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dirty="0"/>
              <a:t>This work was supported by the National Research Foundation of Korea (NRF) funded by the Korea government (MSIT; No. 2023R1A2C2005587), Creative-Pioneering Researchers Program through Seoul National University (SNU) (339-20230014), </a:t>
            </a:r>
            <a:br>
              <a:rPr lang="en-US" altLang="ko-KR" sz="2800" dirty="0"/>
            </a:br>
            <a:r>
              <a:rPr lang="en-US" altLang="ko-KR" sz="2800" dirty="0"/>
              <a:t>the Institute of Information &amp; Communications Technology Planning &amp; Evaluation (IITP; No. 2019-0-01371-003), and SYEDU (Multisensory Learning and Memory).</a:t>
            </a:r>
            <a:endParaRPr lang="ko-KR" altLang="en-US" sz="2800" dirty="0"/>
          </a:p>
        </p:txBody>
      </p:sp>
      <p:cxnSp>
        <p:nvCxnSpPr>
          <p:cNvPr id="78" name="직선 연결선 77"/>
          <p:cNvCxnSpPr/>
          <p:nvPr/>
        </p:nvCxnSpPr>
        <p:spPr>
          <a:xfrm>
            <a:off x="15712520" y="24154990"/>
            <a:ext cx="152437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5" name="표 1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98905"/>
              </p:ext>
            </p:extLst>
          </p:nvPr>
        </p:nvGraphicFramePr>
        <p:xfrm>
          <a:off x="15780005" y="26093281"/>
          <a:ext cx="14764796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2398"/>
                <a:gridCol w="7382398"/>
              </a:tblGrid>
              <a:tr h="55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   Recall</a:t>
                      </a:r>
                      <a:r>
                        <a:rPr lang="en-US" altLang="ko-KR" sz="3200" baseline="0" dirty="0" smtClean="0"/>
                        <a:t> </a:t>
                      </a:r>
                      <a:r>
                        <a:rPr lang="en-US" altLang="ko-KR" sz="3200" baseline="0" dirty="0" smtClean="0"/>
                        <a:t>Accuracy in </a:t>
                      </a:r>
                      <a:r>
                        <a:rPr lang="en-US" altLang="ko-KR" sz="3200" b="1" baseline="0" dirty="0" smtClean="0"/>
                        <a:t>Free Recall</a:t>
                      </a:r>
                      <a:endParaRPr lang="ko-KR" altLang="en-US" sz="3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 dirty="0" smtClean="0"/>
                        <a:t>              Temporal</a:t>
                      </a:r>
                      <a:r>
                        <a:rPr lang="en-US" altLang="ko-KR" sz="3200" baseline="0" dirty="0" smtClean="0"/>
                        <a:t> Memory Accuracy</a:t>
                      </a:r>
                      <a:endParaRPr lang="ko-KR" altLang="en-US" sz="3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0" name="직사각형 59"/>
          <p:cNvSpPr/>
          <p:nvPr/>
        </p:nvSpPr>
        <p:spPr>
          <a:xfrm>
            <a:off x="15583330" y="22118066"/>
            <a:ext cx="15371574" cy="5558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TextBox 196"/>
          <p:cNvSpPr txBox="1"/>
          <p:nvPr/>
        </p:nvSpPr>
        <p:spPr>
          <a:xfrm>
            <a:off x="15603140" y="22055960"/>
            <a:ext cx="1566848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</a:rPr>
              <a:t>Cosine </a:t>
            </a:r>
            <a:r>
              <a:rPr lang="en-US" altLang="ko-KR" sz="3600" dirty="0">
                <a:solidFill>
                  <a:schemeClr val="tx1"/>
                </a:solidFill>
              </a:rPr>
              <a:t>similarity with SBERT effectively measures A</a:t>
            </a:r>
            <a:r>
              <a:rPr lang="en-US" altLang="ko-KR" sz="3600" dirty="0" smtClean="0">
                <a:solidFill>
                  <a:schemeClr val="tx1"/>
                </a:solidFill>
              </a:rPr>
              <a:t>ccuracy </a:t>
            </a:r>
            <a:r>
              <a:rPr lang="en-US" altLang="ko-KR" sz="3600" dirty="0">
                <a:solidFill>
                  <a:schemeClr val="tx1"/>
                </a:solidFill>
              </a:rPr>
              <a:t>in F</a:t>
            </a:r>
            <a:r>
              <a:rPr lang="en-US" altLang="ko-KR" sz="3600" dirty="0" smtClean="0">
                <a:solidFill>
                  <a:schemeClr val="tx1"/>
                </a:solidFill>
              </a:rPr>
              <a:t>ree Recall </a:t>
            </a:r>
          </a:p>
          <a:p>
            <a:r>
              <a:rPr lang="en-US" altLang="ko-KR" sz="3600" dirty="0" smtClean="0">
                <a:solidFill>
                  <a:schemeClr val="tx1"/>
                </a:solidFill>
              </a:rPr>
              <a:t>by </a:t>
            </a:r>
            <a:r>
              <a:rPr lang="en-US" altLang="ko-KR" sz="3600" dirty="0">
                <a:solidFill>
                  <a:schemeClr val="tx1"/>
                </a:solidFill>
              </a:rPr>
              <a:t>considering </a:t>
            </a:r>
            <a:r>
              <a:rPr lang="en-US" altLang="ko-KR" sz="3600" dirty="0" smtClean="0">
                <a:solidFill>
                  <a:schemeClr val="tx1"/>
                </a:solidFill>
              </a:rPr>
              <a:t>Sentence-level Meaning </a:t>
            </a:r>
            <a:r>
              <a:rPr lang="en-US" altLang="ko-KR" sz="3600" dirty="0">
                <a:solidFill>
                  <a:schemeClr val="tx1"/>
                </a:solidFill>
              </a:rPr>
              <a:t>and </a:t>
            </a:r>
            <a:r>
              <a:rPr lang="en-US" altLang="ko-KR" sz="3600" dirty="0" smtClean="0">
                <a:solidFill>
                  <a:schemeClr val="tx1"/>
                </a:solidFill>
              </a:rPr>
              <a:t>Context +  Richness </a:t>
            </a:r>
            <a:r>
              <a:rPr lang="en-US" altLang="ko-KR" sz="3600" dirty="0">
                <a:solidFill>
                  <a:schemeClr val="tx1"/>
                </a:solidFill>
              </a:rPr>
              <a:t>of </a:t>
            </a:r>
            <a:r>
              <a:rPr lang="en-US" altLang="ko-KR" sz="3600" dirty="0" smtClean="0">
                <a:solidFill>
                  <a:schemeClr val="tx1"/>
                </a:solidFill>
              </a:rPr>
              <a:t>Content </a:t>
            </a:r>
            <a:r>
              <a:rPr lang="ko-KR" altLang="en-US" sz="3600" dirty="0" smtClean="0">
                <a:solidFill>
                  <a:schemeClr val="tx1"/>
                </a:solidFill>
              </a:rPr>
              <a:t>→</a:t>
            </a:r>
            <a:r>
              <a:rPr lang="en-US" altLang="ko-KR" sz="3600" dirty="0">
                <a:solidFill>
                  <a:schemeClr val="tx1"/>
                </a:solidFill>
              </a:rPr>
              <a:t> S</a:t>
            </a:r>
            <a:r>
              <a:rPr lang="en-US" altLang="ko-KR" sz="3600" dirty="0" smtClean="0">
                <a:solidFill>
                  <a:schemeClr val="tx1"/>
                </a:solidFill>
              </a:rPr>
              <a:t>uitable </a:t>
            </a:r>
            <a:r>
              <a:rPr lang="en-US" altLang="ko-KR" sz="3600" dirty="0">
                <a:solidFill>
                  <a:schemeClr val="tx1"/>
                </a:solidFill>
              </a:rPr>
              <a:t>for </a:t>
            </a:r>
            <a:r>
              <a:rPr lang="en-US" altLang="ko-KR" sz="3600" dirty="0" smtClean="0">
                <a:solidFill>
                  <a:schemeClr val="tx1"/>
                </a:solidFill>
              </a:rPr>
              <a:t>analyzing correlation (Language </a:t>
            </a:r>
            <a:r>
              <a:rPr lang="en-US" altLang="ko-KR" sz="3600" dirty="0" err="1" smtClean="0">
                <a:solidFill>
                  <a:schemeClr val="tx1"/>
                </a:solidFill>
              </a:rPr>
              <a:t>devl</a:t>
            </a:r>
            <a:r>
              <a:rPr lang="en-US" altLang="ko-KR" sz="3600" dirty="0" smtClean="0">
                <a:solidFill>
                  <a:schemeClr val="tx1"/>
                </a:solidFill>
              </a:rPr>
              <a:t> &amp; Recall accuracy)</a:t>
            </a:r>
          </a:p>
          <a:p>
            <a:endParaRPr lang="en-US" altLang="ko-KR" sz="3400" dirty="0">
              <a:solidFill>
                <a:schemeClr val="tx1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15712520" y="40736634"/>
            <a:ext cx="159906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600" dirty="0" smtClean="0"/>
              <a:t>6. </a:t>
            </a:r>
            <a:r>
              <a:rPr lang="en-US" altLang="ko-KR" sz="1600" dirty="0" err="1" smtClean="0"/>
              <a:t>Mikolov</a:t>
            </a:r>
            <a:r>
              <a:rPr lang="en-US" altLang="ko-KR" sz="1600" dirty="0"/>
              <a:t>, T. (2013). Efficient estimation of word representations in vector space. </a:t>
            </a:r>
            <a:r>
              <a:rPr lang="en-US" altLang="ko-KR" sz="1600" dirty="0" err="1"/>
              <a:t>arXiv</a:t>
            </a:r>
            <a:r>
              <a:rPr lang="en-US" altLang="ko-KR" sz="1600" dirty="0"/>
              <a:t> preprint arXiv:1301.3781, 3781. </a:t>
            </a:r>
            <a:endParaRPr lang="ko-KR" altLang="ko-KR" sz="1600" dirty="0"/>
          </a:p>
          <a:p>
            <a:r>
              <a:rPr lang="en-US" altLang="ko-KR" sz="1600" dirty="0"/>
              <a:t>7</a:t>
            </a:r>
            <a:r>
              <a:rPr lang="en-US" altLang="ko-KR" sz="1600" dirty="0" smtClean="0"/>
              <a:t>. SPARCK </a:t>
            </a:r>
            <a:r>
              <a:rPr lang="en-US" altLang="ko-KR" sz="1600" dirty="0"/>
              <a:t>JONES, K. (1972), "A STATISTICAL INTERPRETATION OF TERM SPECIFICITY AND ITS APPLICATION IN RETRIEVAL", Journal of </a:t>
            </a:r>
            <a:r>
              <a:rPr lang="en-US" altLang="ko-KR" sz="1600" dirty="0" smtClean="0"/>
              <a:t>Documentation</a:t>
            </a:r>
          </a:p>
          <a:p>
            <a:pPr lvl="0"/>
            <a:r>
              <a:rPr lang="en-US" altLang="ko-KR" sz="1600" dirty="0" smtClean="0"/>
              <a:t>8. </a:t>
            </a:r>
            <a:r>
              <a:rPr lang="en-US" altLang="ko-KR" sz="1600" dirty="0" err="1"/>
              <a:t>Shing</a:t>
            </a:r>
            <a:r>
              <a:rPr lang="en-US" altLang="ko-KR" sz="1600" dirty="0"/>
              <a:t>. Y. L., Markus </a:t>
            </a:r>
            <a:r>
              <a:rPr lang="en-US" altLang="ko-KR" sz="1600" dirty="0" err="1"/>
              <a:t>Werkle</a:t>
            </a:r>
            <a:r>
              <a:rPr lang="en-US" altLang="ko-KR" sz="1600" dirty="0"/>
              <a:t>-Bergner, Yvonne </a:t>
            </a:r>
            <a:r>
              <a:rPr lang="en-US" altLang="ko-KR" sz="1600" dirty="0" err="1"/>
              <a:t>Brehmer</a:t>
            </a:r>
            <a:r>
              <a:rPr lang="en-US" altLang="ko-KR" sz="1600" dirty="0"/>
              <a:t>, Viktor Müller, </a:t>
            </a:r>
            <a:r>
              <a:rPr lang="en-US" altLang="ko-KR" sz="1600" dirty="0" err="1"/>
              <a:t>Shu</a:t>
            </a:r>
            <a:r>
              <a:rPr lang="en-US" altLang="ko-KR" sz="1600" dirty="0"/>
              <a:t>-Chen Li, </a:t>
            </a:r>
            <a:r>
              <a:rPr lang="en-US" altLang="ko-KR" sz="1600" dirty="0" err="1"/>
              <a:t>Ulman</a:t>
            </a:r>
            <a:r>
              <a:rPr lang="en-US" altLang="ko-KR" sz="1600" dirty="0"/>
              <a:t> </a:t>
            </a:r>
            <a:r>
              <a:rPr lang="en-US" altLang="ko-KR" sz="1600" dirty="0" err="1"/>
              <a:t>Lindenberger</a:t>
            </a:r>
            <a:r>
              <a:rPr lang="en-US" altLang="ko-KR" sz="1600" dirty="0"/>
              <a:t> (2010). Episodic memory across the lifespan: The contributions of associative and strategic components. Neuroscience &amp; </a:t>
            </a:r>
            <a:r>
              <a:rPr lang="en-US" altLang="ko-KR" sz="1600" dirty="0" err="1"/>
              <a:t>Biobehavioral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Reviews</a:t>
            </a:r>
            <a:endParaRPr lang="ko-KR" altLang="ko-KR" sz="1600" dirty="0" smtClean="0"/>
          </a:p>
          <a:p>
            <a:pPr lvl="0" latinLnBrk="0"/>
            <a:r>
              <a:rPr lang="en-US" altLang="ko-KR" sz="1600" dirty="0"/>
              <a:t>9</a:t>
            </a:r>
            <a:r>
              <a:rPr lang="en-US" altLang="ko-KR" sz="1600" dirty="0" smtClean="0"/>
              <a:t>. </a:t>
            </a:r>
            <a:r>
              <a:rPr lang="en-US" altLang="ko-KR" sz="1600" dirty="0" err="1" smtClean="0"/>
              <a:t>Radvansky</a:t>
            </a:r>
            <a:r>
              <a:rPr lang="en-US" altLang="ko-KR" sz="1600" dirty="0"/>
              <a:t>, G. A., &amp; </a:t>
            </a:r>
            <a:r>
              <a:rPr lang="en-US" altLang="ko-KR" sz="1600" dirty="0" err="1"/>
              <a:t>Zacks</a:t>
            </a:r>
            <a:r>
              <a:rPr lang="en-US" altLang="ko-KR" sz="1600" dirty="0"/>
              <a:t>, J. M. (2017). Event boundaries in memory and cognition. Current Opinion in Behavioral </a:t>
            </a:r>
            <a:r>
              <a:rPr lang="en-US" altLang="ko-KR" sz="1600" dirty="0" smtClean="0"/>
              <a:t>Science </a:t>
            </a:r>
          </a:p>
          <a:p>
            <a:pPr lvl="0" latinLnBrk="0"/>
            <a:r>
              <a:rPr lang="en-US" altLang="ko-KR" sz="1600" dirty="0" smtClean="0"/>
              <a:t>10. </a:t>
            </a:r>
            <a:r>
              <a:rPr lang="en-US" altLang="ko-KR" sz="1600" dirty="0" err="1" smtClean="0"/>
              <a:t>Corballis</a:t>
            </a:r>
            <a:r>
              <a:rPr lang="en-US" altLang="ko-KR" sz="1600" dirty="0"/>
              <a:t>, M. C. (2019). Language, memory, and mental time travel: An evolutionary perspective. Frontiers in Human </a:t>
            </a:r>
            <a:r>
              <a:rPr lang="en-US" altLang="ko-KR" sz="1600" dirty="0" smtClean="0"/>
              <a:t>Neuroscience</a:t>
            </a:r>
            <a:endParaRPr lang="ko-KR" altLang="ko-KR" sz="1600" dirty="0"/>
          </a:p>
          <a:p>
            <a:pPr lvl="0" latinLnBrk="0"/>
            <a:r>
              <a:rPr lang="en-US" altLang="ko-KR" sz="1600" dirty="0" smtClean="0"/>
              <a:t>11. International </a:t>
            </a:r>
            <a:r>
              <a:rPr lang="en-US" altLang="ko-KR" sz="1600" dirty="0"/>
              <a:t>Journal of Learning, Teaching and Educational </a:t>
            </a:r>
            <a:r>
              <a:rPr lang="en-US" altLang="ko-KR" sz="1600" dirty="0" smtClean="0"/>
              <a:t>Research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5038751" y="38236384"/>
            <a:ext cx="1662116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ko-KR" sz="3400" dirty="0" smtClean="0">
                <a:solidFill>
                  <a:schemeClr val="tx1"/>
                </a:solidFill>
              </a:rPr>
              <a:t>Confirms </a:t>
            </a:r>
            <a:r>
              <a:rPr lang="en-US" altLang="ko-KR" sz="3400" dirty="0">
                <a:solidFill>
                  <a:schemeClr val="tx1"/>
                </a:solidFill>
              </a:rPr>
              <a:t>and supports research by </a:t>
            </a:r>
            <a:r>
              <a:rPr lang="en-US" altLang="ko-KR" sz="3400" dirty="0" err="1" smtClean="0">
                <a:solidFill>
                  <a:schemeClr val="tx1"/>
                </a:solidFill>
              </a:rPr>
              <a:t>Benear</a:t>
            </a:r>
            <a:r>
              <a:rPr lang="en-US" altLang="ko-KR" sz="3400" dirty="0" smtClean="0">
                <a:solidFill>
                  <a:schemeClr val="tx1"/>
                </a:solidFill>
              </a:rPr>
              <a:t>(2024)</a:t>
            </a: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“</a:t>
            </a:r>
            <a:r>
              <a:rPr lang="en-US" altLang="ko-KR" sz="3400" dirty="0"/>
              <a:t>Advanced </a:t>
            </a:r>
            <a:r>
              <a:rPr lang="en-US" altLang="ko-KR" sz="3400" dirty="0" smtClean="0"/>
              <a:t>Language </a:t>
            </a:r>
            <a:r>
              <a:rPr lang="en-US" altLang="ko-KR" sz="3400" dirty="0"/>
              <a:t>skills i</a:t>
            </a:r>
            <a:r>
              <a:rPr lang="en-US" altLang="ko-KR" sz="3400" dirty="0" smtClean="0"/>
              <a:t>mprove Free Recall </a:t>
            </a:r>
            <a:r>
              <a:rPr lang="en-US" altLang="ko-KR" sz="3400" dirty="0"/>
              <a:t>by organizing event details &amp;</a:t>
            </a:r>
            <a:r>
              <a:rPr lang="en-US" altLang="ko-KR" sz="3400" dirty="0" smtClean="0"/>
              <a:t> context”</a:t>
            </a:r>
            <a:endParaRPr lang="en-US" altLang="ko-KR" sz="3400" dirty="0">
              <a:solidFill>
                <a:schemeClr val="tx1"/>
              </a:solidFill>
            </a:endParaRP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- Due </a:t>
            </a:r>
            <a:r>
              <a:rPr lang="en-US" altLang="ko-KR" sz="3400" dirty="0">
                <a:solidFill>
                  <a:schemeClr val="tx1"/>
                </a:solidFill>
              </a:rPr>
              <a:t>to the small sample size, it is difficult to generalize the results of the study. </a:t>
            </a:r>
            <a:endParaRPr lang="en-US" altLang="ko-KR" sz="3400" dirty="0" smtClean="0">
              <a:solidFill>
                <a:schemeClr val="tx1"/>
              </a:solidFill>
            </a:endParaRP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  More </a:t>
            </a:r>
            <a:r>
              <a:rPr lang="en-US" altLang="ko-KR" sz="3400" dirty="0">
                <a:solidFill>
                  <a:schemeClr val="tx1"/>
                </a:solidFill>
              </a:rPr>
              <a:t>samples of different age groups are needed for further </a:t>
            </a:r>
            <a:r>
              <a:rPr lang="en-US" altLang="ko-KR" sz="3400" dirty="0" smtClean="0">
                <a:solidFill>
                  <a:schemeClr val="tx1"/>
                </a:solidFill>
              </a:rPr>
              <a:t>research.</a:t>
            </a:r>
            <a:endParaRPr lang="en-US" altLang="ko-KR" sz="3400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3633479" y="32842543"/>
            <a:ext cx="7286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dirty="0" smtClean="0"/>
              <a:t>+ No </a:t>
            </a:r>
            <a:r>
              <a:rPr lang="en-US" altLang="ko-KR" sz="3200" dirty="0" smtClean="0"/>
              <a:t>significant difference in </a:t>
            </a:r>
            <a:r>
              <a:rPr lang="en-US" altLang="ko-KR" sz="3200" dirty="0" smtClean="0"/>
              <a:t>Sequence</a:t>
            </a:r>
            <a:endParaRPr lang="ko-KR" altLang="en-US" sz="3200" dirty="0"/>
          </a:p>
        </p:txBody>
      </p:sp>
      <p:grpSp>
        <p:nvGrpSpPr>
          <p:cNvPr id="16" name="그룹 15"/>
          <p:cNvGrpSpPr/>
          <p:nvPr/>
        </p:nvGrpSpPr>
        <p:grpSpPr>
          <a:xfrm>
            <a:off x="15774624" y="9518933"/>
            <a:ext cx="7515084" cy="2651730"/>
            <a:chOff x="15888924" y="9518933"/>
            <a:chExt cx="7515084" cy="2651730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168"/>
            <a:stretch/>
          </p:blipFill>
          <p:spPr>
            <a:xfrm>
              <a:off x="16166923" y="9518933"/>
              <a:ext cx="7237085" cy="2647424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16857014" y="11906338"/>
              <a:ext cx="806146" cy="2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Age 7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18566991" y="11906338"/>
              <a:ext cx="806146" cy="2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Age 8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0464585" y="11906338"/>
              <a:ext cx="806146" cy="2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Male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21933997" y="11910496"/>
              <a:ext cx="1305290" cy="2601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Female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rot="10800000">
              <a:off x="15888924" y="9836532"/>
              <a:ext cx="430887" cy="1796308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lstStyle/>
            <a:p>
              <a:r>
                <a:rPr lang="en-US" altLang="ko-KR" sz="1600" dirty="0" smtClean="0"/>
                <a:t>Cosine Similarity</a:t>
              </a:r>
              <a:endParaRPr lang="ko-KR" altLang="en-US" sz="16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3751256" y="9574693"/>
            <a:ext cx="7277384" cy="2646770"/>
            <a:chOff x="23263576" y="9574693"/>
            <a:chExt cx="7277384" cy="2646770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129"/>
            <a:stretch/>
          </p:blipFill>
          <p:spPr>
            <a:xfrm>
              <a:off x="23263576" y="9574693"/>
              <a:ext cx="7277384" cy="2646770"/>
            </a:xfrm>
            <a:prstGeom prst="rect">
              <a:avLst/>
            </a:prstGeom>
          </p:spPr>
        </p:pic>
        <p:sp>
          <p:nvSpPr>
            <p:cNvPr id="101" name="직사각형 100"/>
            <p:cNvSpPr/>
            <p:nvPr/>
          </p:nvSpPr>
          <p:spPr>
            <a:xfrm>
              <a:off x="23947761" y="11921578"/>
              <a:ext cx="806146" cy="2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Age 7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25657738" y="11921578"/>
              <a:ext cx="806146" cy="2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Age 8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27575652" y="11936818"/>
              <a:ext cx="806146" cy="2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Male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29024744" y="11925736"/>
              <a:ext cx="1305290" cy="2601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 smtClean="0">
                  <a:solidFill>
                    <a:schemeClr val="tx1"/>
                  </a:solidFill>
                </a:rPr>
                <a:t>Female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8" name="TextBox 107"/>
          <p:cNvSpPr txBox="1"/>
          <p:nvPr/>
        </p:nvSpPr>
        <p:spPr>
          <a:xfrm rot="10800000">
            <a:off x="23467230" y="9893760"/>
            <a:ext cx="430887" cy="1796308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r>
              <a:rPr lang="en-US" altLang="ko-KR" sz="1600" dirty="0" smtClean="0"/>
              <a:t>Language Score</a:t>
            </a:r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5267860" y="21165539"/>
            <a:ext cx="10984980" cy="532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spc="-50" dirty="0" smtClean="0"/>
              <a:t>No significant </a:t>
            </a:r>
            <a:r>
              <a:rPr lang="en-US" altLang="ko-KR" sz="2800" spc="-50" dirty="0" smtClean="0"/>
              <a:t>correlation between  </a:t>
            </a:r>
            <a:r>
              <a:rPr lang="en-US" altLang="ko-KR" sz="2800" spc="-50" dirty="0" smtClean="0"/>
              <a:t>l</a:t>
            </a:r>
            <a:r>
              <a:rPr lang="en-US" altLang="ko-KR" sz="2800" spc="-50" dirty="0" smtClean="0"/>
              <a:t>anguage </a:t>
            </a:r>
            <a:r>
              <a:rPr lang="en-US" altLang="ko-KR" sz="2800" spc="-50" dirty="0" err="1"/>
              <a:t>d</a:t>
            </a:r>
            <a:r>
              <a:rPr lang="en-US" altLang="ko-KR" sz="2800" spc="-50" dirty="0" err="1" smtClean="0"/>
              <a:t>evl</a:t>
            </a:r>
            <a:r>
              <a:rPr lang="en-US" altLang="ko-KR" sz="2800" spc="-50" dirty="0" smtClean="0"/>
              <a:t> </a:t>
            </a:r>
            <a:r>
              <a:rPr lang="en-US" altLang="ko-KR" sz="2800" spc="-50" dirty="0" smtClean="0"/>
              <a:t>&amp; </a:t>
            </a:r>
            <a:r>
              <a:rPr lang="en-US" altLang="ko-KR" sz="2800" spc="-50" dirty="0" smtClean="0"/>
              <a:t>nonverbal memory </a:t>
            </a:r>
            <a:endParaRPr lang="ko-KR" altLang="en-US" sz="2800" spc="-50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995017" y="26634550"/>
            <a:ext cx="6563785" cy="597733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3263" y="14077473"/>
            <a:ext cx="8336209" cy="6530538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xmlns="" id="{A548839F-9870-A45D-F8FB-4AB0A9313475}"/>
              </a:ext>
            </a:extLst>
          </p:cNvPr>
          <p:cNvSpPr txBox="1"/>
          <p:nvPr/>
        </p:nvSpPr>
        <p:spPr>
          <a:xfrm>
            <a:off x="20634770" y="17985533"/>
            <a:ext cx="39487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SBERT : r </a:t>
            </a:r>
            <a:r>
              <a:rPr lang="en-US" altLang="ko-KR" sz="2800" b="1" dirty="0">
                <a:solidFill>
                  <a:srgbClr val="FF0000"/>
                </a:solidFill>
              </a:rPr>
              <a:t>= 0.55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***</a:t>
            </a:r>
          </a:p>
          <a:p>
            <a:r>
              <a:rPr lang="en-US" altLang="ko-KR" sz="2800" b="1" dirty="0" smtClean="0">
                <a:solidFill>
                  <a:srgbClr val="379637"/>
                </a:solidFill>
              </a:rPr>
              <a:t>Word2Vec : r </a:t>
            </a:r>
            <a:r>
              <a:rPr lang="en-US" altLang="ko-KR" sz="2800" b="1" dirty="0">
                <a:solidFill>
                  <a:srgbClr val="379637"/>
                </a:solidFill>
              </a:rPr>
              <a:t>= 0.47**</a:t>
            </a:r>
            <a:endParaRPr lang="ko-KR" altLang="en-US" sz="2800" b="1" dirty="0">
              <a:solidFill>
                <a:srgbClr val="379637"/>
              </a:solidFill>
            </a:endParaRPr>
          </a:p>
          <a:p>
            <a:r>
              <a:rPr lang="en-US" altLang="ko-KR" sz="2800" b="1" dirty="0" smtClean="0">
                <a:solidFill>
                  <a:srgbClr val="0000FF"/>
                </a:solidFill>
              </a:rPr>
              <a:t>TF-IDF : r </a:t>
            </a:r>
            <a:r>
              <a:rPr lang="en-US" altLang="ko-KR" sz="2800" b="1" dirty="0">
                <a:solidFill>
                  <a:srgbClr val="0000FF"/>
                </a:solidFill>
              </a:rPr>
              <a:t>= 0.40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*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7197659" y="20403028"/>
            <a:ext cx="688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 smtClean="0"/>
              <a:t>Correlation between Language </a:t>
            </a:r>
            <a:r>
              <a:rPr lang="en-US" altLang="ko-KR" sz="2400" dirty="0" err="1" smtClean="0"/>
              <a:t>dev</a:t>
            </a:r>
            <a:r>
              <a:rPr lang="en-US" altLang="ko-KR" sz="2400" dirty="0" err="1" smtClean="0"/>
              <a:t>l</a:t>
            </a:r>
            <a:r>
              <a:rPr lang="en-US" altLang="ko-KR" sz="2400" dirty="0" smtClean="0"/>
              <a:t> &amp; Recall acc.</a:t>
            </a:r>
            <a:endParaRPr lang="ko-KR" altLang="en-US" sz="240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15905976" y="26592034"/>
            <a:ext cx="7348835" cy="6988472"/>
            <a:chOff x="15905976" y="26134834"/>
            <a:chExt cx="7348835" cy="6988472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5976" y="26134834"/>
              <a:ext cx="7348835" cy="6988472"/>
            </a:xfrm>
            <a:prstGeom prst="rect">
              <a:avLst/>
            </a:prstGeom>
          </p:spPr>
        </p:pic>
        <p:cxnSp>
          <p:nvCxnSpPr>
            <p:cNvPr id="80" name="직선 연결선 79"/>
            <p:cNvCxnSpPr/>
            <p:nvPr/>
          </p:nvCxnSpPr>
          <p:spPr>
            <a:xfrm>
              <a:off x="20916900" y="26899912"/>
              <a:ext cx="8682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 flipH="1">
              <a:off x="21196764" y="26540678"/>
              <a:ext cx="10509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smtClean="0"/>
                <a:t>†</a:t>
              </a:r>
              <a:endParaRPr lang="ko-KR" altLang="en-US" sz="20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26006744" y="13377170"/>
            <a:ext cx="5325579" cy="3901457"/>
            <a:chOff x="24019692" y="13796550"/>
            <a:chExt cx="4245299" cy="2872880"/>
          </a:xfrm>
        </p:grpSpPr>
        <p:pic>
          <p:nvPicPr>
            <p:cNvPr id="140" name="Picture 4">
              <a:extLst>
                <a:ext uri="{FF2B5EF4-FFF2-40B4-BE49-F238E27FC236}">
                  <a16:creationId xmlns:a16="http://schemas.microsoft.com/office/drawing/2014/main" xmlns="" id="{A2FA0C5D-1D12-2A44-4951-07C50CD5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4019692" y="13796550"/>
              <a:ext cx="3830506" cy="287288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xmlns="" id="{3B9B7693-9985-EADD-B4B7-44FAECE6C190}"/>
                </a:ext>
              </a:extLst>
            </p:cNvPr>
            <p:cNvSpPr txBox="1"/>
            <p:nvPr/>
          </p:nvSpPr>
          <p:spPr>
            <a:xfrm>
              <a:off x="26223088" y="15302183"/>
              <a:ext cx="20419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 = -0.03 </a:t>
              </a:r>
              <a:r>
                <a:rPr lang="en-US" altLang="ko-KR" sz="2400" b="1" i="1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ns</a:t>
              </a:r>
              <a:endParaRPr lang="ko-KR" altLang="en-US" sz="2400" b="1" i="1" baseline="30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pic>
        <p:nvPicPr>
          <p:cNvPr id="153" name="Picture 4">
            <a:extLst>
              <a:ext uri="{FF2B5EF4-FFF2-40B4-BE49-F238E27FC236}">
                <a16:creationId xmlns:a16="http://schemas.microsoft.com/office/drawing/2014/main" xmlns="" id="{1E47ACE6-6495-D723-7795-DB0275B42F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63746" y="17489239"/>
            <a:ext cx="5097247" cy="3832814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 rot="10800000">
            <a:off x="25487251" y="14033500"/>
            <a:ext cx="492443" cy="2517140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r>
              <a:rPr lang="en-US" altLang="ko-KR" sz="2000" dirty="0" smtClean="0"/>
              <a:t>Cosine Similarity</a:t>
            </a:r>
            <a:endParaRPr lang="ko-KR" altLang="en-US" sz="2000" dirty="0"/>
          </a:p>
        </p:txBody>
      </p:sp>
      <p:sp>
        <p:nvSpPr>
          <p:cNvPr id="156" name="TextBox 155"/>
          <p:cNvSpPr txBox="1"/>
          <p:nvPr/>
        </p:nvSpPr>
        <p:spPr>
          <a:xfrm rot="10800000">
            <a:off x="15387374" y="14554833"/>
            <a:ext cx="677108" cy="4366843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r>
              <a:rPr lang="en-US" altLang="ko-KR" sz="3200" dirty="0" smtClean="0"/>
              <a:t>Cosine Similarity</a:t>
            </a:r>
            <a:endParaRPr lang="ko-KR" altLang="en-US" sz="3200" dirty="0"/>
          </a:p>
        </p:txBody>
      </p:sp>
      <p:sp>
        <p:nvSpPr>
          <p:cNvPr id="157" name="TextBox 156"/>
          <p:cNvSpPr txBox="1"/>
          <p:nvPr/>
        </p:nvSpPr>
        <p:spPr>
          <a:xfrm>
            <a:off x="27276908" y="17112663"/>
            <a:ext cx="2577374" cy="47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 smtClean="0"/>
              <a:t>Language Score</a:t>
            </a:r>
            <a:endParaRPr lang="ko-KR" altLang="en-US" sz="2400" dirty="0"/>
          </a:p>
        </p:txBody>
      </p:sp>
      <p:sp>
        <p:nvSpPr>
          <p:cNvPr id="158" name="TextBox 157"/>
          <p:cNvSpPr txBox="1"/>
          <p:nvPr/>
        </p:nvSpPr>
        <p:spPr>
          <a:xfrm>
            <a:off x="26414093" y="21290735"/>
            <a:ext cx="399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 smtClean="0"/>
              <a:t>Cosine Similarity Average</a:t>
            </a:r>
            <a:endParaRPr lang="ko-KR" altLang="en-US" sz="2400" dirty="0"/>
          </a:p>
        </p:txBody>
      </p:sp>
      <p:sp>
        <p:nvSpPr>
          <p:cNvPr id="159" name="TextBox 158"/>
          <p:cNvSpPr txBox="1"/>
          <p:nvPr/>
        </p:nvSpPr>
        <p:spPr>
          <a:xfrm>
            <a:off x="15632990" y="33641466"/>
            <a:ext cx="1566848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tx1"/>
                </a:solidFill>
              </a:rPr>
              <a:t>W</a:t>
            </a:r>
            <a:r>
              <a:rPr lang="en-US" altLang="ko-KR" sz="3600" dirty="0" smtClean="0">
                <a:solidFill>
                  <a:schemeClr val="tx1"/>
                </a:solidFill>
              </a:rPr>
              <a:t>ithout Spatial Boundary : Recall Accuracy </a:t>
            </a:r>
            <a:r>
              <a:rPr lang="ko-KR" altLang="en-US" sz="3600" dirty="0" smtClean="0">
                <a:solidFill>
                  <a:schemeClr val="tx1"/>
                </a:solidFill>
              </a:rPr>
              <a:t>↑</a:t>
            </a:r>
            <a:endParaRPr lang="en-US" altLang="ko-KR" sz="3600" dirty="0" smtClean="0">
              <a:solidFill>
                <a:schemeClr val="tx1"/>
              </a:solidFill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</a:rPr>
              <a:t>    Explain more details (e.g. colors, quantities)</a:t>
            </a:r>
          </a:p>
          <a:p>
            <a:endParaRPr lang="en-US" altLang="ko-KR" sz="2500" dirty="0" smtClean="0">
              <a:solidFill>
                <a:schemeClr val="tx1"/>
              </a:solidFill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</a:rPr>
              <a:t>With Spatial Boundary :</a:t>
            </a:r>
          </a:p>
          <a:p>
            <a:r>
              <a:rPr lang="en-US" altLang="ko-KR" sz="3600" dirty="0" smtClean="0">
                <a:solidFill>
                  <a:schemeClr val="tx1"/>
                </a:solidFill>
              </a:rPr>
              <a:t>    With Causal context, Spatial Boundary interrupt Recall</a:t>
            </a:r>
            <a:endParaRPr lang="en-US" altLang="ko-KR" sz="1500" dirty="0">
              <a:solidFill>
                <a:schemeClr val="tx1"/>
              </a:solidFill>
            </a:endParaRP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    With Parallel context, Spatial Boundary provide cues to Recall</a:t>
            </a:r>
            <a:endParaRPr lang="en-US" altLang="ko-KR" sz="36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4729359" y="31316775"/>
            <a:ext cx="14043761" cy="4920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687224" y="32996460"/>
            <a:ext cx="7499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* SOCO </a:t>
            </a:r>
            <a:r>
              <a:rPr lang="en-US" altLang="ko-KR" sz="2800" dirty="0"/>
              <a:t>&lt;</a:t>
            </a:r>
            <a:r>
              <a:rPr lang="en-US" altLang="ko-KR" sz="2800" dirty="0" smtClean="0"/>
              <a:t> SXCX : t = 2.59, *p = 0.0796</a:t>
            </a:r>
          </a:p>
          <a:p>
            <a:r>
              <a:rPr lang="en-US" altLang="ko-KR" sz="2800" dirty="0"/>
              <a:t>*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SXCO &lt; SXCX : t = 2.37, *p = 0.0306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14341452" y="15298963"/>
            <a:ext cx="5184315" cy="3133744"/>
            <a:chOff x="26362918" y="13888170"/>
            <a:chExt cx="4964428" cy="3133744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62918" y="13888170"/>
              <a:ext cx="4964428" cy="3133744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27275648" y="16898617"/>
              <a:ext cx="2325250" cy="101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Language Score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rot="10800000">
              <a:off x="26389394" y="14920563"/>
              <a:ext cx="412611" cy="1058062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lstStyle/>
            <a:p>
              <a:r>
                <a:rPr lang="en-US" altLang="ko-KR" sz="1600" dirty="0" smtClean="0"/>
                <a:t>Recall acc.</a:t>
              </a:r>
              <a:endParaRPr lang="ko-KR" altLang="en-US" sz="1600" dirty="0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1384128" y="4237799"/>
            <a:ext cx="9945333" cy="8134570"/>
            <a:chOff x="15406703" y="14317951"/>
            <a:chExt cx="7132884" cy="7384862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61" t="6481" r="29871"/>
            <a:stretch/>
          </p:blipFill>
          <p:spPr>
            <a:xfrm>
              <a:off x="15406703" y="14843760"/>
              <a:ext cx="7118017" cy="6859053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6164947" y="14317951"/>
              <a:ext cx="6374640" cy="530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smtClean="0"/>
                <a:t>Correlation </a:t>
              </a:r>
              <a:r>
                <a:rPr lang="en-US" altLang="ko-KR" sz="3200" dirty="0"/>
                <a:t>(</a:t>
              </a:r>
              <a:r>
                <a:rPr lang="en-US" altLang="ko-KR" sz="3200" dirty="0" smtClean="0"/>
                <a:t>Language </a:t>
              </a:r>
              <a:r>
                <a:rPr lang="en-US" altLang="ko-KR" sz="3200" dirty="0" err="1" smtClean="0"/>
                <a:t>Devl</a:t>
              </a:r>
              <a:r>
                <a:rPr lang="en-US" altLang="ko-KR" sz="3200" dirty="0" smtClean="0"/>
                <a:t>. </a:t>
              </a:r>
              <a:r>
                <a:rPr lang="en-US" altLang="ko-KR" sz="3200" dirty="0" smtClean="0"/>
                <a:t>&amp; Recall </a:t>
              </a:r>
              <a:r>
                <a:rPr lang="en-US" altLang="ko-KR" sz="3200" dirty="0" smtClean="0"/>
                <a:t>Acc.)</a:t>
              </a:r>
              <a:endParaRPr lang="en-US" altLang="ko-KR" sz="3200" dirty="0" smtClean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9769561" y="15536621"/>
              <a:ext cx="2549618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solidFill>
                    <a:srgbClr val="FF0000"/>
                  </a:solidFill>
                </a:rPr>
                <a:t>SBERT :  r = 0.54**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9549641" y="16700748"/>
              <a:ext cx="2769538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solidFill>
                    <a:srgbClr val="00B050"/>
                  </a:solidFill>
                </a:rPr>
                <a:t>Word2vec : r = 0.45*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769561" y="18438240"/>
              <a:ext cx="2549618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 smtClean="0">
                  <a:solidFill>
                    <a:srgbClr val="002060"/>
                  </a:solidFill>
                </a:rPr>
                <a:t>TF-IDF : r = 0.39*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4827533" y="19116856"/>
            <a:ext cx="5397696" cy="3864031"/>
            <a:chOff x="34108818" y="18582780"/>
            <a:chExt cx="5397696" cy="3864031"/>
          </a:xfrm>
        </p:grpSpPr>
        <p:grpSp>
          <p:nvGrpSpPr>
            <p:cNvPr id="20" name="그룹 19"/>
            <p:cNvGrpSpPr/>
            <p:nvPr/>
          </p:nvGrpSpPr>
          <p:grpSpPr>
            <a:xfrm>
              <a:off x="34108818" y="18582780"/>
              <a:ext cx="5397696" cy="3864031"/>
              <a:chOff x="26106214" y="18060532"/>
              <a:chExt cx="4968374" cy="3864031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26106214" y="18060532"/>
                <a:ext cx="4968374" cy="3864031"/>
                <a:chOff x="33256384" y="18066447"/>
                <a:chExt cx="4351729" cy="3294518"/>
              </a:xfrm>
            </p:grpSpPr>
            <p:pic>
              <p:nvPicPr>
                <p:cNvPr id="26" name="그림 25"/>
                <p:cNvPicPr/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251" r="30141" b="251"/>
                <a:stretch/>
              </p:blipFill>
              <p:spPr bwMode="auto">
                <a:xfrm>
                  <a:off x="33614401" y="18066447"/>
                  <a:ext cx="3659800" cy="2672113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27" name="TextBox 26"/>
                <p:cNvSpPr txBox="1"/>
                <p:nvPr/>
              </p:nvSpPr>
              <p:spPr>
                <a:xfrm>
                  <a:off x="33256384" y="20955782"/>
                  <a:ext cx="4351729" cy="4051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altLang="ko-KR" sz="2400" dirty="0" smtClean="0"/>
                    <a:t>Cosine Similarity Mean by Models</a:t>
                  </a:r>
                  <a:endParaRPr lang="ko-KR" altLang="en-US" sz="2400" dirty="0"/>
                </a:p>
              </p:txBody>
            </p:sp>
          </p:grpSp>
          <p:sp>
            <p:nvSpPr>
              <p:cNvPr id="23" name="직사각형 22"/>
              <p:cNvSpPr/>
              <p:nvPr/>
            </p:nvSpPr>
            <p:spPr>
              <a:xfrm>
                <a:off x="26961501" y="20884522"/>
                <a:ext cx="973420" cy="2643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800" b="1" dirty="0" smtClean="0">
                    <a:solidFill>
                      <a:schemeClr val="tx1"/>
                    </a:solidFill>
                  </a:rPr>
                  <a:t>SBERT</a:t>
                </a:r>
                <a:endParaRPr lang="ko-KR" altLang="en-US" sz="1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27894750" y="20935742"/>
                <a:ext cx="973420" cy="4159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800" b="1" dirty="0" smtClean="0">
                    <a:solidFill>
                      <a:schemeClr val="tx1"/>
                    </a:solidFill>
                  </a:rPr>
                  <a:t>Word</a:t>
                </a:r>
              </a:p>
              <a:p>
                <a:pPr algn="ctr"/>
                <a:r>
                  <a:rPr lang="en-US" altLang="ko-KR" sz="1800" b="1" dirty="0" smtClean="0">
                    <a:solidFill>
                      <a:schemeClr val="tx1"/>
                    </a:solidFill>
                  </a:rPr>
                  <a:t>2Vec</a:t>
                </a:r>
                <a:endParaRPr lang="ko-KR" altLang="en-US" sz="1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8771047" y="20884522"/>
                <a:ext cx="973420" cy="2643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800" b="1" dirty="0" smtClean="0">
                    <a:solidFill>
                      <a:schemeClr val="tx1"/>
                    </a:solidFill>
                  </a:rPr>
                  <a:t>TF-IDF</a:t>
                </a:r>
                <a:endParaRPr lang="ko-KR" altLang="en-US" sz="1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 rot="10800000">
              <a:off x="34428883" y="19305702"/>
              <a:ext cx="430887" cy="1796308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lstStyle/>
            <a:p>
              <a:r>
                <a:rPr lang="en-US" altLang="ko-KR" sz="1600" dirty="0" smtClean="0"/>
                <a:t>Cosine Similarity</a:t>
              </a:r>
              <a:endParaRPr lang="ko-KR" altLang="en-US" sz="1600" dirty="0"/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" t="5632" r="30566" b="3993"/>
          <a:stretch/>
        </p:blipFill>
        <p:spPr>
          <a:xfrm>
            <a:off x="11798748" y="11208992"/>
            <a:ext cx="4339538" cy="3695052"/>
          </a:xfrm>
          <a:prstGeom prst="rect">
            <a:avLst/>
          </a:prstGeom>
        </p:spPr>
      </p:pic>
      <p:grpSp>
        <p:nvGrpSpPr>
          <p:cNvPr id="29" name="그룹 28"/>
          <p:cNvGrpSpPr/>
          <p:nvPr/>
        </p:nvGrpSpPr>
        <p:grpSpPr>
          <a:xfrm>
            <a:off x="20652444" y="11709041"/>
            <a:ext cx="4870569" cy="4221620"/>
            <a:chOff x="26241914" y="18504000"/>
            <a:chExt cx="4262847" cy="3651935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55" t="6975" r="27305" b="16096"/>
            <a:stretch/>
          </p:blipFill>
          <p:spPr>
            <a:xfrm>
              <a:off x="26327057" y="18504000"/>
              <a:ext cx="3703347" cy="3264857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26241914" y="21779929"/>
              <a:ext cx="4262847" cy="376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400" dirty="0" smtClean="0"/>
                <a:t>Cosine Similarity Mean by Models</a:t>
              </a:r>
              <a:endParaRPr lang="ko-KR" altLang="en-US" sz="2400" dirty="0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8797023" y="37874985"/>
            <a:ext cx="1535176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dirty="0" smtClean="0">
                <a:solidFill>
                  <a:schemeClr val="tx1"/>
                </a:solidFill>
              </a:rPr>
              <a:t>- Spatial </a:t>
            </a:r>
            <a:r>
              <a:rPr lang="en-US" altLang="ko-KR" sz="3400" dirty="0">
                <a:solidFill>
                  <a:schemeClr val="tx1"/>
                </a:solidFill>
              </a:rPr>
              <a:t>Shift O &amp; Causal </a:t>
            </a:r>
            <a:r>
              <a:rPr lang="en-US" altLang="ko-KR" sz="3400" dirty="0" smtClean="0">
                <a:solidFill>
                  <a:schemeClr val="tx1"/>
                </a:solidFill>
              </a:rPr>
              <a:t>O Event (SOCO)</a:t>
            </a:r>
            <a:endParaRPr lang="en-US" altLang="ko-KR" sz="3400" dirty="0">
              <a:solidFill>
                <a:schemeClr val="tx1"/>
              </a:solidFill>
            </a:endParaRP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  : Focused on Overall </a:t>
            </a:r>
            <a:r>
              <a:rPr lang="en-US" altLang="ko-KR" sz="3400" dirty="0">
                <a:solidFill>
                  <a:schemeClr val="tx1"/>
                </a:solidFill>
              </a:rPr>
              <a:t>storyline, </a:t>
            </a:r>
            <a:r>
              <a:rPr lang="en-US" altLang="ko-KR" sz="3400" dirty="0" smtClean="0">
                <a:solidFill>
                  <a:schemeClr val="tx1"/>
                </a:solidFill>
              </a:rPr>
              <a:t>Details </a:t>
            </a:r>
            <a:r>
              <a:rPr lang="ko-KR" altLang="en-US" sz="3400" dirty="0" smtClean="0">
                <a:solidFill>
                  <a:schemeClr val="tx1"/>
                </a:solidFill>
              </a:rPr>
              <a:t>↓</a:t>
            </a:r>
            <a:r>
              <a:rPr lang="en-US" altLang="ko-KR" sz="3400" dirty="0" smtClean="0">
                <a:solidFill>
                  <a:schemeClr val="tx1"/>
                </a:solidFill>
              </a:rPr>
              <a:t> (e.g</a:t>
            </a:r>
            <a:r>
              <a:rPr lang="en-US" altLang="ko-KR" sz="3400" dirty="0">
                <a:solidFill>
                  <a:schemeClr val="tx1"/>
                </a:solidFill>
              </a:rPr>
              <a:t>., colors, </a:t>
            </a:r>
            <a:r>
              <a:rPr lang="en-US" altLang="ko-KR" sz="3400" dirty="0" smtClean="0">
                <a:solidFill>
                  <a:schemeClr val="tx1"/>
                </a:solidFill>
              </a:rPr>
              <a:t>quantities)</a:t>
            </a:r>
          </a:p>
          <a:p>
            <a:r>
              <a:rPr lang="en-US" altLang="ko-KR" sz="3400" dirty="0">
                <a:solidFill>
                  <a:schemeClr val="tx1"/>
                </a:solidFill>
              </a:rPr>
              <a:t> </a:t>
            </a:r>
            <a:r>
              <a:rPr lang="en-US" altLang="ko-KR" sz="3400" dirty="0" smtClean="0">
                <a:solidFill>
                  <a:schemeClr val="tx1"/>
                </a:solidFill>
              </a:rPr>
              <a:t> : Prioritized Character’s Actions &gt; Spatial shift </a:t>
            </a:r>
            <a:r>
              <a:rPr lang="ko-KR" altLang="en-US" sz="3400" dirty="0" smtClean="0">
                <a:solidFill>
                  <a:schemeClr val="tx1"/>
                </a:solidFill>
              </a:rPr>
              <a:t>→</a:t>
            </a:r>
            <a:r>
              <a:rPr lang="en-US" altLang="ko-KR" sz="3400" dirty="0" smtClean="0">
                <a:solidFill>
                  <a:schemeClr val="tx1"/>
                </a:solidFill>
              </a:rPr>
              <a:t> Recall Accuracy </a:t>
            </a:r>
            <a:r>
              <a:rPr lang="ko-KR" altLang="en-US" sz="3400" dirty="0" smtClean="0">
                <a:solidFill>
                  <a:schemeClr val="tx1"/>
                </a:solidFill>
              </a:rPr>
              <a:t>↓</a:t>
            </a:r>
            <a:endParaRPr lang="en-US" altLang="ko-KR" sz="3400" dirty="0" smtClean="0">
              <a:solidFill>
                <a:schemeClr val="tx1"/>
              </a:solidFill>
            </a:endParaRP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- Spatial Shift X &amp; Causal X (Parallel) Event (SXCX)</a:t>
            </a:r>
          </a:p>
          <a:p>
            <a:r>
              <a:rPr lang="en-US" altLang="ko-KR" sz="3400" dirty="0" smtClean="0">
                <a:solidFill>
                  <a:schemeClr val="tx1"/>
                </a:solidFill>
              </a:rPr>
              <a:t>  : </a:t>
            </a:r>
            <a:r>
              <a:rPr lang="en-US" altLang="ko-KR" sz="3400" dirty="0">
                <a:solidFill>
                  <a:schemeClr val="tx1"/>
                </a:solidFill>
              </a:rPr>
              <a:t>C</a:t>
            </a:r>
            <a:r>
              <a:rPr lang="en-US" altLang="ko-KR" sz="3400" dirty="0" smtClean="0">
                <a:solidFill>
                  <a:schemeClr val="tx1"/>
                </a:solidFill>
              </a:rPr>
              <a:t>onsistent </a:t>
            </a:r>
            <a:r>
              <a:rPr lang="en-US" altLang="ko-KR" sz="3400" dirty="0">
                <a:solidFill>
                  <a:schemeClr val="tx1"/>
                </a:solidFill>
              </a:rPr>
              <a:t>storyline </a:t>
            </a:r>
            <a:r>
              <a:rPr lang="en-US" altLang="ko-KR" sz="3400" dirty="0" smtClean="0">
                <a:solidFill>
                  <a:schemeClr val="tx1"/>
                </a:solidFill>
              </a:rPr>
              <a:t>X </a:t>
            </a:r>
            <a:r>
              <a:rPr lang="ko-KR" altLang="en-US" sz="3400" dirty="0" smtClean="0">
                <a:solidFill>
                  <a:schemeClr val="tx1"/>
                </a:solidFill>
              </a:rPr>
              <a:t>→</a:t>
            </a:r>
            <a:r>
              <a:rPr lang="en-US" altLang="ko-KR" sz="3400" dirty="0" smtClean="0">
                <a:solidFill>
                  <a:schemeClr val="tx1"/>
                </a:solidFill>
              </a:rPr>
              <a:t> More Detailed </a:t>
            </a:r>
            <a:r>
              <a:rPr lang="en-US" altLang="ko-KR" sz="3400" dirty="0">
                <a:solidFill>
                  <a:schemeClr val="tx1"/>
                </a:solidFill>
              </a:rPr>
              <a:t>descriptions of specific </a:t>
            </a:r>
            <a:r>
              <a:rPr lang="en-US" altLang="ko-KR" sz="3400" dirty="0" smtClean="0">
                <a:solidFill>
                  <a:schemeClr val="tx1"/>
                </a:solidFill>
              </a:rPr>
              <a:t>elements</a:t>
            </a:r>
            <a:endParaRPr lang="en-US" altLang="ko-KR" sz="3400" dirty="0">
              <a:solidFill>
                <a:schemeClr val="tx1"/>
              </a:solidFill>
            </a:endParaRPr>
          </a:p>
          <a:p>
            <a:r>
              <a:rPr lang="en-US" altLang="ko-KR" sz="3400" dirty="0">
                <a:solidFill>
                  <a:schemeClr val="tx1"/>
                </a:solidFill>
              </a:rPr>
              <a:t> </a:t>
            </a:r>
            <a:r>
              <a:rPr lang="en-US" altLang="ko-KR" sz="3400" dirty="0" smtClean="0">
                <a:solidFill>
                  <a:schemeClr val="tx1"/>
                </a:solidFill>
              </a:rPr>
              <a:t>    </a:t>
            </a:r>
            <a:r>
              <a:rPr lang="ko-KR" altLang="en-US" sz="3400" dirty="0" smtClean="0">
                <a:solidFill>
                  <a:schemeClr val="tx1"/>
                </a:solidFill>
              </a:rPr>
              <a:t>→ </a:t>
            </a:r>
            <a:r>
              <a:rPr lang="en-US" altLang="ko-KR" sz="3400" dirty="0" smtClean="0">
                <a:solidFill>
                  <a:schemeClr val="tx1"/>
                </a:solidFill>
              </a:rPr>
              <a:t>Higher Similarity with Answer sheet (Recall Accuracy </a:t>
            </a:r>
            <a:r>
              <a:rPr lang="ko-KR" altLang="en-US" sz="3400" dirty="0" smtClean="0">
                <a:solidFill>
                  <a:schemeClr val="tx1"/>
                </a:solidFill>
              </a:rPr>
              <a:t>↑</a:t>
            </a:r>
            <a:r>
              <a:rPr lang="en-US" altLang="ko-KR" sz="3400" dirty="0" smtClean="0">
                <a:solidFill>
                  <a:schemeClr val="tx1"/>
                </a:solidFill>
              </a:rPr>
              <a:t> in Free Recall)</a:t>
            </a:r>
          </a:p>
          <a:p>
            <a:r>
              <a:rPr lang="en-US" altLang="ko-KR" sz="3400" dirty="0">
                <a:solidFill>
                  <a:schemeClr val="tx1"/>
                </a:solidFill>
              </a:rPr>
              <a:t> </a:t>
            </a:r>
            <a:r>
              <a:rPr lang="en-US" altLang="ko-KR" sz="3400" dirty="0" smtClean="0">
                <a:solidFill>
                  <a:schemeClr val="tx1"/>
                </a:solidFill>
              </a:rPr>
              <a:t>    </a:t>
            </a:r>
            <a:r>
              <a:rPr lang="en-US" altLang="ko-KR" sz="3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↔  Lowest Recall Accuracy in </a:t>
            </a:r>
            <a:r>
              <a:rPr lang="en-US" altLang="ko-KR" sz="3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TOJ</a:t>
            </a:r>
            <a:endParaRPr lang="en-US" altLang="ko-KR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22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3321</TotalTime>
  <Words>1116</Words>
  <Application>Microsoft Office PowerPoint</Application>
  <PresentationFormat>사용자 지정</PresentationFormat>
  <Paragraphs>176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Batang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Brain</dc:creator>
  <cp:lastModifiedBy>Microsoft 계정</cp:lastModifiedBy>
  <cp:revision>197</cp:revision>
  <dcterms:created xsi:type="dcterms:W3CDTF">2016-10-11T09:46:40Z</dcterms:created>
  <dcterms:modified xsi:type="dcterms:W3CDTF">2024-12-13T14:59:02Z</dcterms:modified>
</cp:coreProperties>
</file>