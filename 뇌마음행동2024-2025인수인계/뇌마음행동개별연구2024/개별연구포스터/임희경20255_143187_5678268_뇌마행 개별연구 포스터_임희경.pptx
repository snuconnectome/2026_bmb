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9288" cy="43200638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" roundtripDataSignature="AMtx7mgQQex2AJcqbRTXDH5A0xWDSmUd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8"/>
    <p:restoredTop sz="94694"/>
  </p:normalViewPr>
  <p:slideViewPr>
    <p:cSldViewPr snapToGrid="0">
      <p:cViewPr>
        <p:scale>
          <a:sx n="25" d="100"/>
          <a:sy n="25" d="100"/>
        </p:scale>
        <p:origin x="628" y="-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68350"/>
            <a:ext cx="287655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68350"/>
            <a:ext cx="287655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200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4049912" y="22690339"/>
            <a:ext cx="24299466" cy="10430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/>
            </a:lvl1pPr>
            <a:lvl2pPr lvl="1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/>
            </a:lvl2pPr>
            <a:lvl3pPr lvl="2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/>
            </a:lvl3pPr>
            <a:lvl4pPr lvl="3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4pPr>
            <a:lvl5pPr lvl="4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5pPr>
            <a:lvl6pPr lvl="5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6pPr>
            <a:lvl7pPr lvl="6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7pPr>
            <a:lvl8pPr lvl="7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8pPr>
            <a:lvl9pPr lvl="8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227452" y="11500169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2210578" y="10770173"/>
            <a:ext cx="27944386" cy="1797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200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>
                <a:solidFill>
                  <a:schemeClr val="dk1"/>
                </a:solidFill>
              </a:defRPr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6622"/>
              <a:buNone/>
              <a:defRPr sz="6684">
                <a:solidFill>
                  <a:srgbClr val="888888"/>
                </a:solidFill>
              </a:defRPr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960"/>
              <a:buNone/>
              <a:defRPr sz="6015">
                <a:solidFill>
                  <a:srgbClr val="888888"/>
                </a:solidFill>
              </a:defRPr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2227451" y="11500169"/>
            <a:ext cx="13769698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16402139" y="11500169"/>
            <a:ext cx="13769698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2231671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 b="1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 b="1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 b="1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2231675" y="15780234"/>
            <a:ext cx="13706415" cy="232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16402141" y="10590160"/>
            <a:ext cx="13773918" cy="5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 b="1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 b="1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 b="1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16402141" y="15780234"/>
            <a:ext cx="13773918" cy="232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231671" y="2880043"/>
            <a:ext cx="10449613" cy="100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69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3773918" y="6220102"/>
            <a:ext cx="16402140" cy="3070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909765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0595"/>
              <a:buChar char="•"/>
              <a:defRPr sz="10694"/>
            </a:lvl1pPr>
            <a:lvl2pPr marL="922904" lvl="1" indent="-82490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9271"/>
              <a:buChar char="•"/>
              <a:defRPr sz="9357"/>
            </a:lvl2pPr>
            <a:lvl3pPr marL="1384356" lvl="2" indent="-7399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7946"/>
              <a:buChar char="•"/>
              <a:defRPr sz="8020"/>
            </a:lvl3pPr>
            <a:lvl4pPr marL="1845808" lvl="3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4pPr>
            <a:lvl5pPr marL="2307260" lvl="4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5pPr>
            <a:lvl6pPr marL="2768712" lvl="5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6pPr>
            <a:lvl7pPr marL="3230164" lvl="6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7pPr>
            <a:lvl8pPr marL="3691616" lvl="7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8pPr>
            <a:lvl9pPr marL="4153068" lvl="8" indent="-655133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2231671" y="12960192"/>
            <a:ext cx="10449613" cy="2401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78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4010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231671" y="2880043"/>
            <a:ext cx="10449613" cy="100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69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3773918" y="6220102"/>
            <a:ext cx="16402140" cy="3070045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231671" y="12960192"/>
            <a:ext cx="10449613" cy="2401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78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4010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494441" y="11233180"/>
            <a:ext cx="27410408" cy="27944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373519" y="17112258"/>
            <a:ext cx="36610544" cy="6986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5801169" y="10328658"/>
            <a:ext cx="36610544" cy="20553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68"/>
              <a:buFont typeface="Calibri"/>
              <a:buNone/>
              <a:defRPr sz="145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227452" y="11500169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817308" algn="l" rtl="0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9271"/>
              <a:buFont typeface="Arial"/>
              <a:buChar char="•"/>
              <a:defRPr sz="92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733171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6"/>
              <a:buFont typeface="Arial"/>
              <a:buChar char="•"/>
              <a:defRPr sz="794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649097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Font typeface="Arial"/>
              <a:buChar char="•"/>
              <a:defRPr sz="66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607059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951954" y="1466328"/>
            <a:ext cx="21466441" cy="3850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73" tIns="46124" rIns="92273" bIns="46124" anchor="t" anchorCtr="0">
            <a:spAutoFit/>
          </a:bodyPr>
          <a:lstStyle/>
          <a:p>
            <a:pPr algn="ctr"/>
            <a:r>
              <a:rPr lang="ko-KR" altLang="ko-KR" sz="8070" b="1" dirty="0">
                <a:effectLst/>
                <a:ea typeface="함초롬돋움" panose="020B0604000101010101" pitchFamily="50" charset="-127"/>
              </a:rPr>
              <a:t>신경법학</a:t>
            </a:r>
            <a:r>
              <a:rPr lang="en-US" altLang="ko-KR" sz="8070" b="1" dirty="0">
                <a:effectLst/>
                <a:ea typeface="함초롬돋움" panose="020B0604000101010101" pitchFamily="50" charset="-127"/>
              </a:rPr>
              <a:t>(Neurolaw)</a:t>
            </a:r>
            <a:r>
              <a:rPr lang="ko-KR" altLang="ko-KR" sz="8070" b="1" dirty="0">
                <a:effectLst/>
                <a:ea typeface="함초롬돋움" panose="020B0604000101010101" pitchFamily="50" charset="-127"/>
              </a:rPr>
              <a:t>의 연구 동향과 향후 과제</a:t>
            </a:r>
            <a:endParaRPr lang="ko-KR" altLang="en-US" sz="807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US" altLang="ko-KR" sz="5450" b="1" i="0" dirty="0">
                <a:solidFill>
                  <a:srgbClr val="000000"/>
                </a:solidFill>
                <a:effectLst/>
                <a:latin typeface="noto"/>
              </a:rPr>
              <a:t>Research Trends and Future Challenges in Neurolaw</a:t>
            </a:r>
            <a:endParaRPr sz="545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US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서울대학교 </a:t>
            </a:r>
            <a:r>
              <a:rPr lang="ko-KR" altLang="en-US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언어</a:t>
            </a:r>
            <a:r>
              <a:rPr lang="en-US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학과</a:t>
            </a:r>
            <a:endParaRPr sz="363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ko-KR" altLang="en-US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임희경</a:t>
            </a:r>
            <a:endParaRPr sz="363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US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alice664@snu.ac.kr</a:t>
            </a:r>
            <a:endParaRPr sz="363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6898" y="754086"/>
            <a:ext cx="4365056" cy="44761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1"/>
          <p:cNvGrpSpPr/>
          <p:nvPr/>
        </p:nvGrpSpPr>
        <p:grpSpPr>
          <a:xfrm>
            <a:off x="1638384" y="6288662"/>
            <a:ext cx="14170178" cy="13447137"/>
            <a:chOff x="699916" y="7415151"/>
            <a:chExt cx="19004401" cy="10049106"/>
          </a:xfrm>
        </p:grpSpPr>
        <p:sp>
          <p:nvSpPr>
            <p:cNvPr id="87" name="Google Shape;87;p1"/>
            <p:cNvSpPr/>
            <p:nvPr/>
          </p:nvSpPr>
          <p:spPr>
            <a:xfrm>
              <a:off x="699916" y="7840899"/>
              <a:ext cx="19002509" cy="9623358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>
                <a:lnSpc>
                  <a:spcPct val="150000"/>
                </a:lnSpc>
              </a:pPr>
              <a:endParaRPr lang="en-US" altLang="ko-KR" sz="3630" dirty="0">
                <a:latin typeface="+mn-ea"/>
                <a:ea typeface="+mn-ea"/>
              </a:endParaRPr>
            </a:p>
            <a:p>
              <a:pPr algn="just">
                <a:lnSpc>
                  <a:spcPct val="150000"/>
                </a:lnSpc>
              </a:pPr>
              <a:r>
                <a:rPr lang="ko-KR" altLang="en-US" sz="3630" dirty="0">
                  <a:latin typeface="+mn-ea"/>
                  <a:ea typeface="+mn-ea"/>
                </a:rPr>
                <a:t>신경법학</a:t>
              </a:r>
              <a:r>
                <a:rPr lang="en-US" altLang="ko-KR" sz="3630" dirty="0">
                  <a:latin typeface="+mn-ea"/>
                  <a:ea typeface="+mn-ea"/>
                </a:rPr>
                <a:t>(Neurolaw</a:t>
              </a:r>
              <a:r>
                <a:rPr lang="en-US" altLang="ko-KR" sz="3630">
                  <a:latin typeface="+mn-ea"/>
                  <a:ea typeface="+mn-ea"/>
                </a:rPr>
                <a:t>): </a:t>
              </a:r>
              <a:r>
                <a:rPr lang="ko-KR" altLang="ko-KR" sz="3630">
                  <a:effectLst/>
                  <a:latin typeface="+mn-ea"/>
                  <a:ea typeface="+mn-ea"/>
                </a:rPr>
                <a:t>뇌과학</a:t>
              </a:r>
              <a:r>
                <a:rPr lang="ko-KR" altLang="en-US" sz="3630">
                  <a:effectLst/>
                  <a:latin typeface="+mn-ea"/>
                  <a:ea typeface="+mn-ea"/>
                </a:rPr>
                <a:t>의</a:t>
              </a:r>
              <a:r>
                <a:rPr lang="ko-KR" altLang="ko-KR" sz="3630">
                  <a:effectLst/>
                  <a:latin typeface="+mn-ea"/>
                  <a:ea typeface="+mn-ea"/>
                </a:rPr>
                <a:t> </a:t>
              </a:r>
              <a:r>
                <a:rPr lang="ko-KR" altLang="ko-KR" sz="3630" dirty="0">
                  <a:effectLst/>
                  <a:latin typeface="+mn-ea"/>
                  <a:ea typeface="+mn-ea"/>
                </a:rPr>
                <a:t>기술적 성과를 기반으로 </a:t>
              </a:r>
              <a:endParaRPr lang="en-US" altLang="ko-KR" sz="3630" dirty="0">
                <a:effectLst/>
                <a:latin typeface="+mn-ea"/>
                <a:ea typeface="+mn-ea"/>
              </a:endParaRPr>
            </a:p>
            <a:p>
              <a:pPr algn="just">
                <a:lnSpc>
                  <a:spcPct val="150000"/>
                </a:lnSpc>
              </a:pPr>
              <a:r>
                <a:rPr lang="ko-KR" altLang="ko-KR" sz="3630" dirty="0">
                  <a:effectLst/>
                  <a:latin typeface="+mn-ea"/>
                  <a:ea typeface="+mn-ea"/>
                </a:rPr>
                <a:t>① 법률의 기존 문제점을 수정하거나 아니면 기존 법률 체제를 유지할 것인지 여부를 논의하고</a:t>
              </a:r>
              <a:r>
                <a:rPr lang="en-US" altLang="ko-KR" sz="3630" dirty="0">
                  <a:effectLst/>
                  <a:latin typeface="+mn-ea"/>
                  <a:ea typeface="+mn-ea"/>
                </a:rPr>
                <a:t>, </a:t>
              </a:r>
            </a:p>
            <a:p>
              <a:pPr algn="just">
                <a:lnSpc>
                  <a:spcPct val="150000"/>
                </a:lnSpc>
              </a:pPr>
              <a:r>
                <a:rPr lang="ko-KR" altLang="ko-KR" sz="3630" dirty="0">
                  <a:effectLst/>
                  <a:latin typeface="+mn-ea"/>
                  <a:ea typeface="+mn-ea"/>
                </a:rPr>
                <a:t>② 뇌과학 기술 발전에 따라 등장한 새로운 문제를 법률적 측면에서 다루는 학제 간 연구</a:t>
              </a:r>
              <a:endParaRPr lang="en-US" altLang="ko-KR" sz="3630" dirty="0">
                <a:effectLst/>
                <a:latin typeface="+mn-ea"/>
                <a:ea typeface="+mn-ea"/>
              </a:endParaRPr>
            </a:p>
            <a:p>
              <a:pPr algn="just">
                <a:lnSpc>
                  <a:spcPct val="150000"/>
                </a:lnSpc>
              </a:pPr>
              <a:endParaRPr lang="en-US" sz="3630" dirty="0">
                <a:solidFill>
                  <a:schemeClr val="dk1"/>
                </a:solidFill>
                <a:latin typeface="+mn-ea"/>
                <a:ea typeface="+mn-ea"/>
                <a:cs typeface="Batang"/>
                <a:sym typeface="Batang"/>
              </a:endParaRPr>
            </a:p>
            <a:p>
              <a:pPr algn="just">
                <a:lnSpc>
                  <a:spcPct val="150000"/>
                </a:lnSpc>
              </a:pPr>
              <a:r>
                <a:rPr lang="ko-KR" altLang="ko-KR" sz="3630" dirty="0">
                  <a:effectLst/>
                  <a:latin typeface="+mn-ea"/>
                  <a:ea typeface="+mn-ea"/>
                </a:rPr>
                <a:t>신경법학 분야의 연구 동향을 살펴보고</a:t>
              </a:r>
              <a:r>
                <a:rPr lang="en-US" altLang="ko-KR" sz="3630" dirty="0">
                  <a:effectLst/>
                  <a:latin typeface="+mn-ea"/>
                  <a:ea typeface="+mn-ea"/>
                </a:rPr>
                <a:t>, </a:t>
              </a:r>
              <a:r>
                <a:rPr lang="ko-KR" altLang="ko-KR" sz="3630" dirty="0">
                  <a:effectLst/>
                  <a:latin typeface="+mn-ea"/>
                  <a:ea typeface="+mn-ea"/>
                </a:rPr>
                <a:t>신경법학과 그 관련 분야인 뇌인지과학의 현 지식 상태를 정리</a:t>
              </a:r>
              <a:r>
                <a:rPr lang="en-US" altLang="ko-KR" sz="3630" dirty="0">
                  <a:effectLst/>
                  <a:latin typeface="+mn-ea"/>
                  <a:ea typeface="+mn-ea"/>
                </a:rPr>
                <a:t>. </a:t>
              </a:r>
              <a:r>
                <a:rPr lang="ko-KR" altLang="ko-KR" sz="3630" dirty="0">
                  <a:effectLst/>
                  <a:latin typeface="+mn-ea"/>
                  <a:ea typeface="+mn-ea"/>
                </a:rPr>
                <a:t>특히</a:t>
              </a:r>
              <a:r>
                <a:rPr lang="en-US" altLang="ko-KR" sz="3630" dirty="0">
                  <a:effectLst/>
                  <a:latin typeface="+mn-ea"/>
                  <a:ea typeface="+mn-ea"/>
                </a:rPr>
                <a:t>, </a:t>
              </a:r>
              <a:r>
                <a:rPr lang="ko-KR" altLang="ko-KR" sz="3630" dirty="0">
                  <a:effectLst/>
                  <a:latin typeface="+mn-ea"/>
                  <a:ea typeface="+mn-ea"/>
                </a:rPr>
                <a:t>기억에 관여하는 뇌의 메커니즘과 해마 기억의 오류 가능성 및 신뢰성 등을 논의</a:t>
              </a:r>
              <a:r>
                <a:rPr lang="en-US" altLang="ko-KR" sz="3630" dirty="0">
                  <a:effectLst/>
                  <a:latin typeface="+mn-ea"/>
                  <a:ea typeface="+mn-ea"/>
                </a:rPr>
                <a:t>.</a:t>
              </a:r>
            </a:p>
            <a:p>
              <a:pPr algn="just">
                <a:lnSpc>
                  <a:spcPct val="150000"/>
                </a:lnSpc>
              </a:pPr>
              <a:endParaRPr lang="en-US" sz="3630" dirty="0">
                <a:solidFill>
                  <a:schemeClr val="dk1"/>
                </a:solidFill>
                <a:latin typeface="+mn-ea"/>
                <a:ea typeface="+mn-ea"/>
                <a:cs typeface="Batang"/>
                <a:sym typeface="Batang"/>
              </a:endParaRPr>
            </a:p>
            <a:p>
              <a:pPr algn="just">
                <a:lnSpc>
                  <a:spcPct val="150000"/>
                </a:lnSpc>
              </a:pPr>
              <a:r>
                <a:rPr lang="ko-KR" altLang="ko-KR" sz="3630" dirty="0">
                  <a:solidFill>
                    <a:srgbClr val="000000"/>
                  </a:solidFill>
                  <a:effectLst/>
                  <a:latin typeface="+mn-ea"/>
                  <a:ea typeface="+mn-ea"/>
                  <a:cs typeface="굴림" panose="020B0600000101010101" pitchFamily="50" charset="-127"/>
                </a:rPr>
                <a:t>인지신경과학의 연구결과를 법적 해석에 적용하고자 하는 신경법학은 기억 연구와 관련한 부분에서 그 활용가능성과 중요성의 증대가 예측</a:t>
              </a:r>
              <a:r>
                <a:rPr lang="ko-KR" altLang="en-US" sz="3630" dirty="0">
                  <a:latin typeface="+mn-ea"/>
                  <a:ea typeface="+mn-ea"/>
                  <a:cs typeface="굴림" panose="020B0600000101010101" pitchFamily="50" charset="-127"/>
                </a:rPr>
                <a:t>됨</a:t>
              </a:r>
              <a:r>
                <a:rPr lang="en-US" altLang="ko-KR" sz="3630" dirty="0">
                  <a:solidFill>
                    <a:srgbClr val="000000"/>
                  </a:solidFill>
                  <a:effectLst/>
                  <a:latin typeface="+mn-ea"/>
                  <a:ea typeface="+mn-ea"/>
                  <a:cs typeface="굴림" panose="020B0600000101010101" pitchFamily="50" charset="-127"/>
                </a:rPr>
                <a:t>. </a:t>
              </a:r>
              <a:r>
                <a:rPr lang="ko-KR" altLang="en-US" sz="3630" dirty="0">
                  <a:solidFill>
                    <a:srgbClr val="000000"/>
                  </a:solidFill>
                  <a:effectLst/>
                  <a:latin typeface="+mn-ea"/>
                  <a:ea typeface="+mn-ea"/>
                  <a:cs typeface="굴림" panose="020B0600000101010101" pitchFamily="50" charset="-127"/>
                </a:rPr>
                <a:t>그러나</a:t>
              </a:r>
              <a:r>
                <a:rPr lang="en-US" altLang="ko-KR" sz="3630" dirty="0">
                  <a:solidFill>
                    <a:srgbClr val="000000"/>
                  </a:solidFill>
                  <a:effectLst/>
                  <a:latin typeface="+mn-ea"/>
                  <a:ea typeface="+mn-ea"/>
                  <a:cs typeface="굴림" panose="020B0600000101010101" pitchFamily="50" charset="-127"/>
                </a:rPr>
                <a:t> </a:t>
              </a:r>
              <a:r>
                <a:rPr lang="ko-KR" altLang="ko-KR" sz="3630" dirty="0">
                  <a:solidFill>
                    <a:srgbClr val="000000"/>
                  </a:solidFill>
                  <a:effectLst/>
                  <a:latin typeface="+mn-ea"/>
                  <a:ea typeface="+mn-ea"/>
                  <a:cs typeface="굴림" panose="020B0600000101010101" pitchFamily="50" charset="-127"/>
                </a:rPr>
                <a:t>신경법학의 연구결과에 대한 법적 증거의 허용성 여부와 관련하여 뇌 기반적 기억연구의 한계 현존</a:t>
              </a:r>
              <a:r>
                <a:rPr lang="en-US" altLang="ko-KR" sz="3630" dirty="0">
                  <a:solidFill>
                    <a:srgbClr val="000000"/>
                  </a:solidFill>
                  <a:effectLst/>
                  <a:latin typeface="+mn-ea"/>
                  <a:ea typeface="+mn-ea"/>
                  <a:cs typeface="굴림" panose="020B0600000101010101" pitchFamily="50" charset="-127"/>
                </a:rPr>
                <a:t>.</a:t>
              </a:r>
              <a:endParaRPr lang="ko-KR" altLang="ko-KR" sz="3630" dirty="0">
                <a:solidFill>
                  <a:srgbClr val="000000"/>
                </a:solidFill>
                <a:effectLst/>
                <a:latin typeface="+mn-ea"/>
                <a:ea typeface="+mn-ea"/>
                <a:cs typeface="굴림" panose="020B0600000101010101" pitchFamily="50" charset="-127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699916" y="7415151"/>
              <a:ext cx="19004401" cy="824358"/>
            </a:xfrm>
            <a:prstGeom prst="rect">
              <a:avLst/>
            </a:prstGeom>
            <a:solidFill>
              <a:srgbClr val="0F0F70"/>
            </a:solidFill>
            <a:ln w="1270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rgbClr val="FFFFFF"/>
                  </a:solidFill>
                </a:rPr>
                <a:t>INTRODUCTION</a:t>
              </a:r>
              <a:endParaRPr sz="5450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89" name="Google Shape;89;p1"/>
          <p:cNvGrpSpPr/>
          <p:nvPr/>
        </p:nvGrpSpPr>
        <p:grpSpPr>
          <a:xfrm>
            <a:off x="1621649" y="24718510"/>
            <a:ext cx="14176588" cy="3682349"/>
            <a:chOff x="414164" y="18461634"/>
            <a:chExt cx="16567491" cy="3468172"/>
          </a:xfrm>
        </p:grpSpPr>
        <p:sp>
          <p:nvSpPr>
            <p:cNvPr id="90" name="Google Shape;90;p1"/>
            <p:cNvSpPr/>
            <p:nvPr/>
          </p:nvSpPr>
          <p:spPr>
            <a:xfrm>
              <a:off x="414164" y="18877637"/>
              <a:ext cx="16567491" cy="3052169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>
                <a:lnSpc>
                  <a:spcPct val="171875"/>
                </a:lnSpc>
              </a:pPr>
              <a:endParaRPr lang="en-US" altLang="ko-KR" sz="3630" dirty="0">
                <a:effectLst/>
                <a:latin typeface="+mn-ea"/>
                <a:ea typeface="+mn-ea"/>
                <a:cs typeface="함초롬돋움" panose="020B0604000101010101" pitchFamily="50" charset="-127"/>
              </a:endParaRPr>
            </a:p>
            <a:p>
              <a:pPr algn="just">
                <a:lnSpc>
                  <a:spcPct val="171875"/>
                </a:lnSpc>
              </a:pPr>
              <a:r>
                <a:rPr lang="ko-KR" altLang="ko-KR" sz="3630" dirty="0">
                  <a:effectLst/>
                  <a:latin typeface="+mn-ea"/>
                  <a:ea typeface="+mn-ea"/>
                  <a:cs typeface="함초롬돋움" panose="020B0604000101010101" pitchFamily="50" charset="-127"/>
                </a:rPr>
                <a:t>「</a:t>
              </a:r>
              <a:r>
                <a:rPr lang="en-US" altLang="ko-KR" sz="3630" dirty="0">
                  <a:effectLst/>
                  <a:latin typeface="+mn-ea"/>
                  <a:ea typeface="+mn-ea"/>
                </a:rPr>
                <a:t>“Neurolaw”</a:t>
              </a:r>
              <a:r>
                <a:rPr lang="ko-KR" altLang="ko-KR" sz="3630" dirty="0">
                  <a:effectLst/>
                  <a:latin typeface="+mn-ea"/>
                  <a:ea typeface="+mn-ea"/>
                </a:rPr>
                <a:t>의 기억연구와 법적 증거 허용성</a:t>
              </a:r>
              <a:r>
                <a:rPr lang="ko-KR" altLang="ko-KR" sz="3630" dirty="0">
                  <a:effectLst/>
                  <a:latin typeface="+mn-ea"/>
                  <a:ea typeface="+mn-ea"/>
                  <a:cs typeface="함초롬돋움" panose="020B0604000101010101" pitchFamily="50" charset="-127"/>
                </a:rPr>
                <a:t>」</a:t>
              </a:r>
              <a:r>
                <a:rPr lang="en-US" altLang="ko-KR" sz="3630" dirty="0">
                  <a:effectLst/>
                  <a:latin typeface="+mn-ea"/>
                  <a:ea typeface="+mn-ea"/>
                </a:rPr>
                <a:t>(</a:t>
              </a:r>
              <a:r>
                <a:rPr lang="ko-KR" altLang="ko-KR" sz="3630" dirty="0">
                  <a:effectLst/>
                  <a:latin typeface="+mn-ea"/>
                  <a:ea typeface="+mn-ea"/>
                </a:rPr>
                <a:t>손지영</a:t>
              </a:r>
              <a:r>
                <a:rPr lang="en-US" altLang="ko-KR" sz="3630" dirty="0">
                  <a:effectLst/>
                  <a:latin typeface="+mn-ea"/>
                  <a:ea typeface="+mn-ea"/>
                </a:rPr>
                <a:t>,</a:t>
              </a:r>
              <a:r>
                <a:rPr lang="ko-KR" altLang="ko-KR" sz="3630" dirty="0">
                  <a:effectLst/>
                  <a:latin typeface="+mn-ea"/>
                  <a:ea typeface="+mn-ea"/>
                </a:rPr>
                <a:t>한상훈</a:t>
              </a:r>
              <a:r>
                <a:rPr lang="en-US" altLang="ko-KR" sz="3630" dirty="0">
                  <a:effectLst/>
                  <a:latin typeface="+mn-ea"/>
                  <a:ea typeface="+mn-ea"/>
                </a:rPr>
                <a:t>, 2012) </a:t>
              </a:r>
              <a:r>
                <a:rPr lang="ko-KR" altLang="ko-KR" sz="3630" dirty="0">
                  <a:effectLst/>
                  <a:latin typeface="+mn-ea"/>
                  <a:ea typeface="+mn-ea"/>
                </a:rPr>
                <a:t>논문</a:t>
              </a:r>
              <a:r>
                <a:rPr lang="en-US" altLang="ko-KR" sz="3630" dirty="0">
                  <a:effectLst/>
                  <a:latin typeface="+mn-ea"/>
                  <a:ea typeface="+mn-ea"/>
                </a:rPr>
                <a:t> </a:t>
              </a:r>
              <a:r>
                <a:rPr lang="ko-KR" altLang="ko-KR" sz="3630" dirty="0">
                  <a:effectLst/>
                  <a:latin typeface="+mn-ea"/>
                  <a:ea typeface="+mn-ea"/>
                </a:rPr>
                <a:t>분석</a:t>
              </a:r>
              <a:endParaRPr sz="3630" dirty="0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414164" y="18461634"/>
              <a:ext cx="16560000" cy="1014071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chemeClr val="lt1"/>
                  </a:solidFill>
                </a:rPr>
                <a:t>METHODS</a:t>
              </a:r>
              <a:endParaRPr sz="4441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92" name="Google Shape;92;p1"/>
          <p:cNvGrpSpPr/>
          <p:nvPr/>
        </p:nvGrpSpPr>
        <p:grpSpPr>
          <a:xfrm>
            <a:off x="16538697" y="29026652"/>
            <a:ext cx="14170178" cy="7305343"/>
            <a:chOff x="33775710" y="14968956"/>
            <a:chExt cx="16308000" cy="11627629"/>
          </a:xfrm>
        </p:grpSpPr>
        <p:sp>
          <p:nvSpPr>
            <p:cNvPr id="93" name="Google Shape;93;p1"/>
            <p:cNvSpPr/>
            <p:nvPr/>
          </p:nvSpPr>
          <p:spPr>
            <a:xfrm>
              <a:off x="33775710" y="16703492"/>
              <a:ext cx="16308000" cy="9893093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 latinLnBrk="0">
                <a:lnSpc>
                  <a:spcPct val="150000"/>
                </a:lnSpc>
                <a:spcAft>
                  <a:spcPts val="800"/>
                </a:spcAft>
              </a:pPr>
              <a:r>
                <a:rPr lang="ko-KR" altLang="en-US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신경법학 </a:t>
              </a:r>
              <a:r>
                <a:rPr lang="ko-KR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연구는 점점 더 정확성을 가</a:t>
              </a:r>
              <a:r>
                <a:rPr lang="ko-KR" altLang="en-US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질</a:t>
              </a:r>
              <a:r>
                <a:rPr lang="ko-KR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 것</a:t>
              </a:r>
              <a:r>
                <a:rPr lang="ko-KR" altLang="en-US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이고</a:t>
              </a:r>
              <a:r>
                <a:rPr lang="en-US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, </a:t>
              </a:r>
              <a:r>
                <a:rPr lang="ko-KR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우리 형사사법절차에도 직접적인 영향을 미치는 시기가 도래할 것</a:t>
              </a:r>
              <a:r>
                <a:rPr lang="ko-KR" altLang="en-US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임</a:t>
              </a:r>
              <a:r>
                <a:rPr lang="en-US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.</a:t>
              </a:r>
            </a:p>
            <a:p>
              <a:pPr algn="just">
                <a:lnSpc>
                  <a:spcPct val="150000"/>
                </a:lnSpc>
              </a:pPr>
              <a:r>
                <a:rPr lang="ko-KR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뇌과학의 발전으로 보다 미래지향적 법과 윤리의 패러다임을 구축하고</a:t>
              </a:r>
              <a:r>
                <a:rPr lang="en-US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, </a:t>
              </a:r>
              <a:r>
                <a:rPr lang="ko-KR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이를 기반으로 정책을 펼쳐</a:t>
              </a:r>
              <a:r>
                <a:rPr lang="en-US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ko-KR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지속가능한 사회 구성</a:t>
              </a:r>
              <a:r>
                <a:rPr lang="en-US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ko-KR" altLang="en-US" sz="3630" dirty="0">
                  <a:latin typeface="+mn-ea"/>
                  <a:ea typeface="+mn-ea"/>
                  <a:cs typeface="Times New Roman" panose="02020603050405020304" pitchFamily="18" charset="0"/>
                </a:rPr>
                <a:t>필요</a:t>
              </a:r>
              <a:r>
                <a:rPr lang="en-US" altLang="ko-KR" sz="3630" dirty="0">
                  <a:latin typeface="+mn-ea"/>
                  <a:ea typeface="+mn-ea"/>
                  <a:cs typeface="Times New Roman" panose="02020603050405020304" pitchFamily="18" charset="0"/>
                </a:rPr>
                <a:t>.</a:t>
              </a:r>
            </a:p>
            <a:p>
              <a:pPr algn="just">
                <a:lnSpc>
                  <a:spcPct val="150000"/>
                </a:lnSpc>
              </a:pPr>
              <a:r>
                <a:rPr lang="ko-KR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글로벌 윤리와 융합적 노력 위에서 우리나라의 신경법학도 형사법의 틀에서 벗어나 규제 중심의 논의가 아닌 공식 기구를 통한 선제적인 담론 형성적 논의와 연구를 이어가야 </a:t>
              </a:r>
              <a:r>
                <a:rPr lang="ko-KR" altLang="en-US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함</a:t>
              </a:r>
              <a:r>
                <a:rPr lang="en-US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.</a:t>
              </a:r>
              <a:endParaRPr sz="3630" dirty="0">
                <a:latin typeface="+mn-ea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33775710" y="14968956"/>
              <a:ext cx="16308000" cy="1734932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rgbClr val="FFFFFF"/>
                  </a:solidFill>
                </a:rPr>
                <a:t>CONCLUSIONS</a:t>
              </a:r>
              <a:endParaRPr sz="5450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16545104" y="6281388"/>
            <a:ext cx="14170178" cy="22090352"/>
            <a:chOff x="15610114" y="15717428"/>
            <a:chExt cx="14366634" cy="4383395"/>
          </a:xfrm>
        </p:grpSpPr>
        <p:sp>
          <p:nvSpPr>
            <p:cNvPr id="96" name="Google Shape;96;p1"/>
            <p:cNvSpPr/>
            <p:nvPr/>
          </p:nvSpPr>
          <p:spPr>
            <a:xfrm>
              <a:off x="15610114" y="15932814"/>
              <a:ext cx="14366632" cy="4168009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기억정보처리 </a:t>
              </a:r>
              <a:r>
                <a:rPr lang="ko-KR" altLang="en-US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과정</a:t>
              </a:r>
              <a:r>
                <a:rPr lang="en-US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: </a:t>
              </a:r>
              <a:r>
                <a:rPr lang="ko-KR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경험의 부호화</a:t>
              </a:r>
              <a:r>
                <a:rPr lang="en-US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-</a:t>
              </a:r>
              <a:r>
                <a:rPr lang="ko-KR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유지</a:t>
              </a:r>
              <a:r>
                <a:rPr lang="en-US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-</a:t>
              </a:r>
              <a:r>
                <a:rPr lang="ko-KR" altLang="en-US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인출</a:t>
              </a:r>
              <a:endParaRPr lang="en-US" altLang="ko-KR" sz="3630" dirty="0">
                <a:effectLst/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 algn="just">
                <a:lnSpc>
                  <a:spcPct val="150000"/>
                </a:lnSpc>
              </a:pPr>
              <a:endParaRPr lang="en-US" sz="3630" dirty="0">
                <a:solidFill>
                  <a:schemeClr val="dk1"/>
                </a:solidFill>
                <a:latin typeface="+mn-ea"/>
                <a:ea typeface="+mn-ea"/>
                <a:cs typeface="Times New Roman" panose="02020603050405020304" pitchFamily="18" charset="0"/>
                <a:sym typeface="Calibri"/>
              </a:endParaRPr>
            </a:p>
            <a:p>
              <a:pPr marL="342900" lvl="0" indent="-342900" algn="just" latinLnBrk="0">
                <a:lnSpc>
                  <a:spcPct val="150000"/>
                </a:lnSpc>
                <a:spcAft>
                  <a:spcPts val="800"/>
                </a:spcAft>
                <a:buFont typeface="+mj-lt"/>
                <a:buAutoNum type="arabicPeriod"/>
              </a:pPr>
              <a:r>
                <a:rPr lang="en-US" altLang="ko-KR" sz="3630" b="1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ko-KR" altLang="ko-KR" sz="3630" b="1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인출 시 나타나는 감각정보의 재활성화를 통한 참 기억의 구분</a:t>
              </a:r>
            </a:p>
            <a:p>
              <a:pPr algn="just" latinLnBrk="0">
                <a:lnSpc>
                  <a:spcPct val="150000"/>
                </a:lnSpc>
                <a:spcAft>
                  <a:spcPts val="800"/>
                </a:spcAft>
              </a:pPr>
              <a:r>
                <a:rPr lang="en-US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ko-KR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오기억은 지극히 자연스러운 인지과정이며 인지자원을 효율적으로 활용하기 위한 동작의 부산물로 여겨져 왔지만</a:t>
              </a:r>
              <a:r>
                <a:rPr lang="en-US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, </a:t>
              </a:r>
              <a:r>
                <a:rPr lang="ko-KR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진술증언 과정에서는 치명적인 오류반응을 유발하는 요인이 될 수 있</a:t>
              </a:r>
              <a:r>
                <a:rPr lang="ko-KR" altLang="en-US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음</a:t>
              </a:r>
              <a:r>
                <a:rPr lang="en-US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. </a:t>
              </a:r>
              <a:r>
                <a:rPr lang="ko-KR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오기억이 발생하는 이유는 실제로 경험한 자극정보에 감각적</a:t>
              </a:r>
              <a:r>
                <a:rPr lang="en-US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/</a:t>
              </a:r>
              <a:r>
                <a:rPr lang="ko-KR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지각적</a:t>
              </a:r>
              <a:r>
                <a:rPr lang="en-US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/</a:t>
              </a:r>
              <a:r>
                <a:rPr lang="ko-KR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의미적인 정보가 추가되어 인지적 재구성이 일어나기 때</a:t>
              </a:r>
              <a:r>
                <a:rPr lang="ko-KR" altLang="en-US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문</a:t>
              </a:r>
              <a:r>
                <a:rPr lang="en-US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.</a:t>
              </a:r>
              <a:endParaRPr lang="ko-KR" altLang="ko-KR" sz="3630" kern="100" dirty="0">
                <a:effectLst/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 indent="139700" algn="just" latinLnBrk="0">
                <a:lnSpc>
                  <a:spcPct val="150000"/>
                </a:lnSpc>
                <a:spcAft>
                  <a:spcPts val="800"/>
                </a:spcAft>
              </a:pPr>
              <a:r>
                <a:rPr lang="ko-KR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최근의 </a:t>
              </a:r>
              <a:r>
                <a:rPr lang="en-US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fMRI </a:t>
              </a:r>
              <a:r>
                <a:rPr lang="ko-KR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연구에서는 참기억 인출과정에서 맥락정보의 처리를 담당한다고 알려진 해마방회</a:t>
              </a:r>
              <a:r>
                <a:rPr lang="en-US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(parahippocampal gyrus)</a:t>
              </a:r>
              <a:r>
                <a:rPr lang="ko-KR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영역의 활성화가 유의미하게 증가함을 발견하였고 이는 기억의 출처와 그 맥락에 대한 정보가 오기억보다 참기억에서 크게 나타남을 보여주는 증거로 인식</a:t>
              </a:r>
              <a:r>
                <a:rPr lang="ko-KR" altLang="en-US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됨</a:t>
              </a:r>
              <a:r>
                <a:rPr lang="en-US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.</a:t>
              </a:r>
              <a:endParaRPr lang="ko-KR" altLang="ko-KR" sz="3630" kern="100" dirty="0">
                <a:effectLst/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 algn="just" latinLnBrk="1">
                <a:lnSpc>
                  <a:spcPct val="150000"/>
                </a:lnSpc>
                <a:spcAft>
                  <a:spcPts val="800"/>
                </a:spcAft>
              </a:pPr>
              <a:endParaRPr lang="en-US" altLang="ko-KR" sz="3630" kern="100" dirty="0">
                <a:effectLst/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 lvl="0" algn="just" latinLnBrk="0">
                <a:lnSpc>
                  <a:spcPct val="150000"/>
                </a:lnSpc>
                <a:spcAft>
                  <a:spcPts val="800"/>
                </a:spcAft>
              </a:pPr>
              <a:r>
                <a:rPr lang="en-US" altLang="ko-KR" sz="3630" b="1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2. </a:t>
              </a:r>
              <a:r>
                <a:rPr lang="ko-KR" altLang="ko-KR" sz="3630" b="1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기억왜곡과 판단편향의 외인적 조절변인</a:t>
              </a:r>
            </a:p>
            <a:p>
              <a:pPr indent="139700" algn="just" latinLnBrk="0">
                <a:lnSpc>
                  <a:spcPct val="150000"/>
                </a:lnSpc>
                <a:spcAft>
                  <a:spcPts val="800"/>
                </a:spcAft>
              </a:pPr>
              <a:r>
                <a:rPr lang="ko-KR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사적인 기억 동조</a:t>
              </a:r>
              <a:r>
                <a:rPr lang="en-US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(Private conformity)</a:t>
              </a:r>
              <a:r>
                <a:rPr lang="ko-KR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와 공적인 기억 동조</a:t>
              </a:r>
              <a:r>
                <a:rPr lang="en-US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(Public conformity)</a:t>
              </a:r>
              <a:r>
                <a:rPr lang="ko-KR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의 기억동조 현상은 표면적으로 드러나는 행동에서 차이는 없지만</a:t>
              </a:r>
              <a:r>
                <a:rPr lang="en-US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, </a:t>
              </a:r>
              <a:r>
                <a:rPr lang="ko-KR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영구적 기억 동조 집단은 일시적 기억 동조 집단에 비해 기억 부호화의 중추영역이라고 알려진 해마와 좌측 해마방회 영역이 더 활성화</a:t>
              </a:r>
              <a:r>
                <a:rPr lang="en-US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. </a:t>
              </a:r>
              <a:r>
                <a:rPr lang="ko-KR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더불어</a:t>
              </a:r>
              <a:r>
                <a:rPr lang="en-US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, </a:t>
              </a:r>
              <a:r>
                <a:rPr lang="ko-KR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뇌영역 간의 연결성을 분석한 결과</a:t>
              </a:r>
              <a:r>
                <a:rPr lang="en-US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, </a:t>
              </a:r>
              <a:r>
                <a:rPr lang="ko-KR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편도체와 양반구 해마 영역의 활성화패턴이 서로 유의미한 상관</a:t>
              </a:r>
              <a:r>
                <a:rPr lang="ko-KR" altLang="en-US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을 보임</a:t>
              </a:r>
              <a:r>
                <a:rPr lang="en-US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. </a:t>
              </a:r>
              <a:r>
                <a:rPr lang="ko-KR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편도체와 기억의 상호작용을 통해 사회적 영향이 동조를 일으키고</a:t>
              </a:r>
              <a:r>
                <a:rPr lang="en-US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, </a:t>
              </a:r>
              <a:r>
                <a:rPr lang="ko-KR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그 영향으로 장기적인 기억의 왜곡이 가능함을 </a:t>
              </a:r>
              <a:r>
                <a:rPr lang="ko-KR" altLang="en-US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보여줌</a:t>
              </a:r>
              <a:r>
                <a:rPr lang="en-US" altLang="ko-KR" sz="363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.</a:t>
              </a:r>
              <a:endParaRPr lang="ko-KR" altLang="ko-KR" sz="3630" kern="100" dirty="0">
                <a:effectLst/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5610115" y="15717428"/>
              <a:ext cx="14366633" cy="237617"/>
            </a:xfrm>
            <a:prstGeom prst="rect">
              <a:avLst/>
            </a:prstGeom>
            <a:solidFill>
              <a:srgbClr val="0F0F70"/>
            </a:solidFill>
            <a:ln w="1270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rgbClr val="FFFFFF"/>
                  </a:solidFill>
                </a:rPr>
                <a:t>RESULTS</a:t>
              </a:r>
              <a:endParaRPr sz="4441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1628059" y="20346780"/>
            <a:ext cx="14170178" cy="3779043"/>
            <a:chOff x="414164" y="19253061"/>
            <a:chExt cx="16560000" cy="3156031"/>
          </a:xfrm>
        </p:grpSpPr>
        <p:sp>
          <p:nvSpPr>
            <p:cNvPr id="99" name="Google Shape;99;p1"/>
            <p:cNvSpPr/>
            <p:nvPr/>
          </p:nvSpPr>
          <p:spPr>
            <a:xfrm>
              <a:off x="414164" y="19702692"/>
              <a:ext cx="16560000" cy="27064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>
                <a:lnSpc>
                  <a:spcPct val="171875"/>
                </a:lnSpc>
              </a:pPr>
              <a:endParaRPr sz="3630" dirty="0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endParaRPr>
            </a:p>
            <a:p>
              <a:pPr algn="just">
                <a:lnSpc>
                  <a:spcPct val="171875"/>
                </a:lnSpc>
              </a:pPr>
              <a:r>
                <a:rPr lang="ko-KR" altLang="ko-KR" sz="3630" dirty="0">
                  <a:effectLst/>
                  <a:latin typeface="+mn-ea"/>
                  <a:ea typeface="+mn-ea"/>
                </a:rPr>
                <a:t>신경법학 연구 동향과 현재 법제적 상황 및 뇌과학 연구 상황 연계하여 향후 연구 과제에 대한 발전적 시각 제시</a:t>
              </a:r>
              <a:endParaRPr sz="3630" dirty="0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414164" y="19253061"/>
              <a:ext cx="16560000" cy="981560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chemeClr val="lt1"/>
                  </a:solidFill>
                </a:rPr>
                <a:t>OBJECTIVES</a:t>
              </a:r>
              <a:endParaRPr sz="54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101" name="Google Shape;101;p1"/>
          <p:cNvGrpSpPr/>
          <p:nvPr/>
        </p:nvGrpSpPr>
        <p:grpSpPr>
          <a:xfrm>
            <a:off x="16538697" y="37137120"/>
            <a:ext cx="14188898" cy="4597189"/>
            <a:chOff x="15255340" y="36737954"/>
            <a:chExt cx="14431230" cy="4279623"/>
          </a:xfrm>
        </p:grpSpPr>
        <p:sp>
          <p:nvSpPr>
            <p:cNvPr id="102" name="Google Shape;102;p1"/>
            <p:cNvSpPr/>
            <p:nvPr/>
          </p:nvSpPr>
          <p:spPr>
            <a:xfrm>
              <a:off x="15255340" y="37353469"/>
              <a:ext cx="14431229" cy="3664108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just" latinLnBrk="0">
                <a:spcAft>
                  <a:spcPts val="800"/>
                </a:spcAft>
              </a:pPr>
              <a:endParaRPr lang="en-US" altLang="ko-KR" sz="3630" kern="10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  <a:p>
              <a:pPr algn="just" latinLnBrk="0">
                <a:spcAft>
                  <a:spcPts val="800"/>
                </a:spcAft>
              </a:pPr>
              <a:r>
                <a:rPr lang="ko-KR" altLang="ko-KR" sz="3630" kern="100" dirty="0">
                  <a:solidFill>
                    <a:srgbClr val="333333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강태우</a:t>
              </a:r>
              <a:r>
                <a:rPr lang="en-US" altLang="ko-KR" sz="3630" kern="100" dirty="0">
                  <a:solidFill>
                    <a:srgbClr val="333333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, </a:t>
              </a:r>
              <a:r>
                <a:rPr lang="ko-KR" altLang="ko-KR" sz="3630" kern="100" dirty="0">
                  <a:solidFill>
                    <a:srgbClr val="333333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정성진</a:t>
              </a:r>
              <a:r>
                <a:rPr lang="en-US" altLang="ko-KR" sz="3630" kern="100" dirty="0">
                  <a:solidFill>
                    <a:srgbClr val="333333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, </a:t>
              </a:r>
              <a:r>
                <a:rPr lang="ko-KR" altLang="ko-KR" sz="3630" kern="100" dirty="0">
                  <a:solidFill>
                    <a:srgbClr val="333333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오태원</a:t>
              </a:r>
              <a:r>
                <a:rPr lang="en-US" altLang="ko-KR" sz="3630" kern="100" dirty="0">
                  <a:solidFill>
                    <a:srgbClr val="333333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, </a:t>
              </a:r>
              <a:r>
                <a:rPr lang="ko-KR" altLang="ko-KR" sz="3630" kern="100" dirty="0">
                  <a:solidFill>
                    <a:srgbClr val="333333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엄주희</a:t>
              </a:r>
              <a:r>
                <a:rPr lang="en-US" altLang="ko-KR" sz="3630" kern="100" dirty="0">
                  <a:solidFill>
                    <a:srgbClr val="333333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. (2023). </a:t>
              </a:r>
              <a:r>
                <a:rPr lang="ko-KR" altLang="ko-KR" sz="3630" kern="100" dirty="0">
                  <a:solidFill>
                    <a:srgbClr val="333333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신경법학</a:t>
              </a:r>
              <a:r>
                <a:rPr lang="en-US" altLang="ko-KR" sz="3630" kern="100" dirty="0">
                  <a:solidFill>
                    <a:srgbClr val="333333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(Neurolaw)</a:t>
              </a:r>
              <a:r>
                <a:rPr lang="ko-KR" altLang="ko-KR" sz="3630" kern="100" dirty="0">
                  <a:solidFill>
                    <a:srgbClr val="333333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의 형사법적 출발과 향후 전망에 대한 소고</a:t>
              </a:r>
              <a:r>
                <a:rPr lang="en-US" altLang="ko-KR" sz="3630" kern="100" dirty="0">
                  <a:solidFill>
                    <a:srgbClr val="333333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. </a:t>
              </a:r>
              <a:r>
                <a:rPr lang="ko-KR" altLang="ko-KR" sz="3630" kern="100" dirty="0">
                  <a:solidFill>
                    <a:srgbClr val="333333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법학연구</a:t>
              </a:r>
              <a:r>
                <a:rPr lang="en-US" altLang="ko-KR" sz="3630" kern="100" dirty="0">
                  <a:solidFill>
                    <a:srgbClr val="333333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, 33(2), 1-40.</a:t>
              </a:r>
            </a:p>
            <a:p>
              <a:pPr algn="just" latinLnBrk="0">
                <a:spcAft>
                  <a:spcPts val="800"/>
                </a:spcAft>
              </a:pPr>
              <a:endParaRPr lang="ko-KR" altLang="ko-KR" sz="363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  <a:p>
              <a:pPr algn="just" latinLnBrk="0">
                <a:spcAft>
                  <a:spcPts val="800"/>
                </a:spcAft>
              </a:pPr>
              <a:r>
                <a:rPr lang="ko-KR" altLang="ko-KR" sz="3630" kern="100" dirty="0">
                  <a:solidFill>
                    <a:srgbClr val="444444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손지영</a:t>
              </a:r>
              <a:r>
                <a:rPr lang="en-US" altLang="ko-KR" sz="3630" kern="100" dirty="0">
                  <a:solidFill>
                    <a:srgbClr val="444444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, </a:t>
              </a:r>
              <a:r>
                <a:rPr lang="ko-KR" altLang="ko-KR" sz="3630" kern="100" dirty="0">
                  <a:solidFill>
                    <a:srgbClr val="444444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한상훈</a:t>
              </a:r>
              <a:r>
                <a:rPr lang="en-US" altLang="ko-KR" sz="3630" kern="100" dirty="0">
                  <a:solidFill>
                    <a:srgbClr val="444444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. “Neurolaw”</a:t>
              </a:r>
              <a:r>
                <a:rPr lang="ko-KR" altLang="ko-KR" sz="3630" kern="100" dirty="0">
                  <a:solidFill>
                    <a:srgbClr val="444444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의 기억연구와 법적 증거 허용성</a:t>
              </a:r>
              <a:r>
                <a:rPr lang="en-US" altLang="ko-KR" sz="3630" kern="100" dirty="0">
                  <a:solidFill>
                    <a:srgbClr val="444444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. </a:t>
              </a:r>
              <a:r>
                <a:rPr lang="ko-KR" altLang="ko-KR" sz="3630" kern="100" dirty="0">
                  <a:solidFill>
                    <a:srgbClr val="444444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형사정책연구</a:t>
              </a:r>
              <a:r>
                <a:rPr lang="en-US" altLang="ko-KR" sz="3630" kern="100" dirty="0">
                  <a:solidFill>
                    <a:srgbClr val="444444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 92.- (2012): 91-121.</a:t>
              </a:r>
              <a:endParaRPr lang="ko-KR" altLang="ko-KR" sz="363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15261857" y="36737954"/>
              <a:ext cx="14424713" cy="1102087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rgbClr val="FFFFFF"/>
                  </a:solidFill>
                </a:rPr>
                <a:t>REFERENCES</a:t>
              </a:r>
              <a:endParaRPr sz="4441" b="1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04" name="Google Shape;104;p1"/>
          <p:cNvPicPr preferRelativeResize="0"/>
          <p:nvPr/>
        </p:nvPicPr>
        <p:blipFill rotWithShape="1">
          <a:blip r:embed="rId4">
            <a:alphaModFix/>
          </a:blip>
          <a:srcRect t="85800"/>
          <a:stretch/>
        </p:blipFill>
        <p:spPr>
          <a:xfrm>
            <a:off x="24434800" y="42067545"/>
            <a:ext cx="7037733" cy="8254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oogle Shape;95;p1">
            <a:extLst>
              <a:ext uri="{FF2B5EF4-FFF2-40B4-BE49-F238E27FC236}">
                <a16:creationId xmlns:a16="http://schemas.microsoft.com/office/drawing/2014/main" id="{228F23D1-51ED-43DA-9833-9183C5972DFA}"/>
              </a:ext>
            </a:extLst>
          </p:cNvPr>
          <p:cNvGrpSpPr/>
          <p:nvPr/>
        </p:nvGrpSpPr>
        <p:grpSpPr>
          <a:xfrm>
            <a:off x="1621649" y="29026658"/>
            <a:ext cx="14170178" cy="12707654"/>
            <a:chOff x="15610114" y="15717428"/>
            <a:chExt cx="14366634" cy="2521582"/>
          </a:xfrm>
        </p:grpSpPr>
        <p:sp>
          <p:nvSpPr>
            <p:cNvPr id="24" name="Google Shape;96;p1">
              <a:extLst>
                <a:ext uri="{FF2B5EF4-FFF2-40B4-BE49-F238E27FC236}">
                  <a16:creationId xmlns:a16="http://schemas.microsoft.com/office/drawing/2014/main" id="{53806AC5-3792-4BDD-82CC-978279394AB6}"/>
                </a:ext>
              </a:extLst>
            </p:cNvPr>
            <p:cNvSpPr/>
            <p:nvPr/>
          </p:nvSpPr>
          <p:spPr>
            <a:xfrm>
              <a:off x="15610114" y="15923461"/>
              <a:ext cx="14366632" cy="2315549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just">
                <a:lnSpc>
                  <a:spcPct val="150000"/>
                </a:lnSpc>
              </a:pPr>
              <a:endParaRPr lang="en-US" altLang="ko-KR" sz="3630" dirty="0">
                <a:solidFill>
                  <a:schemeClr val="dk1"/>
                </a:solidFill>
                <a:effectLst/>
                <a:latin typeface="+mn-ea"/>
                <a:ea typeface="+mn-ea"/>
                <a:cs typeface="Calibri"/>
                <a:sym typeface="Calibri"/>
              </a:endParaRPr>
            </a:p>
            <a:p>
              <a:pPr algn="just">
                <a:lnSpc>
                  <a:spcPct val="150000"/>
                </a:lnSpc>
              </a:pPr>
              <a:r>
                <a:rPr lang="ko-KR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국외에서는 이미 형법상 행위자의 책임판단</a:t>
              </a:r>
              <a:r>
                <a:rPr lang="en-US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, </a:t>
              </a:r>
              <a:r>
                <a:rPr lang="ko-KR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구성요건요소에 대한 인식</a:t>
              </a:r>
              <a:r>
                <a:rPr lang="en-US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, </a:t>
              </a:r>
              <a:r>
                <a:rPr lang="ko-KR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피고인과 증인의 의도적 기만 행위인 거짓말에 대한 탐지</a:t>
              </a:r>
              <a:r>
                <a:rPr lang="en-US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, </a:t>
              </a:r>
              <a:r>
                <a:rPr lang="ko-KR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진술증언의 기초가 되는 기억의 판단 및 의사결정 과정에 나타나는 참</a:t>
              </a:r>
              <a:r>
                <a:rPr lang="en-US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/</a:t>
              </a:r>
              <a:r>
                <a:rPr lang="ko-KR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오기억의 탐지</a:t>
              </a:r>
              <a:r>
                <a:rPr lang="en-US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,</a:t>
              </a:r>
              <a:r>
                <a:rPr lang="ko-KR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 동조와 피암시성과 같은 기억왜곡과 판단편향에 대한 외인적 조절변인</a:t>
              </a:r>
              <a:r>
                <a:rPr lang="en-US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ko-KR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사회적 변인</a:t>
              </a:r>
              <a:r>
                <a:rPr lang="en-US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) </a:t>
              </a:r>
              <a:r>
                <a:rPr lang="ko-KR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등에 관한 연구결과들이 발표</a:t>
              </a:r>
              <a:r>
                <a:rPr lang="ko-KR" altLang="en-US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됨</a:t>
              </a:r>
              <a:r>
                <a:rPr lang="en-US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.</a:t>
              </a:r>
            </a:p>
            <a:p>
              <a:pPr algn="just">
                <a:lnSpc>
                  <a:spcPct val="150000"/>
                </a:lnSpc>
              </a:pPr>
              <a:endParaRPr lang="en-US" sz="3630" dirty="0">
                <a:solidFill>
                  <a:schemeClr val="dk1"/>
                </a:solidFill>
                <a:latin typeface="+mn-ea"/>
                <a:ea typeface="+mn-ea"/>
                <a:cs typeface="Times New Roman" panose="02020603050405020304" pitchFamily="18" charset="0"/>
                <a:sym typeface="Calibri"/>
              </a:endParaRPr>
            </a:p>
            <a:p>
              <a:pPr algn="just">
                <a:lnSpc>
                  <a:spcPct val="150000"/>
                </a:lnSpc>
              </a:pPr>
              <a:r>
                <a:rPr lang="ko-KR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형사사법제도에서 뇌 스캔 증거는 책임단계</a:t>
              </a:r>
              <a:r>
                <a:rPr lang="en-US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(liability phase), </a:t>
              </a:r>
              <a:r>
                <a:rPr lang="ko-KR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양형 단계</a:t>
              </a:r>
              <a:r>
                <a:rPr lang="en-US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(sentence phase), </a:t>
              </a:r>
              <a:r>
                <a:rPr lang="ko-KR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또는 두 단계 전체에서 제시</a:t>
              </a:r>
              <a:r>
                <a:rPr lang="en-US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.</a:t>
              </a:r>
            </a:p>
            <a:p>
              <a:pPr algn="just">
                <a:lnSpc>
                  <a:spcPct val="150000"/>
                </a:lnSpc>
              </a:pPr>
              <a:endParaRPr lang="en-US" sz="3630" dirty="0">
                <a:solidFill>
                  <a:schemeClr val="dk1"/>
                </a:solidFill>
                <a:latin typeface="+mn-ea"/>
                <a:ea typeface="+mn-ea"/>
                <a:cs typeface="Times New Roman" panose="02020603050405020304" pitchFamily="18" charset="0"/>
                <a:sym typeface="Calibri"/>
              </a:endParaRPr>
            </a:p>
            <a:p>
              <a:pPr algn="just">
                <a:lnSpc>
                  <a:spcPct val="150000"/>
                </a:lnSpc>
              </a:pPr>
              <a:r>
                <a:rPr lang="ko-KR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인지 프라이버시</a:t>
              </a:r>
              <a:r>
                <a:rPr lang="en-US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, </a:t>
              </a:r>
              <a:r>
                <a:rPr lang="ko-KR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인지적 자유</a:t>
              </a:r>
              <a:r>
                <a:rPr lang="en-US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, </a:t>
              </a:r>
              <a:r>
                <a:rPr lang="ko-KR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진술증거로서의 뇌 스캔 증거의 강요된 고백 문제</a:t>
              </a:r>
              <a:r>
                <a:rPr lang="en-US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, fMRI </a:t>
              </a:r>
              <a:r>
                <a:rPr lang="ko-KR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스캔사진이 진술증거인지 물적 증거로서 비진술증거인지의 문제</a:t>
              </a:r>
              <a:r>
                <a:rPr lang="en-US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, </a:t>
              </a:r>
              <a:r>
                <a:rPr lang="ko-KR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불이익한 진술을 강요받지 않을 </a:t>
              </a:r>
              <a:r>
                <a:rPr lang="ko-KR" altLang="en-US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권리</a:t>
              </a:r>
              <a:r>
                <a:rPr lang="ko-KR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에 대한 침해 문제</a:t>
              </a:r>
              <a:r>
                <a:rPr lang="en-US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ko-KR" altLang="en-US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존재</a:t>
              </a:r>
              <a:r>
                <a:rPr lang="en-US" altLang="ko-KR" sz="3630" dirty="0"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.</a:t>
              </a:r>
              <a:endParaRPr lang="en-US" sz="3630" dirty="0">
                <a:solidFill>
                  <a:schemeClr val="dk1"/>
                </a:solidFill>
                <a:latin typeface="+mn-ea"/>
                <a:ea typeface="+mn-ea"/>
                <a:cs typeface="Times New Roman" panose="02020603050405020304" pitchFamily="18" charset="0"/>
                <a:sym typeface="Calibri"/>
              </a:endParaRPr>
            </a:p>
            <a:p>
              <a:pPr algn="just">
                <a:lnSpc>
                  <a:spcPct val="150000"/>
                </a:lnSpc>
              </a:pPr>
              <a:endParaRPr lang="en-US" sz="3630" dirty="0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25" name="Google Shape;97;p1">
              <a:extLst>
                <a:ext uri="{FF2B5EF4-FFF2-40B4-BE49-F238E27FC236}">
                  <a16:creationId xmlns:a16="http://schemas.microsoft.com/office/drawing/2014/main" id="{20C99155-6797-44E8-988B-D7EDEDB9DCF7}"/>
                </a:ext>
              </a:extLst>
            </p:cNvPr>
            <p:cNvSpPr/>
            <p:nvPr/>
          </p:nvSpPr>
          <p:spPr>
            <a:xfrm>
              <a:off x="15610115" y="15717428"/>
              <a:ext cx="14366633" cy="237617"/>
            </a:xfrm>
            <a:prstGeom prst="rect">
              <a:avLst/>
            </a:prstGeom>
            <a:solidFill>
              <a:srgbClr val="0F0F70"/>
            </a:solidFill>
            <a:ln w="1270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rgbClr val="FFFFFF"/>
                  </a:solidFill>
                </a:rPr>
                <a:t>RESULTS</a:t>
              </a:r>
              <a:endParaRPr sz="4441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563</Words>
  <Application>Microsoft Office PowerPoint</Application>
  <PresentationFormat>사용자 지정</PresentationFormat>
  <Paragraphs>45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noto</vt:lpstr>
      <vt:lpstr>맑은 고딕</vt:lpstr>
      <vt:lpstr>Arial</vt:lpstr>
      <vt:lpstr>Calibri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Brain</dc:creator>
  <cp:lastModifiedBy>희경 임</cp:lastModifiedBy>
  <cp:revision>57</cp:revision>
  <dcterms:created xsi:type="dcterms:W3CDTF">2016-10-11T09:46:40Z</dcterms:created>
  <dcterms:modified xsi:type="dcterms:W3CDTF">2024-12-13T09:45:54Z</dcterms:modified>
</cp:coreProperties>
</file>