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QQex2AJcqbRTXDH5A0xWDSmUdl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2A2B55-B1F8-C6EA-8924-189612C90592}" name="준호 장" initials="준장" userId="2ed4a68cd65a91c8" providerId="Windows Live"/>
  <p188:author id="{002979F4-6E0E-7CBB-697B-7E5ADB339133}" name="Wonjun Kang" initials="KWJ" userId="Wonjun Kang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5F5"/>
    <a:srgbClr val="E8E8E8"/>
    <a:srgbClr val="007AE3"/>
    <a:srgbClr val="0022D8"/>
    <a:srgbClr val="00BB07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2" autoAdjust="0"/>
    <p:restoredTop sz="94318" autoAdjust="0"/>
  </p:normalViewPr>
  <p:slideViewPr>
    <p:cSldViewPr snapToGrid="0">
      <p:cViewPr varScale="1">
        <p:scale>
          <a:sx n="16" d="100"/>
          <a:sy n="16" d="100"/>
        </p:scale>
        <p:origin x="258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3260F77-D14F-6F39-C035-9E4683F6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85BCD43-DC27-85C0-0DB3-DD7408BFD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AAB5C77-EFF9-06F6-FC5C-F2BC33837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524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emf"/><Relationship Id="rId31" Type="http://schemas.openxmlformats.org/officeDocument/2006/relationships/image" Target="../media/image28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CF3E624-70FA-F9FC-58AD-1966BE39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89;p1">
            <a:extLst>
              <a:ext uri="{FF2B5EF4-FFF2-40B4-BE49-F238E27FC236}">
                <a16:creationId xmlns:a16="http://schemas.microsoft.com/office/drawing/2014/main" id="{869A9860-20F9-C3DB-49CB-3C77A483DD5A}"/>
              </a:ext>
            </a:extLst>
          </p:cNvPr>
          <p:cNvGrpSpPr/>
          <p:nvPr/>
        </p:nvGrpSpPr>
        <p:grpSpPr>
          <a:xfrm>
            <a:off x="1638316" y="20017306"/>
            <a:ext cx="14170178" cy="15990315"/>
            <a:chOff x="417910" y="18461634"/>
            <a:chExt cx="16560000" cy="15060329"/>
          </a:xfrm>
        </p:grpSpPr>
        <p:sp>
          <p:nvSpPr>
            <p:cNvPr id="1049" name="Google Shape;90;p1">
              <a:extLst>
                <a:ext uri="{FF2B5EF4-FFF2-40B4-BE49-F238E27FC236}">
                  <a16:creationId xmlns:a16="http://schemas.microsoft.com/office/drawing/2014/main" id="{6606A187-ACEF-F37F-D062-630BE3BD3125}"/>
                </a:ext>
              </a:extLst>
            </p:cNvPr>
            <p:cNvSpPr/>
            <p:nvPr/>
          </p:nvSpPr>
          <p:spPr>
            <a:xfrm>
              <a:off x="417910" y="19475703"/>
              <a:ext cx="16560000" cy="1404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91;p1">
              <a:extLst>
                <a:ext uri="{FF2B5EF4-FFF2-40B4-BE49-F238E27FC236}">
                  <a16:creationId xmlns:a16="http://schemas.microsoft.com/office/drawing/2014/main" id="{0126AF10-9A00-7E16-CFA8-72EDB374C420}"/>
                </a:ext>
              </a:extLst>
            </p:cNvPr>
            <p:cNvSpPr/>
            <p:nvPr/>
          </p:nvSpPr>
          <p:spPr>
            <a:xfrm>
              <a:off x="417910" y="18461634"/>
              <a:ext cx="16560000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altLang="ko-KR" sz="5450" b="1" dirty="0">
                  <a:solidFill>
                    <a:schemeClr val="bg1"/>
                  </a:solidFill>
                  <a:latin typeface="+mn-lt"/>
                  <a:ea typeface="맑은 고딕" pitchFamily="50" charset="-127"/>
                  <a:cs typeface="Arial" panose="020B0604020202020204" pitchFamily="34" charset="0"/>
                </a:rPr>
                <a:t>METHODS</a:t>
              </a:r>
              <a:endParaRPr lang="ko-KR" altLang="en-US" sz="5450" b="1" dirty="0">
                <a:solidFill>
                  <a:schemeClr val="bg1"/>
                </a:solidFill>
                <a:latin typeface="+mn-lt"/>
                <a:ea typeface="맑은 고딕" pitchFamily="50" charset="-127"/>
                <a:cs typeface="Arial" panose="020B0604020202020204" pitchFamily="34" charset="0"/>
              </a:endParaRPr>
            </a:p>
          </p:txBody>
        </p:sp>
      </p:grpSp>
      <p:pic>
        <p:nvPicPr>
          <p:cNvPr id="85" name="Google Shape;85;p1">
            <a:extLst>
              <a:ext uri="{FF2B5EF4-FFF2-40B4-BE49-F238E27FC236}">
                <a16:creationId xmlns:a16="http://schemas.microsoft.com/office/drawing/2014/main" id="{A6C3739C-A0DF-E946-8641-997C6FFD1C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>
            <a:extLst>
              <a:ext uri="{FF2B5EF4-FFF2-40B4-BE49-F238E27FC236}">
                <a16:creationId xmlns:a16="http://schemas.microsoft.com/office/drawing/2014/main" id="{5F6A4354-B753-D8BA-5C21-B8E2B16B9087}"/>
              </a:ext>
            </a:extLst>
          </p:cNvPr>
          <p:cNvGrpSpPr/>
          <p:nvPr/>
        </p:nvGrpSpPr>
        <p:grpSpPr>
          <a:xfrm>
            <a:off x="1638384" y="6288663"/>
            <a:ext cx="14170178" cy="8940827"/>
            <a:chOff x="699916" y="7415151"/>
            <a:chExt cx="19004401" cy="6758970"/>
          </a:xfrm>
        </p:grpSpPr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DF4CAF52-A172-EAEE-481E-ABC58D537D20}"/>
                </a:ext>
              </a:extLst>
            </p:cNvPr>
            <p:cNvSpPr/>
            <p:nvPr/>
          </p:nvSpPr>
          <p:spPr>
            <a:xfrm>
              <a:off x="699916" y="8239510"/>
              <a:ext cx="19002509" cy="5934611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/>
              <a:endParaRPr sz="1817" dirty="0">
                <a:solidFill>
                  <a:schemeClr val="dk1"/>
                </a:solidFill>
                <a:latin typeface="+mn-lt"/>
                <a:ea typeface="Batang"/>
                <a:cs typeface="Batang"/>
                <a:sym typeface="Batang"/>
              </a:endParaRPr>
            </a:p>
          </p:txBody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2D46AD36-5C2C-895B-CB2D-55332E4958A6}"/>
                </a:ext>
              </a:extLst>
            </p:cNvPr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altLang="ko-KR" sz="5450" b="1" dirty="0">
                  <a:solidFill>
                    <a:srgbClr val="FFFFFF"/>
                  </a:solidFill>
                  <a:latin typeface="+mn-lt"/>
                </a:rPr>
                <a:t>INTRODUCTION</a:t>
              </a:r>
            </a:p>
          </p:txBody>
        </p:sp>
      </p:grpSp>
      <p:grpSp>
        <p:nvGrpSpPr>
          <p:cNvPr id="92" name="Google Shape;92;p1">
            <a:extLst>
              <a:ext uri="{FF2B5EF4-FFF2-40B4-BE49-F238E27FC236}">
                <a16:creationId xmlns:a16="http://schemas.microsoft.com/office/drawing/2014/main" id="{8B4EEBDF-9FCD-9F8A-CBA3-5747C68F2234}"/>
              </a:ext>
            </a:extLst>
          </p:cNvPr>
          <p:cNvGrpSpPr/>
          <p:nvPr/>
        </p:nvGrpSpPr>
        <p:grpSpPr>
          <a:xfrm>
            <a:off x="16566921" y="35065415"/>
            <a:ext cx="14170176" cy="6856728"/>
            <a:chOff x="33772857" y="23748688"/>
            <a:chExt cx="16307998" cy="10913583"/>
          </a:xfrm>
        </p:grpSpPr>
        <p:sp>
          <p:nvSpPr>
            <p:cNvPr id="93" name="Google Shape;93;p1">
              <a:extLst>
                <a:ext uri="{FF2B5EF4-FFF2-40B4-BE49-F238E27FC236}">
                  <a16:creationId xmlns:a16="http://schemas.microsoft.com/office/drawing/2014/main" id="{6087C1F7-44FD-F884-9EC8-5667968DCDC9}"/>
                </a:ext>
              </a:extLst>
            </p:cNvPr>
            <p:cNvSpPr/>
            <p:nvPr/>
          </p:nvSpPr>
          <p:spPr>
            <a:xfrm>
              <a:off x="33775710" y="25479762"/>
              <a:ext cx="16305145" cy="9182509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endParaRPr sz="3230">
                <a:latin typeface="+mn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>
              <a:extLst>
                <a:ext uri="{FF2B5EF4-FFF2-40B4-BE49-F238E27FC236}">
                  <a16:creationId xmlns:a16="http://schemas.microsoft.com/office/drawing/2014/main" id="{D72B1DA9-C309-E6E3-5D30-A39D64D7867C}"/>
                </a:ext>
              </a:extLst>
            </p:cNvPr>
            <p:cNvSpPr/>
            <p:nvPr/>
          </p:nvSpPr>
          <p:spPr>
            <a:xfrm>
              <a:off x="33772857" y="23748688"/>
              <a:ext cx="16307998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  <a:latin typeface="+mn-lt"/>
                </a:rPr>
                <a:t>CONCLUSIONS</a:t>
              </a:r>
              <a:endParaRPr sz="5450" b="1" dirty="0">
                <a:solidFill>
                  <a:srgbClr val="FFFFFF"/>
                </a:solidFill>
                <a:latin typeface="+mn-lt"/>
              </a:endParaRPr>
            </a:p>
          </p:txBody>
        </p:sp>
      </p:grpSp>
      <p:grpSp>
        <p:nvGrpSpPr>
          <p:cNvPr id="95" name="Google Shape;95;p1">
            <a:extLst>
              <a:ext uri="{FF2B5EF4-FFF2-40B4-BE49-F238E27FC236}">
                <a16:creationId xmlns:a16="http://schemas.microsoft.com/office/drawing/2014/main" id="{CAF6BAF7-9009-A6AC-F79F-E26E16167D38}"/>
              </a:ext>
            </a:extLst>
          </p:cNvPr>
          <p:cNvGrpSpPr/>
          <p:nvPr/>
        </p:nvGrpSpPr>
        <p:grpSpPr>
          <a:xfrm>
            <a:off x="16569401" y="6317460"/>
            <a:ext cx="14170178" cy="28417039"/>
            <a:chOff x="15610114" y="15717428"/>
            <a:chExt cx="14366634" cy="6041642"/>
          </a:xfrm>
        </p:grpSpPr>
        <p:sp>
          <p:nvSpPr>
            <p:cNvPr id="96" name="Google Shape;96;p1">
              <a:extLst>
                <a:ext uri="{FF2B5EF4-FFF2-40B4-BE49-F238E27FC236}">
                  <a16:creationId xmlns:a16="http://schemas.microsoft.com/office/drawing/2014/main" id="{6DB2A229-72D2-682B-59F7-011D403D27AF}"/>
                </a:ext>
              </a:extLst>
            </p:cNvPr>
            <p:cNvSpPr/>
            <p:nvPr/>
          </p:nvSpPr>
          <p:spPr>
            <a:xfrm>
              <a:off x="15610114" y="15786654"/>
              <a:ext cx="14366632" cy="5972416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endParaRPr sz="323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>
              <a:extLst>
                <a:ext uri="{FF2B5EF4-FFF2-40B4-BE49-F238E27FC236}">
                  <a16:creationId xmlns:a16="http://schemas.microsoft.com/office/drawing/2014/main" id="{11864408-1867-19D4-F677-CB25E37FD4CE}"/>
                </a:ext>
              </a:extLst>
            </p:cNvPr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  <a:latin typeface="+mn-lt"/>
                </a:rPr>
                <a:t>RESULTS</a:t>
              </a:r>
              <a:endParaRPr sz="4441" b="1" dirty="0">
                <a:solidFill>
                  <a:schemeClr val="lt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>
            <a:extLst>
              <a:ext uri="{FF2B5EF4-FFF2-40B4-BE49-F238E27FC236}">
                <a16:creationId xmlns:a16="http://schemas.microsoft.com/office/drawing/2014/main" id="{C0AF2712-41F7-F17C-9A9E-028F3F613C90}"/>
              </a:ext>
            </a:extLst>
          </p:cNvPr>
          <p:cNvGrpSpPr/>
          <p:nvPr/>
        </p:nvGrpSpPr>
        <p:grpSpPr>
          <a:xfrm>
            <a:off x="1698583" y="36261172"/>
            <a:ext cx="14182490" cy="5660974"/>
            <a:chOff x="15261857" y="36737954"/>
            <a:chExt cx="14424713" cy="5269923"/>
          </a:xfrm>
        </p:grpSpPr>
        <p:sp>
          <p:nvSpPr>
            <p:cNvPr id="102" name="Google Shape;102;p1">
              <a:extLst>
                <a:ext uri="{FF2B5EF4-FFF2-40B4-BE49-F238E27FC236}">
                  <a16:creationId xmlns:a16="http://schemas.microsoft.com/office/drawing/2014/main" id="{BA490596-551D-FF8F-91FE-F140F5DB6CB4}"/>
                </a:ext>
              </a:extLst>
            </p:cNvPr>
            <p:cNvSpPr/>
            <p:nvPr/>
          </p:nvSpPr>
          <p:spPr>
            <a:xfrm>
              <a:off x="15286569" y="37840040"/>
              <a:ext cx="14400000" cy="416783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endParaRPr sz="1817">
                <a:solidFill>
                  <a:schemeClr val="lt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>
              <a:extLst>
                <a:ext uri="{FF2B5EF4-FFF2-40B4-BE49-F238E27FC236}">
                  <a16:creationId xmlns:a16="http://schemas.microsoft.com/office/drawing/2014/main" id="{C00384F5-A9F7-5E3C-2A83-B6F680829106}"/>
                </a:ext>
              </a:extLst>
            </p:cNvPr>
            <p:cNvSpPr/>
            <p:nvPr/>
          </p:nvSpPr>
          <p:spPr>
            <a:xfrm>
              <a:off x="15261857" y="36737954"/>
              <a:ext cx="14424713" cy="1102087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  <a:latin typeface="+mn-lt"/>
                </a:rPr>
                <a:t>REFERENCES</a:t>
              </a:r>
              <a:endParaRPr sz="4441" b="1" dirty="0">
                <a:solidFill>
                  <a:srgbClr val="FFFFFF"/>
                </a:solidFill>
                <a:latin typeface="+mn-lt"/>
              </a:endParaRPr>
            </a:p>
          </p:txBody>
        </p:sp>
      </p:grpSp>
      <p:pic>
        <p:nvPicPr>
          <p:cNvPr id="104" name="Google Shape;104;p1">
            <a:extLst>
              <a:ext uri="{FF2B5EF4-FFF2-40B4-BE49-F238E27FC236}">
                <a16:creationId xmlns:a16="http://schemas.microsoft.com/office/drawing/2014/main" id="{A98AD7EB-576E-503F-BF72-2949CB97E7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4;p1">
            <a:extLst>
              <a:ext uri="{FF2B5EF4-FFF2-40B4-BE49-F238E27FC236}">
                <a16:creationId xmlns:a16="http://schemas.microsoft.com/office/drawing/2014/main" id="{E9B482B1-4000-666D-BEB9-D9D11F2372A8}"/>
              </a:ext>
            </a:extLst>
          </p:cNvPr>
          <p:cNvSpPr/>
          <p:nvPr/>
        </p:nvSpPr>
        <p:spPr>
          <a:xfrm>
            <a:off x="6473558" y="1278495"/>
            <a:ext cx="25925730" cy="477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r>
              <a:rPr lang="ko-KR" altLang="en-US" sz="7200" b="1" dirty="0">
                <a:solidFill>
                  <a:schemeClr val="tx1"/>
                </a:solidFill>
                <a:latin typeface="+mn-lt"/>
              </a:rPr>
              <a:t>인간 음성의 물리적 특성이 사회적 관계 인식에 미치는 영향</a:t>
            </a:r>
            <a:endParaRPr lang="ko-Kore-KR" altLang="en-US" sz="7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맑은 고딕" panose="020B0503020000020004" pitchFamily="50" charset="-127"/>
              <a:cs typeface="Times New Roman" pitchFamily="18" charset="0"/>
            </a:endParaRPr>
          </a:p>
          <a:p>
            <a:pPr algn="ctr"/>
            <a:endParaRPr lang="en-US" altLang="ko-KR" sz="2830" b="1" dirty="0">
              <a:latin typeface="+mn-lt"/>
            </a:endParaRPr>
          </a:p>
          <a:p>
            <a:pPr algn="ctr"/>
            <a:r>
              <a:rPr lang="en-US" altLang="ko-KR" sz="4400" b="1" dirty="0">
                <a:latin typeface="+mn-lt"/>
              </a:rPr>
              <a:t>The Effect of Physical Features of Human Voice on Recognition of Social Relationships</a:t>
            </a:r>
            <a:endParaRPr lang="en-US" altLang="ko-KR" sz="44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ctr">
              <a:lnSpc>
                <a:spcPct val="120000"/>
              </a:lnSpc>
            </a:pPr>
            <a:endParaRPr sz="2422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ctr">
              <a:lnSpc>
                <a:spcPct val="120000"/>
              </a:lnSpc>
            </a:pPr>
            <a:r>
              <a:rPr lang="en-US" sz="3633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서울대학교</a:t>
            </a:r>
            <a:r>
              <a:rPr lang="en-US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ko-KR" altLang="en-US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심리</a:t>
            </a:r>
            <a:r>
              <a:rPr lang="en-US" sz="3633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학과</a:t>
            </a:r>
            <a:endParaRPr sz="3633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장준호</a:t>
            </a:r>
            <a:r>
              <a:rPr lang="en-US" altLang="ko-KR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, </a:t>
            </a:r>
            <a:r>
              <a:rPr lang="ko-KR" altLang="en-US" sz="3633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강원준</a:t>
            </a:r>
            <a:r>
              <a:rPr lang="en-US" altLang="ko-KR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(TA), </a:t>
            </a:r>
            <a:r>
              <a:rPr lang="ko-KR" altLang="en-US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이수현</a:t>
            </a:r>
            <a:r>
              <a:rPr lang="en-US" altLang="ko-KR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(</a:t>
            </a:r>
            <a:r>
              <a:rPr lang="ko-KR" altLang="en-US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지도교수</a:t>
            </a:r>
            <a:r>
              <a:rPr lang="en-US" altLang="ko-KR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)</a:t>
            </a:r>
            <a:endParaRPr sz="3633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ctr">
              <a:lnSpc>
                <a:spcPct val="120000"/>
              </a:lnSpc>
            </a:pPr>
            <a:r>
              <a:rPr lang="en-US" sz="3633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8729wnsgh@snu.ac.kr</a:t>
            </a:r>
            <a:endParaRPr sz="3633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4B1B6-607E-7A7D-827D-A4F09C5141BB}"/>
              </a:ext>
            </a:extLst>
          </p:cNvPr>
          <p:cNvSpPr txBox="1"/>
          <p:nvPr/>
        </p:nvSpPr>
        <p:spPr>
          <a:xfrm>
            <a:off x="2082481" y="7841824"/>
            <a:ext cx="13280571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Voice efficiently conveys thoughts and meanings. Beyond language, vocal elements such as pronunciation, speed, intonation, and volume help interpret intentions (Ha &amp; Heo, 2018).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Previous research has primarily focused on linguistic aspects, showing how morphemes are automatically processed (Lee &amp; Lee, 2018) and how vocal traits like speed and intensity influence impressions (Kwon, 2015). </a:t>
            </a:r>
            <a:endParaRPr lang="en-US" altLang="ko-KR" sz="1800" dirty="0">
              <a:latin typeface="+mn-lt"/>
            </a:endParaRP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800" dirty="0"/>
              <a:t>However, prior literature on staged voices lacks an exploration of the voice’s role in assessing interpersonal relationships.</a:t>
            </a:r>
            <a:endParaRPr lang="en-US" altLang="ko-KR" sz="2800" dirty="0">
              <a:latin typeface="+mn-lt"/>
            </a:endParaRP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While low frequencies are linked to dominance (Hodges-Simeon et al., 2010), it is unclear if such features influence perceived relational dynamics. 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Moreover, Lee et al. (2024) reaffirmed that the frequency of the first syllable has a significant inhibitory effect on auditory word recognition, suggesting that syllable characteristics may influence meaning and provide diverse information.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0D272-5D37-C8C1-0ECA-6239186BCDB0}"/>
              </a:ext>
            </a:extLst>
          </p:cNvPr>
          <p:cNvSpPr txBox="1"/>
          <p:nvPr/>
        </p:nvSpPr>
        <p:spPr>
          <a:xfrm>
            <a:off x="2043242" y="27776090"/>
            <a:ext cx="13280571" cy="8022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dirty="0">
              <a:latin typeface="+mn-lt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63 clips (under 23.18 seconds) extracted from the movie ‘Actress (2009)’.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12 acoustic features were measured for each speech, </a:t>
            </a:r>
          </a:p>
          <a:p>
            <a:pPr algn="just">
              <a:lnSpc>
                <a:spcPct val="120000"/>
              </a:lnSpc>
            </a:pPr>
            <a:r>
              <a:rPr lang="en-US" altLang="ko-KR" sz="2400" dirty="0">
                <a:latin typeface="+mn-lt"/>
              </a:rPr>
              <a:t>	Frequency (Overall frequency, final syllable frequency, difference and ratio of  the two)</a:t>
            </a:r>
          </a:p>
          <a:p>
            <a:pPr algn="just">
              <a:lnSpc>
                <a:spcPct val="120000"/>
              </a:lnSpc>
            </a:pPr>
            <a:r>
              <a:rPr lang="en-US" altLang="ko-KR" sz="2400" dirty="0">
                <a:latin typeface="+mn-lt"/>
              </a:rPr>
              <a:t>	Length (Mean syllable length, final syllable length, difference and ratio of the two)</a:t>
            </a:r>
          </a:p>
          <a:p>
            <a:pPr algn="just">
              <a:lnSpc>
                <a:spcPct val="120000"/>
              </a:lnSpc>
            </a:pPr>
            <a:r>
              <a:rPr lang="en-US" altLang="ko-KR" sz="2400" dirty="0">
                <a:latin typeface="+mn-lt"/>
              </a:rPr>
              <a:t>	Intensity (Overall intensity excluding final syllables, final syllable intensity, difference and 		      ratio of the two)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</a:rPr>
              <a:t>Physical feature extraction </a:t>
            </a:r>
            <a:r>
              <a:rPr lang="en-US" altLang="ko-KR" sz="2800" dirty="0">
                <a:solidFill>
                  <a:schemeClr val="tx1"/>
                </a:solidFill>
                <a:latin typeface="+mn-lt"/>
              </a:rPr>
              <a:t>was conducted using the ‘</a:t>
            </a:r>
            <a:r>
              <a:rPr lang="en-US" altLang="ko-KR" sz="2800" dirty="0" err="1">
                <a:solidFill>
                  <a:schemeClr val="tx1"/>
                </a:solidFill>
                <a:latin typeface="+mn-lt"/>
              </a:rPr>
              <a:t>Praat</a:t>
            </a:r>
            <a:r>
              <a:rPr lang="en-US" altLang="ko-KR" sz="2800" dirty="0">
                <a:solidFill>
                  <a:schemeClr val="tx1"/>
                </a:solidFill>
                <a:latin typeface="+mn-lt"/>
              </a:rPr>
              <a:t>’.</a:t>
            </a:r>
          </a:p>
          <a:p>
            <a:pPr algn="just">
              <a:lnSpc>
                <a:spcPct val="120000"/>
              </a:lnSpc>
            </a:pPr>
            <a:r>
              <a:rPr lang="en-US" altLang="ko-KR" sz="2800" b="1" dirty="0">
                <a:latin typeface="+mn-lt"/>
              </a:rPr>
              <a:t>Participants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30 participants viewed the movie clips in an fMRI scanner and evaluated the relationships between two characters in each clip.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They rated the interactions based on four aspects (Love / Hate / Submission / Independence), commonly suggested in previous studies (Benjamin, 1974; Wiggins, 1979; </a:t>
            </a:r>
            <a:r>
              <a:rPr lang="en-US" altLang="ko-KR" sz="2800" dirty="0" err="1">
                <a:latin typeface="+mn-lt"/>
              </a:rPr>
              <a:t>Birtchnell</a:t>
            </a:r>
            <a:r>
              <a:rPr lang="en-US" altLang="ko-KR" sz="2800" dirty="0">
                <a:latin typeface="+mn-lt"/>
              </a:rPr>
              <a:t>, 1994; Kiesler, 1997).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lt"/>
              </a:rPr>
              <a:t>The evaluated relationship,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brain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signal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data were collected from the experiment of Kang (TA).</a:t>
            </a:r>
          </a:p>
        </p:txBody>
      </p:sp>
      <p:sp>
        <p:nvSpPr>
          <p:cNvPr id="64" name="Rectangle 4">
            <a:extLst>
              <a:ext uri="{FF2B5EF4-FFF2-40B4-BE49-F238E27FC236}">
                <a16:creationId xmlns:a16="http://schemas.microsoft.com/office/drawing/2014/main" id="{D22845C9-349B-A77C-1CA8-6EE1211EB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0228" y="16958404"/>
            <a:ext cx="184731" cy="315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n-lt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4D42CAF-14AB-DE02-5EA7-55D20EAB8691}"/>
              </a:ext>
            </a:extLst>
          </p:cNvPr>
          <p:cNvSpPr txBox="1"/>
          <p:nvPr/>
        </p:nvSpPr>
        <p:spPr>
          <a:xfrm>
            <a:off x="16531673" y="36233688"/>
            <a:ext cx="1415819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last syllable, length and intensity predicted love, and pitch predicted submission. And the difference between mean and last syllable length predicted both opposing concepts of love and hate. </a:t>
            </a:r>
          </a:p>
          <a:p>
            <a:pPr marL="457200" lvl="1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ko-KR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hysical features associated with social recognition </a:t>
            </a:r>
            <a:r>
              <a:rPr lang="en-US" altLang="ko-K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showed a larger BOLD signal in the A1 compared to the V1. The degree of A1 activation functioned as a mediator.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features not only convey linguistic meaning but also shape interpersonal impressions and evaluations.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Moreover, this study represents a novel approach by focusing on the physical elements of vocal language, particularly the final syllable.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 should explore the mechanisms linking vocal features to recognition, particularly their neural underpinnings, and test these findings in real-world settings.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D842C1E-F9DB-4C72-CCE6-79418112759B}"/>
              </a:ext>
            </a:extLst>
          </p:cNvPr>
          <p:cNvSpPr txBox="1"/>
          <p:nvPr/>
        </p:nvSpPr>
        <p:spPr>
          <a:xfrm>
            <a:off x="1893375" y="37445037"/>
            <a:ext cx="13792906" cy="441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b="0" i="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Benjamin LS (1974) Structural analysis of social behavior. Psychol Rev 81.</a:t>
            </a:r>
          </a:p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b="0" i="0" dirty="0" err="1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Birtchnell</a:t>
            </a:r>
            <a:r>
              <a:rPr lang="en-US" altLang="ko-KR" sz="1800" b="0" i="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 J (1994) The Interpersonal Octagon: An Alternative to the Interpersonal Circle. Human Relations 47. </a:t>
            </a:r>
          </a:p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b="0" i="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Bo Mi Ha, &amp; Myung Jin Huh (2018). The Effect of Pitch, Duration, and Intensity on a </a:t>
            </a:r>
            <a:r>
              <a:rPr lang="en-US" altLang="ko-KR" sz="1800" b="0" i="0" dirty="0" err="1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Preception</a:t>
            </a:r>
            <a:r>
              <a:rPr lang="en-US" altLang="ko-KR" sz="1800" b="0" i="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 of Speech. </a:t>
            </a:r>
            <a:r>
              <a:rPr lang="en-US" altLang="ko-KR" sz="1800" b="0" i="1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Journal of speech-language &amp; hearing disorders</a:t>
            </a:r>
            <a:r>
              <a:rPr lang="en-US" altLang="ko-KR" sz="1800" b="0" i="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, </a:t>
            </a:r>
            <a:r>
              <a:rPr lang="en-US" altLang="ko-KR" sz="1800" b="0" i="1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27</a:t>
            </a:r>
            <a:r>
              <a:rPr lang="en-US" altLang="ko-KR" sz="1800" b="0" i="0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(3), 45-54.</a:t>
            </a:r>
          </a:p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kern="100" dirty="0" err="1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Bänziger</a:t>
            </a: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, T., Patel, S., &amp; Scherer, K. R. (2014). The role of perceived voice and speech characteristics in vocal emotion communication. </a:t>
            </a:r>
            <a:r>
              <a:rPr lang="en-US" altLang="ko-KR" sz="1800" i="1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Journal of Nonverbal Behavior, 38</a:t>
            </a: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(1), 31-52.</a:t>
            </a:r>
            <a:endParaRPr lang="ko-KR" altLang="ko-KR" sz="1800" kern="100" dirty="0">
              <a:solidFill>
                <a:schemeClr val="tx1"/>
              </a:solidFill>
              <a:effectLst/>
              <a:latin typeface="+mn-lt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Hodges-Simeon, C. R., Gaulin, S. J., &amp; Puts, D. A. (2010). Different vocal parameters predict perceptions of dominance and attractiveness. </a:t>
            </a:r>
            <a:r>
              <a:rPr lang="en-US" altLang="ko-KR" sz="1800" i="1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Human Nature, 21</a:t>
            </a: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(4), 406-427.</a:t>
            </a:r>
          </a:p>
          <a:p>
            <a:pPr marL="558800" indent="-558800" algn="just" latinLnBrk="0">
              <a:spcAft>
                <a:spcPts val="800"/>
              </a:spcAft>
            </a:pPr>
            <a:r>
              <a:rPr lang="en" altLang="ko-KR" sz="1800" kern="100" dirty="0" err="1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Kiesler</a:t>
            </a:r>
            <a:r>
              <a:rPr lang="en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 DJ (1997) Contemporary interpersonal theory and research: personality, psychopathology, and psychotherapy. Journal of psychotherapy practice and research 6. </a:t>
            </a:r>
            <a:endParaRPr lang="ko-KR" altLang="ko-KR" sz="1800" kern="100" dirty="0">
              <a:solidFill>
                <a:schemeClr val="tx1"/>
              </a:solidFill>
              <a:effectLst/>
              <a:latin typeface="+mn-lt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Lunden, A. (2011). The weight of final syllables in English. In </a:t>
            </a:r>
            <a:r>
              <a:rPr lang="en-US" altLang="ko-KR" sz="1800" i="1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Proceedings of the 28th West Coast Conference on Formal Linguistics</a:t>
            </a: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 (pp. 152-159). Somerville, MA: </a:t>
            </a:r>
            <a:r>
              <a:rPr lang="en-US" altLang="ko-KR" sz="1800" kern="100" dirty="0" err="1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Cascadilla</a:t>
            </a: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 Proceedings Project.</a:t>
            </a:r>
          </a:p>
          <a:p>
            <a:pPr marL="558800" indent="-558800" algn="just" latinLnBrk="0"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1"/>
                </a:solidFill>
                <a:effectLst/>
                <a:latin typeface="+mn-lt"/>
                <a:ea typeface="맑은 고딕" panose="020B0503020000020004" pitchFamily="50" charset="-127"/>
                <a:cs typeface="Arial" panose="020B0604020202020204" pitchFamily="34" charset="0"/>
              </a:rPr>
              <a:t>Wiggins JS (1979) A psychological taxonomy of trait-descriptive terms: The interpersonal domain. J Pers Soc Psychol 37. </a:t>
            </a:r>
          </a:p>
        </p:txBody>
      </p:sp>
      <p:grpSp>
        <p:nvGrpSpPr>
          <p:cNvPr id="27" name="Google Shape;98;p1">
            <a:extLst>
              <a:ext uri="{FF2B5EF4-FFF2-40B4-BE49-F238E27FC236}">
                <a16:creationId xmlns:a16="http://schemas.microsoft.com/office/drawing/2014/main" id="{0913B343-7574-4DC3-48EE-9382F5D75AF5}"/>
              </a:ext>
            </a:extLst>
          </p:cNvPr>
          <p:cNvGrpSpPr/>
          <p:nvPr/>
        </p:nvGrpSpPr>
        <p:grpSpPr>
          <a:xfrm>
            <a:off x="1628691" y="15492625"/>
            <a:ext cx="14170178" cy="4124924"/>
            <a:chOff x="414164" y="22601918"/>
            <a:chExt cx="16560000" cy="3444890"/>
          </a:xfrm>
        </p:grpSpPr>
        <p:sp>
          <p:nvSpPr>
            <p:cNvPr id="28" name="Google Shape;99;p1">
              <a:extLst>
                <a:ext uri="{FF2B5EF4-FFF2-40B4-BE49-F238E27FC236}">
                  <a16:creationId xmlns:a16="http://schemas.microsoft.com/office/drawing/2014/main" id="{083CD5F9-98F4-74B7-2101-FB16F5149870}"/>
                </a:ext>
              </a:extLst>
            </p:cNvPr>
            <p:cNvSpPr/>
            <p:nvPr/>
          </p:nvSpPr>
          <p:spPr>
            <a:xfrm>
              <a:off x="414164" y="23586281"/>
              <a:ext cx="16560000" cy="246052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0;p1">
              <a:extLst>
                <a:ext uri="{FF2B5EF4-FFF2-40B4-BE49-F238E27FC236}">
                  <a16:creationId xmlns:a16="http://schemas.microsoft.com/office/drawing/2014/main" id="{DA5485AF-D05B-8657-9B55-BAEC959A58CF}"/>
                </a:ext>
              </a:extLst>
            </p:cNvPr>
            <p:cNvSpPr/>
            <p:nvPr/>
          </p:nvSpPr>
          <p:spPr>
            <a:xfrm>
              <a:off x="414164" y="22601918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MAIN QUESTIONS</a:t>
              </a:r>
              <a:endParaRPr sz="5450" b="1" dirty="0">
                <a:solidFill>
                  <a:schemeClr val="lt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D2C984F-8C77-3FA5-1346-2B4B016DC3A4}"/>
              </a:ext>
            </a:extLst>
          </p:cNvPr>
          <p:cNvSpPr txBox="1"/>
          <p:nvPr/>
        </p:nvSpPr>
        <p:spPr>
          <a:xfrm>
            <a:off x="2071808" y="16960252"/>
            <a:ext cx="1328057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ko-KR" sz="3200" dirty="0">
                <a:latin typeface="+mn-lt"/>
              </a:rPr>
              <a:t>How do physical features of voice influence the recognition of interpersonal relationships?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ko-KR" sz="3200" dirty="0">
                <a:latin typeface="+mn-lt"/>
              </a:rPr>
              <a:t>What role does the final syllable play in interpreting social-cognitive states through voice?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5E529C8-1383-6E52-3D42-9B633FB724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93511" y="12712485"/>
            <a:ext cx="4355286" cy="4320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5AD41EA-5CA2-0022-EBD6-771377B6E3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6994" y="12669253"/>
            <a:ext cx="4350035" cy="4320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9064C6A-08DE-B34C-2E1E-9824E27FF4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57728" y="17327048"/>
            <a:ext cx="4416678" cy="4320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C8E77F7-EC67-B33A-3FBE-5F5CC9733A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57728" y="8322320"/>
            <a:ext cx="4355535" cy="43200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3CEF08A-1E98-588D-E63C-3F154295F9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32135" y="8322320"/>
            <a:ext cx="4330082" cy="43200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E6116865-A9D2-7E83-1B59-187F7710A5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10454" y="8275995"/>
            <a:ext cx="4314982" cy="4320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150BE62-C297-FA34-2DBF-B9EF39C754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72957" y="12669253"/>
            <a:ext cx="4340306" cy="43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B0C830C-1343-1AD7-E975-5C2E202BB7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093511" y="17242663"/>
            <a:ext cx="4445290" cy="4320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8CD7A23-38EA-A55C-12E1-5CDF94D18B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32135" y="17246771"/>
            <a:ext cx="4441263" cy="432000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B3EAAD22-36EB-7660-2C8E-817ED6E2EB10}"/>
              </a:ext>
            </a:extLst>
          </p:cNvPr>
          <p:cNvSpPr/>
          <p:nvPr/>
        </p:nvSpPr>
        <p:spPr>
          <a:xfrm>
            <a:off x="17925618" y="7656576"/>
            <a:ext cx="11343115" cy="4990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A4C23CB-B2F6-54A0-EB35-142247D270FD}"/>
              </a:ext>
            </a:extLst>
          </p:cNvPr>
          <p:cNvSpPr txBox="1"/>
          <p:nvPr/>
        </p:nvSpPr>
        <p:spPr>
          <a:xfrm>
            <a:off x="16696690" y="7614790"/>
            <a:ext cx="13572237" cy="56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i="0" dirty="0">
                <a:effectLst/>
                <a:latin typeface="+mn-lt"/>
              </a:rPr>
              <a:t>Correlation between Physical Features and Social Recognition</a:t>
            </a:r>
            <a:endParaRPr lang="en-US" altLang="ko-KR" sz="2800" b="1" dirty="0">
              <a:latin typeface="+mn-lt"/>
            </a:endParaRPr>
          </a:p>
        </p:txBody>
      </p:sp>
      <p:grpSp>
        <p:nvGrpSpPr>
          <p:cNvPr id="1339" name="그룹 1338">
            <a:extLst>
              <a:ext uri="{FF2B5EF4-FFF2-40B4-BE49-F238E27FC236}">
                <a16:creationId xmlns:a16="http://schemas.microsoft.com/office/drawing/2014/main" id="{6FC2771B-8615-A875-1C86-C0C77B5B80FC}"/>
              </a:ext>
            </a:extLst>
          </p:cNvPr>
          <p:cNvGrpSpPr/>
          <p:nvPr/>
        </p:nvGrpSpPr>
        <p:grpSpPr>
          <a:xfrm>
            <a:off x="16955177" y="21814626"/>
            <a:ext cx="13568085" cy="562940"/>
            <a:chOff x="16973959" y="21995144"/>
            <a:chExt cx="13568085" cy="56294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F1E2166-F4F5-BD2D-2C85-E20373D1E007}"/>
                </a:ext>
              </a:extLst>
            </p:cNvPr>
            <p:cNvSpPr/>
            <p:nvPr/>
          </p:nvSpPr>
          <p:spPr>
            <a:xfrm>
              <a:off x="17580692" y="22059032"/>
              <a:ext cx="12510833" cy="499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C3E1510-3345-6725-1413-724A94C3A0E8}"/>
                </a:ext>
              </a:extLst>
            </p:cNvPr>
            <p:cNvSpPr txBox="1"/>
            <p:nvPr/>
          </p:nvSpPr>
          <p:spPr>
            <a:xfrm>
              <a:off x="16973959" y="21995144"/>
              <a:ext cx="13568085" cy="561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800" b="1" i="0" dirty="0">
                  <a:solidFill>
                    <a:srgbClr val="000000"/>
                  </a:solidFill>
                  <a:effectLst/>
                  <a:latin typeface="+mn-lt"/>
                </a:rPr>
                <a:t>Correlation between Physical Features and BOLD Signals by subjects</a:t>
              </a:r>
              <a:endParaRPr lang="en-US" altLang="ko-KR" sz="2800" b="1" dirty="0">
                <a:latin typeface="+mn-lt"/>
              </a:endParaRPr>
            </a:p>
          </p:txBody>
        </p:sp>
      </p:grpSp>
      <p:grpSp>
        <p:nvGrpSpPr>
          <p:cNvPr id="1336" name="그룹 1335">
            <a:extLst>
              <a:ext uri="{FF2B5EF4-FFF2-40B4-BE49-F238E27FC236}">
                <a16:creationId xmlns:a16="http://schemas.microsoft.com/office/drawing/2014/main" id="{7C779120-D099-3953-A71E-99D9EAB528A3}"/>
              </a:ext>
            </a:extLst>
          </p:cNvPr>
          <p:cNvGrpSpPr/>
          <p:nvPr/>
        </p:nvGrpSpPr>
        <p:grpSpPr>
          <a:xfrm>
            <a:off x="16867964" y="29119741"/>
            <a:ext cx="13568085" cy="561885"/>
            <a:chOff x="16785349" y="28268639"/>
            <a:chExt cx="13568085" cy="561885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1F81CAA4-4666-45ED-67FB-757A5334CA26}"/>
                </a:ext>
              </a:extLst>
            </p:cNvPr>
            <p:cNvSpPr/>
            <p:nvPr/>
          </p:nvSpPr>
          <p:spPr>
            <a:xfrm>
              <a:off x="17309937" y="28311502"/>
              <a:ext cx="12510833" cy="4990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CA247E-B01A-4436-630D-F92261B557A0}"/>
                </a:ext>
              </a:extLst>
            </p:cNvPr>
            <p:cNvSpPr txBox="1"/>
            <p:nvPr/>
          </p:nvSpPr>
          <p:spPr>
            <a:xfrm>
              <a:off x="16785349" y="28268639"/>
              <a:ext cx="13568085" cy="5618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800" b="1" i="0" dirty="0">
                  <a:solidFill>
                    <a:srgbClr val="000000"/>
                  </a:solidFill>
                  <a:effectLst/>
                  <a:latin typeface="+mn-lt"/>
                </a:rPr>
                <a:t>Mediation between Physical Features and Social Recognition</a:t>
              </a:r>
              <a:endParaRPr lang="en-US" altLang="ko-KR" sz="2800" b="1" dirty="0">
                <a:latin typeface="+mn-lt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A185ECF5-A0B8-4053-0D67-4813E1CF19C9}"/>
              </a:ext>
            </a:extLst>
          </p:cNvPr>
          <p:cNvSpPr txBox="1"/>
          <p:nvPr/>
        </p:nvSpPr>
        <p:spPr>
          <a:xfrm>
            <a:off x="27379930" y="34345535"/>
            <a:ext cx="3298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ko-KR" sz="1400" dirty="0"/>
              <a:t>***p &lt; 0.001, *p &lt; 0.05, Bootstrap Test 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B58BA9B-739D-150A-61C3-D8523E2A455A}"/>
              </a:ext>
            </a:extLst>
          </p:cNvPr>
          <p:cNvSpPr txBox="1"/>
          <p:nvPr/>
        </p:nvSpPr>
        <p:spPr>
          <a:xfrm>
            <a:off x="26079368" y="22784695"/>
            <a:ext cx="3988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altLang="ko-KR" sz="1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Total physical feature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  <a:r>
              <a:rPr lang="en-US" altLang="ko-KR" sz="1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Physical feature for last syllable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en-US" altLang="ko-KR" sz="1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Average syllable’s physical feature,    </a:t>
            </a:r>
          </a:p>
          <a:p>
            <a:r>
              <a:rPr lang="en-US" altLang="ko-KR" sz="16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</a:t>
            </a:r>
            <a:r>
              <a:rPr lang="en-US" altLang="ko-KR" sz="16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Difference between Total and Last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BFD970A7-8AA9-AD08-0B40-5F11BA91BCAD}"/>
              </a:ext>
            </a:extLst>
          </p:cNvPr>
          <p:cNvSpPr txBox="1"/>
          <p:nvPr/>
        </p:nvSpPr>
        <p:spPr>
          <a:xfrm>
            <a:off x="16757728" y="34367743"/>
            <a:ext cx="1068442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/>
              <a:t>Length difference : Difference between mean and last syllable length / Last intensity : Intensity of last syllable / Last Pitch : Pitch of last syllable</a:t>
            </a:r>
            <a:endParaRPr lang="ko-KR" altLang="en-US" sz="1300" dirty="0"/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E2041D4D-F728-2384-CE58-8AC3875507D9}"/>
              </a:ext>
            </a:extLst>
          </p:cNvPr>
          <p:cNvSpPr txBox="1"/>
          <p:nvPr/>
        </p:nvSpPr>
        <p:spPr>
          <a:xfrm>
            <a:off x="20490773" y="32114061"/>
            <a:ext cx="621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2000" b="1" dirty="0">
                <a:latin typeface="+mn-lt"/>
              </a:rPr>
              <a:t>Mediating Effect of the Primary Visual Cortex (V1)</a:t>
            </a:r>
            <a:endParaRPr lang="ko-KR" altLang="en-US" sz="2000" b="1" dirty="0">
              <a:latin typeface="+mn-lt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F364DC48-55A2-067B-0DC3-16FC55042014}"/>
              </a:ext>
            </a:extLst>
          </p:cNvPr>
          <p:cNvSpPr txBox="1"/>
          <p:nvPr/>
        </p:nvSpPr>
        <p:spPr>
          <a:xfrm>
            <a:off x="29268733" y="21507773"/>
            <a:ext cx="1270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ko-KR" sz="1800" dirty="0"/>
              <a:t>*p &lt; 0.05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88" name="그림 1087" descr="텍스트, 폰트, 원, 스크린샷이(가) 표시된 사진&#10;&#10;자동 생성된 설명">
            <a:extLst>
              <a:ext uri="{FF2B5EF4-FFF2-40B4-BE49-F238E27FC236}">
                <a16:creationId xmlns:a16="http://schemas.microsoft.com/office/drawing/2014/main" id="{7F8237AD-6E34-E10B-E676-88D3FDF630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402472" y="30179131"/>
            <a:ext cx="3803197" cy="1754549"/>
          </a:xfrm>
          <a:prstGeom prst="rect">
            <a:avLst/>
          </a:prstGeom>
        </p:spPr>
      </p:pic>
      <p:pic>
        <p:nvPicPr>
          <p:cNvPr id="1090" name="그림 1089" descr="텍스트, 폰트, 원, 스크린샷이(가) 표시된 사진&#10;&#10;자동 생성된 설명">
            <a:extLst>
              <a:ext uri="{FF2B5EF4-FFF2-40B4-BE49-F238E27FC236}">
                <a16:creationId xmlns:a16="http://schemas.microsoft.com/office/drawing/2014/main" id="{A83B0444-FFC1-E827-4FA0-96C8976E6F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02472" y="32436797"/>
            <a:ext cx="3799803" cy="1752984"/>
          </a:xfrm>
          <a:prstGeom prst="rect">
            <a:avLst/>
          </a:prstGeom>
        </p:spPr>
      </p:pic>
      <p:pic>
        <p:nvPicPr>
          <p:cNvPr id="1092" name="그림 1091" descr="텍스트, 폰트, 원, 스크린샷이(가) 표시된 사진&#10;&#10;자동 생성된 설명">
            <a:extLst>
              <a:ext uri="{FF2B5EF4-FFF2-40B4-BE49-F238E27FC236}">
                <a16:creationId xmlns:a16="http://schemas.microsoft.com/office/drawing/2014/main" id="{7357A1C4-8058-5E2F-AAF3-2DDDB2CB964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09640" y="30182446"/>
            <a:ext cx="3763758" cy="1752984"/>
          </a:xfrm>
          <a:prstGeom prst="rect">
            <a:avLst/>
          </a:prstGeom>
        </p:spPr>
      </p:pic>
      <p:pic>
        <p:nvPicPr>
          <p:cNvPr id="1094" name="그림 1093" descr="텍스트, 원, 스크린샷, 폰트이(가) 표시된 사진&#10;&#10;자동 생성된 설명">
            <a:extLst>
              <a:ext uri="{FF2B5EF4-FFF2-40B4-BE49-F238E27FC236}">
                <a16:creationId xmlns:a16="http://schemas.microsoft.com/office/drawing/2014/main" id="{BA945DD0-EB94-1448-8EBE-80EB65C3DC1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38414" y="32486862"/>
            <a:ext cx="3766837" cy="1752984"/>
          </a:xfrm>
          <a:prstGeom prst="rect">
            <a:avLst/>
          </a:prstGeom>
        </p:spPr>
      </p:pic>
      <p:sp>
        <p:nvSpPr>
          <p:cNvPr id="1334" name="TextBox 1333">
            <a:extLst>
              <a:ext uri="{FF2B5EF4-FFF2-40B4-BE49-F238E27FC236}">
                <a16:creationId xmlns:a16="http://schemas.microsoft.com/office/drawing/2014/main" id="{1342E589-08EC-0363-4F58-12D11A4643DB}"/>
              </a:ext>
            </a:extLst>
          </p:cNvPr>
          <p:cNvSpPr txBox="1"/>
          <p:nvPr/>
        </p:nvSpPr>
        <p:spPr>
          <a:xfrm>
            <a:off x="20447515" y="29776847"/>
            <a:ext cx="6408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2000" b="1" dirty="0">
                <a:latin typeface="+mn-lt"/>
              </a:rPr>
              <a:t>Mediating Effect of the Primary Auditory Cortex (A1)</a:t>
            </a:r>
            <a:endParaRPr lang="ko-KR" altLang="en-US" sz="2000" b="1" dirty="0">
              <a:latin typeface="+mn-lt"/>
            </a:endParaRPr>
          </a:p>
        </p:txBody>
      </p:sp>
      <p:grpSp>
        <p:nvGrpSpPr>
          <p:cNvPr id="1340" name="그룹 1339">
            <a:extLst>
              <a:ext uri="{FF2B5EF4-FFF2-40B4-BE49-F238E27FC236}">
                <a16:creationId xmlns:a16="http://schemas.microsoft.com/office/drawing/2014/main" id="{406AA50B-FDC7-CDF8-5AF2-6BE946FA6BDA}"/>
              </a:ext>
            </a:extLst>
          </p:cNvPr>
          <p:cNvGrpSpPr/>
          <p:nvPr/>
        </p:nvGrpSpPr>
        <p:grpSpPr>
          <a:xfrm>
            <a:off x="17564165" y="22406634"/>
            <a:ext cx="7688943" cy="1844252"/>
            <a:chOff x="16848614" y="22419819"/>
            <a:chExt cx="7688943" cy="1844252"/>
          </a:xfrm>
        </p:grpSpPr>
        <p:sp>
          <p:nvSpPr>
            <p:cNvPr id="1186" name="TextBox 1185">
              <a:extLst>
                <a:ext uri="{FF2B5EF4-FFF2-40B4-BE49-F238E27FC236}">
                  <a16:creationId xmlns:a16="http://schemas.microsoft.com/office/drawing/2014/main" id="{F4231627-EE7F-81E5-D0BA-C0E9D035B405}"/>
                </a:ext>
              </a:extLst>
            </p:cNvPr>
            <p:cNvSpPr txBox="1"/>
            <p:nvPr/>
          </p:nvSpPr>
          <p:spPr>
            <a:xfrm>
              <a:off x="19671129" y="22419819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sz="2400" b="1" dirty="0"/>
                <a:t>ROIs</a:t>
              </a:r>
              <a:endParaRPr kumimoji="1" lang="ko-Kore-KR" altLang="en-US" sz="2400" b="1" dirty="0"/>
            </a:p>
          </p:txBody>
        </p:sp>
        <p:grpSp>
          <p:nvGrpSpPr>
            <p:cNvPr id="1338" name="그룹 1337">
              <a:extLst>
                <a:ext uri="{FF2B5EF4-FFF2-40B4-BE49-F238E27FC236}">
                  <a16:creationId xmlns:a16="http://schemas.microsoft.com/office/drawing/2014/main" id="{C7484064-3CFF-B1D7-F3C0-160F299A7DB4}"/>
                </a:ext>
              </a:extLst>
            </p:cNvPr>
            <p:cNvGrpSpPr/>
            <p:nvPr/>
          </p:nvGrpSpPr>
          <p:grpSpPr>
            <a:xfrm>
              <a:off x="23575983" y="22937144"/>
              <a:ext cx="961574" cy="928818"/>
              <a:chOff x="33125059" y="22380643"/>
              <a:chExt cx="961574" cy="928818"/>
            </a:xfrm>
          </p:grpSpPr>
          <p:grpSp>
            <p:nvGrpSpPr>
              <p:cNvPr id="1193" name="그룹 1192">
                <a:extLst>
                  <a:ext uri="{FF2B5EF4-FFF2-40B4-BE49-F238E27FC236}">
                    <a16:creationId xmlns:a16="http://schemas.microsoft.com/office/drawing/2014/main" id="{0F08DEC3-631C-6607-9816-94F3184C2124}"/>
                  </a:ext>
                </a:extLst>
              </p:cNvPr>
              <p:cNvGrpSpPr/>
              <p:nvPr/>
            </p:nvGrpSpPr>
            <p:grpSpPr>
              <a:xfrm>
                <a:off x="33125059" y="22380643"/>
                <a:ext cx="959026" cy="461665"/>
                <a:chOff x="18160839" y="33441696"/>
                <a:chExt cx="959026" cy="461665"/>
              </a:xfrm>
            </p:grpSpPr>
            <p:sp>
              <p:nvSpPr>
                <p:cNvPr id="1197" name="직사각형 1196">
                  <a:extLst>
                    <a:ext uri="{FF2B5EF4-FFF2-40B4-BE49-F238E27FC236}">
                      <a16:creationId xmlns:a16="http://schemas.microsoft.com/office/drawing/2014/main" id="{DBA7E1F5-EE7B-F351-D83D-421EC227B09B}"/>
                    </a:ext>
                  </a:extLst>
                </p:cNvPr>
                <p:cNvSpPr/>
                <p:nvPr/>
              </p:nvSpPr>
              <p:spPr>
                <a:xfrm>
                  <a:off x="18160839" y="33506158"/>
                  <a:ext cx="334883" cy="334883"/>
                </a:xfrm>
                <a:prstGeom prst="rect">
                  <a:avLst/>
                </a:prstGeom>
                <a:solidFill>
                  <a:srgbClr val="FFFF00"/>
                </a:solidFill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/>
                </a:p>
              </p:txBody>
            </p:sp>
            <p:sp>
              <p:nvSpPr>
                <p:cNvPr id="1198" name="TextBox 1197">
                  <a:extLst>
                    <a:ext uri="{FF2B5EF4-FFF2-40B4-BE49-F238E27FC236}">
                      <a16:creationId xmlns:a16="http://schemas.microsoft.com/office/drawing/2014/main" id="{856EDD21-06FD-4317-779C-79259AFE108D}"/>
                    </a:ext>
                  </a:extLst>
                </p:cNvPr>
                <p:cNvSpPr txBox="1"/>
                <p:nvPr/>
              </p:nvSpPr>
              <p:spPr>
                <a:xfrm>
                  <a:off x="18540860" y="33441696"/>
                  <a:ext cx="5790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ore-KR" sz="2400" b="1" dirty="0"/>
                    <a:t>A1</a:t>
                  </a:r>
                  <a:endParaRPr kumimoji="1" lang="ko-Kore-KR" altLang="en-US" sz="2400" b="1" dirty="0"/>
                </a:p>
              </p:txBody>
            </p:sp>
          </p:grpSp>
          <p:grpSp>
            <p:nvGrpSpPr>
              <p:cNvPr id="1194" name="그룹 1193">
                <a:extLst>
                  <a:ext uri="{FF2B5EF4-FFF2-40B4-BE49-F238E27FC236}">
                    <a16:creationId xmlns:a16="http://schemas.microsoft.com/office/drawing/2014/main" id="{BBA572C9-C223-D6CC-F3A8-17F9730F648D}"/>
                  </a:ext>
                </a:extLst>
              </p:cNvPr>
              <p:cNvGrpSpPr/>
              <p:nvPr/>
            </p:nvGrpSpPr>
            <p:grpSpPr>
              <a:xfrm>
                <a:off x="33127607" y="22847796"/>
                <a:ext cx="959026" cy="461665"/>
                <a:chOff x="19338801" y="33443008"/>
                <a:chExt cx="959026" cy="461665"/>
              </a:xfrm>
            </p:grpSpPr>
            <p:sp>
              <p:nvSpPr>
                <p:cNvPr id="1195" name="직사각형 1194">
                  <a:extLst>
                    <a:ext uri="{FF2B5EF4-FFF2-40B4-BE49-F238E27FC236}">
                      <a16:creationId xmlns:a16="http://schemas.microsoft.com/office/drawing/2014/main" id="{23DD46B9-FAB9-B77A-4778-6043595A6146}"/>
                    </a:ext>
                  </a:extLst>
                </p:cNvPr>
                <p:cNvSpPr/>
                <p:nvPr/>
              </p:nvSpPr>
              <p:spPr>
                <a:xfrm>
                  <a:off x="19338801" y="33507470"/>
                  <a:ext cx="334883" cy="334883"/>
                </a:xfrm>
                <a:prstGeom prst="rect">
                  <a:avLst/>
                </a:prstGeom>
                <a:solidFill>
                  <a:srgbClr val="00FA00"/>
                </a:solidFill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/>
                </a:p>
              </p:txBody>
            </p:sp>
            <p:sp>
              <p:nvSpPr>
                <p:cNvPr id="1196" name="TextBox 1195">
                  <a:extLst>
                    <a:ext uri="{FF2B5EF4-FFF2-40B4-BE49-F238E27FC236}">
                      <a16:creationId xmlns:a16="http://schemas.microsoft.com/office/drawing/2014/main" id="{F543700A-7ABC-24EB-0564-B2E970071AC3}"/>
                    </a:ext>
                  </a:extLst>
                </p:cNvPr>
                <p:cNvSpPr txBox="1"/>
                <p:nvPr/>
              </p:nvSpPr>
              <p:spPr>
                <a:xfrm>
                  <a:off x="19718822" y="33443008"/>
                  <a:ext cx="5790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ore-KR" sz="2400" b="1" dirty="0"/>
                    <a:t>V1</a:t>
                  </a:r>
                  <a:endParaRPr kumimoji="1" lang="ko-Kore-KR" altLang="en-US" sz="2400" b="1" dirty="0"/>
                </a:p>
              </p:txBody>
            </p:sp>
          </p:grpSp>
        </p:grpSp>
        <p:pic>
          <p:nvPicPr>
            <p:cNvPr id="1297" name="그림 1296">
              <a:extLst>
                <a:ext uri="{FF2B5EF4-FFF2-40B4-BE49-F238E27FC236}">
                  <a16:creationId xmlns:a16="http://schemas.microsoft.com/office/drawing/2014/main" id="{2C357C30-E8D9-FE85-941A-B58A437B9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6848614" y="22644484"/>
              <a:ext cx="6576506" cy="1619587"/>
            </a:xfrm>
            <a:prstGeom prst="rect">
              <a:avLst/>
            </a:prstGeom>
          </p:spPr>
        </p:pic>
      </p:grpSp>
      <p:pic>
        <p:nvPicPr>
          <p:cNvPr id="7" name="그림 6" descr="텍스트, 폰트, 원, 스크린샷이(가) 표시된 사진&#10;&#10;자동 생성된 설명">
            <a:extLst>
              <a:ext uri="{FF2B5EF4-FFF2-40B4-BE49-F238E27FC236}">
                <a16:creationId xmlns:a16="http://schemas.microsoft.com/office/drawing/2014/main" id="{B1FEBD35-0377-D113-B285-1103D53C0FE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703577" y="30198509"/>
            <a:ext cx="3828943" cy="1753200"/>
          </a:xfrm>
          <a:prstGeom prst="rect">
            <a:avLst/>
          </a:prstGeom>
        </p:spPr>
      </p:pic>
      <p:pic>
        <p:nvPicPr>
          <p:cNvPr id="14" name="그림 13" descr="텍스트, 폰트, 원, 스크린샷이(가) 표시된 사진&#10;&#10;자동 생성된 설명">
            <a:extLst>
              <a:ext uri="{FF2B5EF4-FFF2-40B4-BE49-F238E27FC236}">
                <a16:creationId xmlns:a16="http://schemas.microsoft.com/office/drawing/2014/main" id="{C952AA7D-3CE8-446C-EEB7-D4C82E82031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684123" y="32525614"/>
            <a:ext cx="3800272" cy="1753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F2FAA78-8183-1546-8EFF-610F8C40F4FB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659"/>
          <a:stretch/>
        </p:blipFill>
        <p:spPr>
          <a:xfrm>
            <a:off x="16883639" y="24801257"/>
            <a:ext cx="4578115" cy="432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6E127F9-3B1B-33BF-91F7-A9102F0C9EA8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t="683" b="978"/>
          <a:stretch/>
        </p:blipFill>
        <p:spPr>
          <a:xfrm>
            <a:off x="25958527" y="24752131"/>
            <a:ext cx="4618835" cy="432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CCA06A3-C388-9787-2B99-2ED168EF88BD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976"/>
          <a:stretch/>
        </p:blipFill>
        <p:spPr>
          <a:xfrm>
            <a:off x="21676441" y="24810574"/>
            <a:ext cx="4240666" cy="4320000"/>
          </a:xfrm>
          <a:prstGeom prst="rect">
            <a:avLst/>
          </a:prstGeom>
        </p:spPr>
      </p:pic>
      <p:grpSp>
        <p:nvGrpSpPr>
          <p:cNvPr id="1337" name="그룹 1336">
            <a:extLst>
              <a:ext uri="{FF2B5EF4-FFF2-40B4-BE49-F238E27FC236}">
                <a16:creationId xmlns:a16="http://schemas.microsoft.com/office/drawing/2014/main" id="{5D8D685B-1FEB-F97A-8889-0DE43A1ECE50}"/>
              </a:ext>
            </a:extLst>
          </p:cNvPr>
          <p:cNvGrpSpPr/>
          <p:nvPr/>
        </p:nvGrpSpPr>
        <p:grpSpPr>
          <a:xfrm>
            <a:off x="17643371" y="24041325"/>
            <a:ext cx="12979292" cy="4790721"/>
            <a:chOff x="3967809" y="22256425"/>
            <a:chExt cx="12979292" cy="4790721"/>
          </a:xfrm>
        </p:grpSpPr>
        <p:grpSp>
          <p:nvGrpSpPr>
            <p:cNvPr id="1298" name="그룹 1297">
              <a:extLst>
                <a:ext uri="{FF2B5EF4-FFF2-40B4-BE49-F238E27FC236}">
                  <a16:creationId xmlns:a16="http://schemas.microsoft.com/office/drawing/2014/main" id="{C94F33E2-79C5-3E86-D446-F34FB05D6C10}"/>
                </a:ext>
              </a:extLst>
            </p:cNvPr>
            <p:cNvGrpSpPr/>
            <p:nvPr/>
          </p:nvGrpSpPr>
          <p:grpSpPr>
            <a:xfrm>
              <a:off x="12891585" y="22256425"/>
              <a:ext cx="4055516" cy="4062882"/>
              <a:chOff x="26510533" y="18647286"/>
              <a:chExt cx="4055516" cy="4062882"/>
            </a:xfrm>
          </p:grpSpPr>
          <p:sp>
            <p:nvSpPr>
              <p:cNvPr id="1299" name="TextBox 1298">
                <a:extLst>
                  <a:ext uri="{FF2B5EF4-FFF2-40B4-BE49-F238E27FC236}">
                    <a16:creationId xmlns:a16="http://schemas.microsoft.com/office/drawing/2014/main" id="{7290111D-6FA0-9451-897F-FA761D2FA378}"/>
                  </a:ext>
                </a:extLst>
              </p:cNvPr>
              <p:cNvSpPr txBox="1"/>
              <p:nvPr/>
            </p:nvSpPr>
            <p:spPr>
              <a:xfrm>
                <a:off x="26510533" y="18647286"/>
                <a:ext cx="4055516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i="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Correlation coefficient between pitch and BOLD signal</a:t>
                </a:r>
              </a:p>
            </p:txBody>
          </p:sp>
          <p:sp>
            <p:nvSpPr>
              <p:cNvPr id="1301" name="TextBox 1300">
                <a:extLst>
                  <a:ext uri="{FF2B5EF4-FFF2-40B4-BE49-F238E27FC236}">
                    <a16:creationId xmlns:a16="http://schemas.microsoft.com/office/drawing/2014/main" id="{B69B7DE0-CB73-1310-5B3F-5ED2C1E0D383}"/>
                  </a:ext>
                </a:extLst>
              </p:cNvPr>
              <p:cNvSpPr txBox="1"/>
              <p:nvPr/>
            </p:nvSpPr>
            <p:spPr>
              <a:xfrm>
                <a:off x="27323316" y="22310058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</a:t>
                </a:r>
                <a:endParaRPr lang="ko-KR" altLang="en-US" sz="2000" dirty="0"/>
              </a:p>
            </p:txBody>
          </p:sp>
          <p:cxnSp>
            <p:nvCxnSpPr>
              <p:cNvPr id="1302" name="직선 연결선 164">
                <a:extLst>
                  <a:ext uri="{FF2B5EF4-FFF2-40B4-BE49-F238E27FC236}">
                    <a16:creationId xmlns:a16="http://schemas.microsoft.com/office/drawing/2014/main" id="{D4A9E07F-3F68-7693-CC6E-82D747A59B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4495" y="19975731"/>
                <a:ext cx="118493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3" name="직선 연결선 166">
                <a:extLst>
                  <a:ext uri="{FF2B5EF4-FFF2-40B4-BE49-F238E27FC236}">
                    <a16:creationId xmlns:a16="http://schemas.microsoft.com/office/drawing/2014/main" id="{032D11C1-5974-9194-EE10-D0EAE23310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706864" y="19965872"/>
                <a:ext cx="0" cy="35247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4" name="직선 연결선 178">
                <a:extLst>
                  <a:ext uri="{FF2B5EF4-FFF2-40B4-BE49-F238E27FC236}">
                    <a16:creationId xmlns:a16="http://schemas.microsoft.com/office/drawing/2014/main" id="{A1A1ECE7-2F86-96F3-9451-06D011A75D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24495" y="19965872"/>
                <a:ext cx="0" cy="35247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5" name="TextBox 1304">
                <a:extLst>
                  <a:ext uri="{FF2B5EF4-FFF2-40B4-BE49-F238E27FC236}">
                    <a16:creationId xmlns:a16="http://schemas.microsoft.com/office/drawing/2014/main" id="{5D5A3602-FB27-B759-8D1B-8CB2092080FB}"/>
                  </a:ext>
                </a:extLst>
              </p:cNvPr>
              <p:cNvSpPr txBox="1"/>
              <p:nvPr/>
            </p:nvSpPr>
            <p:spPr>
              <a:xfrm flipH="1">
                <a:off x="27847507" y="19681239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***</a:t>
                </a:r>
                <a:endParaRPr lang="ko-KR" altLang="en-US" sz="2000" dirty="0"/>
              </a:p>
            </p:txBody>
          </p:sp>
        </p:grpSp>
        <p:grpSp>
          <p:nvGrpSpPr>
            <p:cNvPr id="1306" name="그룹 1305">
              <a:extLst>
                <a:ext uri="{FF2B5EF4-FFF2-40B4-BE49-F238E27FC236}">
                  <a16:creationId xmlns:a16="http://schemas.microsoft.com/office/drawing/2014/main" id="{7E00A7F5-2E70-635E-5CB9-2C852E3D5212}"/>
                </a:ext>
              </a:extLst>
            </p:cNvPr>
            <p:cNvGrpSpPr/>
            <p:nvPr/>
          </p:nvGrpSpPr>
          <p:grpSpPr>
            <a:xfrm>
              <a:off x="8306655" y="22303302"/>
              <a:ext cx="4055516" cy="3347333"/>
              <a:chOff x="22097053" y="18694163"/>
              <a:chExt cx="4055516" cy="3347333"/>
            </a:xfrm>
          </p:grpSpPr>
          <p:grpSp>
            <p:nvGrpSpPr>
              <p:cNvPr id="1307" name="그룹 1306">
                <a:extLst>
                  <a:ext uri="{FF2B5EF4-FFF2-40B4-BE49-F238E27FC236}">
                    <a16:creationId xmlns:a16="http://schemas.microsoft.com/office/drawing/2014/main" id="{22A2FAFC-B12C-9EBF-05D8-67A8A0AD91C5}"/>
                  </a:ext>
                </a:extLst>
              </p:cNvPr>
              <p:cNvGrpSpPr/>
              <p:nvPr/>
            </p:nvGrpSpPr>
            <p:grpSpPr>
              <a:xfrm>
                <a:off x="22848773" y="19520632"/>
                <a:ext cx="2892581" cy="2520864"/>
                <a:chOff x="22848773" y="19520632"/>
                <a:chExt cx="2892581" cy="2520864"/>
              </a:xfrm>
            </p:grpSpPr>
            <p:sp>
              <p:nvSpPr>
                <p:cNvPr id="1310" name="TextBox 1309">
                  <a:extLst>
                    <a:ext uri="{FF2B5EF4-FFF2-40B4-BE49-F238E27FC236}">
                      <a16:creationId xmlns:a16="http://schemas.microsoft.com/office/drawing/2014/main" id="{B62B5E1E-E040-DFE7-3B3F-6DF458EA3004}"/>
                    </a:ext>
                  </a:extLst>
                </p:cNvPr>
                <p:cNvSpPr txBox="1"/>
                <p:nvPr/>
              </p:nvSpPr>
              <p:spPr>
                <a:xfrm>
                  <a:off x="22848773" y="20353276"/>
                  <a:ext cx="609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/>
                    <a:t>***</a:t>
                  </a:r>
                  <a:endParaRPr lang="ko-KR" altLang="en-US" sz="2000" dirty="0"/>
                </a:p>
              </p:txBody>
            </p:sp>
            <p:sp>
              <p:nvSpPr>
                <p:cNvPr id="1311" name="TextBox 1310">
                  <a:extLst>
                    <a:ext uri="{FF2B5EF4-FFF2-40B4-BE49-F238E27FC236}">
                      <a16:creationId xmlns:a16="http://schemas.microsoft.com/office/drawing/2014/main" id="{9122C989-4793-4CD8-D52B-86C18FD10D82}"/>
                    </a:ext>
                  </a:extLst>
                </p:cNvPr>
                <p:cNvSpPr txBox="1"/>
                <p:nvPr/>
              </p:nvSpPr>
              <p:spPr>
                <a:xfrm>
                  <a:off x="24046313" y="21641386"/>
                  <a:ext cx="609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/>
                    <a:t>**</a:t>
                  </a:r>
                  <a:endParaRPr lang="ko-KR" altLang="en-US" sz="2000" dirty="0"/>
                </a:p>
              </p:txBody>
            </p:sp>
            <p:sp>
              <p:nvSpPr>
                <p:cNvPr id="1312" name="TextBox 1311">
                  <a:extLst>
                    <a:ext uri="{FF2B5EF4-FFF2-40B4-BE49-F238E27FC236}">
                      <a16:creationId xmlns:a16="http://schemas.microsoft.com/office/drawing/2014/main" id="{8401119E-7530-3B5E-89C4-20604F0D23D6}"/>
                    </a:ext>
                  </a:extLst>
                </p:cNvPr>
                <p:cNvSpPr txBox="1"/>
                <p:nvPr/>
              </p:nvSpPr>
              <p:spPr>
                <a:xfrm>
                  <a:off x="25131754" y="20033554"/>
                  <a:ext cx="609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/>
                    <a:t>***</a:t>
                  </a:r>
                  <a:endParaRPr lang="ko-KR" altLang="en-US" sz="2000" dirty="0"/>
                </a:p>
              </p:txBody>
            </p:sp>
            <p:cxnSp>
              <p:nvCxnSpPr>
                <p:cNvPr id="1313" name="직선 연결선 133">
                  <a:extLst>
                    <a:ext uri="{FF2B5EF4-FFF2-40B4-BE49-F238E27FC236}">
                      <a16:creationId xmlns:a16="http://schemas.microsoft.com/office/drawing/2014/main" id="{9EC57B81-54B1-02B7-EBCE-37B3EC23D2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933092" y="20336356"/>
                  <a:ext cx="32327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4" name="직선 연결선 143">
                  <a:extLst>
                    <a:ext uri="{FF2B5EF4-FFF2-40B4-BE49-F238E27FC236}">
                      <a16:creationId xmlns:a16="http://schemas.microsoft.com/office/drawing/2014/main" id="{2256300C-D04D-3201-3202-AFFB4AA68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70267" y="21668127"/>
                  <a:ext cx="32327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5" name="직선 연결선 146">
                  <a:extLst>
                    <a:ext uri="{FF2B5EF4-FFF2-40B4-BE49-F238E27FC236}">
                      <a16:creationId xmlns:a16="http://schemas.microsoft.com/office/drawing/2014/main" id="{4AD3A76C-F72F-0D23-82A9-EC6A63B3B3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090111" y="19815124"/>
                  <a:ext cx="0" cy="51326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6" name="직선 연결선 149">
                  <a:extLst>
                    <a:ext uri="{FF2B5EF4-FFF2-40B4-BE49-F238E27FC236}">
                      <a16:creationId xmlns:a16="http://schemas.microsoft.com/office/drawing/2014/main" id="{9963D242-8049-572D-D069-D04E00D5A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246824" y="19815124"/>
                  <a:ext cx="0" cy="186140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7" name="직선 연결선 151">
                  <a:extLst>
                    <a:ext uri="{FF2B5EF4-FFF2-40B4-BE49-F238E27FC236}">
                      <a16:creationId xmlns:a16="http://schemas.microsoft.com/office/drawing/2014/main" id="{6B6F1E33-221D-70E0-1DF3-4D4FED2F1D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101785" y="19829513"/>
                  <a:ext cx="115372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8" name="TextBox 1317">
                  <a:extLst>
                    <a:ext uri="{FF2B5EF4-FFF2-40B4-BE49-F238E27FC236}">
                      <a16:creationId xmlns:a16="http://schemas.microsoft.com/office/drawing/2014/main" id="{5F07BB37-5E49-B2BA-3EA1-6EC675D52630}"/>
                    </a:ext>
                  </a:extLst>
                </p:cNvPr>
                <p:cNvSpPr txBox="1"/>
                <p:nvPr/>
              </p:nvSpPr>
              <p:spPr>
                <a:xfrm>
                  <a:off x="23437104" y="19520632"/>
                  <a:ext cx="609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/>
                    <a:t>***</a:t>
                  </a:r>
                  <a:endParaRPr lang="ko-KR" altLang="en-US" sz="2000" dirty="0"/>
                </a:p>
              </p:txBody>
            </p:sp>
          </p:grpSp>
          <p:sp>
            <p:nvSpPr>
              <p:cNvPr id="1308" name="TextBox 1307">
                <a:extLst>
                  <a:ext uri="{FF2B5EF4-FFF2-40B4-BE49-F238E27FC236}">
                    <a16:creationId xmlns:a16="http://schemas.microsoft.com/office/drawing/2014/main" id="{FA01B277-0895-2EB3-D1AF-2F0406D9EDBE}"/>
                  </a:ext>
                </a:extLst>
              </p:cNvPr>
              <p:cNvSpPr txBox="1"/>
              <p:nvPr/>
            </p:nvSpPr>
            <p:spPr>
              <a:xfrm>
                <a:off x="22097053" y="18694163"/>
                <a:ext cx="4055516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i="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Correlation coefficient between intensity and BOLD signal</a:t>
                </a:r>
              </a:p>
            </p:txBody>
          </p:sp>
        </p:grpSp>
        <p:grpSp>
          <p:nvGrpSpPr>
            <p:cNvPr id="1319" name="그룹 1318">
              <a:extLst>
                <a:ext uri="{FF2B5EF4-FFF2-40B4-BE49-F238E27FC236}">
                  <a16:creationId xmlns:a16="http://schemas.microsoft.com/office/drawing/2014/main" id="{5C7A80AE-FD4A-7635-6258-3F6DB74F46CC}"/>
                </a:ext>
              </a:extLst>
            </p:cNvPr>
            <p:cNvGrpSpPr/>
            <p:nvPr/>
          </p:nvGrpSpPr>
          <p:grpSpPr>
            <a:xfrm>
              <a:off x="3967809" y="22256425"/>
              <a:ext cx="4055516" cy="4790721"/>
              <a:chOff x="17758207" y="18647286"/>
              <a:chExt cx="4055516" cy="4790721"/>
            </a:xfrm>
          </p:grpSpPr>
          <p:sp>
            <p:nvSpPr>
              <p:cNvPr id="1321" name="TextBox 1320">
                <a:extLst>
                  <a:ext uri="{FF2B5EF4-FFF2-40B4-BE49-F238E27FC236}">
                    <a16:creationId xmlns:a16="http://schemas.microsoft.com/office/drawing/2014/main" id="{27A34441-5374-7703-C763-351C77FFF16B}"/>
                  </a:ext>
                </a:extLst>
              </p:cNvPr>
              <p:cNvSpPr txBox="1"/>
              <p:nvPr/>
            </p:nvSpPr>
            <p:spPr>
              <a:xfrm>
                <a:off x="18084799" y="20316036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***</a:t>
                </a:r>
                <a:endParaRPr lang="ko-KR" altLang="en-US" sz="2000" dirty="0"/>
              </a:p>
            </p:txBody>
          </p:sp>
          <p:sp>
            <p:nvSpPr>
              <p:cNvPr id="1322" name="TextBox 1321">
                <a:extLst>
                  <a:ext uri="{FF2B5EF4-FFF2-40B4-BE49-F238E27FC236}">
                    <a16:creationId xmlns:a16="http://schemas.microsoft.com/office/drawing/2014/main" id="{2BE2C941-EF1E-4781-16CD-EED45D4F66A5}"/>
                  </a:ext>
                </a:extLst>
              </p:cNvPr>
              <p:cNvSpPr txBox="1"/>
              <p:nvPr/>
            </p:nvSpPr>
            <p:spPr>
              <a:xfrm>
                <a:off x="19015216" y="21298426"/>
                <a:ext cx="3996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</a:t>
                </a:r>
                <a:endParaRPr lang="ko-KR" altLang="en-US" sz="2000" dirty="0"/>
              </a:p>
            </p:txBody>
          </p:sp>
          <p:sp>
            <p:nvSpPr>
              <p:cNvPr id="1323" name="TextBox 1322">
                <a:extLst>
                  <a:ext uri="{FF2B5EF4-FFF2-40B4-BE49-F238E27FC236}">
                    <a16:creationId xmlns:a16="http://schemas.microsoft.com/office/drawing/2014/main" id="{241761DD-FC33-A05B-1B58-40012E7A18C0}"/>
                  </a:ext>
                </a:extLst>
              </p:cNvPr>
              <p:cNvSpPr txBox="1"/>
              <p:nvPr/>
            </p:nvSpPr>
            <p:spPr>
              <a:xfrm>
                <a:off x="19872772" y="20457679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***</a:t>
                </a:r>
                <a:endParaRPr lang="ko-KR" altLang="en-US" sz="2000" dirty="0"/>
              </a:p>
            </p:txBody>
          </p:sp>
          <p:sp>
            <p:nvSpPr>
              <p:cNvPr id="1324" name="TextBox 1323">
                <a:extLst>
                  <a:ext uri="{FF2B5EF4-FFF2-40B4-BE49-F238E27FC236}">
                    <a16:creationId xmlns:a16="http://schemas.microsoft.com/office/drawing/2014/main" id="{2C45A8E4-D4E4-B011-482D-7005EC4B93F0}"/>
                  </a:ext>
                </a:extLst>
              </p:cNvPr>
              <p:cNvSpPr txBox="1"/>
              <p:nvPr/>
            </p:nvSpPr>
            <p:spPr>
              <a:xfrm>
                <a:off x="20780371" y="23037897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***</a:t>
                </a:r>
                <a:endParaRPr lang="ko-KR" altLang="en-US" sz="2000" dirty="0"/>
              </a:p>
            </p:txBody>
          </p:sp>
          <p:cxnSp>
            <p:nvCxnSpPr>
              <p:cNvPr id="1325" name="직선 연결선 157">
                <a:extLst>
                  <a:ext uri="{FF2B5EF4-FFF2-40B4-BE49-F238E27FC236}">
                    <a16:creationId xmlns:a16="http://schemas.microsoft.com/office/drawing/2014/main" id="{84A9837C-C272-28B3-69A4-FEEB6428AD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67928" y="20214891"/>
                <a:ext cx="3232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6" name="직선 연결선 158">
                <a:extLst>
                  <a:ext uri="{FF2B5EF4-FFF2-40B4-BE49-F238E27FC236}">
                    <a16:creationId xmlns:a16="http://schemas.microsoft.com/office/drawing/2014/main" id="{5D89E2B3-4DD1-1BD8-D70A-487CB748AB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3390" y="21298426"/>
                <a:ext cx="3232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7" name="직선 연결선 159">
                <a:extLst>
                  <a:ext uri="{FF2B5EF4-FFF2-40B4-BE49-F238E27FC236}">
                    <a16:creationId xmlns:a16="http://schemas.microsoft.com/office/drawing/2014/main" id="{A7BAD495-3A2D-67FE-3F7C-739D857E55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324947" y="19693659"/>
                <a:ext cx="0" cy="5132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8" name="직선 연결선 160">
                <a:extLst>
                  <a:ext uri="{FF2B5EF4-FFF2-40B4-BE49-F238E27FC236}">
                    <a16:creationId xmlns:a16="http://schemas.microsoft.com/office/drawing/2014/main" id="{E165682B-7913-3001-EF02-D917A05E94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209181" y="19693659"/>
                <a:ext cx="0" cy="16047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직선 연결선 161">
                <a:extLst>
                  <a:ext uri="{FF2B5EF4-FFF2-40B4-BE49-F238E27FC236}">
                    <a16:creationId xmlns:a16="http://schemas.microsoft.com/office/drawing/2014/main" id="{3D50BED6-7FE8-82B9-68A4-D73D2DC5E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324947" y="19704120"/>
                <a:ext cx="88423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0" name="TextBox 1329">
                <a:extLst>
                  <a:ext uri="{FF2B5EF4-FFF2-40B4-BE49-F238E27FC236}">
                    <a16:creationId xmlns:a16="http://schemas.microsoft.com/office/drawing/2014/main" id="{77BBD51F-BFA1-E575-8C2D-236982A01F87}"/>
                  </a:ext>
                </a:extLst>
              </p:cNvPr>
              <p:cNvSpPr txBox="1"/>
              <p:nvPr/>
            </p:nvSpPr>
            <p:spPr>
              <a:xfrm>
                <a:off x="18523670" y="19429403"/>
                <a:ext cx="609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/>
                  <a:t>***</a:t>
                </a:r>
                <a:endParaRPr lang="ko-KR" altLang="en-US" sz="2000" dirty="0"/>
              </a:p>
            </p:txBody>
          </p:sp>
          <p:sp>
            <p:nvSpPr>
              <p:cNvPr id="1331" name="TextBox 1330">
                <a:extLst>
                  <a:ext uri="{FF2B5EF4-FFF2-40B4-BE49-F238E27FC236}">
                    <a16:creationId xmlns:a16="http://schemas.microsoft.com/office/drawing/2014/main" id="{C7D2E641-5F2D-FC03-F6BB-D914772BB70B}"/>
                  </a:ext>
                </a:extLst>
              </p:cNvPr>
              <p:cNvSpPr txBox="1"/>
              <p:nvPr/>
            </p:nvSpPr>
            <p:spPr>
              <a:xfrm>
                <a:off x="17758207" y="18647286"/>
                <a:ext cx="4055516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b="1" i="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Correlation coefficient between length and BOLD signal</a:t>
                </a:r>
              </a:p>
            </p:txBody>
          </p:sp>
        </p:grpSp>
      </p:grpSp>
      <p:sp>
        <p:nvSpPr>
          <p:cNvPr id="1348" name="TextBox 1347">
            <a:extLst>
              <a:ext uri="{FF2B5EF4-FFF2-40B4-BE49-F238E27FC236}">
                <a16:creationId xmlns:a16="http://schemas.microsoft.com/office/drawing/2014/main" id="{DBF11678-E96E-9516-0EDB-639860EA87A6}"/>
              </a:ext>
            </a:extLst>
          </p:cNvPr>
          <p:cNvSpPr txBox="1"/>
          <p:nvPr/>
        </p:nvSpPr>
        <p:spPr>
          <a:xfrm>
            <a:off x="7411639" y="21422147"/>
            <a:ext cx="253368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latinLnBrk="1">
              <a:buClrTx/>
              <a:defRPr/>
            </a:pPr>
            <a:r>
              <a:rPr lang="en-US" altLang="ko-KR" sz="2800" kern="1200" dirty="0">
                <a:solidFill>
                  <a:sysClr val="windowText" lastClr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Clip</a:t>
            </a:r>
          </a:p>
        </p:txBody>
      </p:sp>
      <p:sp>
        <p:nvSpPr>
          <p:cNvPr id="1351" name="TextBox 1350">
            <a:extLst>
              <a:ext uri="{FF2B5EF4-FFF2-40B4-BE49-F238E27FC236}">
                <a16:creationId xmlns:a16="http://schemas.microsoft.com/office/drawing/2014/main" id="{2AFCED34-A024-836F-157F-CEBFECF8A0CA}"/>
              </a:ext>
            </a:extLst>
          </p:cNvPr>
          <p:cNvSpPr txBox="1"/>
          <p:nvPr/>
        </p:nvSpPr>
        <p:spPr>
          <a:xfrm>
            <a:off x="1893375" y="21101921"/>
            <a:ext cx="2568103" cy="56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>
                <a:latin typeface="+mn-lt"/>
              </a:rPr>
              <a:t>Experiment</a:t>
            </a:r>
          </a:p>
        </p:txBody>
      </p:sp>
      <p:sp>
        <p:nvSpPr>
          <p:cNvPr id="1360" name="TextBox 1359">
            <a:extLst>
              <a:ext uri="{FF2B5EF4-FFF2-40B4-BE49-F238E27FC236}">
                <a16:creationId xmlns:a16="http://schemas.microsoft.com/office/drawing/2014/main" id="{503FBF8C-7CE7-ABC5-9616-73F6DD077DDD}"/>
              </a:ext>
            </a:extLst>
          </p:cNvPr>
          <p:cNvSpPr txBox="1"/>
          <p:nvPr/>
        </p:nvSpPr>
        <p:spPr>
          <a:xfrm>
            <a:off x="1620966" y="23565325"/>
            <a:ext cx="3678826" cy="56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b="1" dirty="0">
                <a:latin typeface="+mn-lt"/>
              </a:rPr>
              <a:t>Data extraction</a:t>
            </a:r>
          </a:p>
        </p:txBody>
      </p:sp>
      <p:sp>
        <p:nvSpPr>
          <p:cNvPr id="1367" name="직사각형 1366">
            <a:extLst>
              <a:ext uri="{FF2B5EF4-FFF2-40B4-BE49-F238E27FC236}">
                <a16:creationId xmlns:a16="http://schemas.microsoft.com/office/drawing/2014/main" id="{6F35C3C7-8F44-0E5F-9212-D2F2773010C0}"/>
              </a:ext>
            </a:extLst>
          </p:cNvPr>
          <p:cNvSpPr/>
          <p:nvPr/>
        </p:nvSpPr>
        <p:spPr>
          <a:xfrm rot="5400000">
            <a:off x="6748674" y="25343798"/>
            <a:ext cx="3835387" cy="1080000"/>
          </a:xfrm>
          <a:prstGeom prst="rect">
            <a:avLst/>
          </a:prstGeom>
          <a:solidFill>
            <a:srgbClr val="C1E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8" name="TextBox 1367">
            <a:extLst>
              <a:ext uri="{FF2B5EF4-FFF2-40B4-BE49-F238E27FC236}">
                <a16:creationId xmlns:a16="http://schemas.microsoft.com/office/drawing/2014/main" id="{26B5527F-6526-D55F-A989-0C87DEAEA3AB}"/>
              </a:ext>
            </a:extLst>
          </p:cNvPr>
          <p:cNvSpPr txBox="1"/>
          <p:nvPr/>
        </p:nvSpPr>
        <p:spPr>
          <a:xfrm>
            <a:off x="9634236" y="25291591"/>
            <a:ext cx="1770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12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Filtering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370" name="TextBox 1369">
            <a:extLst>
              <a:ext uri="{FF2B5EF4-FFF2-40B4-BE49-F238E27FC236}">
                <a16:creationId xmlns:a16="http://schemas.microsoft.com/office/drawing/2014/main" id="{84956682-7926-8676-B1A7-5F92FC02EC4E}"/>
              </a:ext>
            </a:extLst>
          </p:cNvPr>
          <p:cNvSpPr txBox="1"/>
          <p:nvPr/>
        </p:nvSpPr>
        <p:spPr>
          <a:xfrm>
            <a:off x="9336191" y="26910480"/>
            <a:ext cx="2407171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kern="12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Merging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cxnSp>
        <p:nvCxnSpPr>
          <p:cNvPr id="1373" name="직선 연결선 1372">
            <a:extLst>
              <a:ext uri="{FF2B5EF4-FFF2-40B4-BE49-F238E27FC236}">
                <a16:creationId xmlns:a16="http://schemas.microsoft.com/office/drawing/2014/main" id="{5D815D84-CCDF-8EFF-196B-DB8661AF0C4E}"/>
              </a:ext>
            </a:extLst>
          </p:cNvPr>
          <p:cNvCxnSpPr>
            <a:cxnSpLocks/>
          </p:cNvCxnSpPr>
          <p:nvPr/>
        </p:nvCxnSpPr>
        <p:spPr>
          <a:xfrm flipV="1">
            <a:off x="7253539" y="23390798"/>
            <a:ext cx="357842" cy="717964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853E0348-5179-6297-E77B-C380057A908F}"/>
              </a:ext>
            </a:extLst>
          </p:cNvPr>
          <p:cNvGrpSpPr/>
          <p:nvPr/>
        </p:nvGrpSpPr>
        <p:grpSpPr>
          <a:xfrm>
            <a:off x="303836" y="17040430"/>
            <a:ext cx="1000620" cy="1838143"/>
            <a:chOff x="4221292" y="22284694"/>
            <a:chExt cx="1136984" cy="1838143"/>
          </a:xfrm>
        </p:grpSpPr>
        <p:sp>
          <p:nvSpPr>
            <p:cNvPr id="1401" name="직각 삼각형 1400">
              <a:extLst>
                <a:ext uri="{FF2B5EF4-FFF2-40B4-BE49-F238E27FC236}">
                  <a16:creationId xmlns:a16="http://schemas.microsoft.com/office/drawing/2014/main" id="{F3C91D2A-B27C-1E48-38F2-337E36AD73AE}"/>
                </a:ext>
              </a:extLst>
            </p:cNvPr>
            <p:cNvSpPr/>
            <p:nvPr/>
          </p:nvSpPr>
          <p:spPr>
            <a:xfrm rot="16200000">
              <a:off x="4324376" y="22197342"/>
              <a:ext cx="946548" cy="1121252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02" name="직각 삼각형 1401">
              <a:extLst>
                <a:ext uri="{FF2B5EF4-FFF2-40B4-BE49-F238E27FC236}">
                  <a16:creationId xmlns:a16="http://schemas.microsoft.com/office/drawing/2014/main" id="{7A6FED84-5E98-BBBE-F145-DA4F6BACA9ED}"/>
                </a:ext>
              </a:extLst>
            </p:cNvPr>
            <p:cNvSpPr/>
            <p:nvPr/>
          </p:nvSpPr>
          <p:spPr>
            <a:xfrm rot="16200000" flipH="1" flipV="1">
              <a:off x="4416728" y="23189704"/>
              <a:ext cx="746505" cy="1119762"/>
            </a:xfrm>
            <a:custGeom>
              <a:avLst/>
              <a:gdLst>
                <a:gd name="connsiteX0" fmla="*/ 0 w 625635"/>
                <a:gd name="connsiteY0" fmla="*/ 1943976 h 1943976"/>
                <a:gd name="connsiteX1" fmla="*/ 0 w 625635"/>
                <a:gd name="connsiteY1" fmla="*/ 0 h 1943976"/>
                <a:gd name="connsiteX2" fmla="*/ 625635 w 625635"/>
                <a:gd name="connsiteY2" fmla="*/ 1943976 h 1943976"/>
                <a:gd name="connsiteX3" fmla="*/ 0 w 625635"/>
                <a:gd name="connsiteY3" fmla="*/ 1943976 h 1943976"/>
                <a:gd name="connsiteX0" fmla="*/ 35558 w 661193"/>
                <a:gd name="connsiteY0" fmla="*/ 999096 h 999096"/>
                <a:gd name="connsiteX1" fmla="*/ 0 w 661193"/>
                <a:gd name="connsiteY1" fmla="*/ 0 h 999096"/>
                <a:gd name="connsiteX2" fmla="*/ 661193 w 661193"/>
                <a:gd name="connsiteY2" fmla="*/ 999096 h 999096"/>
                <a:gd name="connsiteX3" fmla="*/ 35558 w 661193"/>
                <a:gd name="connsiteY3" fmla="*/ 999096 h 99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1193" h="999096">
                  <a:moveTo>
                    <a:pt x="35558" y="999096"/>
                  </a:moveTo>
                  <a:lnTo>
                    <a:pt x="0" y="0"/>
                  </a:lnTo>
                  <a:lnTo>
                    <a:pt x="661193" y="999096"/>
                  </a:lnTo>
                  <a:lnTo>
                    <a:pt x="35558" y="99909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07" name="직각 삼각형 1401">
              <a:extLst>
                <a:ext uri="{FF2B5EF4-FFF2-40B4-BE49-F238E27FC236}">
                  <a16:creationId xmlns:a16="http://schemas.microsoft.com/office/drawing/2014/main" id="{C5506381-ADDF-0105-C8CD-0985E258AA68}"/>
                </a:ext>
              </a:extLst>
            </p:cNvPr>
            <p:cNvSpPr/>
            <p:nvPr/>
          </p:nvSpPr>
          <p:spPr>
            <a:xfrm rot="16200000" flipH="1" flipV="1">
              <a:off x="4549059" y="22910348"/>
              <a:ext cx="437196" cy="1092729"/>
            </a:xfrm>
            <a:custGeom>
              <a:avLst/>
              <a:gdLst>
                <a:gd name="connsiteX0" fmla="*/ 0 w 625635"/>
                <a:gd name="connsiteY0" fmla="*/ 1943976 h 1943976"/>
                <a:gd name="connsiteX1" fmla="*/ 0 w 625635"/>
                <a:gd name="connsiteY1" fmla="*/ 0 h 1943976"/>
                <a:gd name="connsiteX2" fmla="*/ 625635 w 625635"/>
                <a:gd name="connsiteY2" fmla="*/ 1943976 h 1943976"/>
                <a:gd name="connsiteX3" fmla="*/ 0 w 625635"/>
                <a:gd name="connsiteY3" fmla="*/ 1943976 h 1943976"/>
                <a:gd name="connsiteX0" fmla="*/ 35558 w 661193"/>
                <a:gd name="connsiteY0" fmla="*/ 999096 h 999096"/>
                <a:gd name="connsiteX1" fmla="*/ 0 w 661193"/>
                <a:gd name="connsiteY1" fmla="*/ 0 h 999096"/>
                <a:gd name="connsiteX2" fmla="*/ 661193 w 661193"/>
                <a:gd name="connsiteY2" fmla="*/ 999096 h 999096"/>
                <a:gd name="connsiteX3" fmla="*/ 35558 w 661193"/>
                <a:gd name="connsiteY3" fmla="*/ 999096 h 99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1193" h="999096">
                  <a:moveTo>
                    <a:pt x="35558" y="999096"/>
                  </a:moveTo>
                  <a:lnTo>
                    <a:pt x="0" y="0"/>
                  </a:lnTo>
                  <a:lnTo>
                    <a:pt x="661193" y="999096"/>
                  </a:lnTo>
                  <a:lnTo>
                    <a:pt x="35558" y="99909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4C74E93E-8C21-D56A-E00B-8BBF917D8E44}"/>
              </a:ext>
            </a:extLst>
          </p:cNvPr>
          <p:cNvSpPr txBox="1"/>
          <p:nvPr/>
        </p:nvSpPr>
        <p:spPr>
          <a:xfrm>
            <a:off x="9604073" y="24225153"/>
            <a:ext cx="1770278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0" i="0" dirty="0">
                <a:solidFill>
                  <a:srgbClr val="000000"/>
                </a:solidFill>
                <a:effectLst/>
                <a:latin typeface="noto"/>
              </a:rPr>
              <a:t> 135 lines </a:t>
            </a:r>
          </a:p>
          <a:p>
            <a:pPr algn="ctr"/>
            <a:r>
              <a:rPr kumimoji="0" lang="en-US" altLang="ko-KR" sz="240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noto"/>
                <a:ea typeface="맑은 고딕" panose="020B0503020000020004" pitchFamily="50" charset="-127"/>
                <a:cs typeface="Calibri" panose="020F0502020204030204" pitchFamily="34" charset="0"/>
              </a:rPr>
              <a:t>(63 </a:t>
            </a:r>
            <a:r>
              <a:rPr lang="en-US" altLang="ko-KR" sz="2400" kern="1200" dirty="0">
                <a:latin typeface="noto"/>
                <a:ea typeface="맑은 고딕" panose="020B0503020000020004" pitchFamily="50" charset="-127"/>
                <a:cs typeface="Calibri" panose="020F0502020204030204" pitchFamily="34" charset="0"/>
              </a:rPr>
              <a:t>clips)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3D28A79-9C15-6340-1894-A39644FE6F20}"/>
              </a:ext>
            </a:extLst>
          </p:cNvPr>
          <p:cNvSpPr txBox="1"/>
          <p:nvPr/>
        </p:nvSpPr>
        <p:spPr>
          <a:xfrm>
            <a:off x="9450992" y="25789244"/>
            <a:ext cx="207644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kern="12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11 lines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kern="12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(9 clips)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grpSp>
        <p:nvGrpSpPr>
          <p:cNvPr id="1053" name="그룹 1052">
            <a:extLst>
              <a:ext uri="{FF2B5EF4-FFF2-40B4-BE49-F238E27FC236}">
                <a16:creationId xmlns:a16="http://schemas.microsoft.com/office/drawing/2014/main" id="{9441AEB6-4A6F-BEDE-92C3-E78D7626D0D6}"/>
              </a:ext>
            </a:extLst>
          </p:cNvPr>
          <p:cNvGrpSpPr/>
          <p:nvPr/>
        </p:nvGrpSpPr>
        <p:grpSpPr>
          <a:xfrm>
            <a:off x="2127748" y="24277869"/>
            <a:ext cx="6033504" cy="3275142"/>
            <a:chOff x="5360953" y="24453579"/>
            <a:chExt cx="6033504" cy="3275142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B96AA80B-97DC-E325-2D40-D0BA31AF0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t="25061" b="7219"/>
            <a:stretch/>
          </p:blipFill>
          <p:spPr>
            <a:xfrm>
              <a:off x="5435751" y="24453579"/>
              <a:ext cx="3293620" cy="32751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C09E8CE0-21A9-AE2C-2121-98691E98B68E}"/>
                </a:ext>
              </a:extLst>
            </p:cNvPr>
            <p:cNvCxnSpPr>
              <a:cxnSpLocks/>
            </p:cNvCxnSpPr>
            <p:nvPr/>
          </p:nvCxnSpPr>
          <p:spPr>
            <a:xfrm>
              <a:off x="8934451" y="26962742"/>
              <a:ext cx="470722" cy="0"/>
            </a:xfrm>
            <a:prstGeom prst="line">
              <a:avLst/>
            </a:prstGeom>
            <a:ln w="38100">
              <a:solidFill>
                <a:srgbClr val="00BB0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41875C23-D372-1396-A745-8CCC2C43CED6}"/>
                </a:ext>
              </a:extLst>
            </p:cNvPr>
            <p:cNvCxnSpPr>
              <a:cxnSpLocks/>
            </p:cNvCxnSpPr>
            <p:nvPr/>
          </p:nvCxnSpPr>
          <p:spPr>
            <a:xfrm>
              <a:off x="8870206" y="26020283"/>
              <a:ext cx="470722" cy="0"/>
            </a:xfrm>
            <a:prstGeom prst="line">
              <a:avLst/>
            </a:prstGeom>
            <a:ln w="38100">
              <a:solidFill>
                <a:srgbClr val="007A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0532DE-4949-6DDA-0A8F-70C53AA3E92D}"/>
                </a:ext>
              </a:extLst>
            </p:cNvPr>
            <p:cNvSpPr txBox="1"/>
            <p:nvPr/>
          </p:nvSpPr>
          <p:spPr>
            <a:xfrm>
              <a:off x="8822281" y="27020083"/>
              <a:ext cx="25721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Derived </a:t>
              </a:r>
            </a:p>
            <a:p>
              <a:r>
                <a:rPr lang="en-US" altLang="ko-KR" sz="2000" dirty="0"/>
                <a:t>intensity (dB)</a:t>
              </a:r>
              <a:endParaRPr lang="ko-KR" altLang="en-US" sz="20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9CD589-16E6-8F41-17F4-DA44FAE0B52C}"/>
                </a:ext>
              </a:extLst>
            </p:cNvPr>
            <p:cNvSpPr txBox="1"/>
            <p:nvPr/>
          </p:nvSpPr>
          <p:spPr>
            <a:xfrm>
              <a:off x="8769813" y="26053679"/>
              <a:ext cx="24897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Derived </a:t>
              </a:r>
            </a:p>
            <a:p>
              <a:r>
                <a:rPr lang="en-US" altLang="ko-KR" sz="2000" dirty="0"/>
                <a:t>pitch (Hz)</a:t>
              </a:r>
              <a:endParaRPr lang="ko-KR" altLang="en-US" sz="2000" dirty="0"/>
            </a:p>
          </p:txBody>
        </p: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CF38E391-14A5-2363-431A-40A1A48514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1582" y="25829616"/>
              <a:ext cx="2006918" cy="48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3C42747-03AC-7448-C306-0A134586BA0F}"/>
                </a:ext>
              </a:extLst>
            </p:cNvPr>
            <p:cNvSpPr txBox="1"/>
            <p:nvPr/>
          </p:nvSpPr>
          <p:spPr>
            <a:xfrm>
              <a:off x="6802851" y="25841762"/>
              <a:ext cx="11414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Length</a:t>
              </a:r>
              <a:endParaRPr lang="ko-KR" altLang="en-US" sz="2400" dirty="0"/>
            </a:p>
          </p:txBody>
        </p: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7881CC91-9B8C-CEFC-5B5E-752CCB04C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27999" y="24715359"/>
              <a:ext cx="0" cy="698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C042A3E-C9EB-7460-9E4D-2165748BE66A}"/>
                </a:ext>
              </a:extLst>
            </p:cNvPr>
            <p:cNvSpPr txBox="1"/>
            <p:nvPr/>
          </p:nvSpPr>
          <p:spPr>
            <a:xfrm>
              <a:off x="8890502" y="24867762"/>
              <a:ext cx="11414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Intensity</a:t>
              </a:r>
              <a:endParaRPr lang="ko-KR" altLang="en-US" sz="2400" dirty="0"/>
            </a:p>
          </p:txBody>
        </p:sp>
        <p:cxnSp>
          <p:nvCxnSpPr>
            <p:cNvPr id="1028" name="직선 화살표 연결선 1027">
              <a:extLst>
                <a:ext uri="{FF2B5EF4-FFF2-40B4-BE49-F238E27FC236}">
                  <a16:creationId xmlns:a16="http://schemas.microsoft.com/office/drawing/2014/main" id="{038C5AD6-1C2F-1D7D-0611-E35B6190FD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7566" y="25636667"/>
              <a:ext cx="26971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직선 화살표 연결선 1031">
              <a:extLst>
                <a:ext uri="{FF2B5EF4-FFF2-40B4-BE49-F238E27FC236}">
                  <a16:creationId xmlns:a16="http://schemas.microsoft.com/office/drawing/2014/main" id="{A25F6527-3B3C-A724-DD71-874E44822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8421" y="25636667"/>
              <a:ext cx="26971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7006266D-7B47-DCC6-EDBB-7A3E27276B44}"/>
                </a:ext>
              </a:extLst>
            </p:cNvPr>
            <p:cNvSpPr txBox="1"/>
            <p:nvPr/>
          </p:nvSpPr>
          <p:spPr>
            <a:xfrm>
              <a:off x="5360953" y="25655488"/>
              <a:ext cx="75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Pitch</a:t>
              </a:r>
              <a:endParaRPr lang="ko-KR" altLang="en-US" sz="2400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2B836AD-6AFF-190B-E929-D3B2F225CFCF}"/>
              </a:ext>
            </a:extLst>
          </p:cNvPr>
          <p:cNvGrpSpPr/>
          <p:nvPr/>
        </p:nvGrpSpPr>
        <p:grpSpPr>
          <a:xfrm>
            <a:off x="7775462" y="25315171"/>
            <a:ext cx="1800000" cy="1440000"/>
            <a:chOff x="7407161" y="25152611"/>
            <a:chExt cx="1800000" cy="1440000"/>
          </a:xfrm>
          <a:solidFill>
            <a:schemeClr val="bg1">
              <a:lumMod val="95000"/>
            </a:schemeClr>
          </a:solidFill>
        </p:grpSpPr>
        <p:sp>
          <p:nvSpPr>
            <p:cNvPr id="1364" name="직사각형 1363">
              <a:extLst>
                <a:ext uri="{FF2B5EF4-FFF2-40B4-BE49-F238E27FC236}">
                  <a16:creationId xmlns:a16="http://schemas.microsoft.com/office/drawing/2014/main" id="{EB88A39F-DAFF-3498-1CED-67598DA20507}"/>
                </a:ext>
              </a:extLst>
            </p:cNvPr>
            <p:cNvSpPr/>
            <p:nvPr/>
          </p:nvSpPr>
          <p:spPr>
            <a:xfrm>
              <a:off x="7407161" y="25152611"/>
              <a:ext cx="1800000" cy="1440000"/>
            </a:xfrm>
            <a:prstGeom prst="rect">
              <a:avLst/>
            </a:prstGeom>
            <a:grpFill/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044" name="그림 1043">
              <a:extLst>
                <a:ext uri="{FF2B5EF4-FFF2-40B4-BE49-F238E27FC236}">
                  <a16:creationId xmlns:a16="http://schemas.microsoft.com/office/drawing/2014/main" id="{7BFB52E2-D041-84C1-8EE7-51F59D348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783174" y="25297025"/>
              <a:ext cx="1080000" cy="1080000"/>
            </a:xfrm>
            <a:prstGeom prst="rect">
              <a:avLst/>
            </a:prstGeom>
            <a:grpFill/>
          </p:spPr>
        </p:pic>
      </p:grp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2A1BA00-E924-A6FF-3C89-4665B0DEAF68}"/>
              </a:ext>
            </a:extLst>
          </p:cNvPr>
          <p:cNvSpPr txBox="1"/>
          <p:nvPr/>
        </p:nvSpPr>
        <p:spPr>
          <a:xfrm>
            <a:off x="11748407" y="27160726"/>
            <a:ext cx="2276425" cy="954107"/>
          </a:xfrm>
          <a:prstGeom prst="rect">
            <a:avLst/>
          </a:prstGeom>
          <a:solidFill>
            <a:srgbClr val="C1E5F5"/>
          </a:solidFill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Physical Features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DEEA7B27-7189-FFB1-A422-7A1CD3F8A8E4}"/>
              </a:ext>
            </a:extLst>
          </p:cNvPr>
          <p:cNvSpPr txBox="1"/>
          <p:nvPr/>
        </p:nvSpPr>
        <p:spPr>
          <a:xfrm>
            <a:off x="13330934" y="25225712"/>
            <a:ext cx="2276425" cy="861774"/>
          </a:xfrm>
          <a:prstGeom prst="rect">
            <a:avLst/>
          </a:prstGeom>
          <a:solidFill>
            <a:srgbClr val="C1E5F5"/>
          </a:solidFill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algn="ctr" latinLnBrk="1">
              <a:buClrTx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Primary Auditory Cortex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4B971B-4279-320C-FB5B-1D41EB67DCA6}"/>
              </a:ext>
            </a:extLst>
          </p:cNvPr>
          <p:cNvSpPr txBox="1"/>
          <p:nvPr/>
        </p:nvSpPr>
        <p:spPr>
          <a:xfrm>
            <a:off x="4767901" y="21427207"/>
            <a:ext cx="253368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Instruction</a:t>
            </a:r>
          </a:p>
        </p:txBody>
      </p:sp>
      <p:grpSp>
        <p:nvGrpSpPr>
          <p:cNvPr id="1353" name="그룹 1352">
            <a:extLst>
              <a:ext uri="{FF2B5EF4-FFF2-40B4-BE49-F238E27FC236}">
                <a16:creationId xmlns:a16="http://schemas.microsoft.com/office/drawing/2014/main" id="{801E7579-5585-FB74-25C5-2B3ED427BF4F}"/>
              </a:ext>
            </a:extLst>
          </p:cNvPr>
          <p:cNvGrpSpPr/>
          <p:nvPr/>
        </p:nvGrpSpPr>
        <p:grpSpPr>
          <a:xfrm>
            <a:off x="7776342" y="23734980"/>
            <a:ext cx="1800000" cy="1440000"/>
            <a:chOff x="7776342" y="23606710"/>
            <a:chExt cx="1800000" cy="1440000"/>
          </a:xfrm>
          <a:solidFill>
            <a:schemeClr val="bg1">
              <a:lumMod val="95000"/>
            </a:schemeClr>
          </a:solidFill>
        </p:grpSpPr>
        <p:sp>
          <p:nvSpPr>
            <p:cNvPr id="1359" name="직사각형 1358">
              <a:extLst>
                <a:ext uri="{FF2B5EF4-FFF2-40B4-BE49-F238E27FC236}">
                  <a16:creationId xmlns:a16="http://schemas.microsoft.com/office/drawing/2014/main" id="{0BD7ED00-6853-5227-5256-262D73956705}"/>
                </a:ext>
              </a:extLst>
            </p:cNvPr>
            <p:cNvSpPr/>
            <p:nvPr/>
          </p:nvSpPr>
          <p:spPr>
            <a:xfrm>
              <a:off x="7776342" y="23606710"/>
              <a:ext cx="1800000" cy="1440000"/>
            </a:xfrm>
            <a:prstGeom prst="rect">
              <a:avLst/>
            </a:prstGeom>
            <a:grpFill/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50" name="그림 1349">
              <a:extLst>
                <a:ext uri="{FF2B5EF4-FFF2-40B4-BE49-F238E27FC236}">
                  <a16:creationId xmlns:a16="http://schemas.microsoft.com/office/drawing/2014/main" id="{0EBD4B6C-BD1A-BE33-228D-505AB3C33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249828" y="23788646"/>
              <a:ext cx="1080000" cy="1080000"/>
            </a:xfrm>
            <a:prstGeom prst="rect">
              <a:avLst/>
            </a:prstGeom>
            <a:grpFill/>
          </p:spPr>
        </p:pic>
      </p:grpSp>
      <p:sp>
        <p:nvSpPr>
          <p:cNvPr id="1354" name="직사각형 1353">
            <a:extLst>
              <a:ext uri="{FF2B5EF4-FFF2-40B4-BE49-F238E27FC236}">
                <a16:creationId xmlns:a16="http://schemas.microsoft.com/office/drawing/2014/main" id="{8E97E956-0E56-CF5B-8766-3C9809F9F3B6}"/>
              </a:ext>
            </a:extLst>
          </p:cNvPr>
          <p:cNvSpPr/>
          <p:nvPr/>
        </p:nvSpPr>
        <p:spPr>
          <a:xfrm>
            <a:off x="4090897" y="22246151"/>
            <a:ext cx="10749037" cy="108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2B29ABE-A288-FA24-3512-74C6C631DE25}"/>
              </a:ext>
            </a:extLst>
          </p:cNvPr>
          <p:cNvSpPr/>
          <p:nvPr/>
        </p:nvSpPr>
        <p:spPr>
          <a:xfrm>
            <a:off x="4903622" y="21977308"/>
            <a:ext cx="2262239" cy="1556150"/>
          </a:xfrm>
          <a:prstGeom prst="rect">
            <a:avLst/>
          </a:prstGeom>
          <a:solidFill>
            <a:srgbClr val="E8E8E8"/>
          </a:solidFill>
          <a:ln w="3810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221871D-4B48-163A-A88E-712C0825A69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08913" y="22138969"/>
            <a:ext cx="720000" cy="72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B8C1EAD-520D-E78A-AEA8-59F6DC3A59C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52415" y="22111194"/>
            <a:ext cx="720000" cy="7200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E7395A2-ED00-464D-785A-F4A2AFD82C3D}"/>
              </a:ext>
            </a:extLst>
          </p:cNvPr>
          <p:cNvSpPr txBox="1"/>
          <p:nvPr/>
        </p:nvSpPr>
        <p:spPr>
          <a:xfrm>
            <a:off x="4825548" y="22979615"/>
            <a:ext cx="1486729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"/>
                <a:ea typeface="맑은 고딕" panose="020B0503020000020004" pitchFamily="50" charset="-127"/>
                <a:cs typeface="+mn-cs"/>
              </a:rPr>
              <a:t>Actor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5AE95B-E4B4-B93D-3519-D6D4EF21773C}"/>
              </a:ext>
            </a:extLst>
          </p:cNvPr>
          <p:cNvSpPr txBox="1"/>
          <p:nvPr/>
        </p:nvSpPr>
        <p:spPr>
          <a:xfrm>
            <a:off x="5769050" y="22979615"/>
            <a:ext cx="1486729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kern="1200" dirty="0">
                <a:solidFill>
                  <a:sysClr val="windowText" lastClr="000000"/>
                </a:solidFill>
                <a:latin typeface="noto"/>
                <a:ea typeface="맑은 고딕" panose="020B0503020000020004" pitchFamily="50" charset="-127"/>
                <a:cs typeface="+mn-cs"/>
              </a:rPr>
              <a:t>Target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noto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5" name="직사각형 1354">
            <a:extLst>
              <a:ext uri="{FF2B5EF4-FFF2-40B4-BE49-F238E27FC236}">
                <a16:creationId xmlns:a16="http://schemas.microsoft.com/office/drawing/2014/main" id="{2469484D-55B9-6566-D95A-8A215A459C7F}"/>
              </a:ext>
            </a:extLst>
          </p:cNvPr>
          <p:cNvSpPr/>
          <p:nvPr/>
        </p:nvSpPr>
        <p:spPr>
          <a:xfrm>
            <a:off x="2200454" y="21977308"/>
            <a:ext cx="2262239" cy="1556150"/>
          </a:xfrm>
          <a:prstGeom prst="rect">
            <a:avLst/>
          </a:prstGeom>
          <a:solidFill>
            <a:srgbClr val="E8E8E8"/>
          </a:solidFill>
          <a:ln w="3810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69" name="그림 1368">
            <a:extLst>
              <a:ext uri="{FF2B5EF4-FFF2-40B4-BE49-F238E27FC236}">
                <a16:creationId xmlns:a16="http://schemas.microsoft.com/office/drawing/2014/main" id="{F1AA9951-A007-9925-97A1-FF61CB0E623F}"/>
              </a:ext>
            </a:extLst>
          </p:cNvPr>
          <p:cNvPicPr>
            <a:picLocks noChangeAspect="1"/>
          </p:cNvPicPr>
          <p:nvPr/>
        </p:nvPicPr>
        <p:blipFill>
          <a:blip r:embed="rId30">
            <a:alphaModFix amt="35000"/>
          </a:blip>
          <a:stretch>
            <a:fillRect/>
          </a:stretch>
        </p:blipFill>
        <p:spPr>
          <a:xfrm>
            <a:off x="2791573" y="22215381"/>
            <a:ext cx="1080000" cy="1080000"/>
          </a:xfrm>
          <a:prstGeom prst="rect">
            <a:avLst/>
          </a:prstGeom>
        </p:spPr>
      </p:pic>
      <p:sp>
        <p:nvSpPr>
          <p:cNvPr id="1374" name="TextBox 1373">
            <a:extLst>
              <a:ext uri="{FF2B5EF4-FFF2-40B4-BE49-F238E27FC236}">
                <a16:creationId xmlns:a16="http://schemas.microsoft.com/office/drawing/2014/main" id="{7DB90D2B-006E-0584-2922-6FC142C77714}"/>
              </a:ext>
            </a:extLst>
          </p:cNvPr>
          <p:cNvSpPr txBox="1"/>
          <p:nvPr/>
        </p:nvSpPr>
        <p:spPr>
          <a:xfrm>
            <a:off x="10078569" y="21422147"/>
            <a:ext cx="253368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latinLnBrk="1">
              <a:buClrTx/>
              <a:defRPr/>
            </a:pPr>
            <a:r>
              <a:rPr lang="en-US" altLang="ko-KR" sz="2800" kern="1200" dirty="0">
                <a:solidFill>
                  <a:sysClr val="windowText" lastClr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Delay</a:t>
            </a:r>
          </a:p>
        </p:txBody>
      </p:sp>
      <p:sp>
        <p:nvSpPr>
          <p:cNvPr id="1375" name="직사각형 1374">
            <a:extLst>
              <a:ext uri="{FF2B5EF4-FFF2-40B4-BE49-F238E27FC236}">
                <a16:creationId xmlns:a16="http://schemas.microsoft.com/office/drawing/2014/main" id="{A0D833B5-74E1-43DA-F1FC-386DBCE87E7D}"/>
              </a:ext>
            </a:extLst>
          </p:cNvPr>
          <p:cNvSpPr/>
          <p:nvPr/>
        </p:nvSpPr>
        <p:spPr>
          <a:xfrm>
            <a:off x="10214290" y="21977307"/>
            <a:ext cx="2262239" cy="1556149"/>
          </a:xfrm>
          <a:prstGeom prst="rect">
            <a:avLst/>
          </a:prstGeom>
          <a:solidFill>
            <a:srgbClr val="E8E8E8"/>
          </a:solidFill>
          <a:ln w="3810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77" name="직선 연결선 1376">
            <a:extLst>
              <a:ext uri="{FF2B5EF4-FFF2-40B4-BE49-F238E27FC236}">
                <a16:creationId xmlns:a16="http://schemas.microsoft.com/office/drawing/2014/main" id="{F58DCDC6-75D4-3BBE-1906-40C9B3679091}"/>
              </a:ext>
            </a:extLst>
          </p:cNvPr>
          <p:cNvCxnSpPr>
            <a:cxnSpLocks/>
          </p:cNvCxnSpPr>
          <p:nvPr/>
        </p:nvCxnSpPr>
        <p:spPr>
          <a:xfrm flipH="1" flipV="1">
            <a:off x="9646142" y="23203387"/>
            <a:ext cx="400483" cy="836619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1A5229-21D8-1978-90FE-5A2D9BB8E608}"/>
              </a:ext>
            </a:extLst>
          </p:cNvPr>
          <p:cNvSpPr/>
          <p:nvPr/>
        </p:nvSpPr>
        <p:spPr>
          <a:xfrm>
            <a:off x="7547360" y="21977307"/>
            <a:ext cx="2262239" cy="1556149"/>
          </a:xfrm>
          <a:prstGeom prst="rect">
            <a:avLst/>
          </a:prstGeom>
          <a:solidFill>
            <a:srgbClr val="E8E8E8"/>
          </a:solidFill>
          <a:ln w="3810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934D2908-BE27-58CC-FC4C-C7A84980BB5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40219" y="22215381"/>
            <a:ext cx="1080000" cy="1080000"/>
          </a:xfrm>
          <a:prstGeom prst="rect">
            <a:avLst/>
          </a:prstGeom>
        </p:spPr>
      </p:pic>
      <p:sp>
        <p:nvSpPr>
          <p:cNvPr id="1380" name="직사각형 1379">
            <a:extLst>
              <a:ext uri="{FF2B5EF4-FFF2-40B4-BE49-F238E27FC236}">
                <a16:creationId xmlns:a16="http://schemas.microsoft.com/office/drawing/2014/main" id="{9AEC3037-88FF-45E3-41C4-8C7DDCABA0A9}"/>
              </a:ext>
            </a:extLst>
          </p:cNvPr>
          <p:cNvSpPr/>
          <p:nvPr/>
        </p:nvSpPr>
        <p:spPr>
          <a:xfrm>
            <a:off x="12843149" y="21967791"/>
            <a:ext cx="2843132" cy="1556149"/>
          </a:xfrm>
          <a:prstGeom prst="rect">
            <a:avLst/>
          </a:prstGeom>
          <a:solidFill>
            <a:schemeClr val="tx2"/>
          </a:solidFill>
          <a:ln w="3810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2" name="TextBox 1381">
            <a:extLst>
              <a:ext uri="{FF2B5EF4-FFF2-40B4-BE49-F238E27FC236}">
                <a16:creationId xmlns:a16="http://schemas.microsoft.com/office/drawing/2014/main" id="{37335464-C7D8-EA8D-FBB6-BC283D7CDC27}"/>
              </a:ext>
            </a:extLst>
          </p:cNvPr>
          <p:cNvSpPr txBox="1"/>
          <p:nvPr/>
        </p:nvSpPr>
        <p:spPr>
          <a:xfrm>
            <a:off x="12987156" y="21410189"/>
            <a:ext cx="2533682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 latinLnBrk="1">
              <a:buClrTx/>
              <a:defRPr/>
            </a:pPr>
            <a:r>
              <a:rPr lang="en-US" altLang="ko-KR" sz="2800" kern="1200" dirty="0">
                <a:solidFill>
                  <a:sysClr val="windowText" lastClr="00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Rating</a:t>
            </a:r>
          </a:p>
        </p:txBody>
      </p:sp>
      <p:sp>
        <p:nvSpPr>
          <p:cNvPr id="1395" name="TextBox 1394">
            <a:extLst>
              <a:ext uri="{FF2B5EF4-FFF2-40B4-BE49-F238E27FC236}">
                <a16:creationId xmlns:a16="http://schemas.microsoft.com/office/drawing/2014/main" id="{C0B11746-1478-0B02-C8C2-1747DE80D5C2}"/>
              </a:ext>
            </a:extLst>
          </p:cNvPr>
          <p:cNvSpPr txBox="1"/>
          <p:nvPr/>
        </p:nvSpPr>
        <p:spPr>
          <a:xfrm>
            <a:off x="12946734" y="22242787"/>
            <a:ext cx="877161" cy="468000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LOVE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DB41C8D0-D85B-9BCA-80D1-44985578792F}"/>
              </a:ext>
            </a:extLst>
          </p:cNvPr>
          <p:cNvSpPr txBox="1"/>
          <p:nvPr/>
        </p:nvSpPr>
        <p:spPr>
          <a:xfrm>
            <a:off x="12945495" y="22853644"/>
            <a:ext cx="878400" cy="468000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HATE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397" name="TextBox 1396">
            <a:extLst>
              <a:ext uri="{FF2B5EF4-FFF2-40B4-BE49-F238E27FC236}">
                <a16:creationId xmlns:a16="http://schemas.microsoft.com/office/drawing/2014/main" id="{4AFCF4F0-987F-7AD0-1957-3F1AFFEEC879}"/>
              </a:ext>
            </a:extLst>
          </p:cNvPr>
          <p:cNvSpPr txBox="1"/>
          <p:nvPr/>
        </p:nvSpPr>
        <p:spPr>
          <a:xfrm>
            <a:off x="13956355" y="22241091"/>
            <a:ext cx="1651004" cy="461665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SUBMISSION</a:t>
            </a:r>
            <a:endParaRPr kumimoji="0" lang="ko-KR" altLang="en-US" sz="20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0CCF0C03-A4D6-82AA-2879-B48191A506AB}"/>
              </a:ext>
            </a:extLst>
          </p:cNvPr>
          <p:cNvSpPr txBox="1"/>
          <p:nvPr/>
        </p:nvSpPr>
        <p:spPr>
          <a:xfrm>
            <a:off x="13966084" y="22850553"/>
            <a:ext cx="1651004" cy="468000"/>
          </a:xfrm>
          <a:prstGeom prst="rect">
            <a:avLst/>
          </a:prstGeom>
          <a:noFill/>
          <a:ln w="19050">
            <a:solidFill>
              <a:sysClr val="windowText" lastClr="000000"/>
            </a:solidFill>
          </a:ln>
        </p:spPr>
        <p:txBody>
          <a:bodyPr wrap="square" rtlCol="0" anchor="ctr">
            <a:spAutoFit/>
          </a:bodyPr>
          <a:lstStyle/>
          <a:p>
            <a:pPr lvl="1" algn="dist" latinLnBrk="1">
              <a:buClrTx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INDEPENDENCE</a:t>
            </a:r>
            <a:endParaRPr kumimoji="0" lang="ko-KR" altLang="en-US" sz="18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403" name="더하기 기호 1402">
            <a:extLst>
              <a:ext uri="{FF2B5EF4-FFF2-40B4-BE49-F238E27FC236}">
                <a16:creationId xmlns:a16="http://schemas.microsoft.com/office/drawing/2014/main" id="{0C55DC74-324F-1FC9-99EB-3F09BF89896B}"/>
              </a:ext>
            </a:extLst>
          </p:cNvPr>
          <p:cNvSpPr/>
          <p:nvPr/>
        </p:nvSpPr>
        <p:spPr>
          <a:xfrm>
            <a:off x="11067030" y="22526666"/>
            <a:ext cx="556758" cy="531655"/>
          </a:xfrm>
          <a:prstGeom prst="mathPlus">
            <a:avLst>
              <a:gd name="adj1" fmla="val 17610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9C3D909-7C18-E431-58A5-46521738708D}"/>
              </a:ext>
            </a:extLst>
          </p:cNvPr>
          <p:cNvGrpSpPr/>
          <p:nvPr/>
        </p:nvGrpSpPr>
        <p:grpSpPr>
          <a:xfrm>
            <a:off x="7775131" y="26889158"/>
            <a:ext cx="1800000" cy="1440000"/>
            <a:chOff x="7381431" y="26849788"/>
            <a:chExt cx="1800000" cy="1440000"/>
          </a:xfrm>
          <a:solidFill>
            <a:schemeClr val="bg1">
              <a:lumMod val="95000"/>
            </a:schemeClr>
          </a:solidFill>
        </p:grpSpPr>
        <p:sp>
          <p:nvSpPr>
            <p:cNvPr id="1365" name="직사각형 1364">
              <a:extLst>
                <a:ext uri="{FF2B5EF4-FFF2-40B4-BE49-F238E27FC236}">
                  <a16:creationId xmlns:a16="http://schemas.microsoft.com/office/drawing/2014/main" id="{A732CD4F-166C-8E0B-93C3-7A78288BE481}"/>
                </a:ext>
              </a:extLst>
            </p:cNvPr>
            <p:cNvSpPr/>
            <p:nvPr/>
          </p:nvSpPr>
          <p:spPr>
            <a:xfrm>
              <a:off x="7381431" y="26849788"/>
              <a:ext cx="1800000" cy="1440000"/>
            </a:xfrm>
            <a:prstGeom prst="rect">
              <a:avLst/>
            </a:prstGeom>
            <a:grpFill/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91" name="그림 1390">
              <a:extLst>
                <a:ext uri="{FF2B5EF4-FFF2-40B4-BE49-F238E27FC236}">
                  <a16:creationId xmlns:a16="http://schemas.microsoft.com/office/drawing/2014/main" id="{7BB658D5-E1E0-E3AD-FFA9-99B5184F7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762762" y="27029788"/>
              <a:ext cx="1080000" cy="1080000"/>
            </a:xfrm>
            <a:prstGeom prst="rect">
              <a:avLst/>
            </a:prstGeom>
            <a:grpFill/>
          </p:spPr>
        </p:pic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ED3AA9EF-63D9-1C54-ABE2-7F2678BEF0DB}"/>
              </a:ext>
            </a:extLst>
          </p:cNvPr>
          <p:cNvSpPr txBox="1"/>
          <p:nvPr/>
        </p:nvSpPr>
        <p:spPr>
          <a:xfrm>
            <a:off x="9484621" y="27425981"/>
            <a:ext cx="207644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kern="12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54 lines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kern="1200" dirty="0">
                <a:solidFill>
                  <a:prstClr val="black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(54 clips)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cxnSp>
        <p:nvCxnSpPr>
          <p:cNvPr id="1405" name="직선 화살표 연결선 1404">
            <a:extLst>
              <a:ext uri="{FF2B5EF4-FFF2-40B4-BE49-F238E27FC236}">
                <a16:creationId xmlns:a16="http://schemas.microsoft.com/office/drawing/2014/main" id="{A4703A5E-690D-D5DF-463E-315F994ED90D}"/>
              </a:ext>
            </a:extLst>
          </p:cNvPr>
          <p:cNvCxnSpPr>
            <a:cxnSpLocks/>
          </p:cNvCxnSpPr>
          <p:nvPr/>
        </p:nvCxnSpPr>
        <p:spPr>
          <a:xfrm flipV="1">
            <a:off x="12886620" y="26111648"/>
            <a:ext cx="1460025" cy="1036378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1DE6844-C04E-7430-493A-AB7538F49B72}"/>
              </a:ext>
            </a:extLst>
          </p:cNvPr>
          <p:cNvCxnSpPr>
            <a:cxnSpLocks/>
          </p:cNvCxnSpPr>
          <p:nvPr/>
        </p:nvCxnSpPr>
        <p:spPr>
          <a:xfrm flipH="1" flipV="1">
            <a:off x="14107160" y="23548102"/>
            <a:ext cx="253876" cy="165402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8AE6445-9A2A-D142-0CE3-83712E3E9A2A}"/>
              </a:ext>
            </a:extLst>
          </p:cNvPr>
          <p:cNvCxnSpPr>
            <a:cxnSpLocks/>
          </p:cNvCxnSpPr>
          <p:nvPr/>
        </p:nvCxnSpPr>
        <p:spPr>
          <a:xfrm flipV="1">
            <a:off x="12356694" y="23537837"/>
            <a:ext cx="1340502" cy="3582838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20904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테마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3198</TotalTime>
  <Words>961</Words>
  <Application>Microsoft Office PowerPoint</Application>
  <PresentationFormat>사용자 지정</PresentationFormat>
  <Paragraphs>102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</vt:lpstr>
      <vt:lpstr>맑은 고딕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Brain</dc:creator>
  <cp:lastModifiedBy>준호 장</cp:lastModifiedBy>
  <cp:revision>48</cp:revision>
  <dcterms:created xsi:type="dcterms:W3CDTF">2016-10-11T09:46:40Z</dcterms:created>
  <dcterms:modified xsi:type="dcterms:W3CDTF">2024-12-13T07:02:20Z</dcterms:modified>
</cp:coreProperties>
</file>