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94"/>
  </p:normalViewPr>
  <p:slideViewPr>
    <p:cSldViewPr snapToGrid="0">
      <p:cViewPr>
        <p:scale>
          <a:sx n="33" d="100"/>
          <a:sy n="33" d="100"/>
        </p:scale>
        <p:origin x="509" y="-26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hyperlink" Target="mailto:ojhstar0103@snu.ac.kr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73559" y="1106334"/>
            <a:ext cx="19422990" cy="410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ko-KR" altLang="en-US" sz="8074" b="1" dirty="0" err="1">
                <a:solidFill>
                  <a:schemeClr val="dk1"/>
                </a:solidFill>
              </a:rPr>
              <a:t>펠츠만</a:t>
            </a:r>
            <a:r>
              <a:rPr lang="ko-KR" altLang="en-US" sz="8074" b="1" dirty="0">
                <a:solidFill>
                  <a:schemeClr val="dk1"/>
                </a:solidFill>
              </a:rPr>
              <a:t> 효과에 대한 행위자 중심 접근</a:t>
            </a:r>
            <a:endParaRPr sz="1461" dirty="0"/>
          </a:p>
          <a:p>
            <a:pPr algn="ctr"/>
            <a:endParaRPr sz="2826" dirty="0">
              <a:solidFill>
                <a:schemeClr val="dk1"/>
              </a:solidFill>
              <a:latin typeface="Calibri"/>
              <a:ea typeface="바탕" panose="02030600000101010101" pitchFamily="18" charset="-127"/>
              <a:cs typeface="Calibri"/>
              <a:sym typeface="Calibri"/>
            </a:endParaRPr>
          </a:p>
          <a:p>
            <a:pPr algn="ctr"/>
            <a:r>
              <a:rPr lang="en-US" sz="5450" b="1" dirty="0">
                <a:solidFill>
                  <a:schemeClr val="dk1"/>
                </a:solidFill>
              </a:rPr>
              <a:t>Agent-Centered Approach on </a:t>
            </a:r>
            <a:r>
              <a:rPr lang="en-US" sz="5450" b="1" dirty="0" err="1">
                <a:solidFill>
                  <a:schemeClr val="dk1"/>
                </a:solidFill>
              </a:rPr>
              <a:t>Peltzman</a:t>
            </a:r>
            <a:r>
              <a:rPr lang="en-US" sz="5450" b="1" dirty="0">
                <a:solidFill>
                  <a:schemeClr val="dk1"/>
                </a:solidFill>
              </a:rPr>
              <a:t> Effect</a:t>
            </a:r>
            <a:endParaRPr sz="1461" dirty="0"/>
          </a:p>
          <a:p>
            <a:pPr algn="ctr"/>
            <a:endParaRPr sz="2422" dirty="0">
              <a:solidFill>
                <a:schemeClr val="dk1"/>
              </a:solidFill>
              <a:latin typeface="바탕" panose="02030600000101010101" pitchFamily="18" charset="-127"/>
              <a:ea typeface="바탕" panose="02030600000101010101" pitchFamily="18" charset="-127"/>
              <a:cs typeface="Calibri"/>
              <a:sym typeface="Calibri"/>
            </a:endParaRPr>
          </a:p>
          <a:p>
            <a:pPr algn="ctr"/>
            <a:r>
              <a:rPr lang="en-US" sz="3633" dirty="0" err="1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서울대학교</a:t>
            </a:r>
            <a:r>
              <a:rPr 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경제</a:t>
            </a:r>
            <a:r>
              <a:rPr 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학</a:t>
            </a:r>
            <a:r>
              <a:rPr lang="ko-KR" alt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부 오지혜 </a:t>
            </a:r>
            <a:r>
              <a:rPr 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  <a:hlinkClick r:id="rId3"/>
              </a:rPr>
              <a:t>ojhstar0103@snu.ac.kr</a:t>
            </a:r>
            <a:endParaRPr lang="en-US" sz="3633" dirty="0">
              <a:solidFill>
                <a:schemeClr val="dk1"/>
              </a:solidFill>
              <a:latin typeface="+mj-lt"/>
              <a:ea typeface="바탕" panose="02030600000101010101" pitchFamily="18" charset="-127"/>
              <a:cs typeface="Calibri"/>
              <a:sym typeface="Calibri"/>
            </a:endParaRPr>
          </a:p>
          <a:p>
            <a:pPr algn="ctr"/>
            <a:r>
              <a:rPr lang="ko-KR" alt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서울대학교</a:t>
            </a:r>
            <a:r>
              <a:rPr lang="en-US" altLang="ko-KR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+mj-lt"/>
                <a:ea typeface="바탕" panose="02030600000101010101" pitchFamily="18" charset="-127"/>
                <a:cs typeface="Calibri"/>
                <a:sym typeface="Calibri"/>
              </a:rPr>
              <a:t>진화인류학 연구실</a:t>
            </a:r>
            <a:endParaRPr sz="3633" dirty="0">
              <a:solidFill>
                <a:schemeClr val="dk1"/>
              </a:solidFill>
              <a:latin typeface="+mj-lt"/>
              <a:ea typeface="바탕" panose="02030600000101010101" pitchFamily="18" charset="-127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6288662"/>
            <a:ext cx="14170178" cy="12724885"/>
            <a:chOff x="699916" y="7415151"/>
            <a:chExt cx="19004401" cy="950936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002509" cy="86850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	The </a:t>
              </a:r>
              <a:r>
                <a:rPr lang="en-US" altLang="ko-KR" sz="4000" dirty="0" err="1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Peltzman</a:t>
              </a:r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 effect describes a counterintuitive behavioral phenomenon where individuals adjust their risk-taking actions in response to perceived changes in safety. This often leads to the unintended consequence of offsetting the benefits of safety measures.</a:t>
              </a:r>
            </a:p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	In most existing studies, the </a:t>
              </a:r>
              <a:r>
                <a:rPr lang="en-US" altLang="ko-KR" sz="4000" dirty="0" err="1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Peltzman</a:t>
              </a:r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 effect is examined through macro-level frameworks, focusing on aggregated societal impacts rather than individual-level decision-making processes. Such approaches often fail to capture the actor-centered dynamics—the nuanced choices made by individuals balancing risks and rewards under specific circumstances.</a:t>
              </a:r>
            </a:p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	Thus, this research takes a novel agent-centered approach, focusing on the micro-level mechanisms underlying the </a:t>
              </a:r>
              <a:r>
                <a:rPr lang="en-US" altLang="ko-KR" sz="4000" dirty="0" err="1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Peltzman</a:t>
              </a:r>
              <a:r>
                <a:rPr lang="en-US" altLang="ko-KR" sz="4000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 effect. Such an approach is critical for understanding the diverse range of risk responses among individuals, which are shaped by personal traits, resource availability, and ecological contexts.</a:t>
              </a:r>
              <a:endParaRPr lang="ko-KR" altLang="en-US" sz="4000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INTRODUCTION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31975" y="24419845"/>
            <a:ext cx="14176588" cy="6151595"/>
            <a:chOff x="414164" y="18461634"/>
            <a:chExt cx="16567491" cy="5793822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475706"/>
              <a:ext cx="16560000" cy="477975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x</a:t>
              </a:r>
              <a:r>
                <a:rPr lang="en-US" sz="25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t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​ 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: Resources at time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𝑡​, </a:t>
              </a:r>
              <a:r>
                <a:rPr lang="en-US" altLang="ko-KR" sz="40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x</a:t>
              </a:r>
              <a:r>
                <a:rPr lang="en-US" altLang="ko-KR" sz="25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t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​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 ≥ 0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l-G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: Level of risk, </a:t>
              </a:r>
              <a:r>
                <a:rPr lang="el-GR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 ≥ 0</a:t>
              </a:r>
              <a:endParaRPr lang="en-US" sz="4000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  <a:sym typeface="Calibri"/>
              </a:endParaRP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P(</a:t>
              </a:r>
              <a:r>
                <a:rPr lang="el-G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: Probability of success,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0 &lt; P &lt; 1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B(</a:t>
              </a:r>
              <a:r>
                <a:rPr lang="el-G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: Benefits of success,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B(</a:t>
              </a:r>
              <a:r>
                <a:rPr lang="el-GR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 ≥ 0</a:t>
              </a:r>
            </a:p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C(</a:t>
              </a:r>
              <a:r>
                <a:rPr lang="el-GR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: Costs of failure,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C(</a:t>
              </a:r>
              <a:r>
                <a:rPr lang="el-GR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 ≥ 0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U(x)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: Utility of r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esources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,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U’(x)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≥ 0 and U’’(x) ≤ 0 for all x</a:t>
              </a:r>
              <a:endParaRPr lang="en-US" sz="4000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  <a:sym typeface="Calibri"/>
              </a:endParaRP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x</a:t>
              </a:r>
              <a:r>
                <a:rPr lang="en-US" sz="25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0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: Resources spent to survive during transition from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  time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t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to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t+1</a:t>
              </a:r>
              <a:endParaRPr sz="4000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5841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VARIABLE SETTINGS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54671" y="25137390"/>
            <a:ext cx="14170178" cy="9185285"/>
            <a:chOff x="33775710" y="14968956"/>
            <a:chExt cx="16308001" cy="17433006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6703491"/>
              <a:ext cx="16308000" cy="1569847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r>
                <a:rPr lang="en-US" sz="4000" dirty="0"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The frameworks offers insight into how individuals adapt their risk-taking behavior when environmental conditions, such as perceived safety, change.</a:t>
              </a:r>
            </a:p>
            <a:p>
              <a:pPr algn="just"/>
              <a:r>
                <a:rPr lang="en-US" sz="4000" dirty="0"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To improve the framework, future studies could revise assumptions plus incorporate dynamic modeling that accounts for long-term decision-making and repeated behaviors. Introducing behavioral complexity, such as cognitive, would make the model more reflective of real-world decision-making.</a:t>
              </a:r>
            </a:p>
            <a:p>
              <a:pPr algn="just"/>
              <a:r>
                <a:rPr lang="en-US" sz="4000" dirty="0"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The ultimate goal of this research is to evolutionarily uncover not only the underlying mechanisms but also the ultimate causes of risk responses, which represent a highly plastic trait.</a:t>
              </a: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1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CONCLUSIONS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545104" y="6281420"/>
            <a:ext cx="14170178" cy="18467618"/>
            <a:chOff x="15610114" y="15717428"/>
            <a:chExt cx="14366634" cy="4513341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86654"/>
              <a:ext cx="14366632" cy="444411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18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(1)</a:t>
              </a:r>
              <a:r>
                <a:rPr lang="ko-KR" alt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Marginal Agent Under Natural Conditions</a:t>
              </a: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(2) Marginal Agent Under Safety Measures</a:t>
              </a:r>
            </a:p>
            <a:p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  <a:latin typeface="+mj-lt"/>
                  <a:ea typeface="Calibri"/>
                  <a:cs typeface="Calibri"/>
                  <a:sym typeface="Calibri"/>
                </a:rPr>
                <a:t>GRAPHS</a:t>
              </a:r>
              <a:endParaRPr sz="4441" b="1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33577" y="19416804"/>
            <a:ext cx="14170178" cy="4570958"/>
            <a:chOff x="414164" y="19253061"/>
            <a:chExt cx="16560000" cy="3817391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19927544"/>
              <a:ext cx="16560000" cy="314290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lang="en-US" sz="3230" dirty="0">
                <a:solidFill>
                  <a:schemeClr val="dk1"/>
                </a:solidFill>
                <a:latin typeface="Calibri"/>
                <a:ea typeface="바탕" panose="02030600000101010101" pitchFamily="18" charset="-127"/>
                <a:cs typeface="Calibri"/>
                <a:sym typeface="Calibri"/>
              </a:endParaRP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(1) Agents choose the level of risk they take.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(2) Rewards and probabilities are determined by risk.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(3) Even without risks, entities gain baseline benefits.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(4) Marginal utility of resource acquisition diminishes.</a:t>
              </a:r>
            </a:p>
            <a:p>
              <a:pPr algn="just"/>
              <a:r>
                <a:rPr lang="en-US" sz="400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(5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)</a:t>
              </a:r>
              <a:r>
                <a:rPr lang="en-US" sz="400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Time is treated discretely(static analysis). </a:t>
              </a: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1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ASSUMPTIONS</a:t>
              </a:r>
              <a:endParaRPr sz="54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57086" y="34906121"/>
            <a:ext cx="14158193" cy="6850982"/>
            <a:chOff x="15286568" y="36737954"/>
            <a:chExt cx="14400001" cy="6377728"/>
          </a:xfrm>
        </p:grpSpPr>
        <p:sp>
          <p:nvSpPr>
            <p:cNvPr id="102" name="Google Shape;102;p1"/>
            <p:cNvSpPr/>
            <p:nvPr/>
          </p:nvSpPr>
          <p:spPr>
            <a:xfrm>
              <a:off x="15286569" y="37840040"/>
              <a:ext cx="14400000" cy="527564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just"/>
              <a:r>
                <a:rPr lang="en-US" altLang="ko-KR" sz="4000" dirty="0">
                  <a:solidFill>
                    <a:srgbClr val="000000"/>
                  </a:solidFill>
                  <a:effectLst/>
                  <a:latin typeface="바탕" panose="02030600000101010101" pitchFamily="18" charset="-127"/>
                  <a:ea typeface="바탕" panose="02030600000101010101" pitchFamily="18" charset="-127"/>
                  <a:cs typeface="Times New Roman" panose="02020603050405020304" pitchFamily="18" charset="0"/>
                </a:rPr>
                <a:t>Kahneman, D., &amp; Deaton, A. (2010). High income </a:t>
              </a:r>
              <a:r>
                <a:rPr lang="en-US" altLang="ko-KR" sz="4000" dirty="0">
                  <a:solidFill>
                    <a:schemeClr val="tx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improves evaluation of life but not emotional well-being. Proceedings of the national academy of sciences, 107(38), 16489-16493.</a:t>
              </a:r>
            </a:p>
            <a:p>
              <a:pPr algn="just"/>
              <a:r>
                <a:rPr lang="en-US" altLang="ko-KR" sz="4000" dirty="0" err="1">
                  <a:solidFill>
                    <a:schemeClr val="tx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Peltzman</a:t>
              </a:r>
              <a:r>
                <a:rPr lang="en-US" altLang="ko-KR" sz="4000" dirty="0">
                  <a:solidFill>
                    <a:schemeClr val="tx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, S. (1975). The effects of automobile safety regulation. Journal of political Economy, 83(4), 677-725.</a:t>
              </a:r>
            </a:p>
            <a:p>
              <a:pPr algn="just"/>
              <a:r>
                <a:rPr lang="en-US" altLang="ko-KR" sz="4000" dirty="0" err="1">
                  <a:solidFill>
                    <a:schemeClr val="tx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Peltzman</a:t>
              </a:r>
              <a:r>
                <a:rPr lang="en-US" altLang="ko-KR" sz="4000" dirty="0">
                  <a:solidFill>
                    <a:schemeClr val="tx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, S. (1976). Toward a more general theory of regulation. The Journal of Law and Economics, 19(2), 211-240.</a:t>
              </a: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286568" y="36737954"/>
              <a:ext cx="14400001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REFERENCES</a:t>
              </a:r>
              <a:endParaRPr sz="4441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5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89;p1">
            <a:extLst>
              <a:ext uri="{FF2B5EF4-FFF2-40B4-BE49-F238E27FC236}">
                <a16:creationId xmlns:a16="http://schemas.microsoft.com/office/drawing/2014/main" id="{B789FA06-35D5-1146-43BC-96965128B4DB}"/>
              </a:ext>
            </a:extLst>
          </p:cNvPr>
          <p:cNvGrpSpPr/>
          <p:nvPr/>
        </p:nvGrpSpPr>
        <p:grpSpPr>
          <a:xfrm>
            <a:off x="1684008" y="30927041"/>
            <a:ext cx="14194476" cy="10830062"/>
            <a:chOff x="414164" y="18461634"/>
            <a:chExt cx="16588396" cy="10955766"/>
          </a:xfrm>
        </p:grpSpPr>
        <p:sp>
          <p:nvSpPr>
            <p:cNvPr id="9" name="Google Shape;90;p1">
              <a:extLst>
                <a:ext uri="{FF2B5EF4-FFF2-40B4-BE49-F238E27FC236}">
                  <a16:creationId xmlns:a16="http://schemas.microsoft.com/office/drawing/2014/main" id="{5A5D07F2-D14D-95C3-7FDD-C03C12F0A6FD}"/>
                </a:ext>
              </a:extLst>
            </p:cNvPr>
            <p:cNvSpPr/>
            <p:nvPr/>
          </p:nvSpPr>
          <p:spPr>
            <a:xfrm>
              <a:off x="421655" y="19475707"/>
              <a:ext cx="16560000" cy="994169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r>
                <a:rPr lang="en-US" altLang="ko-KR" sz="4000" i="1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(1) Since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U’(x) ≥ 0 for all x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, comparing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x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is enough.</a:t>
              </a:r>
            </a:p>
            <a:p>
              <a:pPr algn="just"/>
              <a:r>
                <a:rPr lang="en-US" altLang="ko-KR" sz="4000" i="1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(2) Change in Resources</a:t>
              </a:r>
            </a:p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- When taking risk:</a:t>
              </a:r>
              <a:endParaRPr lang="en-US" altLang="ko-KR" sz="4000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  <a:sym typeface="Calibri"/>
              </a:endParaRPr>
            </a:p>
            <a:p>
              <a:pPr algn="just"/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	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- When avoiding risk:</a:t>
              </a:r>
              <a:endParaRPr lang="en-US"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(3) Decision</a:t>
              </a:r>
              <a:r>
                <a:rPr lang="ko-KR" alt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  <a:r>
                <a:rPr lang="en-US" altLang="ko-KR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Criterion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- The entity compares       and      :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			Choose risk-taking if 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- </a:t>
              </a:r>
              <a:r>
                <a:rPr lang="el-GR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σ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*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is chosen to maximize      :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		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(4) Application to the </a:t>
              </a:r>
              <a:r>
                <a:rPr lang="en-US" sz="4000" dirty="0" err="1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Peltzman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Effect: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- Policies reduce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C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by introducing a lower bound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C’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- Let be the 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g(</a:t>
              </a:r>
              <a:r>
                <a:rPr lang="en-US" altLang="ko-KR" sz="40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x</a:t>
              </a:r>
              <a:r>
                <a:rPr lang="en-US" altLang="ko-KR" sz="2500" dirty="0" err="1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t</a:t>
              </a:r>
              <a:r>
                <a:rPr lang="en-US" altLang="ko-KR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)​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distribution of resource levels 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   across the population, number of paradoxical</a:t>
              </a:r>
            </a:p>
            <a:p>
              <a:pPr algn="just"/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	   individuals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N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 and </a:t>
              </a:r>
              <a:r>
                <a:rPr lang="en-US" sz="4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rPr>
                <a:t>Social Cost </a:t>
              </a:r>
              <a:r>
                <a:rPr lang="en-US" sz="4000" dirty="0">
                  <a:solidFill>
                    <a:schemeClr val="dk1"/>
                  </a:solidFill>
                  <a:latin typeface="바탕" panose="02030600000101010101" pitchFamily="18" charset="-127"/>
                  <a:ea typeface="바탕" panose="02030600000101010101" pitchFamily="18" charset="-127"/>
                  <a:cs typeface="Calibri"/>
                  <a:sym typeface="Calibri"/>
                </a:rPr>
                <a:t>are:</a:t>
              </a:r>
              <a:endParaRPr sz="4000" dirty="0">
                <a:solidFill>
                  <a:schemeClr val="dk1"/>
                </a:solidFill>
                <a:latin typeface="바탕" panose="02030600000101010101" pitchFamily="18" charset="-127"/>
                <a:ea typeface="바탕" panose="02030600000101010101" pitchFamily="18" charset="-127"/>
                <a:cs typeface="Calibri"/>
                <a:sym typeface="Calibri"/>
              </a:endParaRPr>
            </a:p>
          </p:txBody>
        </p:sp>
        <p:sp>
          <p:nvSpPr>
            <p:cNvPr id="10" name="Google Shape;91;p1">
              <a:extLst>
                <a:ext uri="{FF2B5EF4-FFF2-40B4-BE49-F238E27FC236}">
                  <a16:creationId xmlns:a16="http://schemas.microsoft.com/office/drawing/2014/main" id="{A1DDE695-081D-4DEE-1B85-C900079959D5}"/>
                </a:ext>
              </a:extLst>
            </p:cNvPr>
            <p:cNvSpPr/>
            <p:nvPr/>
          </p:nvSpPr>
          <p:spPr>
            <a:xfrm>
              <a:off x="414164" y="18461634"/>
              <a:ext cx="16588396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FUNCTION DESIGN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1736F543-11BD-A6FE-D26B-E6ABC2EB0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167" y="33112398"/>
            <a:ext cx="7222170" cy="6899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EF93E6-0325-A7E0-BE59-A4A4E506D7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93" y="33870553"/>
            <a:ext cx="5005646" cy="4521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B48999-988F-AB73-DC84-13BEFE9EE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121" y="35037691"/>
            <a:ext cx="716229" cy="5697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F14892F-CB92-A4B5-B8BE-DD8FC063A0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1637" y="35037691"/>
            <a:ext cx="699954" cy="6221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7CC5666-7C50-5FDE-5CC3-E3E936CEE3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9216" y="35698697"/>
            <a:ext cx="1819483" cy="6064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506FE7-1A4A-7DA6-168D-E1B9905BAF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27" y="36273562"/>
            <a:ext cx="716229" cy="5697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2ED146-54C0-B690-49A5-F235928B0B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1954" y="36822200"/>
            <a:ext cx="8308494" cy="7150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61294BE-098B-AF01-C22B-8836C3FF76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08081" y="40036741"/>
            <a:ext cx="3709088" cy="1254815"/>
          </a:xfrm>
          <a:prstGeom prst="rect">
            <a:avLst/>
          </a:prstGeom>
        </p:spPr>
      </p:pic>
      <p:pic>
        <p:nvPicPr>
          <p:cNvPr id="23" name="그림 22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675D395D-0833-DFCF-7006-40AB87CDC8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07343" y="8555960"/>
            <a:ext cx="12075621" cy="7200219"/>
          </a:xfrm>
          <a:prstGeom prst="rect">
            <a:avLst/>
          </a:prstGeom>
        </p:spPr>
      </p:pic>
      <p:pic>
        <p:nvPicPr>
          <p:cNvPr id="25" name="그림 24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0E495409-9BAA-EB81-448F-F2EEAA9B26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07343" y="17161840"/>
            <a:ext cx="12075254" cy="7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672</Words>
  <Application>Microsoft Office PowerPoint</Application>
  <PresentationFormat>사용자 지정</PresentationFormat>
  <Paragraphs>67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바탕</vt:lpstr>
      <vt:lpstr>바탕</vt:lpstr>
      <vt:lpstr>Arial</vt:lpstr>
      <vt:lpstr>Calibri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오지혜</cp:lastModifiedBy>
  <cp:revision>25</cp:revision>
  <dcterms:created xsi:type="dcterms:W3CDTF">2016-10-11T09:46:40Z</dcterms:created>
  <dcterms:modified xsi:type="dcterms:W3CDTF">2024-12-13T14:59:32Z</dcterms:modified>
</cp:coreProperties>
</file>