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9288" cy="43200638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" roundtripDataSignature="AMtx7mgQQex2AJcqbRTXDH5A0xWDSmUd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27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8"/>
    <p:restoredTop sz="94694"/>
  </p:normalViewPr>
  <p:slideViewPr>
    <p:cSldViewPr snapToGrid="0">
      <p:cViewPr varScale="1">
        <p:scale>
          <a:sx n="16" d="100"/>
          <a:sy n="16" d="100"/>
        </p:scale>
        <p:origin x="464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20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4049912" y="22690339"/>
            <a:ext cx="24299466" cy="10430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/>
            </a:lvl1pPr>
            <a:lvl2pPr lvl="1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/>
            </a:lvl2pPr>
            <a:lvl3pPr lvl="2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/>
            </a:lvl3pPr>
            <a:lvl4pPr lvl="3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4pPr>
            <a:lvl5pPr lvl="4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5pPr>
            <a:lvl6pPr lvl="5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6pPr>
            <a:lvl7pPr lvl="6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7pPr>
            <a:lvl8pPr lvl="7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8pPr>
            <a:lvl9pPr lvl="8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2210578" y="10770173"/>
            <a:ext cx="27944386" cy="1797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20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>
                <a:solidFill>
                  <a:schemeClr val="dk1"/>
                </a:solidFill>
              </a:defRPr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6622"/>
              <a:buNone/>
              <a:defRPr sz="6684">
                <a:solidFill>
                  <a:srgbClr val="888888"/>
                </a:solidFill>
              </a:defRPr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960"/>
              <a:buNone/>
              <a:defRPr sz="6015">
                <a:solidFill>
                  <a:srgbClr val="888888"/>
                </a:solidFill>
              </a:defRPr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2227451" y="11500169"/>
            <a:ext cx="13769698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16402139" y="11500169"/>
            <a:ext cx="13769698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2231671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2231675" y="15780234"/>
            <a:ext cx="13706415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16402141" y="10590160"/>
            <a:ext cx="13773918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16402141" y="15780234"/>
            <a:ext cx="13773918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909765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0595"/>
              <a:buChar char="•"/>
              <a:defRPr sz="10694"/>
            </a:lvl1pPr>
            <a:lvl2pPr marL="922904" lvl="1" indent="-82490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9271"/>
              <a:buChar char="•"/>
              <a:defRPr sz="9357"/>
            </a:lvl2pPr>
            <a:lvl3pPr marL="1384356" lvl="2" indent="-7399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7946"/>
              <a:buChar char="•"/>
              <a:defRPr sz="8020"/>
            </a:lvl3pPr>
            <a:lvl4pPr marL="1845808" lvl="3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4pPr>
            <a:lvl5pPr marL="2307260" lvl="4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5pPr>
            <a:lvl6pPr marL="2768712" lvl="5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6pPr>
            <a:lvl7pPr marL="3230164" lvl="6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7pPr>
            <a:lvl8pPr marL="3691616" lvl="7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8pPr>
            <a:lvl9pPr marL="4153068" lvl="8" indent="-655133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494441" y="11233180"/>
            <a:ext cx="27410408" cy="27944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373519" y="17112258"/>
            <a:ext cx="36610544" cy="6986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5801169" y="10328658"/>
            <a:ext cx="36610544" cy="20553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68"/>
              <a:buFont typeface="Calibri"/>
              <a:buNone/>
              <a:defRPr sz="145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17308" algn="l" rtl="0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9271"/>
              <a:buFont typeface="Arial"/>
              <a:buChar char="•"/>
              <a:defRPr sz="92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33171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6"/>
              <a:buFont typeface="Arial"/>
              <a:buChar char="•"/>
              <a:defRPr sz="79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49097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Font typeface="Arial"/>
              <a:buChar char="•"/>
              <a:defRPr sz="66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07059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emf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473558" y="1106334"/>
            <a:ext cx="23338831" cy="454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73" tIns="46124" rIns="92273" bIns="46124" anchor="t" anchorCtr="0">
            <a:spAutoFit/>
          </a:bodyPr>
          <a:lstStyle/>
          <a:p>
            <a:pPr algn="ctr"/>
            <a:r>
              <a:rPr lang="ko-KR" altLang="en-US" sz="8074" b="1" dirty="0">
                <a:solidFill>
                  <a:schemeClr val="dk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음악적 배경지식에 따른 음악의 구조화 양상 차이</a:t>
            </a:r>
            <a:endParaRPr lang="ko-KR" altLang="en-US" sz="1461" dirty="0"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  <a:p>
            <a:pPr algn="ctr"/>
            <a:endParaRPr lang="ko-KR" altLang="en-US" sz="2400" dirty="0">
              <a:solidFill>
                <a:schemeClr val="dk1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Calibri"/>
              <a:sym typeface="Calibri"/>
            </a:endParaRPr>
          </a:p>
          <a:p>
            <a:pPr algn="ctr"/>
            <a:r>
              <a:rPr lang="en-US" altLang="ko-KR" sz="6000" b="1" dirty="0">
                <a:solidFill>
                  <a:schemeClr val="dk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Aspect Differences in the Structuring of Music</a:t>
            </a:r>
          </a:p>
          <a:p>
            <a:pPr algn="ctr"/>
            <a:r>
              <a:rPr lang="en-US" altLang="ko-KR" sz="6000" b="1" dirty="0">
                <a:solidFill>
                  <a:schemeClr val="dk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According</a:t>
            </a:r>
            <a:r>
              <a:rPr lang="ko-KR" altLang="en-US" sz="6000" b="1" dirty="0">
                <a:solidFill>
                  <a:schemeClr val="dk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 </a:t>
            </a:r>
            <a:r>
              <a:rPr lang="en-US" altLang="ko-KR" sz="6000" b="1" dirty="0">
                <a:solidFill>
                  <a:schemeClr val="dk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to</a:t>
            </a:r>
            <a:r>
              <a:rPr lang="ko-KR" altLang="en-US" sz="6000" b="1" dirty="0">
                <a:solidFill>
                  <a:schemeClr val="dk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 </a:t>
            </a:r>
            <a:r>
              <a:rPr lang="en-US" altLang="ko-KR" sz="6000" b="1" dirty="0">
                <a:solidFill>
                  <a:schemeClr val="dk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Musical</a:t>
            </a:r>
            <a:r>
              <a:rPr lang="ko-KR" altLang="en-US" sz="6000" b="1" dirty="0">
                <a:solidFill>
                  <a:schemeClr val="dk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 </a:t>
            </a:r>
            <a:r>
              <a:rPr lang="en-US" altLang="ko-KR" sz="6000" b="1" dirty="0">
                <a:solidFill>
                  <a:schemeClr val="dk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Background</a:t>
            </a:r>
            <a:endParaRPr lang="en-US" sz="6000" dirty="0"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  <a:p>
            <a:pPr algn="ctr"/>
            <a:endParaRPr lang="en-US" sz="242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US" sz="3633" dirty="0" err="1">
                <a:solidFill>
                  <a:schemeClr val="dk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/>
                <a:sym typeface="Calibri"/>
              </a:rPr>
              <a:t>서울대학교</a:t>
            </a:r>
            <a:r>
              <a:rPr lang="en-US" sz="3633" dirty="0">
                <a:solidFill>
                  <a:schemeClr val="dk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/>
                <a:sym typeface="Calibri"/>
              </a:rPr>
              <a:t> </a:t>
            </a:r>
            <a:r>
              <a:rPr lang="ko-KR" altLang="en-US" sz="3633" dirty="0">
                <a:solidFill>
                  <a:schemeClr val="dk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/>
                <a:sym typeface="Calibri"/>
              </a:rPr>
              <a:t>생명과</a:t>
            </a:r>
            <a:r>
              <a:rPr lang="en-US" sz="3633" dirty="0">
                <a:solidFill>
                  <a:schemeClr val="dk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/>
                <a:sym typeface="Calibri"/>
              </a:rPr>
              <a:t>학</a:t>
            </a:r>
            <a:r>
              <a:rPr lang="ko-KR" altLang="en-US" sz="3633" dirty="0">
                <a:solidFill>
                  <a:schemeClr val="dk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/>
                <a:sym typeface="Calibri"/>
              </a:rPr>
              <a:t>부 배두리 </a:t>
            </a:r>
            <a:r>
              <a:rPr lang="en-US" altLang="ko-KR" sz="3633" dirty="0">
                <a:solidFill>
                  <a:schemeClr val="dk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/>
                <a:sym typeface="Calibri"/>
              </a:rPr>
              <a:t>22yulgok</a:t>
            </a:r>
            <a:r>
              <a:rPr lang="en-US" sz="3633" dirty="0">
                <a:solidFill>
                  <a:schemeClr val="dk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/>
                <a:sym typeface="Calibri"/>
              </a:rPr>
              <a:t>@snu.ac.kr</a:t>
            </a:r>
            <a:endParaRPr sz="3633" dirty="0">
              <a:solidFill>
                <a:schemeClr val="dk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/>
              <a:sym typeface="Calibri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6898" y="754086"/>
            <a:ext cx="4365056" cy="44761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"/>
          <p:cNvGrpSpPr/>
          <p:nvPr/>
        </p:nvGrpSpPr>
        <p:grpSpPr>
          <a:xfrm>
            <a:off x="1638384" y="6288663"/>
            <a:ext cx="14170178" cy="12579072"/>
            <a:chOff x="699916" y="7415151"/>
            <a:chExt cx="19004401" cy="9509363"/>
          </a:xfrm>
        </p:grpSpPr>
        <p:sp>
          <p:nvSpPr>
            <p:cNvPr id="87" name="Google Shape;87;p1"/>
            <p:cNvSpPr/>
            <p:nvPr/>
          </p:nvSpPr>
          <p:spPr>
            <a:xfrm>
              <a:off x="699916" y="8239509"/>
              <a:ext cx="19002509" cy="868500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/>
              <a:endParaRPr sz="1817" dirty="0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endParaRPr>
            </a:p>
            <a:p>
              <a:pPr marL="288407" indent="-288407" algn="just">
                <a:lnSpc>
                  <a:spcPct val="150000"/>
                </a:lnSpc>
                <a:buClr>
                  <a:schemeClr val="dk1"/>
                </a:buClr>
                <a:buSzPts val="3600"/>
                <a:buFont typeface="Batang"/>
                <a:buChar char="-"/>
              </a:pPr>
              <a:endParaRPr sz="1817" dirty="0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699916" y="7415151"/>
              <a:ext cx="19004401" cy="824358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>
                  <a:solidFill>
                    <a:srgbClr val="FFFFFF"/>
                  </a:solidFill>
                </a:rPr>
                <a:t>INTRODUCTION</a:t>
              </a:r>
              <a:endParaRPr sz="545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89" name="Google Shape;89;p1"/>
          <p:cNvGrpSpPr/>
          <p:nvPr/>
        </p:nvGrpSpPr>
        <p:grpSpPr>
          <a:xfrm>
            <a:off x="1631975" y="27955524"/>
            <a:ext cx="14176588" cy="13801576"/>
            <a:chOff x="414164" y="18461634"/>
            <a:chExt cx="16567491" cy="12998885"/>
          </a:xfrm>
        </p:grpSpPr>
        <p:sp>
          <p:nvSpPr>
            <p:cNvPr id="90" name="Google Shape;90;p1"/>
            <p:cNvSpPr/>
            <p:nvPr/>
          </p:nvSpPr>
          <p:spPr>
            <a:xfrm>
              <a:off x="421655" y="19475705"/>
              <a:ext cx="16560000" cy="11984814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71875"/>
                </a:lnSpc>
              </a:pPr>
              <a:endParaRPr sz="323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just">
                <a:lnSpc>
                  <a:spcPct val="171875"/>
                </a:lnSpc>
              </a:pPr>
              <a:endParaRPr sz="323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414164" y="18461634"/>
              <a:ext cx="16560000" cy="1014071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chemeClr val="lt1"/>
                  </a:solidFill>
                </a:rPr>
                <a:t>METHODS</a:t>
              </a:r>
              <a:endParaRPr sz="4441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92" name="Google Shape;92;p1"/>
          <p:cNvGrpSpPr/>
          <p:nvPr/>
        </p:nvGrpSpPr>
        <p:grpSpPr>
          <a:xfrm>
            <a:off x="16569401" y="29549329"/>
            <a:ext cx="14170178" cy="7243474"/>
            <a:chOff x="33775710" y="14968956"/>
            <a:chExt cx="16308000" cy="12890889"/>
          </a:xfrm>
        </p:grpSpPr>
        <p:sp>
          <p:nvSpPr>
            <p:cNvPr id="93" name="Google Shape;93;p1"/>
            <p:cNvSpPr/>
            <p:nvPr/>
          </p:nvSpPr>
          <p:spPr>
            <a:xfrm>
              <a:off x="33775710" y="16703493"/>
              <a:ext cx="16308000" cy="1115635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56250"/>
                </a:lnSpc>
              </a:pPr>
              <a:endParaRPr sz="323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33775710" y="14968956"/>
              <a:ext cx="16308000" cy="1734932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>
                  <a:solidFill>
                    <a:srgbClr val="FFFFFF"/>
                  </a:solidFill>
                </a:rPr>
                <a:t>CONCLUSIONS</a:t>
              </a:r>
              <a:endParaRPr sz="545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16545104" y="6281419"/>
            <a:ext cx="14170178" cy="22745233"/>
            <a:chOff x="15610114" y="15717428"/>
            <a:chExt cx="14366634" cy="4513341"/>
          </a:xfrm>
        </p:grpSpPr>
        <p:sp>
          <p:nvSpPr>
            <p:cNvPr id="96" name="Google Shape;96;p1"/>
            <p:cNvSpPr/>
            <p:nvPr/>
          </p:nvSpPr>
          <p:spPr>
            <a:xfrm>
              <a:off x="15610114" y="15786654"/>
              <a:ext cx="14366632" cy="444411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endParaRPr sz="32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5610115" y="15717428"/>
              <a:ext cx="14366633" cy="237617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>
                  <a:solidFill>
                    <a:srgbClr val="FFFFFF"/>
                  </a:solidFill>
                </a:rPr>
                <a:t>RESULTS</a:t>
              </a:r>
              <a:endParaRPr sz="4441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1633577" y="19294882"/>
            <a:ext cx="14170178" cy="8134855"/>
            <a:chOff x="414164" y="19253062"/>
            <a:chExt cx="16560000" cy="6793746"/>
          </a:xfrm>
        </p:grpSpPr>
        <p:sp>
          <p:nvSpPr>
            <p:cNvPr id="99" name="Google Shape;99;p1"/>
            <p:cNvSpPr/>
            <p:nvPr/>
          </p:nvSpPr>
          <p:spPr>
            <a:xfrm>
              <a:off x="414164" y="19851179"/>
              <a:ext cx="16560000" cy="6195629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71875"/>
                </a:lnSpc>
              </a:pPr>
              <a:endParaRPr sz="323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just">
                <a:lnSpc>
                  <a:spcPct val="171875"/>
                </a:lnSpc>
              </a:pPr>
              <a:endParaRPr sz="323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414164" y="19253062"/>
              <a:ext cx="16560000" cy="981560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>
                  <a:solidFill>
                    <a:schemeClr val="lt1"/>
                  </a:solidFill>
                </a:rPr>
                <a:t>OBJECTIVES</a:t>
              </a:r>
              <a:endParaRPr sz="5450" b="1">
                <a:solidFill>
                  <a:schemeClr val="lt1"/>
                </a:solidFill>
              </a:endParaRPr>
            </a:p>
          </p:txBody>
        </p:sp>
      </p:grpSp>
      <p:grpSp>
        <p:nvGrpSpPr>
          <p:cNvPr id="101" name="Google Shape;101;p1"/>
          <p:cNvGrpSpPr/>
          <p:nvPr/>
        </p:nvGrpSpPr>
        <p:grpSpPr>
          <a:xfrm>
            <a:off x="16545104" y="37193047"/>
            <a:ext cx="14182490" cy="4564059"/>
            <a:chOff x="15261857" y="36737954"/>
            <a:chExt cx="14424713" cy="3425963"/>
          </a:xfrm>
        </p:grpSpPr>
        <p:sp>
          <p:nvSpPr>
            <p:cNvPr id="102" name="Google Shape;102;p1"/>
            <p:cNvSpPr/>
            <p:nvPr/>
          </p:nvSpPr>
          <p:spPr>
            <a:xfrm>
              <a:off x="15286569" y="37840040"/>
              <a:ext cx="14400000" cy="2323877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endParaRPr sz="1817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15261857" y="36737954"/>
              <a:ext cx="14424713" cy="1102087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>
                  <a:solidFill>
                    <a:srgbClr val="FFFFFF"/>
                  </a:solidFill>
                </a:rPr>
                <a:t>REFERENCES</a:t>
              </a:r>
              <a:endParaRPr sz="4441" b="1">
                <a:solidFill>
                  <a:srgbClr val="FFFFFF"/>
                </a:solidFill>
              </a:endParaRPr>
            </a:p>
          </p:txBody>
        </p:sp>
      </p:grpSp>
      <p:pic>
        <p:nvPicPr>
          <p:cNvPr id="104" name="Google Shape;104;p1"/>
          <p:cNvPicPr preferRelativeResize="0"/>
          <p:nvPr/>
        </p:nvPicPr>
        <p:blipFill rotWithShape="1">
          <a:blip r:embed="rId4">
            <a:alphaModFix/>
          </a:blip>
          <a:srcRect t="85800"/>
          <a:stretch/>
        </p:blipFill>
        <p:spPr>
          <a:xfrm>
            <a:off x="24434800" y="42067545"/>
            <a:ext cx="7037733" cy="825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538D8E6-E8AC-FC1B-0B2C-75ACC894C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81068" y="7939563"/>
            <a:ext cx="8380104" cy="949386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778E975-77E8-A6CE-FDD2-D0BC5084B1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24062" y="17656910"/>
            <a:ext cx="12688327" cy="908248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078B86C-561D-78E9-BF6C-872124ED2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4653" y="31093331"/>
            <a:ext cx="13364821" cy="385667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4B3BCFE-A696-9D7B-822F-C0A49CC0FA06}"/>
              </a:ext>
            </a:extLst>
          </p:cNvPr>
          <p:cNvSpPr/>
          <p:nvPr/>
        </p:nvSpPr>
        <p:spPr>
          <a:xfrm>
            <a:off x="2034653" y="29225449"/>
            <a:ext cx="10879307" cy="10766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600" dirty="0" err="1">
                <a:solidFill>
                  <a:schemeClr val="tx1"/>
                </a:solidFill>
                <a:effectLst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Times New Roman" panose="02020603050405020304" pitchFamily="18" charset="0"/>
              </a:rPr>
              <a:t>대상곡</a:t>
            </a:r>
            <a:r>
              <a:rPr lang="en-US" altLang="ko-KR" sz="3600" dirty="0">
                <a:solidFill>
                  <a:schemeClr val="tx1"/>
                </a:solidFill>
                <a:effectLst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Times New Roman" panose="02020603050405020304" pitchFamily="18" charset="0"/>
              </a:rPr>
              <a:t>: &lt;</a:t>
            </a:r>
            <a:r>
              <a:rPr lang="ko-KR" altLang="ko-KR" sz="3600" dirty="0">
                <a:solidFill>
                  <a:schemeClr val="tx1"/>
                </a:solidFill>
                <a:effectLst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Times New Roman" panose="02020603050405020304" pitchFamily="18" charset="0"/>
              </a:rPr>
              <a:t>피아노 소나타</a:t>
            </a:r>
            <a:r>
              <a:rPr lang="en-US" altLang="ko-KR" sz="3600" dirty="0">
                <a:solidFill>
                  <a:schemeClr val="tx1"/>
                </a:solidFill>
                <a:effectLst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Times New Roman" panose="02020603050405020304" pitchFamily="18" charset="0"/>
              </a:rPr>
              <a:t>, </a:t>
            </a:r>
            <a:r>
              <a:rPr lang="en-US" altLang="ko-KR" sz="3600" dirty="0" err="1">
                <a:solidFill>
                  <a:schemeClr val="tx1"/>
                </a:solidFill>
                <a:effectLst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Times New Roman" panose="02020603050405020304" pitchFamily="18" charset="0"/>
              </a:rPr>
              <a:t>Sz</a:t>
            </a:r>
            <a:r>
              <a:rPr lang="en-US" altLang="ko-KR" sz="3600" dirty="0">
                <a:solidFill>
                  <a:schemeClr val="tx1"/>
                </a:solidFill>
                <a:effectLst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Times New Roman" panose="02020603050405020304" pitchFamily="18" charset="0"/>
              </a:rPr>
              <a:t>. 80(1926)&gt;</a:t>
            </a:r>
            <a:endParaRPr lang="ko-KR" altLang="en-US" sz="2800" dirty="0">
              <a:solidFill>
                <a:schemeClr val="tx1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BE8F218-1483-2307-6B6E-783C91182601}"/>
              </a:ext>
            </a:extLst>
          </p:cNvPr>
          <p:cNvSpPr/>
          <p:nvPr/>
        </p:nvSpPr>
        <p:spPr>
          <a:xfrm>
            <a:off x="2311398" y="21367880"/>
            <a:ext cx="13088076" cy="45280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lnSpc>
                <a:spcPct val="200000"/>
              </a:lnSpc>
              <a:spcAft>
                <a:spcPts val="800"/>
              </a:spcAft>
            </a:pPr>
            <a:r>
              <a:rPr lang="en-US" altLang="ko-KR" sz="36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1) </a:t>
            </a:r>
            <a:r>
              <a:rPr lang="ko-KR" altLang="ko-KR" sz="36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반복 청취 과정에서 실제 감상과 형식 분석은 일치하는가</a:t>
            </a:r>
            <a:r>
              <a:rPr lang="en-US" altLang="ko-KR" sz="36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? </a:t>
            </a:r>
            <a:r>
              <a:rPr lang="ko-KR" altLang="ko-KR" sz="36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일치한다면 어떤 형식과 일치하는가</a:t>
            </a:r>
            <a:r>
              <a:rPr lang="en-US" altLang="ko-KR" sz="36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?</a:t>
            </a:r>
            <a:endParaRPr lang="ko-KR" altLang="ko-KR" sz="3600" kern="100" dirty="0">
              <a:solidFill>
                <a:schemeClr val="tx1"/>
              </a:solidFill>
              <a:effectLst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Times New Roman" panose="02020603050405020304" pitchFamily="18" charset="0"/>
            </a:endParaRPr>
          </a:p>
          <a:p>
            <a:pPr latinLnBrk="0">
              <a:lnSpc>
                <a:spcPct val="200000"/>
              </a:lnSpc>
              <a:spcAft>
                <a:spcPts val="800"/>
              </a:spcAft>
            </a:pPr>
            <a:r>
              <a:rPr lang="en-US" altLang="ko-KR" sz="36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2) </a:t>
            </a:r>
            <a:r>
              <a:rPr lang="ko-KR" altLang="ko-KR" sz="36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음악 전공자와 비전공자 사이 음악 구조화 방식에 차이가 있을까</a:t>
            </a:r>
            <a:r>
              <a:rPr lang="en-US" altLang="ko-KR" sz="36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?</a:t>
            </a:r>
            <a:endParaRPr lang="ko-KR" altLang="ko-KR" sz="3600" kern="100" dirty="0">
              <a:solidFill>
                <a:schemeClr val="tx1"/>
              </a:solidFill>
              <a:effectLst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Times New Roman" panose="02020603050405020304" pitchFamily="18" charset="0"/>
            </a:endParaRPr>
          </a:p>
          <a:p>
            <a:pPr latinLnBrk="0">
              <a:lnSpc>
                <a:spcPct val="200000"/>
              </a:lnSpc>
              <a:spcAft>
                <a:spcPts val="800"/>
              </a:spcAft>
            </a:pPr>
            <a:r>
              <a:rPr lang="en-US" altLang="ko-KR" sz="36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3) </a:t>
            </a:r>
            <a:r>
              <a:rPr lang="ko-KR" altLang="ko-KR" sz="36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음악의 구조화에서 차이를 발생시키는 요소는 무엇이 있을까</a:t>
            </a:r>
            <a:r>
              <a:rPr lang="en-US" altLang="ko-KR" sz="36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? </a:t>
            </a:r>
            <a:endParaRPr lang="ko-KR" altLang="ko-KR" sz="3600" kern="100" dirty="0">
              <a:solidFill>
                <a:schemeClr val="tx1"/>
              </a:solidFill>
              <a:effectLst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3839D49-CA28-0764-7DE8-5411DD32C61F}"/>
              </a:ext>
            </a:extLst>
          </p:cNvPr>
          <p:cNvSpPr/>
          <p:nvPr/>
        </p:nvSpPr>
        <p:spPr>
          <a:xfrm>
            <a:off x="2311398" y="8276806"/>
            <a:ext cx="12942382" cy="10175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279400">
              <a:lnSpc>
                <a:spcPct val="120000"/>
              </a:lnSpc>
              <a:spcAft>
                <a:spcPts val="800"/>
              </a:spcAft>
            </a:pP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음악의 주요한 본질 중 하나는 시간성으로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처음부터 끝까지 감상하기 전까지는 전체를 온전히 인식할 수 없다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.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음악을 반복 청취하는 과정에서 청취자는 처음으로 들었을 때 놓친 세부적인 요소를 점차 더 명확히 발견해 인지할 수 있다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.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이러한 과정에서 음악의 구조화가 발생하고 따라서 곡의 형식적 구조를 이해하기 위해 반복 청취는 필수적인 과정으로 간주된다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.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선행 연구에 따르면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반복 청취 과정에서 청취자들이 음악에 더 친숙해지고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음악 요소들을 더 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‘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개념적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’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으로 조직한다고 보고하며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청취자의 음악적 구조에 대한 반응에 잠재적으로 중요한 차원일 수 있다고 언급한다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(1).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한편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음악을 반복 청취하더라도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으뜸 화음과 같이 익숙한 패턴에 대한 도식적 기대가 반복 청취한 사실적 기대보다 약했다고 보고한 연구도 있다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(2).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또한 시간 순으로 </a:t>
            </a:r>
            <a:r>
              <a:rPr lang="ko-KR" altLang="ko-KR" sz="2800" kern="100" dirty="0" err="1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구조화하는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기존 방식과 달리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인간의 인지과정과 연계된 음악의 보편적인 계층관계를 설명하는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GTTM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모델을 찾아 언어와 같이 음악의 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‘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문법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’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을 찾아본 연구도 존재한다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(3).</a:t>
            </a:r>
          </a:p>
          <a:p>
            <a:pPr indent="279400">
              <a:lnSpc>
                <a:spcPct val="120000"/>
              </a:lnSpc>
              <a:spcAft>
                <a:spcPts val="800"/>
              </a:spcAft>
            </a:pP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다만 곡을 처음 들었을 때 바로 파악하기 어려운 구조를 반복적으로 청취하였을 때 구조를 파악할 수 있는지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이때 구조 파악의 일관성과 정확도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시기 등에 영향을 주는 요인에 대한 연구는 부족한 상황이다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.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따라서 본 연구에서는 이와 관련된 측면을 탐구하고자 하였다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.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이때 음악적 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‘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구조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’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는 서양음악사에서 전통적으로 이어진 리듬 및 화성 진행을 바탕으로 파악된 종지나 악절을 바탕으로 곡의 거시적 구조를 의미한다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(4).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초기 화성 분석법은 곡의 표면적 진행을 중심으로 구조를 분석하였다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(5).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하지만 최근 </a:t>
            </a:r>
            <a:r>
              <a:rPr lang="ko-KR" altLang="ko-KR" sz="2800" kern="100" dirty="0" err="1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솅커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(Heinrich Schenker, 1868-1935)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의 분석 기법은 곡의 심층적인 뼈대</a:t>
            </a:r>
            <a:r>
              <a:rPr lang="ko-KR" altLang="en-US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를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파악해 그 속의 관계성을 탐구하는데 중점을 두는 기법으로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독창적인 음악 분석 방향을 제시했다는 평가를 받는다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(6, 7).</a:t>
            </a:r>
            <a:endParaRPr lang="ko-KR" altLang="ko-KR" sz="2800" kern="100" dirty="0">
              <a:solidFill>
                <a:schemeClr val="tx1"/>
              </a:solidFill>
              <a:effectLst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Times New Roman" panose="02020603050405020304" pitchFamily="18" charset="0"/>
            </a:endParaRPr>
          </a:p>
          <a:p>
            <a:pPr indent="279400" latinLnBrk="0">
              <a:lnSpc>
                <a:spcPct val="120000"/>
              </a:lnSpc>
              <a:spcAft>
                <a:spcPts val="800"/>
              </a:spcAft>
            </a:pPr>
            <a:endParaRPr lang="ko-KR" altLang="ko-KR" sz="2800" kern="100" dirty="0">
              <a:solidFill>
                <a:schemeClr val="tx1"/>
              </a:solidFill>
              <a:effectLst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Times New Roman" panose="02020603050405020304" pitchFamily="18" charset="0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2127EDA-DA2F-C38C-F1E8-0A8E64EB012A}"/>
              </a:ext>
            </a:extLst>
          </p:cNvPr>
          <p:cNvGrpSpPr/>
          <p:nvPr/>
        </p:nvGrpSpPr>
        <p:grpSpPr>
          <a:xfrm>
            <a:off x="7024181" y="33623876"/>
            <a:ext cx="8920451" cy="7940682"/>
            <a:chOff x="7071789" y="33437215"/>
            <a:chExt cx="8920451" cy="7940682"/>
          </a:xfrm>
        </p:grpSpPr>
        <p:sp>
          <p:nvSpPr>
            <p:cNvPr id="35" name="이등변 삼각형 34">
              <a:extLst>
                <a:ext uri="{FF2B5EF4-FFF2-40B4-BE49-F238E27FC236}">
                  <a16:creationId xmlns:a16="http://schemas.microsoft.com/office/drawing/2014/main" id="{7D05CAFA-1D99-CFAF-D261-2A8B64317137}"/>
                </a:ext>
              </a:extLst>
            </p:cNvPr>
            <p:cNvSpPr/>
            <p:nvPr/>
          </p:nvSpPr>
          <p:spPr>
            <a:xfrm rot="17511177">
              <a:off x="5711437" y="34797567"/>
              <a:ext cx="5987303" cy="32666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6F7AC014-C34C-AD19-D405-5EFCA5184AB3}"/>
                </a:ext>
              </a:extLst>
            </p:cNvPr>
            <p:cNvSpPr/>
            <p:nvPr/>
          </p:nvSpPr>
          <p:spPr>
            <a:xfrm>
              <a:off x="8464073" y="34134423"/>
              <a:ext cx="7528167" cy="724347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96A8626-6C5A-DB70-13D3-7611EC53CC67}"/>
              </a:ext>
            </a:extLst>
          </p:cNvPr>
          <p:cNvGrpSpPr/>
          <p:nvPr/>
        </p:nvGrpSpPr>
        <p:grpSpPr>
          <a:xfrm>
            <a:off x="9478556" y="34353233"/>
            <a:ext cx="5635244" cy="5732278"/>
            <a:chOff x="5917676" y="35314320"/>
            <a:chExt cx="5635244" cy="5732278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D03A6543-815F-6175-604E-E9EF41B0CE00}"/>
                </a:ext>
              </a:extLst>
            </p:cNvPr>
            <p:cNvGrpSpPr/>
            <p:nvPr/>
          </p:nvGrpSpPr>
          <p:grpSpPr>
            <a:xfrm>
              <a:off x="5917676" y="35314320"/>
              <a:ext cx="3666749" cy="5732278"/>
              <a:chOff x="4250071" y="35224734"/>
              <a:chExt cx="3666749" cy="5732278"/>
            </a:xfrm>
          </p:grpSpPr>
          <p:pic>
            <p:nvPicPr>
              <p:cNvPr id="17" name="그림 16" descr="얼굴에 손을 얹은 어린 소년">
                <a:extLst>
                  <a:ext uri="{FF2B5EF4-FFF2-40B4-BE49-F238E27FC236}">
                    <a16:creationId xmlns:a16="http://schemas.microsoft.com/office/drawing/2014/main" id="{E4B91D5C-79A8-4AF1-8AE7-F07B9E1446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96324" y="37100337"/>
                <a:ext cx="1178097" cy="3856675"/>
              </a:xfrm>
              <a:prstGeom prst="rect">
                <a:avLst/>
              </a:prstGeom>
            </p:spPr>
          </p:pic>
          <p:pic>
            <p:nvPicPr>
              <p:cNvPr id="21" name="그래픽 20" descr="악보 표기법 단색으로 채워진">
                <a:extLst>
                  <a:ext uri="{FF2B5EF4-FFF2-40B4-BE49-F238E27FC236}">
                    <a16:creationId xmlns:a16="http://schemas.microsoft.com/office/drawing/2014/main" id="{6137279C-7B53-197D-0086-00E64070F5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4250071" y="35224734"/>
                <a:ext cx="2585583" cy="2585583"/>
              </a:xfrm>
              <a:prstGeom prst="rect">
                <a:avLst/>
              </a:prstGeom>
            </p:spPr>
          </p:pic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2E5ADD11-B66C-CA46-D7CE-116F71BBCF11}"/>
                  </a:ext>
                </a:extLst>
              </p:cNvPr>
              <p:cNvSpPr/>
              <p:nvPr/>
            </p:nvSpPr>
            <p:spPr>
              <a:xfrm>
                <a:off x="6738723" y="35821507"/>
                <a:ext cx="1178097" cy="11992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lnSpc>
                    <a:spcPct val="200000"/>
                  </a:lnSpc>
                  <a:spcAft>
                    <a:spcPts val="800"/>
                  </a:spcAft>
                </a:pPr>
                <a:r>
                  <a:rPr lang="en-US" altLang="ko-KR" sz="3600" kern="100" dirty="0">
                    <a:solidFill>
                      <a:schemeClr val="tx1"/>
                    </a:solidFill>
                    <a:effectLst/>
                    <a:latin typeface="나눔스퀘어 네오 Bold" panose="00000800000000000000" pitchFamily="2" charset="-127"/>
                    <a:ea typeface="나눔스퀘어 네오 Bold" panose="00000800000000000000" pitchFamily="2" charset="-127"/>
                    <a:cs typeface="Times New Roman" panose="02020603050405020304" pitchFamily="18" charset="0"/>
                  </a:rPr>
                  <a:t>x5</a:t>
                </a:r>
                <a:endParaRPr lang="ko-KR" altLang="ko-KR" sz="3600" kern="100" dirty="0">
                  <a:solidFill>
                    <a:schemeClr val="tx1"/>
                  </a:solidFill>
                  <a:effectLst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A4FEC31A-0369-EE13-9A02-A1B30C332F13}"/>
                </a:ext>
              </a:extLst>
            </p:cNvPr>
            <p:cNvGrpSpPr/>
            <p:nvPr/>
          </p:nvGrpSpPr>
          <p:grpSpPr>
            <a:xfrm>
              <a:off x="8374375" y="37146643"/>
              <a:ext cx="3178545" cy="3859210"/>
              <a:chOff x="8674179" y="37100337"/>
              <a:chExt cx="3178545" cy="3859210"/>
            </a:xfrm>
          </p:grpSpPr>
          <p:pic>
            <p:nvPicPr>
              <p:cNvPr id="19" name="그림 18" descr="손가락을 올리는 어린 중국인 소년">
                <a:extLst>
                  <a:ext uri="{FF2B5EF4-FFF2-40B4-BE49-F238E27FC236}">
                    <a16:creationId xmlns:a16="http://schemas.microsoft.com/office/drawing/2014/main" id="{DB94897B-CC91-EC3B-904E-51E4C74C75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645067" y="37100337"/>
                <a:ext cx="1207657" cy="3859210"/>
              </a:xfrm>
              <a:prstGeom prst="rect">
                <a:avLst/>
              </a:prstGeom>
            </p:spPr>
          </p:pic>
          <p:pic>
            <p:nvPicPr>
              <p:cNvPr id="23" name="Picture 4" descr="물음표 일러스트 무료 이미지 그림 JPG PNG : 네이버 블로그">
                <a:extLst>
                  <a:ext uri="{FF2B5EF4-FFF2-40B4-BE49-F238E27FC236}">
                    <a16:creationId xmlns:a16="http://schemas.microsoft.com/office/drawing/2014/main" id="{BEDDF230-F5A7-79C7-B25C-75D51117DB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74179" y="37543494"/>
                <a:ext cx="703480" cy="6973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7" name="화살표: 오른쪽 26">
              <a:extLst>
                <a:ext uri="{FF2B5EF4-FFF2-40B4-BE49-F238E27FC236}">
                  <a16:creationId xmlns:a16="http://schemas.microsoft.com/office/drawing/2014/main" id="{F9C57543-89C0-EB01-F983-9E4DF60EED49}"/>
                </a:ext>
              </a:extLst>
            </p:cNvPr>
            <p:cNvSpPr/>
            <p:nvPr/>
          </p:nvSpPr>
          <p:spPr>
            <a:xfrm>
              <a:off x="8267701" y="38379400"/>
              <a:ext cx="1178097" cy="710682"/>
            </a:xfrm>
            <a:prstGeom prst="rightArrow">
              <a:avLst/>
            </a:prstGeom>
            <a:solidFill>
              <a:srgbClr val="F427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98E52DC-8D80-41F8-5A4E-D0CDD5511BBA}"/>
              </a:ext>
            </a:extLst>
          </p:cNvPr>
          <p:cNvGrpSpPr/>
          <p:nvPr/>
        </p:nvGrpSpPr>
        <p:grpSpPr>
          <a:xfrm>
            <a:off x="2942004" y="34588327"/>
            <a:ext cx="4057880" cy="1729817"/>
            <a:chOff x="2311398" y="35182158"/>
            <a:chExt cx="4057880" cy="1729817"/>
          </a:xfrm>
        </p:grpSpPr>
        <p:pic>
          <p:nvPicPr>
            <p:cNvPr id="30" name="그래픽 29" descr="클립보드 단색으로 채워진">
              <a:extLst>
                <a:ext uri="{FF2B5EF4-FFF2-40B4-BE49-F238E27FC236}">
                  <a16:creationId xmlns:a16="http://schemas.microsoft.com/office/drawing/2014/main" id="{EEA6C27D-CBD7-FB05-33CD-2E8AB0542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311398" y="35182158"/>
              <a:ext cx="1619177" cy="1619177"/>
            </a:xfrm>
            <a:prstGeom prst="rect">
              <a:avLst/>
            </a:prstGeom>
          </p:spPr>
        </p:pic>
        <p:pic>
          <p:nvPicPr>
            <p:cNvPr id="32" name="그래픽 31" descr="악보 단색으로 채워진">
              <a:extLst>
                <a:ext uri="{FF2B5EF4-FFF2-40B4-BE49-F238E27FC236}">
                  <a16:creationId xmlns:a16="http://schemas.microsoft.com/office/drawing/2014/main" id="{C072ABC8-9A86-B565-1AE5-98C7BC074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39461" y="35182158"/>
              <a:ext cx="1729817" cy="1729817"/>
            </a:xfrm>
            <a:prstGeom prst="rect">
              <a:avLst/>
            </a:prstGeom>
          </p:spPr>
        </p:pic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315E215-EE5E-4289-B36C-FBB69B480D35}"/>
              </a:ext>
            </a:extLst>
          </p:cNvPr>
          <p:cNvSpPr/>
          <p:nvPr/>
        </p:nvSpPr>
        <p:spPr>
          <a:xfrm>
            <a:off x="1915488" y="35904187"/>
            <a:ext cx="6364908" cy="5799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79400" indent="279400" latinLnBrk="0">
              <a:lnSpc>
                <a:spcPct val="120000"/>
              </a:lnSpc>
              <a:spcAft>
                <a:spcPts val="800"/>
              </a:spcAft>
            </a:pP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실험은 일주일간 음악 전공자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4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인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남성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1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명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여성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3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명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평균 연령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22.25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세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표준편차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0.43)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과 비전공자는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10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명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남성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6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명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여성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4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명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평균연령 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22.09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세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표준 편차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1.00)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에 대해 분석을 진행하여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결국 총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14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명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남성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7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명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여성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7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명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평균 연령 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22.13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세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표준 편차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0.88)</a:t>
            </a:r>
            <a:r>
              <a:rPr lang="ko-KR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에 대해 연구를 진행하였다</a:t>
            </a:r>
            <a:r>
              <a:rPr lang="en-US" altLang="ko-KR" sz="2800" kern="100" dirty="0">
                <a:solidFill>
                  <a:schemeClr val="tx1"/>
                </a:solidFill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.</a:t>
            </a:r>
            <a:endParaRPr lang="ko-KR" altLang="ko-KR" sz="2800" kern="100" dirty="0">
              <a:solidFill>
                <a:schemeClr val="tx1"/>
              </a:solidFill>
              <a:effectLst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EB4D4E-8D19-669F-5ED9-6F01B4FD14DC}"/>
              </a:ext>
            </a:extLst>
          </p:cNvPr>
          <p:cNvSpPr txBox="1"/>
          <p:nvPr/>
        </p:nvSpPr>
        <p:spPr>
          <a:xfrm>
            <a:off x="2034653" y="30302140"/>
            <a:ext cx="9900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sz="2800" b="1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Table 1. </a:t>
            </a:r>
            <a:r>
              <a:rPr lang="ko-KR" altLang="ko-KR" sz="2800" b="1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분석 별 음악 형식 구분</a:t>
            </a:r>
            <a:r>
              <a:rPr lang="en-US" altLang="ko-KR" sz="2800" b="1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. </a:t>
            </a:r>
            <a:endParaRPr lang="ko-KR" altLang="ko-KR" sz="2800" b="1" kern="100" dirty="0">
              <a:effectLst/>
              <a:latin typeface="나눔스퀘어 Light" panose="020B0600000101010101" pitchFamily="50" charset="-127"/>
              <a:ea typeface="나눔스퀘어 Light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8EC8A2-2A34-9FA2-4680-390789C77D52}"/>
              </a:ext>
            </a:extLst>
          </p:cNvPr>
          <p:cNvSpPr txBox="1"/>
          <p:nvPr/>
        </p:nvSpPr>
        <p:spPr>
          <a:xfrm>
            <a:off x="25531468" y="8208441"/>
            <a:ext cx="4556422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spcAft>
                <a:spcPts val="800"/>
              </a:spcAft>
            </a:pPr>
            <a:r>
              <a:rPr lang="en-US" altLang="ko-KR" sz="2800" b="1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Figure 1. </a:t>
            </a:r>
            <a:r>
              <a:rPr lang="ko-KR" altLang="ko-KR" sz="2800" b="1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청취횟수에 따른 전공별 </a:t>
            </a:r>
            <a:r>
              <a:rPr lang="ko-KR" altLang="en-US" sz="2800" b="1" kern="100" dirty="0" err="1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구분점</a:t>
            </a:r>
            <a:r>
              <a:rPr lang="en-US" altLang="ko-KR" sz="2800" b="1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첫번째 구분점에서 나타난 음악 전공자</a:t>
            </a:r>
            <a:r>
              <a:rPr lang="en-US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(Music)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와 비전공자</a:t>
            </a:r>
            <a:r>
              <a:rPr lang="en-US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(Non-Music)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의 응답을 정리한 상자 그림이다</a:t>
            </a:r>
            <a:r>
              <a:rPr lang="en-US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(A). 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두번째 </a:t>
            </a:r>
            <a:r>
              <a:rPr lang="ko-KR" altLang="en-US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구분점에서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 음악 전공자</a:t>
            </a:r>
            <a:r>
              <a:rPr lang="en-US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비전공자의 응답을 정리한 것이다</a:t>
            </a:r>
            <a:r>
              <a:rPr lang="en-US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(B). </a:t>
            </a:r>
            <a:r>
              <a:rPr lang="en-US" altLang="ko-KR" sz="2800" b="0" kern="100" dirty="0" err="1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Jihye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는</a:t>
            </a:r>
            <a:r>
              <a:rPr lang="en-US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 1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점 </a:t>
            </a:r>
            <a:r>
              <a:rPr lang="ko-KR" altLang="ko-KR" sz="2800" b="0" kern="100" dirty="0" err="1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쇄선의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 형태로</a:t>
            </a:r>
            <a:r>
              <a:rPr lang="en-US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, Chang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은 파선 형태로 표기하였다</a:t>
            </a:r>
            <a:r>
              <a:rPr lang="en-US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구분 시간과 각 집단은 단일표본</a:t>
            </a:r>
            <a:r>
              <a:rPr lang="en-US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 t-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검정을 시행했고</a:t>
            </a:r>
            <a:r>
              <a:rPr lang="en-US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두 집단에 대해서는</a:t>
            </a:r>
            <a:r>
              <a:rPr lang="en-US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 2 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표본</a:t>
            </a:r>
            <a:r>
              <a:rPr lang="en-US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 t-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검정을 시행했다</a:t>
            </a:r>
            <a:r>
              <a:rPr lang="en-US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. (*&lt;0.05, **&lt;0.01, ***&lt;.001)  </a:t>
            </a:r>
            <a:endParaRPr lang="ko-KR" altLang="ko-KR" sz="2800" b="1" kern="100" dirty="0">
              <a:effectLst/>
              <a:latin typeface="나눔스퀘어 Light" panose="020B0600000101010101" pitchFamily="50" charset="-127"/>
              <a:ea typeface="나눔스퀘어 Light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1D0F78-7001-F9DB-DF15-6A0CB19EFD9A}"/>
              </a:ext>
            </a:extLst>
          </p:cNvPr>
          <p:cNvSpPr txBox="1"/>
          <p:nvPr/>
        </p:nvSpPr>
        <p:spPr>
          <a:xfrm>
            <a:off x="17137842" y="26757781"/>
            <a:ext cx="1313895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spcAft>
                <a:spcPts val="800"/>
              </a:spcAft>
            </a:pPr>
            <a:r>
              <a:rPr lang="en-US" altLang="ko-KR" sz="2800" b="1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Figure 2. </a:t>
            </a:r>
            <a:r>
              <a:rPr lang="ko-KR" altLang="ko-KR" sz="2800" b="1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청취횟수에 따른 전공별 </a:t>
            </a:r>
            <a:r>
              <a:rPr lang="ko-KR" altLang="en-US" sz="2800" b="1" kern="100" dirty="0" err="1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구분점</a:t>
            </a:r>
            <a:r>
              <a:rPr lang="ko-KR" altLang="ko-KR" sz="2800" b="1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 표준편차</a:t>
            </a:r>
            <a:r>
              <a:rPr lang="en-US" altLang="ko-KR" sz="2800" b="1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파란색은 음악 비전공자를</a:t>
            </a:r>
            <a:r>
              <a:rPr lang="en-US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초록색은 음악 전공자를 나타낸다</a:t>
            </a:r>
            <a:r>
              <a:rPr lang="en-US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점선과 동그란 표식은 첫번째 </a:t>
            </a:r>
            <a:r>
              <a:rPr lang="ko-KR" altLang="en-US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구분점을</a:t>
            </a:r>
            <a:r>
              <a:rPr lang="en-US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직선과 사각형 표식은 두번째 </a:t>
            </a:r>
            <a:r>
              <a:rPr lang="ko-KR" altLang="en-US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구분점에서</a:t>
            </a:r>
            <a:r>
              <a:rPr lang="ko-KR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 나타난 표준편차를 의미한다</a:t>
            </a:r>
            <a:r>
              <a:rPr lang="en-US" altLang="ko-KR" sz="2800" b="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2800" b="1" kern="100" dirty="0">
              <a:effectLst/>
              <a:latin typeface="나눔스퀘어 Light" panose="020B0600000101010101" pitchFamily="50" charset="-127"/>
              <a:ea typeface="나눔스퀘어 Light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B62306-6860-6C22-271F-092021018BE0}"/>
              </a:ext>
            </a:extLst>
          </p:cNvPr>
          <p:cNvSpPr txBox="1"/>
          <p:nvPr/>
        </p:nvSpPr>
        <p:spPr>
          <a:xfrm>
            <a:off x="16705470" y="38797078"/>
            <a:ext cx="1377833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latinLnBrk="0">
              <a:buFont typeface="+mj-lt"/>
              <a:buAutoNum type="arabicParenR"/>
            </a:pP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Pollard-Gott, L. (1983). Emergence of thematic concepts in repeated listening to music. Cognitive psychology, 15(1), 66-94.</a:t>
            </a:r>
            <a:endParaRPr lang="ko-KR" altLang="ko-KR" sz="1600" kern="100" dirty="0">
              <a:effectLst/>
              <a:latin typeface="나눔스퀘어 Light" panose="020B0600000101010101" pitchFamily="50" charset="-127"/>
              <a:ea typeface="나눔스퀘어 Light" panose="020B0600000101010101" pitchFamily="50" charset="-127"/>
              <a:cs typeface="Times New Roman" panose="02020603050405020304" pitchFamily="18" charset="0"/>
            </a:endParaRPr>
          </a:p>
          <a:p>
            <a:pPr marL="342900" lvl="0" indent="-342900" algn="just" latinLnBrk="0">
              <a:buFont typeface="+mj-lt"/>
              <a:buAutoNum type="arabicParenR"/>
            </a:pPr>
            <a:r>
              <a:rPr lang="en-US" altLang="ko-KR" sz="1600" kern="100" dirty="0" err="1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Tillmann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, B., &amp; </a:t>
            </a:r>
            <a:r>
              <a:rPr lang="en-US" altLang="ko-KR" sz="1600" kern="100" dirty="0" err="1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Bigand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, E. (2010). Musical structure processing after repeated listening: Schematic expectations resist veridical expectations. </a:t>
            </a:r>
            <a:r>
              <a:rPr lang="en-US" altLang="ko-KR" sz="1600" i="1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Musicae Scientiae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, </a:t>
            </a:r>
            <a:r>
              <a:rPr lang="en-US" altLang="ko-KR" sz="1600" i="1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14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(2_suppl), 33-47.</a:t>
            </a:r>
            <a:endParaRPr lang="ko-KR" altLang="ko-KR" sz="1600" kern="100" dirty="0">
              <a:effectLst/>
              <a:latin typeface="나눔스퀘어 Light" panose="020B0600000101010101" pitchFamily="50" charset="-127"/>
              <a:ea typeface="나눔스퀘어 Light" panose="020B0600000101010101" pitchFamily="50" charset="-127"/>
              <a:cs typeface="Times New Roman" panose="02020603050405020304" pitchFamily="18" charset="0"/>
            </a:endParaRPr>
          </a:p>
          <a:p>
            <a:pPr marL="342900" lvl="0" indent="-342900" algn="just" latinLnBrk="0">
              <a:buFont typeface="+mj-lt"/>
              <a:buAutoNum type="arabicParenR"/>
            </a:pPr>
            <a:r>
              <a:rPr lang="en-US" altLang="ko-KR" sz="1600" kern="100" dirty="0" err="1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Lerdahl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, F., &amp; </a:t>
            </a:r>
            <a:r>
              <a:rPr lang="en-US" altLang="ko-KR" sz="1600" kern="100" dirty="0" err="1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Jackendoff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, R. (1983). An overview of hierarchical structure in music. </a:t>
            </a:r>
            <a:r>
              <a:rPr lang="en-US" altLang="ko-KR" sz="1600" i="1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Music Perception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, </a:t>
            </a:r>
            <a:r>
              <a:rPr lang="en-US" altLang="ko-KR" sz="1600" i="1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1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(2), 229-252.</a:t>
            </a:r>
            <a:endParaRPr lang="ko-KR" altLang="ko-KR" sz="1600" kern="100" dirty="0">
              <a:effectLst/>
              <a:latin typeface="나눔스퀘어 Light" panose="020B0600000101010101" pitchFamily="50" charset="-127"/>
              <a:ea typeface="나눔스퀘어 Light" panose="020B0600000101010101" pitchFamily="50" charset="-127"/>
              <a:cs typeface="Times New Roman" panose="02020603050405020304" pitchFamily="18" charset="0"/>
            </a:endParaRPr>
          </a:p>
          <a:p>
            <a:pPr marL="342900" lvl="0" indent="-342900" algn="just" latinLnBrk="0">
              <a:buFont typeface="+mj-lt"/>
              <a:buAutoNum type="arabicParenR"/>
            </a:pP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McNamee, A. K. (1986). Tonal Harmony, with an Introduction to Twentieth-Century Music.</a:t>
            </a:r>
            <a:endParaRPr lang="ko-KR" altLang="ko-KR" sz="1600" kern="100" dirty="0">
              <a:effectLst/>
              <a:latin typeface="나눔스퀘어 Light" panose="020B0600000101010101" pitchFamily="50" charset="-127"/>
              <a:ea typeface="나눔스퀘어 Light" panose="020B0600000101010101" pitchFamily="50" charset="-127"/>
              <a:cs typeface="Times New Roman" panose="02020603050405020304" pitchFamily="18" charset="0"/>
            </a:endParaRPr>
          </a:p>
          <a:p>
            <a:pPr marL="342900" lvl="0" indent="-342900" algn="just" latinLnBrk="0">
              <a:buFont typeface="+mj-lt"/>
              <a:buAutoNum type="arabicParenR"/>
            </a:pP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Christensen, T. (2004). </a:t>
            </a:r>
            <a:r>
              <a:rPr lang="en-US" altLang="ko-KR" sz="1600" i="1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Rameau and musical thought in the Enlightenment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 (Vol. 4). Cambridge University Press.</a:t>
            </a:r>
            <a:endParaRPr lang="ko-KR" altLang="ko-KR" sz="1600" kern="100" dirty="0">
              <a:effectLst/>
              <a:latin typeface="나눔스퀘어 Light" panose="020B0600000101010101" pitchFamily="50" charset="-127"/>
              <a:ea typeface="나눔스퀘어 Light" panose="020B0600000101010101" pitchFamily="50" charset="-127"/>
              <a:cs typeface="Times New Roman" panose="02020603050405020304" pitchFamily="18" charset="0"/>
            </a:endParaRPr>
          </a:p>
          <a:p>
            <a:pPr marL="342900" lvl="0" indent="-342900" algn="just" latinLnBrk="0">
              <a:buFont typeface="+mj-lt"/>
              <a:buAutoNum type="arabicParenR"/>
            </a:pP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Forte, A. (1959). Schenker's conception of musical structure. </a:t>
            </a:r>
            <a:r>
              <a:rPr lang="en-US" altLang="ko-KR" sz="1600" i="1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Journal of Music Theory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, </a:t>
            </a:r>
            <a:r>
              <a:rPr lang="en-US" altLang="ko-KR" sz="1600" i="1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3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(1), 1-30.</a:t>
            </a:r>
            <a:endParaRPr lang="ko-KR" altLang="ko-KR" sz="1600" kern="100" dirty="0">
              <a:effectLst/>
              <a:latin typeface="나눔스퀘어 Light" panose="020B0600000101010101" pitchFamily="50" charset="-127"/>
              <a:ea typeface="나눔스퀘어 Light" panose="020B0600000101010101" pitchFamily="50" charset="-127"/>
              <a:cs typeface="Times New Roman" panose="02020603050405020304" pitchFamily="18" charset="0"/>
            </a:endParaRPr>
          </a:p>
          <a:p>
            <a:pPr marL="342900" lvl="0" indent="-342900" algn="just" latinLnBrk="0">
              <a:buFont typeface="+mj-lt"/>
              <a:buAutoNum type="arabicParenR"/>
            </a:pPr>
            <a:r>
              <a:rPr lang="en-US" altLang="ko-KR" sz="1600" kern="100" dirty="0" err="1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Agawu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, K. (2018). The Art of Tonal Analysis: Twelve Lessons in </a:t>
            </a:r>
            <a:r>
              <a:rPr lang="en-US" altLang="ko-KR" sz="1600" kern="100" dirty="0" err="1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Schenkerian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 Theory.</a:t>
            </a:r>
            <a:endParaRPr lang="ko-KR" altLang="ko-KR" sz="1600" kern="100" dirty="0">
              <a:effectLst/>
              <a:latin typeface="나눔스퀘어 Light" panose="020B0600000101010101" pitchFamily="50" charset="-127"/>
              <a:ea typeface="나눔스퀘어 Light" panose="020B0600000101010101" pitchFamily="50" charset="-127"/>
              <a:cs typeface="Times New Roman" panose="02020603050405020304" pitchFamily="18" charset="0"/>
            </a:endParaRPr>
          </a:p>
          <a:p>
            <a:pPr marL="342900" lvl="0" indent="-342900" algn="just" latinLnBrk="0">
              <a:buFont typeface="+mj-lt"/>
              <a:buAutoNum type="arabicParenR"/>
            </a:pPr>
            <a:r>
              <a:rPr lang="ko-KR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최혜정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. (2015). </a:t>
            </a:r>
            <a:r>
              <a:rPr lang="ko-KR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벨라 </a:t>
            </a:r>
            <a:r>
              <a:rPr lang="ko-KR" altLang="ko-KR" sz="1600" kern="100" dirty="0" err="1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바르톡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(Bela Bartok)</a:t>
            </a:r>
            <a:r>
              <a:rPr lang="ko-KR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의 「피아노 소나타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sz="1600" kern="100" dirty="0" err="1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Sz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. 80(1926)</a:t>
            </a:r>
            <a:r>
              <a:rPr lang="ko-KR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」의 분석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평택대학교 일반대학원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석사학위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600" kern="100" dirty="0">
              <a:effectLst/>
              <a:latin typeface="나눔스퀘어 Light" panose="020B0600000101010101" pitchFamily="50" charset="-127"/>
              <a:ea typeface="나눔스퀘어 Light" panose="020B0600000101010101" pitchFamily="50" charset="-127"/>
              <a:cs typeface="Times New Roman" panose="02020603050405020304" pitchFamily="18" charset="0"/>
            </a:endParaRPr>
          </a:p>
          <a:p>
            <a:pPr marL="342900" lvl="0" indent="-342900" algn="just" latinLnBrk="0">
              <a:buFont typeface="+mj-lt"/>
              <a:buAutoNum type="arabicParenR"/>
            </a:pP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Chang, Y. L. (2000). A study and performer's analysis of piano sonatas by Béla Bartók and Serge Prokofiev. University of Cincinnati.</a:t>
            </a:r>
            <a:endParaRPr lang="ko-KR" altLang="ko-KR" sz="1600" kern="100" dirty="0">
              <a:effectLst/>
              <a:latin typeface="나눔스퀘어 Light" panose="020B0600000101010101" pitchFamily="50" charset="-127"/>
              <a:ea typeface="나눔스퀘어 Light" panose="020B0600000101010101" pitchFamily="50" charset="-127"/>
              <a:cs typeface="Times New Roman" panose="02020603050405020304" pitchFamily="18" charset="0"/>
            </a:endParaRPr>
          </a:p>
          <a:p>
            <a:pPr marL="342900" lvl="0" indent="-342900" algn="just" latinLnBrk="0">
              <a:spcAft>
                <a:spcPts val="800"/>
              </a:spcAft>
              <a:buFont typeface="+mj-lt"/>
              <a:buAutoNum type="arabicParenR"/>
            </a:pPr>
            <a:r>
              <a:rPr lang="en-US" altLang="ko-KR" sz="1600" kern="100" dirty="0" err="1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Jihye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, L. (2023). A linear analysis of piano sonata (1926) </a:t>
            </a:r>
            <a:r>
              <a:rPr lang="en-US" altLang="ko-KR" sz="1600" kern="100" dirty="0" err="1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Sz</a:t>
            </a:r>
            <a:r>
              <a:rPr lang="en-US" altLang="ko-KR" sz="1600" kern="100" dirty="0">
                <a:effectLst/>
                <a:latin typeface="나눔스퀘어 Light" panose="020B0600000101010101" pitchFamily="50" charset="-127"/>
                <a:ea typeface="나눔스퀘어 Light" panose="020B0600000101010101" pitchFamily="50" charset="-127"/>
                <a:cs typeface="Times New Roman" panose="02020603050405020304" pitchFamily="18" charset="0"/>
              </a:rPr>
              <a:t>. 80 by Bela Bartok: The genesis and development of the composition. University of North.</a:t>
            </a:r>
            <a:endParaRPr lang="en-US" altLang="ko-KR" sz="1600" kern="100" dirty="0">
              <a:latin typeface="나눔스퀘어 Light" panose="020B0600000101010101" pitchFamily="50" charset="-127"/>
              <a:ea typeface="나눔스퀘어 Light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804E06-7AA9-0BBE-F463-0417ACAE8A66}"/>
              </a:ext>
            </a:extLst>
          </p:cNvPr>
          <p:cNvSpPr txBox="1"/>
          <p:nvPr/>
        </p:nvSpPr>
        <p:spPr>
          <a:xfrm>
            <a:off x="16758579" y="30825360"/>
            <a:ext cx="13779835" cy="54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latinLnBrk="0">
              <a:lnSpc>
                <a:spcPct val="120000"/>
              </a:lnSpc>
              <a:spcAft>
                <a:spcPts val="800"/>
              </a:spcAft>
              <a:buFontTx/>
              <a:buChar char="-"/>
            </a:pPr>
            <a:r>
              <a:rPr lang="ko-KR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전공자는 익숙하지 않고 바로 파악하기 어려운 음악에 대해서 반복되는 화음과 음형에 따라 구조를 인식하고</a:t>
            </a:r>
            <a:r>
              <a:rPr lang="en-US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구분하여 반복 청취 과정에서 명확히 구분되지 않는 첫번째 구분점은</a:t>
            </a:r>
            <a:r>
              <a:rPr lang="en-US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3200" kern="100" dirty="0" err="1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Jihye</a:t>
            </a:r>
            <a:r>
              <a:rPr lang="ko-KR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에 가깝게</a:t>
            </a:r>
            <a:r>
              <a:rPr lang="en-US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그 이후 명백한 반복구조가 나타나는 두번째 구분점에서는 대체로 전통적 화성 분석을 기반으로 하는</a:t>
            </a:r>
            <a:r>
              <a:rPr lang="en-US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Chang</a:t>
            </a:r>
            <a:r>
              <a:rPr lang="ko-KR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에 수렴하여 분석</a:t>
            </a:r>
            <a:r>
              <a:rPr lang="ko-KR" altLang="en-US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한다</a:t>
            </a:r>
            <a:r>
              <a:rPr lang="en-US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.</a:t>
            </a:r>
          </a:p>
          <a:p>
            <a:pPr marL="457200" indent="-457200" latinLnBrk="0">
              <a:lnSpc>
                <a:spcPct val="120000"/>
              </a:lnSpc>
              <a:spcAft>
                <a:spcPts val="800"/>
              </a:spcAft>
              <a:buFontTx/>
              <a:buChar char="-"/>
            </a:pPr>
            <a:r>
              <a:rPr lang="ko-KR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비전공자는 한쪽으로 통합되기 보다는 </a:t>
            </a:r>
            <a:r>
              <a:rPr lang="en-US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‘</a:t>
            </a:r>
            <a:r>
              <a:rPr lang="ko-KR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분위기</a:t>
            </a:r>
            <a:r>
              <a:rPr lang="en-US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’</a:t>
            </a:r>
            <a:r>
              <a:rPr lang="ko-KR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와 같이 개별적으로 생각하는 음악의 기준에 따라 다른 양상을 나타난다고 볼 수 있다</a:t>
            </a:r>
            <a:r>
              <a:rPr lang="en-US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. </a:t>
            </a:r>
            <a:r>
              <a:rPr lang="ko-KR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다만 첫 </a:t>
            </a:r>
            <a:r>
              <a:rPr lang="ko-KR" altLang="en-US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구분점에서는</a:t>
            </a:r>
            <a:r>
              <a:rPr lang="en-US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Chang</a:t>
            </a:r>
            <a:r>
              <a:rPr lang="ko-KR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과 명백히 구분되는 결과가 나왔기 때문에</a:t>
            </a:r>
            <a:r>
              <a:rPr lang="en-US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관련하여 추가적인 분석을 진행하는 것이 필</a:t>
            </a:r>
            <a:r>
              <a:rPr lang="ko-KR" altLang="en-US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요하다</a:t>
            </a:r>
            <a:r>
              <a:rPr lang="en-US" altLang="ko-KR" sz="3200" kern="100" dirty="0">
                <a:effectLst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.</a:t>
            </a:r>
            <a:endParaRPr lang="ko-KR" altLang="ko-KR" sz="3200" kern="100" dirty="0">
              <a:effectLst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889</Words>
  <Application>Microsoft Office PowerPoint</Application>
  <PresentationFormat>사용자 지정</PresentationFormat>
  <Paragraphs>35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나눔스퀘어 Light</vt:lpstr>
      <vt:lpstr>나눔스퀘어 네오 Bold</vt:lpstr>
      <vt:lpstr>나눔스퀘어 네오 Heavy</vt:lpstr>
      <vt:lpstr>Batang</vt:lpstr>
      <vt:lpstr>Arial</vt:lpstr>
      <vt:lpstr>Calibri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Brain</dc:creator>
  <cp:lastModifiedBy>22 B</cp:lastModifiedBy>
  <cp:revision>7</cp:revision>
  <dcterms:created xsi:type="dcterms:W3CDTF">2016-10-11T09:46:40Z</dcterms:created>
  <dcterms:modified xsi:type="dcterms:W3CDTF">2024-12-13T15:09:27Z</dcterms:modified>
</cp:coreProperties>
</file>