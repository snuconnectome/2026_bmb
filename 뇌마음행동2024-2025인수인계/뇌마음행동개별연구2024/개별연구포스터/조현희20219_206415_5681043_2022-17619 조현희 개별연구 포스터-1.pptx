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9" r:id="rId2"/>
  </p:sldIdLst>
  <p:sldSz cx="32399288" cy="43200638"/>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gQQex2AJcqbRTXDH5A0xWDSmUdl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00"/>
    <p:restoredTop sz="94726"/>
  </p:normalViewPr>
  <p:slideViewPr>
    <p:cSldViewPr snapToGrid="0">
      <p:cViewPr>
        <p:scale>
          <a:sx n="24" d="100"/>
          <a:sy n="24" d="100"/>
        </p:scale>
        <p:origin x="1008" y="-10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25" y="4861425"/>
            <a:ext cx="56794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2A97E7D-ADE6-CFC1-67E8-864D4CB9A3A5}"/>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68B36E1D-03C7-B13C-C383-1FACD23A288B}"/>
              </a:ext>
            </a:extLst>
          </p:cNvPr>
          <p:cNvSpPr txBox="1">
            <a:spLocks noGrp="1"/>
          </p:cNvSpPr>
          <p:nvPr>
            <p:ph type="body" idx="1"/>
          </p:nvPr>
        </p:nvSpPr>
        <p:spPr>
          <a:xfrm>
            <a:off x="709925" y="4861425"/>
            <a:ext cx="56794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D074FE60-8AAA-8462-07DC-F1ADFF22E07A}"/>
              </a:ext>
            </a:extLst>
          </p:cNvPr>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909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2429947" y="7070108"/>
            <a:ext cx="27539395" cy="1504022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4049912" y="22690339"/>
            <a:ext cx="24299466" cy="1043015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342"/>
              </a:spcBef>
              <a:spcAft>
                <a:spcPts val="0"/>
              </a:spcAft>
              <a:buClr>
                <a:schemeClr val="dk1"/>
              </a:buClr>
              <a:buSzPts val="7946"/>
              <a:buNone/>
              <a:defRPr sz="8020"/>
            </a:lvl1pPr>
            <a:lvl2pPr lvl="1" algn="ctr">
              <a:lnSpc>
                <a:spcPct val="90000"/>
              </a:lnSpc>
              <a:spcBef>
                <a:spcPts val="1670"/>
              </a:spcBef>
              <a:spcAft>
                <a:spcPts val="0"/>
              </a:spcAft>
              <a:buClr>
                <a:schemeClr val="dk1"/>
              </a:buClr>
              <a:buSzPts val="6622"/>
              <a:buNone/>
              <a:defRPr sz="6684"/>
            </a:lvl2pPr>
            <a:lvl3pPr lvl="2" algn="ctr">
              <a:lnSpc>
                <a:spcPct val="90000"/>
              </a:lnSpc>
              <a:spcBef>
                <a:spcPts val="1670"/>
              </a:spcBef>
              <a:spcAft>
                <a:spcPts val="0"/>
              </a:spcAft>
              <a:buClr>
                <a:schemeClr val="dk1"/>
              </a:buClr>
              <a:buSzPts val="5960"/>
              <a:buNone/>
              <a:defRPr sz="6015"/>
            </a:lvl3pPr>
            <a:lvl4pPr lvl="3" algn="ctr">
              <a:lnSpc>
                <a:spcPct val="90000"/>
              </a:lnSpc>
              <a:spcBef>
                <a:spcPts val="1670"/>
              </a:spcBef>
              <a:spcAft>
                <a:spcPts val="0"/>
              </a:spcAft>
              <a:buClr>
                <a:schemeClr val="dk1"/>
              </a:buClr>
              <a:buSzPts val="5297"/>
              <a:buNone/>
              <a:defRPr sz="5346"/>
            </a:lvl4pPr>
            <a:lvl5pPr lvl="4" algn="ctr">
              <a:lnSpc>
                <a:spcPct val="90000"/>
              </a:lnSpc>
              <a:spcBef>
                <a:spcPts val="1670"/>
              </a:spcBef>
              <a:spcAft>
                <a:spcPts val="0"/>
              </a:spcAft>
              <a:buClr>
                <a:schemeClr val="dk1"/>
              </a:buClr>
              <a:buSzPts val="5297"/>
              <a:buNone/>
              <a:defRPr sz="5346"/>
            </a:lvl5pPr>
            <a:lvl6pPr lvl="5" algn="ctr">
              <a:lnSpc>
                <a:spcPct val="90000"/>
              </a:lnSpc>
              <a:spcBef>
                <a:spcPts val="1670"/>
              </a:spcBef>
              <a:spcAft>
                <a:spcPts val="0"/>
              </a:spcAft>
              <a:buClr>
                <a:schemeClr val="dk1"/>
              </a:buClr>
              <a:buSzPts val="5297"/>
              <a:buNone/>
              <a:defRPr sz="5346"/>
            </a:lvl6pPr>
            <a:lvl7pPr lvl="6" algn="ctr">
              <a:lnSpc>
                <a:spcPct val="90000"/>
              </a:lnSpc>
              <a:spcBef>
                <a:spcPts val="1670"/>
              </a:spcBef>
              <a:spcAft>
                <a:spcPts val="0"/>
              </a:spcAft>
              <a:buClr>
                <a:schemeClr val="dk1"/>
              </a:buClr>
              <a:buSzPts val="5297"/>
              <a:buNone/>
              <a:defRPr sz="5346"/>
            </a:lvl7pPr>
            <a:lvl8pPr lvl="7" algn="ctr">
              <a:lnSpc>
                <a:spcPct val="90000"/>
              </a:lnSpc>
              <a:spcBef>
                <a:spcPts val="1670"/>
              </a:spcBef>
              <a:spcAft>
                <a:spcPts val="0"/>
              </a:spcAft>
              <a:buClr>
                <a:schemeClr val="dk1"/>
              </a:buClr>
              <a:buSzPts val="5297"/>
              <a:buNone/>
              <a:defRPr sz="5346"/>
            </a:lvl8pPr>
            <a:lvl9pPr lvl="8" algn="ctr">
              <a:lnSpc>
                <a:spcPct val="90000"/>
              </a:lnSpc>
              <a:spcBef>
                <a:spcPts val="1670"/>
              </a:spcBef>
              <a:spcAft>
                <a:spcPts val="0"/>
              </a:spcAft>
              <a:buClr>
                <a:schemeClr val="dk1"/>
              </a:buClr>
              <a:buSzPts val="5297"/>
              <a:buNone/>
              <a:defRPr sz="5346"/>
            </a:lvl9pPr>
          </a:lstStyle>
          <a:p>
            <a:endParaRPr/>
          </a:p>
        </p:txBody>
      </p:sp>
      <p:sp>
        <p:nvSpPr>
          <p:cNvPr id="18" name="Google Shape;18;p4"/>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210578" y="10770173"/>
            <a:ext cx="27944386" cy="179702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2210578" y="28910440"/>
            <a:ext cx="27944386" cy="9450136"/>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7946"/>
              <a:buNone/>
              <a:defRPr sz="8020">
                <a:solidFill>
                  <a:schemeClr val="dk1"/>
                </a:solidFill>
              </a:defRPr>
            </a:lvl1pPr>
            <a:lvl2pPr marL="922904" lvl="1" indent="-230726" algn="l">
              <a:lnSpc>
                <a:spcPct val="90000"/>
              </a:lnSpc>
              <a:spcBef>
                <a:spcPts val="1670"/>
              </a:spcBef>
              <a:spcAft>
                <a:spcPts val="0"/>
              </a:spcAft>
              <a:buClr>
                <a:srgbClr val="888888"/>
              </a:buClr>
              <a:buSzPts val="6622"/>
              <a:buNone/>
              <a:defRPr sz="6684">
                <a:solidFill>
                  <a:srgbClr val="888888"/>
                </a:solidFill>
              </a:defRPr>
            </a:lvl2pPr>
            <a:lvl3pPr marL="1384356" lvl="2" indent="-230726" algn="l">
              <a:lnSpc>
                <a:spcPct val="90000"/>
              </a:lnSpc>
              <a:spcBef>
                <a:spcPts val="1670"/>
              </a:spcBef>
              <a:spcAft>
                <a:spcPts val="0"/>
              </a:spcAft>
              <a:buClr>
                <a:srgbClr val="888888"/>
              </a:buClr>
              <a:buSzPts val="5960"/>
              <a:buNone/>
              <a:defRPr sz="6015">
                <a:solidFill>
                  <a:srgbClr val="888888"/>
                </a:solidFill>
              </a:defRPr>
            </a:lvl3pPr>
            <a:lvl4pPr marL="1845808" lvl="3" indent="-230726" algn="l">
              <a:lnSpc>
                <a:spcPct val="90000"/>
              </a:lnSpc>
              <a:spcBef>
                <a:spcPts val="1670"/>
              </a:spcBef>
              <a:spcAft>
                <a:spcPts val="0"/>
              </a:spcAft>
              <a:buClr>
                <a:srgbClr val="888888"/>
              </a:buClr>
              <a:buSzPts val="5297"/>
              <a:buNone/>
              <a:defRPr sz="5346">
                <a:solidFill>
                  <a:srgbClr val="888888"/>
                </a:solidFill>
              </a:defRPr>
            </a:lvl4pPr>
            <a:lvl5pPr marL="2307260" lvl="4" indent="-230726" algn="l">
              <a:lnSpc>
                <a:spcPct val="90000"/>
              </a:lnSpc>
              <a:spcBef>
                <a:spcPts val="1670"/>
              </a:spcBef>
              <a:spcAft>
                <a:spcPts val="0"/>
              </a:spcAft>
              <a:buClr>
                <a:srgbClr val="888888"/>
              </a:buClr>
              <a:buSzPts val="5297"/>
              <a:buNone/>
              <a:defRPr sz="5346">
                <a:solidFill>
                  <a:srgbClr val="888888"/>
                </a:solidFill>
              </a:defRPr>
            </a:lvl5pPr>
            <a:lvl6pPr marL="2768712" lvl="5" indent="-230726" algn="l">
              <a:lnSpc>
                <a:spcPct val="90000"/>
              </a:lnSpc>
              <a:spcBef>
                <a:spcPts val="1670"/>
              </a:spcBef>
              <a:spcAft>
                <a:spcPts val="0"/>
              </a:spcAft>
              <a:buClr>
                <a:srgbClr val="888888"/>
              </a:buClr>
              <a:buSzPts val="5297"/>
              <a:buNone/>
              <a:defRPr sz="5346">
                <a:solidFill>
                  <a:srgbClr val="888888"/>
                </a:solidFill>
              </a:defRPr>
            </a:lvl6pPr>
            <a:lvl7pPr marL="3230164" lvl="6" indent="-230726" algn="l">
              <a:lnSpc>
                <a:spcPct val="90000"/>
              </a:lnSpc>
              <a:spcBef>
                <a:spcPts val="1670"/>
              </a:spcBef>
              <a:spcAft>
                <a:spcPts val="0"/>
              </a:spcAft>
              <a:buClr>
                <a:srgbClr val="888888"/>
              </a:buClr>
              <a:buSzPts val="5297"/>
              <a:buNone/>
              <a:defRPr sz="5346">
                <a:solidFill>
                  <a:srgbClr val="888888"/>
                </a:solidFill>
              </a:defRPr>
            </a:lvl7pPr>
            <a:lvl8pPr marL="3691616" lvl="7" indent="-230726" algn="l">
              <a:lnSpc>
                <a:spcPct val="90000"/>
              </a:lnSpc>
              <a:spcBef>
                <a:spcPts val="1670"/>
              </a:spcBef>
              <a:spcAft>
                <a:spcPts val="0"/>
              </a:spcAft>
              <a:buClr>
                <a:srgbClr val="888888"/>
              </a:buClr>
              <a:buSzPts val="5297"/>
              <a:buNone/>
              <a:defRPr sz="5346">
                <a:solidFill>
                  <a:srgbClr val="888888"/>
                </a:solidFill>
              </a:defRPr>
            </a:lvl8pPr>
            <a:lvl9pPr marL="4153068" lvl="8" indent="-230726" algn="l">
              <a:lnSpc>
                <a:spcPct val="90000"/>
              </a:lnSpc>
              <a:spcBef>
                <a:spcPts val="1670"/>
              </a:spcBef>
              <a:spcAft>
                <a:spcPts val="0"/>
              </a:spcAft>
              <a:buClr>
                <a:srgbClr val="888888"/>
              </a:buClr>
              <a:buSzPts val="5297"/>
              <a:buNone/>
              <a:defRPr sz="5346">
                <a:solidFill>
                  <a:srgbClr val="888888"/>
                </a:solidFill>
              </a:defRPr>
            </a:lvl9pPr>
          </a:lstStyle>
          <a:p>
            <a:endParaRPr/>
          </a:p>
        </p:txBody>
      </p:sp>
      <p:sp>
        <p:nvSpPr>
          <p:cNvPr id="30" name="Google Shape;30;p6"/>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2227451"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16402139"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2231671"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2231675" y="10590160"/>
            <a:ext cx="13706415"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3" name="Google Shape;43;p8"/>
          <p:cNvSpPr txBox="1">
            <a:spLocks noGrp="1"/>
          </p:cNvSpPr>
          <p:nvPr>
            <p:ph type="body" idx="2"/>
          </p:nvPr>
        </p:nvSpPr>
        <p:spPr>
          <a:xfrm>
            <a:off x="2231675" y="15780234"/>
            <a:ext cx="13706415"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16402141" y="10590160"/>
            <a:ext cx="13773918"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5" name="Google Shape;45;p8"/>
          <p:cNvSpPr txBox="1">
            <a:spLocks noGrp="1"/>
          </p:cNvSpPr>
          <p:nvPr>
            <p:ph type="body" idx="4"/>
          </p:nvPr>
        </p:nvSpPr>
        <p:spPr>
          <a:xfrm>
            <a:off x="16402141" y="15780234"/>
            <a:ext cx="13773918"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773918" y="6220102"/>
            <a:ext cx="16402140" cy="30700453"/>
          </a:xfrm>
          <a:prstGeom prst="rect">
            <a:avLst/>
          </a:prstGeom>
          <a:noFill/>
          <a:ln>
            <a:noFill/>
          </a:ln>
        </p:spPr>
        <p:txBody>
          <a:bodyPr spcFirstLastPara="1" wrap="square" lIns="91425" tIns="45700" rIns="91425" bIns="45700" anchor="t" anchorCtr="0">
            <a:normAutofit/>
          </a:bodyPr>
          <a:lstStyle>
            <a:lvl1pPr marL="461452" lvl="0" indent="-909765" algn="l">
              <a:lnSpc>
                <a:spcPct val="90000"/>
              </a:lnSpc>
              <a:spcBef>
                <a:spcPts val="3342"/>
              </a:spcBef>
              <a:spcAft>
                <a:spcPts val="0"/>
              </a:spcAft>
              <a:buClr>
                <a:schemeClr val="dk1"/>
              </a:buClr>
              <a:buSzPts val="10595"/>
              <a:buChar char="•"/>
              <a:defRPr sz="10694"/>
            </a:lvl1pPr>
            <a:lvl2pPr marL="922904" lvl="1" indent="-824909" algn="l">
              <a:lnSpc>
                <a:spcPct val="90000"/>
              </a:lnSpc>
              <a:spcBef>
                <a:spcPts val="1670"/>
              </a:spcBef>
              <a:spcAft>
                <a:spcPts val="0"/>
              </a:spcAft>
              <a:buClr>
                <a:schemeClr val="dk1"/>
              </a:buClr>
              <a:buSzPts val="9271"/>
              <a:buChar char="•"/>
              <a:defRPr sz="9357"/>
            </a:lvl2pPr>
            <a:lvl3pPr marL="1384356" lvl="2" indent="-739989" algn="l">
              <a:lnSpc>
                <a:spcPct val="90000"/>
              </a:lnSpc>
              <a:spcBef>
                <a:spcPts val="1670"/>
              </a:spcBef>
              <a:spcAft>
                <a:spcPts val="0"/>
              </a:spcAft>
              <a:buClr>
                <a:schemeClr val="dk1"/>
              </a:buClr>
              <a:buSzPts val="7946"/>
              <a:buChar char="•"/>
              <a:defRPr sz="8020"/>
            </a:lvl3pPr>
            <a:lvl4pPr marL="1845808" lvl="3" indent="-655134" algn="l">
              <a:lnSpc>
                <a:spcPct val="90000"/>
              </a:lnSpc>
              <a:spcBef>
                <a:spcPts val="1670"/>
              </a:spcBef>
              <a:spcAft>
                <a:spcPts val="0"/>
              </a:spcAft>
              <a:buClr>
                <a:schemeClr val="dk1"/>
              </a:buClr>
              <a:buSzPts val="6622"/>
              <a:buChar char="•"/>
              <a:defRPr sz="6684"/>
            </a:lvl4pPr>
            <a:lvl5pPr marL="2307260" lvl="4" indent="-655134" algn="l">
              <a:lnSpc>
                <a:spcPct val="90000"/>
              </a:lnSpc>
              <a:spcBef>
                <a:spcPts val="1670"/>
              </a:spcBef>
              <a:spcAft>
                <a:spcPts val="0"/>
              </a:spcAft>
              <a:buClr>
                <a:schemeClr val="dk1"/>
              </a:buClr>
              <a:buSzPts val="6622"/>
              <a:buChar char="•"/>
              <a:defRPr sz="6684"/>
            </a:lvl5pPr>
            <a:lvl6pPr marL="2768712" lvl="5" indent="-655134" algn="l">
              <a:lnSpc>
                <a:spcPct val="90000"/>
              </a:lnSpc>
              <a:spcBef>
                <a:spcPts val="1670"/>
              </a:spcBef>
              <a:spcAft>
                <a:spcPts val="0"/>
              </a:spcAft>
              <a:buClr>
                <a:schemeClr val="dk1"/>
              </a:buClr>
              <a:buSzPts val="6622"/>
              <a:buChar char="•"/>
              <a:defRPr sz="6684"/>
            </a:lvl6pPr>
            <a:lvl7pPr marL="3230164" lvl="6" indent="-655134" algn="l">
              <a:lnSpc>
                <a:spcPct val="90000"/>
              </a:lnSpc>
              <a:spcBef>
                <a:spcPts val="1670"/>
              </a:spcBef>
              <a:spcAft>
                <a:spcPts val="0"/>
              </a:spcAft>
              <a:buClr>
                <a:schemeClr val="dk1"/>
              </a:buClr>
              <a:buSzPts val="6622"/>
              <a:buChar char="•"/>
              <a:defRPr sz="6684"/>
            </a:lvl7pPr>
            <a:lvl8pPr marL="3691616" lvl="7" indent="-655134" algn="l">
              <a:lnSpc>
                <a:spcPct val="90000"/>
              </a:lnSpc>
              <a:spcBef>
                <a:spcPts val="1670"/>
              </a:spcBef>
              <a:spcAft>
                <a:spcPts val="0"/>
              </a:spcAft>
              <a:buClr>
                <a:schemeClr val="dk1"/>
              </a:buClr>
              <a:buSzPts val="6622"/>
              <a:buChar char="•"/>
              <a:defRPr sz="6684"/>
            </a:lvl8pPr>
            <a:lvl9pPr marL="4153068" lvl="8" indent="-655133" algn="l">
              <a:lnSpc>
                <a:spcPct val="90000"/>
              </a:lnSpc>
              <a:spcBef>
                <a:spcPts val="1670"/>
              </a:spcBef>
              <a:spcAft>
                <a:spcPts val="0"/>
              </a:spcAft>
              <a:buClr>
                <a:schemeClr val="dk1"/>
              </a:buClr>
              <a:buSzPts val="6622"/>
              <a:buChar char="•"/>
              <a:defRPr sz="6684"/>
            </a:lvl9pPr>
          </a:lstStyle>
          <a:p>
            <a:endParaRPr/>
          </a:p>
        </p:txBody>
      </p:sp>
      <p:sp>
        <p:nvSpPr>
          <p:cNvPr id="57" name="Google Shape;57;p10"/>
          <p:cNvSpPr txBox="1">
            <a:spLocks noGrp="1"/>
          </p:cNvSpPr>
          <p:nvPr>
            <p:ph type="body" idx="2"/>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58" name="Google Shape;58;p10"/>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3773918" y="6220102"/>
            <a:ext cx="16402140" cy="30700453"/>
          </a:xfrm>
          <a:prstGeom prst="rect">
            <a:avLst/>
          </a:prstGeom>
          <a:noFill/>
          <a:ln>
            <a:noFill/>
          </a:ln>
        </p:spPr>
      </p:sp>
      <p:sp>
        <p:nvSpPr>
          <p:cNvPr id="64" name="Google Shape;64;p11"/>
          <p:cNvSpPr txBox="1">
            <a:spLocks noGrp="1"/>
          </p:cNvSpPr>
          <p:nvPr>
            <p:ph type="body" idx="1"/>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65" name="Google Shape;65;p11"/>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494441" y="11233180"/>
            <a:ext cx="27410408" cy="27944386"/>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373519" y="17112258"/>
            <a:ext cx="36610544" cy="69860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801169" y="10328658"/>
            <a:ext cx="36610544" cy="2055329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568"/>
              <a:buFont typeface="Calibri"/>
              <a:buNone/>
              <a:defRPr sz="14567"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57200" marR="0" lvl="0" indent="-817308" algn="l" rtl="0">
              <a:lnSpc>
                <a:spcPct val="90000"/>
              </a:lnSpc>
              <a:spcBef>
                <a:spcPts val="3311"/>
              </a:spcBef>
              <a:spcAft>
                <a:spcPts val="0"/>
              </a:spcAft>
              <a:buClr>
                <a:schemeClr val="dk1"/>
              </a:buClr>
              <a:buSzPts val="9271"/>
              <a:buFont typeface="Arial"/>
              <a:buChar char="•"/>
              <a:defRPr sz="9271" b="0" i="0" u="none" strike="noStrike" cap="none">
                <a:solidFill>
                  <a:schemeClr val="dk1"/>
                </a:solidFill>
                <a:latin typeface="Calibri"/>
                <a:ea typeface="Calibri"/>
                <a:cs typeface="Calibri"/>
                <a:sym typeface="Calibri"/>
              </a:defRPr>
            </a:lvl1pPr>
            <a:lvl2pPr marL="914400" marR="0" lvl="1" indent="-733171" algn="l" rtl="0">
              <a:lnSpc>
                <a:spcPct val="90000"/>
              </a:lnSpc>
              <a:spcBef>
                <a:spcPts val="1655"/>
              </a:spcBef>
              <a:spcAft>
                <a:spcPts val="0"/>
              </a:spcAft>
              <a:buClr>
                <a:schemeClr val="dk1"/>
              </a:buClr>
              <a:buSzPts val="7946"/>
              <a:buFont typeface="Arial"/>
              <a:buChar char="•"/>
              <a:defRPr sz="7946" b="0" i="0" u="none" strike="noStrike" cap="none">
                <a:solidFill>
                  <a:schemeClr val="dk1"/>
                </a:solidFill>
                <a:latin typeface="Calibri"/>
                <a:ea typeface="Calibri"/>
                <a:cs typeface="Calibri"/>
                <a:sym typeface="Calibri"/>
              </a:defRPr>
            </a:lvl2pPr>
            <a:lvl3pPr marL="1371600" marR="0" lvl="2" indent="-649097" algn="l" rtl="0">
              <a:lnSpc>
                <a:spcPct val="90000"/>
              </a:lnSpc>
              <a:spcBef>
                <a:spcPts val="1655"/>
              </a:spcBef>
              <a:spcAft>
                <a:spcPts val="0"/>
              </a:spcAft>
              <a:buClr>
                <a:schemeClr val="dk1"/>
              </a:buClr>
              <a:buSzPts val="6622"/>
              <a:buFont typeface="Arial"/>
              <a:buChar char="•"/>
              <a:defRPr sz="6622" b="0" i="0" u="none" strike="noStrike" cap="none">
                <a:solidFill>
                  <a:schemeClr val="dk1"/>
                </a:solidFill>
                <a:latin typeface="Calibri"/>
                <a:ea typeface="Calibri"/>
                <a:cs typeface="Calibri"/>
                <a:sym typeface="Calibri"/>
              </a:defRPr>
            </a:lvl3pPr>
            <a:lvl4pPr marL="1828800" marR="0" lvl="3"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4pPr>
            <a:lvl5pPr marL="2286000" marR="0" lvl="4"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5pPr>
            <a:lvl6pPr marL="2743200" marR="0" lvl="5"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6pPr>
            <a:lvl7pPr marL="3200400" marR="0" lvl="6"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7pPr>
            <a:lvl8pPr marL="3657600" marR="0" lvl="7"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8pPr>
            <a:lvl9pPr marL="4114800" marR="0" lvl="8" indent="-607059"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010" b="0" i="0" u="none" strike="noStrike" cap="none">
                <a:solidFill>
                  <a:srgbClr val="888888"/>
                </a:solidFill>
                <a:latin typeface="Calibri"/>
                <a:ea typeface="Calibri"/>
                <a:cs typeface="Calibri"/>
                <a:sym typeface="Calibri"/>
              </a:defRPr>
            </a:lvl1pPr>
            <a:lvl2pPr marL="0" marR="0" lvl="1" indent="0" algn="r" rtl="0">
              <a:spcBef>
                <a:spcPts val="0"/>
              </a:spcBef>
              <a:buNone/>
              <a:defRPr sz="4010" b="0" i="0" u="none" strike="noStrike" cap="none">
                <a:solidFill>
                  <a:srgbClr val="888888"/>
                </a:solidFill>
                <a:latin typeface="Calibri"/>
                <a:ea typeface="Calibri"/>
                <a:cs typeface="Calibri"/>
                <a:sym typeface="Calibri"/>
              </a:defRPr>
            </a:lvl2pPr>
            <a:lvl3pPr marL="0" marR="0" lvl="2" indent="0" algn="r" rtl="0">
              <a:spcBef>
                <a:spcPts val="0"/>
              </a:spcBef>
              <a:buNone/>
              <a:defRPr sz="4010" b="0" i="0" u="none" strike="noStrike" cap="none">
                <a:solidFill>
                  <a:srgbClr val="888888"/>
                </a:solidFill>
                <a:latin typeface="Calibri"/>
                <a:ea typeface="Calibri"/>
                <a:cs typeface="Calibri"/>
                <a:sym typeface="Calibri"/>
              </a:defRPr>
            </a:lvl3pPr>
            <a:lvl4pPr marL="0" marR="0" lvl="3" indent="0" algn="r" rtl="0">
              <a:spcBef>
                <a:spcPts val="0"/>
              </a:spcBef>
              <a:buNone/>
              <a:defRPr sz="4010" b="0" i="0" u="none" strike="noStrike" cap="none">
                <a:solidFill>
                  <a:srgbClr val="888888"/>
                </a:solidFill>
                <a:latin typeface="Calibri"/>
                <a:ea typeface="Calibri"/>
                <a:cs typeface="Calibri"/>
                <a:sym typeface="Calibri"/>
              </a:defRPr>
            </a:lvl4pPr>
            <a:lvl5pPr marL="0" marR="0" lvl="4" indent="0" algn="r" rtl="0">
              <a:spcBef>
                <a:spcPts val="0"/>
              </a:spcBef>
              <a:buNone/>
              <a:defRPr sz="4010" b="0" i="0" u="none" strike="noStrike" cap="none">
                <a:solidFill>
                  <a:srgbClr val="888888"/>
                </a:solidFill>
                <a:latin typeface="Calibri"/>
                <a:ea typeface="Calibri"/>
                <a:cs typeface="Calibri"/>
                <a:sym typeface="Calibri"/>
              </a:defRPr>
            </a:lvl5pPr>
            <a:lvl6pPr marL="0" marR="0" lvl="5" indent="0" algn="r" rtl="0">
              <a:spcBef>
                <a:spcPts val="0"/>
              </a:spcBef>
              <a:buNone/>
              <a:defRPr sz="4010" b="0" i="0" u="none" strike="noStrike" cap="none">
                <a:solidFill>
                  <a:srgbClr val="888888"/>
                </a:solidFill>
                <a:latin typeface="Calibri"/>
                <a:ea typeface="Calibri"/>
                <a:cs typeface="Calibri"/>
                <a:sym typeface="Calibri"/>
              </a:defRPr>
            </a:lvl6pPr>
            <a:lvl7pPr marL="0" marR="0" lvl="6" indent="0" algn="r" rtl="0">
              <a:spcBef>
                <a:spcPts val="0"/>
              </a:spcBef>
              <a:buNone/>
              <a:defRPr sz="4010" b="0" i="0" u="none" strike="noStrike" cap="none">
                <a:solidFill>
                  <a:srgbClr val="888888"/>
                </a:solidFill>
                <a:latin typeface="Calibri"/>
                <a:ea typeface="Calibri"/>
                <a:cs typeface="Calibri"/>
                <a:sym typeface="Calibri"/>
              </a:defRPr>
            </a:lvl7pPr>
            <a:lvl8pPr marL="0" marR="0" lvl="7" indent="0" algn="r" rtl="0">
              <a:spcBef>
                <a:spcPts val="0"/>
              </a:spcBef>
              <a:buNone/>
              <a:defRPr sz="4010" b="0" i="0" u="none" strike="noStrike" cap="none">
                <a:solidFill>
                  <a:srgbClr val="888888"/>
                </a:solidFill>
                <a:latin typeface="Calibri"/>
                <a:ea typeface="Calibri"/>
                <a:cs typeface="Calibri"/>
                <a:sym typeface="Calibri"/>
              </a:defRPr>
            </a:lvl8pPr>
            <a:lvl9pPr marL="0" marR="0" lvl="8" indent="0" algn="r" rtl="0">
              <a:spcBef>
                <a:spcPts val="0"/>
              </a:spcBef>
              <a:buNone/>
              <a:defRPr sz="401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15830A6-3115-503B-FEFB-7CCA32DD8ABA}"/>
            </a:ext>
          </a:extLst>
        </p:cNvPr>
        <p:cNvGrpSpPr/>
        <p:nvPr/>
      </p:nvGrpSpPr>
      <p:grpSpPr>
        <a:xfrm>
          <a:off x="0" y="0"/>
          <a:ext cx="0" cy="0"/>
          <a:chOff x="0" y="0"/>
          <a:chExt cx="0" cy="0"/>
        </a:xfrm>
      </p:grpSpPr>
      <p:pic>
        <p:nvPicPr>
          <p:cNvPr id="85" name="Google Shape;85;p1">
            <a:extLst>
              <a:ext uri="{FF2B5EF4-FFF2-40B4-BE49-F238E27FC236}">
                <a16:creationId xmlns:a16="http://schemas.microsoft.com/office/drawing/2014/main" id="{0444D052-A263-3E5C-2286-9451BCD2987F}"/>
              </a:ext>
            </a:extLst>
          </p:cNvPr>
          <p:cNvPicPr preferRelativeResize="0"/>
          <p:nvPr/>
        </p:nvPicPr>
        <p:blipFill rotWithShape="1">
          <a:blip r:embed="rId3">
            <a:alphaModFix amt="20000"/>
          </a:blip>
          <a:srcRect/>
          <a:stretch/>
        </p:blipFill>
        <p:spPr>
          <a:xfrm>
            <a:off x="1318615" y="993026"/>
            <a:ext cx="4610204" cy="4574904"/>
          </a:xfrm>
          <a:prstGeom prst="rect">
            <a:avLst/>
          </a:prstGeom>
          <a:noFill/>
          <a:ln>
            <a:noFill/>
          </a:ln>
        </p:spPr>
      </p:pic>
      <p:sp>
        <p:nvSpPr>
          <p:cNvPr id="84" name="Google Shape;84;p1">
            <a:extLst>
              <a:ext uri="{FF2B5EF4-FFF2-40B4-BE49-F238E27FC236}">
                <a16:creationId xmlns:a16="http://schemas.microsoft.com/office/drawing/2014/main" id="{9770E7D0-C1B8-110B-5C3E-54A7087B910F}"/>
              </a:ext>
            </a:extLst>
          </p:cNvPr>
          <p:cNvSpPr/>
          <p:nvPr/>
        </p:nvSpPr>
        <p:spPr>
          <a:xfrm>
            <a:off x="3623717" y="950480"/>
            <a:ext cx="25151854" cy="4786550"/>
          </a:xfrm>
          <a:prstGeom prst="rect">
            <a:avLst/>
          </a:prstGeom>
          <a:noFill/>
          <a:ln>
            <a:noFill/>
          </a:ln>
        </p:spPr>
        <p:txBody>
          <a:bodyPr spcFirstLastPara="1" wrap="square" lIns="92273" tIns="46124" rIns="92273" bIns="46124" anchor="t" anchorCtr="0">
            <a:spAutoFit/>
          </a:bodyPr>
          <a:lstStyle/>
          <a:p>
            <a:pPr algn="ctr"/>
            <a:r>
              <a:rPr lang="en-US" altLang="ko-KR" sz="8800" b="1" dirty="0"/>
              <a:t>Neural Activity Differences in the Retrieval of Memories With and Without Social Interaction </a:t>
            </a:r>
            <a:endParaRPr sz="2400" b="1" dirty="0">
              <a:solidFill>
                <a:schemeClr val="dk1"/>
              </a:solidFill>
              <a:latin typeface="Calibri"/>
              <a:ea typeface="Calibri"/>
              <a:cs typeface="Calibri"/>
              <a:sym typeface="Calibri"/>
            </a:endParaRPr>
          </a:p>
          <a:p>
            <a:pPr algn="ctr"/>
            <a:r>
              <a:rPr lang="en-US" sz="3633" dirty="0" err="1">
                <a:solidFill>
                  <a:schemeClr val="dk1"/>
                </a:solidFill>
                <a:latin typeface="Calibri"/>
                <a:ea typeface="Calibri"/>
                <a:cs typeface="Calibri"/>
                <a:sym typeface="Calibri"/>
              </a:rPr>
              <a:t>서울대학교</a:t>
            </a:r>
            <a:r>
              <a:rPr lang="en-US" sz="3633" dirty="0">
                <a:solidFill>
                  <a:schemeClr val="dk1"/>
                </a:solidFill>
                <a:latin typeface="Calibri"/>
                <a:ea typeface="Calibri"/>
                <a:cs typeface="Calibri"/>
                <a:sym typeface="Calibri"/>
              </a:rPr>
              <a:t> </a:t>
            </a:r>
            <a:r>
              <a:rPr lang="ko-KR" altLang="en-US" sz="3633" dirty="0">
                <a:solidFill>
                  <a:schemeClr val="dk1"/>
                </a:solidFill>
                <a:latin typeface="Calibri"/>
                <a:ea typeface="Calibri"/>
                <a:cs typeface="Calibri"/>
                <a:sym typeface="Calibri"/>
              </a:rPr>
              <a:t>자연과학대학 생명과학부</a:t>
            </a:r>
            <a:endParaRPr sz="3633" dirty="0">
              <a:solidFill>
                <a:schemeClr val="dk1"/>
              </a:solidFill>
              <a:latin typeface="Calibri"/>
              <a:ea typeface="Calibri"/>
              <a:cs typeface="Calibri"/>
              <a:sym typeface="Calibri"/>
            </a:endParaRPr>
          </a:p>
          <a:p>
            <a:pPr algn="ctr"/>
            <a:r>
              <a:rPr lang="en-US" altLang="ko-KR" sz="3633" dirty="0">
                <a:solidFill>
                  <a:schemeClr val="dk1"/>
                </a:solidFill>
                <a:latin typeface="Calibri"/>
                <a:ea typeface="Calibri"/>
                <a:cs typeface="Calibri"/>
                <a:sym typeface="Calibri"/>
              </a:rPr>
              <a:t>2022-17619</a:t>
            </a:r>
            <a:r>
              <a:rPr lang="ko-KR" altLang="en-US" sz="3633" dirty="0">
                <a:solidFill>
                  <a:schemeClr val="dk1"/>
                </a:solidFill>
                <a:latin typeface="Calibri"/>
                <a:ea typeface="Calibri"/>
                <a:cs typeface="Calibri"/>
                <a:sym typeface="Calibri"/>
              </a:rPr>
              <a:t> 조현희 </a:t>
            </a:r>
            <a:r>
              <a:rPr lang="en-US" altLang="ko-KR" sz="3633" dirty="0">
                <a:solidFill>
                  <a:schemeClr val="dk1"/>
                </a:solidFill>
                <a:latin typeface="Calibri"/>
                <a:ea typeface="Calibri"/>
                <a:cs typeface="Calibri"/>
                <a:sym typeface="Calibri"/>
              </a:rPr>
              <a:t>(</a:t>
            </a:r>
            <a:r>
              <a:rPr lang="en-US" sz="3633" dirty="0">
                <a:solidFill>
                  <a:schemeClr val="dk1"/>
                </a:solidFill>
                <a:latin typeface="Calibri"/>
                <a:ea typeface="Calibri"/>
                <a:cs typeface="Calibri"/>
                <a:sym typeface="Calibri"/>
              </a:rPr>
              <a:t>gusgml520@snu.ac.kr</a:t>
            </a:r>
            <a:r>
              <a:rPr lang="en-US" altLang="ko-KR" sz="3633" dirty="0">
                <a:solidFill>
                  <a:schemeClr val="dk1"/>
                </a:solidFill>
                <a:latin typeface="Calibri"/>
                <a:ea typeface="Calibri"/>
                <a:cs typeface="Calibri"/>
                <a:sym typeface="Calibri"/>
              </a:rPr>
              <a:t>)</a:t>
            </a:r>
          </a:p>
          <a:p>
            <a:pPr algn="ctr"/>
            <a:r>
              <a:rPr lang="ko-KR" altLang="en-US" sz="2000" dirty="0">
                <a:solidFill>
                  <a:schemeClr val="dk1"/>
                </a:solidFill>
                <a:latin typeface="Calibri"/>
                <a:ea typeface="Calibri"/>
                <a:cs typeface="Calibri"/>
                <a:sym typeface="Calibri"/>
              </a:rPr>
              <a:t>  </a:t>
            </a:r>
            <a:endParaRPr lang="en-US" sz="2000" dirty="0">
              <a:solidFill>
                <a:schemeClr val="dk1"/>
              </a:solidFill>
              <a:latin typeface="Calibri"/>
              <a:ea typeface="Calibri"/>
              <a:cs typeface="Calibri"/>
              <a:sym typeface="Calibri"/>
            </a:endParaRPr>
          </a:p>
          <a:p>
            <a:pPr algn="ctr"/>
            <a:r>
              <a:rPr lang="ko-KR" altLang="en-US" sz="3633" dirty="0">
                <a:solidFill>
                  <a:schemeClr val="dk1"/>
                </a:solidFill>
                <a:latin typeface="Calibri"/>
                <a:ea typeface="Calibri"/>
                <a:cs typeface="Calibri"/>
                <a:sym typeface="Calibri"/>
              </a:rPr>
              <a:t>지도 교수 </a:t>
            </a:r>
            <a:r>
              <a:rPr lang="en-US" altLang="ko-KR" sz="3633" dirty="0">
                <a:solidFill>
                  <a:schemeClr val="dk1"/>
                </a:solidFill>
                <a:latin typeface="Calibri"/>
                <a:ea typeface="Calibri"/>
                <a:cs typeface="Calibri"/>
                <a:sym typeface="Calibri"/>
              </a:rPr>
              <a:t>:</a:t>
            </a:r>
            <a:r>
              <a:rPr lang="ko-KR" altLang="en-US" sz="3633" dirty="0">
                <a:solidFill>
                  <a:schemeClr val="dk1"/>
                </a:solidFill>
                <a:latin typeface="Calibri"/>
                <a:ea typeface="Calibri"/>
                <a:cs typeface="Calibri"/>
                <a:sym typeface="Calibri"/>
              </a:rPr>
              <a:t> 서울대학교 심리학과 이수현 </a:t>
            </a:r>
            <a:r>
              <a:rPr lang="en-US" altLang="ko-KR" sz="3633" dirty="0">
                <a:solidFill>
                  <a:schemeClr val="dk1"/>
                </a:solidFill>
                <a:latin typeface="Calibri"/>
                <a:ea typeface="Calibri"/>
                <a:cs typeface="Calibri"/>
                <a:sym typeface="Calibri"/>
              </a:rPr>
              <a:t>|</a:t>
            </a:r>
            <a:r>
              <a:rPr lang="ko-KR" altLang="en-US" sz="3633" dirty="0">
                <a:solidFill>
                  <a:schemeClr val="dk1"/>
                </a:solidFill>
                <a:latin typeface="Calibri"/>
                <a:ea typeface="Calibri"/>
                <a:cs typeface="Calibri"/>
                <a:sym typeface="Calibri"/>
              </a:rPr>
              <a:t> 조교 </a:t>
            </a:r>
            <a:r>
              <a:rPr lang="en-US" altLang="ko-KR" sz="3633" dirty="0">
                <a:solidFill>
                  <a:schemeClr val="dk1"/>
                </a:solidFill>
                <a:latin typeface="Calibri"/>
                <a:ea typeface="Calibri"/>
                <a:cs typeface="Calibri"/>
                <a:sym typeface="Calibri"/>
              </a:rPr>
              <a:t>:</a:t>
            </a:r>
            <a:r>
              <a:rPr lang="ko-KR" altLang="en-US" sz="3633" dirty="0">
                <a:solidFill>
                  <a:schemeClr val="dk1"/>
                </a:solidFill>
                <a:latin typeface="Calibri"/>
                <a:ea typeface="Calibri"/>
                <a:cs typeface="Calibri"/>
                <a:sym typeface="Calibri"/>
              </a:rPr>
              <a:t> </a:t>
            </a:r>
            <a:r>
              <a:rPr lang="ko-KR" altLang="en-US" sz="3633" dirty="0" err="1">
                <a:solidFill>
                  <a:schemeClr val="dk1"/>
                </a:solidFill>
                <a:latin typeface="Calibri"/>
                <a:ea typeface="Calibri"/>
                <a:cs typeface="Calibri"/>
                <a:sym typeface="Calibri"/>
              </a:rPr>
              <a:t>신인호</a:t>
            </a:r>
            <a:endParaRPr sz="3633" dirty="0">
              <a:solidFill>
                <a:schemeClr val="dk1"/>
              </a:solidFill>
              <a:latin typeface="Calibri"/>
              <a:ea typeface="Calibri"/>
              <a:cs typeface="Calibri"/>
              <a:sym typeface="Calibri"/>
            </a:endParaRPr>
          </a:p>
        </p:txBody>
      </p:sp>
      <p:grpSp>
        <p:nvGrpSpPr>
          <p:cNvPr id="86" name="Google Shape;86;p1">
            <a:extLst>
              <a:ext uri="{FF2B5EF4-FFF2-40B4-BE49-F238E27FC236}">
                <a16:creationId xmlns:a16="http://schemas.microsoft.com/office/drawing/2014/main" id="{38F1835D-00F5-3781-A7B1-E98229740BC4}"/>
              </a:ext>
            </a:extLst>
          </p:cNvPr>
          <p:cNvGrpSpPr/>
          <p:nvPr/>
        </p:nvGrpSpPr>
        <p:grpSpPr>
          <a:xfrm>
            <a:off x="1638384" y="6288664"/>
            <a:ext cx="14170178" cy="12579071"/>
            <a:chOff x="699916" y="7415151"/>
            <a:chExt cx="19004401" cy="9509362"/>
          </a:xfrm>
        </p:grpSpPr>
        <p:sp>
          <p:nvSpPr>
            <p:cNvPr id="87" name="Google Shape;87;p1">
              <a:extLst>
                <a:ext uri="{FF2B5EF4-FFF2-40B4-BE49-F238E27FC236}">
                  <a16:creationId xmlns:a16="http://schemas.microsoft.com/office/drawing/2014/main" id="{6D81CA91-1C59-AFD3-96B8-E08FECF89A97}"/>
                </a:ext>
              </a:extLst>
            </p:cNvPr>
            <p:cNvSpPr/>
            <p:nvPr/>
          </p:nvSpPr>
          <p:spPr>
            <a:xfrm>
              <a:off x="699916" y="8239508"/>
              <a:ext cx="19002510" cy="8685005"/>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endParaRPr sz="1817" dirty="0">
                <a:solidFill>
                  <a:schemeClr val="dk1"/>
                </a:solidFill>
                <a:latin typeface="Batang"/>
                <a:ea typeface="Batang"/>
                <a:cs typeface="Batang"/>
                <a:sym typeface="Batang"/>
              </a:endParaRPr>
            </a:p>
            <a:p>
              <a:endParaRPr lang="en-US" altLang="ko-KR" sz="3200" dirty="0"/>
            </a:p>
            <a:p>
              <a:endParaRPr lang="en-US" altLang="ko-KR" sz="3200" dirty="0"/>
            </a:p>
          </p:txBody>
        </p:sp>
        <p:sp>
          <p:nvSpPr>
            <p:cNvPr id="88" name="Google Shape;88;p1">
              <a:extLst>
                <a:ext uri="{FF2B5EF4-FFF2-40B4-BE49-F238E27FC236}">
                  <a16:creationId xmlns:a16="http://schemas.microsoft.com/office/drawing/2014/main" id="{9539D8B2-3798-0058-402D-34DCE8F7AB47}"/>
                </a:ext>
              </a:extLst>
            </p:cNvPr>
            <p:cNvSpPr/>
            <p:nvPr/>
          </p:nvSpPr>
          <p:spPr>
            <a:xfrm>
              <a:off x="699916" y="7415151"/>
              <a:ext cx="19004401" cy="824358"/>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INTRODUCTION</a:t>
              </a:r>
              <a:endParaRPr sz="5450" b="1" dirty="0">
                <a:solidFill>
                  <a:srgbClr val="FFFFFF"/>
                </a:solidFill>
              </a:endParaRPr>
            </a:p>
          </p:txBody>
        </p:sp>
      </p:grpSp>
      <p:grpSp>
        <p:nvGrpSpPr>
          <p:cNvPr id="89" name="Google Shape;89;p1">
            <a:extLst>
              <a:ext uri="{FF2B5EF4-FFF2-40B4-BE49-F238E27FC236}">
                <a16:creationId xmlns:a16="http://schemas.microsoft.com/office/drawing/2014/main" id="{5D886385-BD9D-345E-B05C-AC4E099ACD2B}"/>
              </a:ext>
            </a:extLst>
          </p:cNvPr>
          <p:cNvGrpSpPr/>
          <p:nvPr/>
        </p:nvGrpSpPr>
        <p:grpSpPr>
          <a:xfrm>
            <a:off x="1630564" y="19063044"/>
            <a:ext cx="14176588" cy="22694058"/>
            <a:chOff x="414164" y="18461635"/>
            <a:chExt cx="16567491" cy="13257196"/>
          </a:xfrm>
        </p:grpSpPr>
        <p:sp>
          <p:nvSpPr>
            <p:cNvPr id="90" name="Google Shape;90;p1">
              <a:extLst>
                <a:ext uri="{FF2B5EF4-FFF2-40B4-BE49-F238E27FC236}">
                  <a16:creationId xmlns:a16="http://schemas.microsoft.com/office/drawing/2014/main" id="{8B5422DF-F36E-DC1E-BC77-B2C46FC4E2B3}"/>
                </a:ext>
              </a:extLst>
            </p:cNvPr>
            <p:cNvSpPr/>
            <p:nvPr/>
          </p:nvSpPr>
          <p:spPr>
            <a:xfrm>
              <a:off x="421655" y="19098653"/>
              <a:ext cx="16560000" cy="12620178"/>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71875"/>
                </a:lnSpc>
              </a:pPr>
              <a:endParaRPr sz="3230">
                <a:solidFill>
                  <a:schemeClr val="dk1"/>
                </a:solidFill>
                <a:latin typeface="Calibri"/>
                <a:ea typeface="Calibri"/>
                <a:cs typeface="Calibri"/>
                <a:sym typeface="Calibri"/>
              </a:endParaRPr>
            </a:p>
            <a:p>
              <a:pPr algn="just">
                <a:lnSpc>
                  <a:spcPct val="171875"/>
                </a:lnSpc>
              </a:pPr>
              <a:endParaRPr sz="3230">
                <a:solidFill>
                  <a:schemeClr val="dk1"/>
                </a:solidFill>
                <a:latin typeface="Calibri"/>
                <a:ea typeface="Calibri"/>
                <a:cs typeface="Calibri"/>
                <a:sym typeface="Calibri"/>
              </a:endParaRPr>
            </a:p>
          </p:txBody>
        </p:sp>
        <p:sp>
          <p:nvSpPr>
            <p:cNvPr id="91" name="Google Shape;91;p1">
              <a:extLst>
                <a:ext uri="{FF2B5EF4-FFF2-40B4-BE49-F238E27FC236}">
                  <a16:creationId xmlns:a16="http://schemas.microsoft.com/office/drawing/2014/main" id="{7EC89512-3BAC-9693-F4D1-F2B0A447DE07}"/>
                </a:ext>
              </a:extLst>
            </p:cNvPr>
            <p:cNvSpPr/>
            <p:nvPr/>
          </p:nvSpPr>
          <p:spPr>
            <a:xfrm>
              <a:off x="414164" y="18461635"/>
              <a:ext cx="16560000" cy="637019"/>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METHODS</a:t>
              </a:r>
              <a:endParaRPr sz="4441" b="1" dirty="0">
                <a:solidFill>
                  <a:schemeClr val="lt1"/>
                </a:solidFill>
              </a:endParaRPr>
            </a:p>
          </p:txBody>
        </p:sp>
      </p:grpSp>
      <p:grpSp>
        <p:nvGrpSpPr>
          <p:cNvPr id="95" name="Google Shape;95;p1">
            <a:extLst>
              <a:ext uri="{FF2B5EF4-FFF2-40B4-BE49-F238E27FC236}">
                <a16:creationId xmlns:a16="http://schemas.microsoft.com/office/drawing/2014/main" id="{957A4FD1-9897-62F2-C976-40C7B75654C2}"/>
              </a:ext>
            </a:extLst>
          </p:cNvPr>
          <p:cNvGrpSpPr/>
          <p:nvPr/>
        </p:nvGrpSpPr>
        <p:grpSpPr>
          <a:xfrm>
            <a:off x="16343282" y="6260641"/>
            <a:ext cx="14648346" cy="18630040"/>
            <a:chOff x="15405493" y="15712594"/>
            <a:chExt cx="14851432" cy="4546363"/>
          </a:xfrm>
        </p:grpSpPr>
        <p:sp>
          <p:nvSpPr>
            <p:cNvPr id="96" name="Google Shape;96;p1">
              <a:extLst>
                <a:ext uri="{FF2B5EF4-FFF2-40B4-BE49-F238E27FC236}">
                  <a16:creationId xmlns:a16="http://schemas.microsoft.com/office/drawing/2014/main" id="{F1A1463D-9612-3397-4541-3B493FC430E8}"/>
                </a:ext>
              </a:extLst>
            </p:cNvPr>
            <p:cNvSpPr/>
            <p:nvPr/>
          </p:nvSpPr>
          <p:spPr>
            <a:xfrm>
              <a:off x="15405493" y="15949702"/>
              <a:ext cx="14851432" cy="4309255"/>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endParaRPr sz="3230" dirty="0">
                <a:solidFill>
                  <a:schemeClr val="dk1"/>
                </a:solidFill>
                <a:latin typeface="Calibri"/>
                <a:ea typeface="Calibri"/>
                <a:cs typeface="Calibri"/>
                <a:sym typeface="Calibri"/>
              </a:endParaRPr>
            </a:p>
          </p:txBody>
        </p:sp>
        <p:sp>
          <p:nvSpPr>
            <p:cNvPr id="97" name="Google Shape;97;p1">
              <a:extLst>
                <a:ext uri="{FF2B5EF4-FFF2-40B4-BE49-F238E27FC236}">
                  <a16:creationId xmlns:a16="http://schemas.microsoft.com/office/drawing/2014/main" id="{F7824872-BCFD-2B3E-A504-4E21DCE74A6A}"/>
                </a:ext>
              </a:extLst>
            </p:cNvPr>
            <p:cNvSpPr/>
            <p:nvPr/>
          </p:nvSpPr>
          <p:spPr>
            <a:xfrm>
              <a:off x="15405493" y="15712594"/>
              <a:ext cx="14851432" cy="237617"/>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RESULTS</a:t>
              </a:r>
              <a:endParaRPr sz="4441" b="1" dirty="0">
                <a:solidFill>
                  <a:schemeClr val="lt1"/>
                </a:solidFill>
                <a:latin typeface="Calibri"/>
                <a:ea typeface="Calibri"/>
                <a:cs typeface="Calibri"/>
                <a:sym typeface="Calibri"/>
              </a:endParaRPr>
            </a:p>
          </p:txBody>
        </p:sp>
      </p:grpSp>
      <p:grpSp>
        <p:nvGrpSpPr>
          <p:cNvPr id="101" name="Google Shape;101;p1">
            <a:extLst>
              <a:ext uri="{FF2B5EF4-FFF2-40B4-BE49-F238E27FC236}">
                <a16:creationId xmlns:a16="http://schemas.microsoft.com/office/drawing/2014/main" id="{C7679349-27F5-C9D8-D926-3D4175612443}"/>
              </a:ext>
            </a:extLst>
          </p:cNvPr>
          <p:cNvGrpSpPr/>
          <p:nvPr/>
        </p:nvGrpSpPr>
        <p:grpSpPr>
          <a:xfrm>
            <a:off x="16300223" y="37638810"/>
            <a:ext cx="14648347" cy="4118294"/>
            <a:chOff x="15056588" y="36737954"/>
            <a:chExt cx="14898526" cy="3833809"/>
          </a:xfrm>
        </p:grpSpPr>
        <p:sp>
          <p:nvSpPr>
            <p:cNvPr id="102" name="Google Shape;102;p1">
              <a:extLst>
                <a:ext uri="{FF2B5EF4-FFF2-40B4-BE49-F238E27FC236}">
                  <a16:creationId xmlns:a16="http://schemas.microsoft.com/office/drawing/2014/main" id="{B8E7E055-4457-9605-70AC-91EAEE51FD2A}"/>
                </a:ext>
              </a:extLst>
            </p:cNvPr>
            <p:cNvSpPr/>
            <p:nvPr/>
          </p:nvSpPr>
          <p:spPr>
            <a:xfrm>
              <a:off x="15056588" y="37840040"/>
              <a:ext cx="14898526" cy="2731723"/>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endParaRPr sz="2800" dirty="0">
                <a:solidFill>
                  <a:schemeClr val="lt1"/>
                </a:solidFill>
                <a:latin typeface="Calibri"/>
                <a:ea typeface="Calibri"/>
                <a:cs typeface="Calibri"/>
                <a:sym typeface="Calibri"/>
              </a:endParaRPr>
            </a:p>
          </p:txBody>
        </p:sp>
        <p:sp>
          <p:nvSpPr>
            <p:cNvPr id="103" name="Google Shape;103;p1">
              <a:extLst>
                <a:ext uri="{FF2B5EF4-FFF2-40B4-BE49-F238E27FC236}">
                  <a16:creationId xmlns:a16="http://schemas.microsoft.com/office/drawing/2014/main" id="{14FBEF21-598B-5F8E-D32B-0ED08FFE98B4}"/>
                </a:ext>
              </a:extLst>
            </p:cNvPr>
            <p:cNvSpPr/>
            <p:nvPr/>
          </p:nvSpPr>
          <p:spPr>
            <a:xfrm>
              <a:off x="15056589" y="36737954"/>
              <a:ext cx="14898525" cy="1102087"/>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REFERENCES</a:t>
              </a:r>
              <a:endParaRPr sz="4441" b="1" dirty="0">
                <a:solidFill>
                  <a:srgbClr val="FFFFFF"/>
                </a:solidFill>
              </a:endParaRPr>
            </a:p>
          </p:txBody>
        </p:sp>
      </p:grpSp>
      <p:pic>
        <p:nvPicPr>
          <p:cNvPr id="104" name="Google Shape;104;p1">
            <a:extLst>
              <a:ext uri="{FF2B5EF4-FFF2-40B4-BE49-F238E27FC236}">
                <a16:creationId xmlns:a16="http://schemas.microsoft.com/office/drawing/2014/main" id="{8B620A07-80BE-6CFF-B113-FDD3FC7851A3}"/>
              </a:ext>
            </a:extLst>
          </p:cNvPr>
          <p:cNvPicPr preferRelativeResize="0"/>
          <p:nvPr/>
        </p:nvPicPr>
        <p:blipFill rotWithShape="1">
          <a:blip r:embed="rId4">
            <a:alphaModFix/>
          </a:blip>
          <a:srcRect t="85800"/>
          <a:stretch/>
        </p:blipFill>
        <p:spPr>
          <a:xfrm>
            <a:off x="24434800" y="42067545"/>
            <a:ext cx="7037733" cy="825426"/>
          </a:xfrm>
          <a:prstGeom prst="rect">
            <a:avLst/>
          </a:prstGeom>
          <a:noFill/>
          <a:ln>
            <a:noFill/>
          </a:ln>
        </p:spPr>
      </p:pic>
      <p:sp>
        <p:nvSpPr>
          <p:cNvPr id="5" name="TextBox 4">
            <a:extLst>
              <a:ext uri="{FF2B5EF4-FFF2-40B4-BE49-F238E27FC236}">
                <a16:creationId xmlns:a16="http://schemas.microsoft.com/office/drawing/2014/main" id="{3F7F1588-9EC7-D99B-A60C-39C52E4F033B}"/>
              </a:ext>
            </a:extLst>
          </p:cNvPr>
          <p:cNvSpPr txBox="1"/>
          <p:nvPr/>
        </p:nvSpPr>
        <p:spPr>
          <a:xfrm>
            <a:off x="1909864" y="7699223"/>
            <a:ext cx="13614400" cy="8586966"/>
          </a:xfrm>
          <a:prstGeom prst="rect">
            <a:avLst/>
          </a:prstGeom>
          <a:noFill/>
        </p:spPr>
        <p:txBody>
          <a:bodyPr wrap="square" rtlCol="0">
            <a:spAutoFit/>
          </a:bodyPr>
          <a:lstStyle/>
          <a:p>
            <a:r>
              <a:rPr lang="en-US" altLang="ko-KR" sz="3600" dirty="0"/>
              <a:t>We experience diverse situations daily, from self-reflective introspection to social interactions and tasks. </a:t>
            </a:r>
          </a:p>
          <a:p>
            <a:endParaRPr lang="en-US" altLang="ko-KR" sz="3600" dirty="0"/>
          </a:p>
          <a:p>
            <a:r>
              <a:rPr lang="en-US" altLang="ko-KR" sz="3600" dirty="0"/>
              <a:t>Introspection is known to involve the default mode network (DMN), which consists of key hubs such as the posterior cingulate cortex (PCC), closely connected to the inferior parietal lobule (IPL), and the medial prefrontal cortex (</a:t>
            </a:r>
            <a:r>
              <a:rPr lang="en-US" altLang="ko-KR" sz="3600" dirty="0" err="1"/>
              <a:t>mPFC</a:t>
            </a:r>
            <a:r>
              <a:rPr lang="en-US" altLang="ko-KR" sz="3600" dirty="0"/>
              <a:t> ; Buckner et al., 2008). In contrast, social activities are associated with regions such as the amygdala, orbitofrontal cortex (OFC), and insula</a:t>
            </a:r>
            <a:r>
              <a:rPr lang="ko-KR" altLang="en-US" sz="3600" dirty="0"/>
              <a:t> </a:t>
            </a:r>
            <a:r>
              <a:rPr lang="en-US" altLang="ko-KR" sz="3600" dirty="0"/>
              <a:t>(</a:t>
            </a:r>
            <a:r>
              <a:rPr lang="en-US" altLang="ko-KR" sz="3600" dirty="0" err="1"/>
              <a:t>Adolphs</a:t>
            </a:r>
            <a:r>
              <a:rPr lang="en-US" altLang="ko-KR" sz="3600" dirty="0"/>
              <a:t>, 2009).</a:t>
            </a:r>
          </a:p>
          <a:p>
            <a:endParaRPr lang="en-US" altLang="ko-KR" sz="3600" dirty="0"/>
          </a:p>
          <a:p>
            <a:r>
              <a:rPr lang="en-US" altLang="ko-KR" sz="3600" dirty="0"/>
              <a:t>Some of these moments are encoded as memories. Do similar neural mechanisms underlying these situations also play a role during memory retrieval? This study aims to investigate the representational differences in the retrieval of memories with and without social interaction.</a:t>
            </a:r>
          </a:p>
        </p:txBody>
      </p:sp>
      <p:grpSp>
        <p:nvGrpSpPr>
          <p:cNvPr id="32" name="그룹 31">
            <a:extLst>
              <a:ext uri="{FF2B5EF4-FFF2-40B4-BE49-F238E27FC236}">
                <a16:creationId xmlns:a16="http://schemas.microsoft.com/office/drawing/2014/main" id="{3617BBF1-A0C0-001A-904B-4422B4946057}"/>
              </a:ext>
            </a:extLst>
          </p:cNvPr>
          <p:cNvGrpSpPr/>
          <p:nvPr/>
        </p:nvGrpSpPr>
        <p:grpSpPr>
          <a:xfrm>
            <a:off x="16343281" y="25103387"/>
            <a:ext cx="14648347" cy="12301567"/>
            <a:chOff x="16343282" y="25253901"/>
            <a:chExt cx="14648347" cy="12301567"/>
          </a:xfrm>
        </p:grpSpPr>
        <p:grpSp>
          <p:nvGrpSpPr>
            <p:cNvPr id="92" name="Google Shape;92;p1">
              <a:extLst>
                <a:ext uri="{FF2B5EF4-FFF2-40B4-BE49-F238E27FC236}">
                  <a16:creationId xmlns:a16="http://schemas.microsoft.com/office/drawing/2014/main" id="{48D55718-C2B8-6BCA-F2E7-166E336A2015}"/>
                </a:ext>
              </a:extLst>
            </p:cNvPr>
            <p:cNvGrpSpPr/>
            <p:nvPr/>
          </p:nvGrpSpPr>
          <p:grpSpPr>
            <a:xfrm>
              <a:off x="16343282" y="25253901"/>
              <a:ext cx="14648347" cy="12301567"/>
              <a:chOff x="33775709" y="14968956"/>
              <a:chExt cx="16858309" cy="19579922"/>
            </a:xfrm>
          </p:grpSpPr>
          <p:sp>
            <p:nvSpPr>
              <p:cNvPr id="93" name="Google Shape;93;p1">
                <a:extLst>
                  <a:ext uri="{FF2B5EF4-FFF2-40B4-BE49-F238E27FC236}">
                    <a16:creationId xmlns:a16="http://schemas.microsoft.com/office/drawing/2014/main" id="{E31E5356-EB9F-E27B-01E0-F6663D601585}"/>
                  </a:ext>
                </a:extLst>
              </p:cNvPr>
              <p:cNvSpPr/>
              <p:nvPr/>
            </p:nvSpPr>
            <p:spPr>
              <a:xfrm>
                <a:off x="33775709" y="16703491"/>
                <a:ext cx="16858309" cy="17845387"/>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56250"/>
                  </a:lnSpc>
                </a:pPr>
                <a:endParaRPr sz="3230">
                  <a:latin typeface="Calibri"/>
                  <a:ea typeface="Calibri"/>
                  <a:cs typeface="Calibri"/>
                  <a:sym typeface="Calibri"/>
                </a:endParaRPr>
              </a:p>
            </p:txBody>
          </p:sp>
          <p:sp>
            <p:nvSpPr>
              <p:cNvPr id="94" name="Google Shape;94;p1">
                <a:extLst>
                  <a:ext uri="{FF2B5EF4-FFF2-40B4-BE49-F238E27FC236}">
                    <a16:creationId xmlns:a16="http://schemas.microsoft.com/office/drawing/2014/main" id="{44649301-229C-A579-87DA-9E2ADA82A3FA}"/>
                  </a:ext>
                </a:extLst>
              </p:cNvPr>
              <p:cNvSpPr/>
              <p:nvPr/>
            </p:nvSpPr>
            <p:spPr>
              <a:xfrm>
                <a:off x="33775710" y="14968956"/>
                <a:ext cx="16858308" cy="1734933"/>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DISCUSSIONS</a:t>
                </a:r>
                <a:endParaRPr sz="5450" b="1" dirty="0">
                  <a:solidFill>
                    <a:srgbClr val="FFFFFF"/>
                  </a:solidFill>
                </a:endParaRPr>
              </a:p>
            </p:txBody>
          </p:sp>
        </p:grpSp>
        <p:sp>
          <p:nvSpPr>
            <p:cNvPr id="8" name="TextBox 7">
              <a:extLst>
                <a:ext uri="{FF2B5EF4-FFF2-40B4-BE49-F238E27FC236}">
                  <a16:creationId xmlns:a16="http://schemas.microsoft.com/office/drawing/2014/main" id="{474C83FA-C5EA-EF41-A435-922C16D5B85E}"/>
                </a:ext>
              </a:extLst>
            </p:cNvPr>
            <p:cNvSpPr txBox="1"/>
            <p:nvPr/>
          </p:nvSpPr>
          <p:spPr>
            <a:xfrm>
              <a:off x="16539309" y="26416664"/>
              <a:ext cx="14170178" cy="11064567"/>
            </a:xfrm>
            <a:prstGeom prst="rect">
              <a:avLst/>
            </a:prstGeom>
            <a:noFill/>
          </p:spPr>
          <p:txBody>
            <a:bodyPr wrap="square" rtlCol="0">
              <a:spAutoFit/>
            </a:bodyPr>
            <a:lstStyle/>
            <a:p>
              <a:pPr marL="742950" indent="-742950">
                <a:buAutoNum type="arabicParenR"/>
              </a:pPr>
              <a:r>
                <a:rPr lang="en-US" altLang="ko-KR" sz="4000" b="1" dirty="0"/>
                <a:t>Interpretation of Results</a:t>
              </a:r>
            </a:p>
            <a:p>
              <a:r>
                <a:rPr kumimoji="1" lang="ko-KR" altLang="en-US" sz="1050" dirty="0"/>
                <a:t> </a:t>
              </a:r>
              <a:endParaRPr kumimoji="1" lang="en-US" altLang="ko-KR" sz="1050" dirty="0"/>
            </a:p>
            <a:p>
              <a:pPr marL="457200" indent="-457200">
                <a:buFontTx/>
                <a:buChar char="-"/>
              </a:pPr>
              <a:r>
                <a:rPr lang="en-US" altLang="ko-KR" sz="3600" dirty="0"/>
                <a:t>The results highlight the involvement of the </a:t>
              </a:r>
              <a:r>
                <a:rPr lang="en-US" altLang="ko-KR" sz="3600" b="1" dirty="0"/>
                <a:t>PCC</a:t>
              </a:r>
              <a:r>
                <a:rPr lang="en-US" altLang="ko-KR" sz="3600" dirty="0"/>
                <a:t> and </a:t>
              </a:r>
              <a:r>
                <a:rPr lang="en-US" altLang="ko-KR" sz="3600" b="1" dirty="0"/>
                <a:t>IPL</a:t>
              </a:r>
              <a:r>
                <a:rPr lang="en-US" altLang="ko-KR" sz="3600" dirty="0"/>
                <a:t> in self-referential processing and suggest that the </a:t>
              </a:r>
              <a:r>
                <a:rPr lang="en-US" altLang="ko-KR" sz="3600" b="1" dirty="0" err="1"/>
                <a:t>lOFC</a:t>
              </a:r>
              <a:r>
                <a:rPr lang="en-US" altLang="ko-KR" sz="3600" dirty="0"/>
                <a:t> plays a critical role in social situational processing.</a:t>
              </a:r>
            </a:p>
            <a:p>
              <a:pPr marL="457200" indent="-457200">
                <a:buFontTx/>
                <a:buChar char="-"/>
              </a:pPr>
              <a:endParaRPr kumimoji="1" lang="en-US" altLang="ko-KR" sz="3600" dirty="0"/>
            </a:p>
            <a:p>
              <a:pPr marL="457200" indent="-457200">
                <a:buFontTx/>
                <a:buChar char="-"/>
              </a:pPr>
              <a:r>
                <a:rPr lang="en-US" altLang="ko-KR" sz="3600" dirty="0"/>
                <a:t>Notably, regions associated with language processing showed greater activation during the retrieval of memories without interaction, which is likely attributed to.</a:t>
              </a:r>
              <a:r>
                <a:rPr lang="en-US" altLang="ko-KR" sz="3600" b="1" dirty="0"/>
                <a:t> self-referential inner speech during the recall of self-focused memories</a:t>
              </a:r>
              <a:endParaRPr lang="en-US" altLang="ko-KR" sz="3600" dirty="0"/>
            </a:p>
            <a:p>
              <a:pPr marL="457200" indent="-457200">
                <a:buFontTx/>
                <a:buChar char="-"/>
              </a:pPr>
              <a:endParaRPr lang="en-US" altLang="ko-KR" sz="3600" dirty="0"/>
            </a:p>
            <a:p>
              <a:pPr marL="457200" indent="-457200">
                <a:buFontTx/>
                <a:buChar char="-"/>
              </a:pPr>
              <a:r>
                <a:rPr lang="en-US" altLang="ko-KR" sz="3600" dirty="0"/>
                <a:t>The lack of significant differences in the insula and amygdala likely reflects the absence of empathizing with others in most memories and </a:t>
              </a:r>
              <a:r>
                <a:rPr lang="en-US" altLang="ko-KR" sz="3600" b="1" dirty="0"/>
                <a:t>the lack of emotional facial expression recognition </a:t>
              </a:r>
              <a:r>
                <a:rPr lang="en-US" altLang="ko-KR" sz="3600" dirty="0"/>
                <a:t>during memory retrieval.</a:t>
              </a:r>
            </a:p>
            <a:p>
              <a:endParaRPr lang="en-US" altLang="ko-KR" sz="3600" dirty="0"/>
            </a:p>
            <a:p>
              <a:pPr marL="742950" indent="-742950">
                <a:buAutoNum type="arabicParenR" startAt="2"/>
              </a:pPr>
              <a:r>
                <a:rPr lang="en-US" altLang="ko-KR" sz="4000" b="1" dirty="0"/>
                <a:t>Future Direction</a:t>
              </a:r>
            </a:p>
            <a:p>
              <a:r>
                <a:rPr lang="en-US" altLang="ko-KR" sz="1050" dirty="0"/>
                <a:t> </a:t>
              </a:r>
              <a:r>
                <a:rPr lang="ko-KR" altLang="en-US" sz="1050" dirty="0"/>
                <a:t> </a:t>
              </a:r>
              <a:endParaRPr lang="en-US" altLang="ko-KR" sz="1050" dirty="0"/>
            </a:p>
            <a:p>
              <a:pPr marL="457200" indent="-457200">
                <a:buFontTx/>
                <a:buChar char="-"/>
              </a:pPr>
              <a:r>
                <a:rPr lang="en-US" altLang="ko-KR" sz="3600" dirty="0"/>
                <a:t>Segmenting memories into those that elicit positive emotions and those that evoke negative emotions reduces variability in the analysis and enhances interpretability.</a:t>
              </a:r>
            </a:p>
          </p:txBody>
        </p:sp>
      </p:grpSp>
      <p:pic>
        <p:nvPicPr>
          <p:cNvPr id="13" name="그림 12">
            <a:extLst>
              <a:ext uri="{FF2B5EF4-FFF2-40B4-BE49-F238E27FC236}">
                <a16:creationId xmlns:a16="http://schemas.microsoft.com/office/drawing/2014/main" id="{C802C2E0-1956-239E-A7C7-30267158A7F4}"/>
              </a:ext>
            </a:extLst>
          </p:cNvPr>
          <p:cNvPicPr>
            <a:picLocks noChangeAspect="1"/>
          </p:cNvPicPr>
          <p:nvPr/>
        </p:nvPicPr>
        <p:blipFill>
          <a:blip r:embed="rId5"/>
          <a:stretch>
            <a:fillRect/>
          </a:stretch>
        </p:blipFill>
        <p:spPr>
          <a:xfrm>
            <a:off x="12532757" y="22201767"/>
            <a:ext cx="2712203" cy="722271"/>
          </a:xfrm>
          <a:prstGeom prst="rect">
            <a:avLst/>
          </a:prstGeom>
        </p:spPr>
      </p:pic>
      <p:sp>
        <p:nvSpPr>
          <p:cNvPr id="18" name="TextBox 17">
            <a:extLst>
              <a:ext uri="{FF2B5EF4-FFF2-40B4-BE49-F238E27FC236}">
                <a16:creationId xmlns:a16="http://schemas.microsoft.com/office/drawing/2014/main" id="{0D47C569-6D8C-A602-676B-E064F55462A9}"/>
              </a:ext>
            </a:extLst>
          </p:cNvPr>
          <p:cNvSpPr txBox="1"/>
          <p:nvPr/>
        </p:nvSpPr>
        <p:spPr>
          <a:xfrm>
            <a:off x="1819245" y="20325419"/>
            <a:ext cx="7945328" cy="707886"/>
          </a:xfrm>
          <a:prstGeom prst="rect">
            <a:avLst/>
          </a:prstGeom>
          <a:noFill/>
        </p:spPr>
        <p:txBody>
          <a:bodyPr wrap="square" rtlCol="0">
            <a:spAutoFit/>
          </a:bodyPr>
          <a:lstStyle/>
          <a:p>
            <a:pPr marL="514350" indent="-514350">
              <a:buAutoNum type="arabicParenR"/>
            </a:pPr>
            <a:r>
              <a:rPr kumimoji="1" lang="en-US" altLang="ko-KR" sz="4000" b="1" dirty="0"/>
              <a:t>Interview &amp; fMRI Experiment</a:t>
            </a:r>
          </a:p>
        </p:txBody>
      </p:sp>
      <p:sp>
        <p:nvSpPr>
          <p:cNvPr id="19" name="TextBox 18">
            <a:extLst>
              <a:ext uri="{FF2B5EF4-FFF2-40B4-BE49-F238E27FC236}">
                <a16:creationId xmlns:a16="http://schemas.microsoft.com/office/drawing/2014/main" id="{3F6456B2-6B50-66C8-2E75-CECFC7F45F43}"/>
              </a:ext>
            </a:extLst>
          </p:cNvPr>
          <p:cNvSpPr txBox="1"/>
          <p:nvPr/>
        </p:nvSpPr>
        <p:spPr>
          <a:xfrm>
            <a:off x="1819245" y="28673133"/>
            <a:ext cx="7945328" cy="707886"/>
          </a:xfrm>
          <a:prstGeom prst="rect">
            <a:avLst/>
          </a:prstGeom>
          <a:noFill/>
        </p:spPr>
        <p:txBody>
          <a:bodyPr wrap="square" rtlCol="0">
            <a:spAutoFit/>
          </a:bodyPr>
          <a:lstStyle/>
          <a:p>
            <a:r>
              <a:rPr kumimoji="1" lang="en-US" altLang="ko-KR" sz="4000" b="1" dirty="0"/>
              <a:t>2) Sorting Memories</a:t>
            </a:r>
          </a:p>
        </p:txBody>
      </p:sp>
      <p:sp>
        <p:nvSpPr>
          <p:cNvPr id="20" name="TextBox 19">
            <a:extLst>
              <a:ext uri="{FF2B5EF4-FFF2-40B4-BE49-F238E27FC236}">
                <a16:creationId xmlns:a16="http://schemas.microsoft.com/office/drawing/2014/main" id="{CD8C7AD9-0F61-CC70-8403-9856F34EB5CC}"/>
              </a:ext>
            </a:extLst>
          </p:cNvPr>
          <p:cNvSpPr txBox="1"/>
          <p:nvPr/>
        </p:nvSpPr>
        <p:spPr>
          <a:xfrm>
            <a:off x="2139975" y="27223034"/>
            <a:ext cx="13164174" cy="646331"/>
          </a:xfrm>
          <a:prstGeom prst="rect">
            <a:avLst/>
          </a:prstGeom>
          <a:noFill/>
        </p:spPr>
        <p:txBody>
          <a:bodyPr wrap="square" rtlCol="0">
            <a:spAutoFit/>
          </a:bodyPr>
          <a:lstStyle/>
          <a:p>
            <a:pPr algn="ctr"/>
            <a:r>
              <a:rPr lang="en-US" altLang="ko-KR" sz="3600" dirty="0"/>
              <a:t>Each participant recalled 12 distinct memories, four times each.</a:t>
            </a:r>
            <a:endParaRPr kumimoji="1" lang="en-US" altLang="ko-KR" sz="3200" dirty="0"/>
          </a:p>
        </p:txBody>
      </p:sp>
      <p:pic>
        <p:nvPicPr>
          <p:cNvPr id="21" name="그림 20">
            <a:extLst>
              <a:ext uri="{FF2B5EF4-FFF2-40B4-BE49-F238E27FC236}">
                <a16:creationId xmlns:a16="http://schemas.microsoft.com/office/drawing/2014/main" id="{1B5DBC53-974D-9046-9E4B-B29C16BFDA65}"/>
              </a:ext>
            </a:extLst>
          </p:cNvPr>
          <p:cNvPicPr>
            <a:picLocks noChangeAspect="1"/>
          </p:cNvPicPr>
          <p:nvPr/>
        </p:nvPicPr>
        <p:blipFill>
          <a:blip r:embed="rId6"/>
          <a:stretch>
            <a:fillRect/>
          </a:stretch>
        </p:blipFill>
        <p:spPr>
          <a:xfrm>
            <a:off x="2016214" y="21223136"/>
            <a:ext cx="10317951" cy="2679535"/>
          </a:xfrm>
          <a:prstGeom prst="rect">
            <a:avLst/>
          </a:prstGeom>
        </p:spPr>
      </p:pic>
      <p:pic>
        <p:nvPicPr>
          <p:cNvPr id="22" name="그림 21">
            <a:extLst>
              <a:ext uri="{FF2B5EF4-FFF2-40B4-BE49-F238E27FC236}">
                <a16:creationId xmlns:a16="http://schemas.microsoft.com/office/drawing/2014/main" id="{5724D89A-D561-5945-40A8-5207C82E447F}"/>
              </a:ext>
            </a:extLst>
          </p:cNvPr>
          <p:cNvPicPr>
            <a:picLocks noChangeAspect="1"/>
          </p:cNvPicPr>
          <p:nvPr/>
        </p:nvPicPr>
        <p:blipFill>
          <a:blip r:embed="rId7"/>
          <a:stretch>
            <a:fillRect/>
          </a:stretch>
        </p:blipFill>
        <p:spPr>
          <a:xfrm>
            <a:off x="3369204" y="24058419"/>
            <a:ext cx="12274578" cy="2852034"/>
          </a:xfrm>
          <a:prstGeom prst="rect">
            <a:avLst/>
          </a:prstGeom>
        </p:spPr>
      </p:pic>
      <p:sp>
        <p:nvSpPr>
          <p:cNvPr id="25" name="TextBox 24">
            <a:extLst>
              <a:ext uri="{FF2B5EF4-FFF2-40B4-BE49-F238E27FC236}">
                <a16:creationId xmlns:a16="http://schemas.microsoft.com/office/drawing/2014/main" id="{52A12D5B-14B7-0790-46EE-0B6EA5CFD375}"/>
              </a:ext>
            </a:extLst>
          </p:cNvPr>
          <p:cNvSpPr txBox="1"/>
          <p:nvPr/>
        </p:nvSpPr>
        <p:spPr>
          <a:xfrm>
            <a:off x="1935237" y="40482148"/>
            <a:ext cx="13538075" cy="1077218"/>
          </a:xfrm>
          <a:prstGeom prst="rect">
            <a:avLst/>
          </a:prstGeom>
          <a:noFill/>
        </p:spPr>
        <p:txBody>
          <a:bodyPr wrap="square" rtlCol="0">
            <a:spAutoFit/>
          </a:bodyPr>
          <a:lstStyle/>
          <a:p>
            <a:r>
              <a:rPr lang="en-US" altLang="ko-KR" sz="3200" dirty="0">
                <a:solidFill>
                  <a:srgbClr val="002060"/>
                </a:solidFill>
              </a:rPr>
              <a:t>* The participant interview data and fMRI data were provided by Professor Sue-Hyun Lee's "Memory and Cognition Lab."</a:t>
            </a:r>
            <a:endParaRPr kumimoji="1" lang="en-US" altLang="ko-KR" sz="2400" dirty="0">
              <a:solidFill>
                <a:srgbClr val="002060"/>
              </a:solidFill>
              <a:latin typeface="+mn-lt"/>
            </a:endParaRPr>
          </a:p>
        </p:txBody>
      </p:sp>
      <p:pic>
        <p:nvPicPr>
          <p:cNvPr id="4" name="그림 3">
            <a:extLst>
              <a:ext uri="{FF2B5EF4-FFF2-40B4-BE49-F238E27FC236}">
                <a16:creationId xmlns:a16="http://schemas.microsoft.com/office/drawing/2014/main" id="{50C069A9-EFE6-FAC9-DF7F-1D6E0C2566F9}"/>
              </a:ext>
            </a:extLst>
          </p:cNvPr>
          <p:cNvPicPr>
            <a:picLocks noChangeAspect="1"/>
          </p:cNvPicPr>
          <p:nvPr/>
        </p:nvPicPr>
        <p:blipFill>
          <a:blip r:embed="rId8"/>
          <a:srcRect t="10673"/>
          <a:stretch/>
        </p:blipFill>
        <p:spPr>
          <a:xfrm>
            <a:off x="1772399" y="29357836"/>
            <a:ext cx="13871383" cy="3251884"/>
          </a:xfrm>
          <a:prstGeom prst="rect">
            <a:avLst/>
          </a:prstGeom>
        </p:spPr>
      </p:pic>
      <p:pic>
        <p:nvPicPr>
          <p:cNvPr id="6" name="그림 5">
            <a:extLst>
              <a:ext uri="{FF2B5EF4-FFF2-40B4-BE49-F238E27FC236}">
                <a16:creationId xmlns:a16="http://schemas.microsoft.com/office/drawing/2014/main" id="{70C39B94-5133-CD99-24AE-AC57C1F5DC78}"/>
              </a:ext>
            </a:extLst>
          </p:cNvPr>
          <p:cNvPicPr>
            <a:picLocks noChangeAspect="1"/>
          </p:cNvPicPr>
          <p:nvPr/>
        </p:nvPicPr>
        <p:blipFill>
          <a:blip r:embed="rId9"/>
          <a:srcRect l="7994" t="7934" b="5505"/>
          <a:stretch/>
        </p:blipFill>
        <p:spPr>
          <a:xfrm>
            <a:off x="3369204" y="24243682"/>
            <a:ext cx="2951475" cy="2554661"/>
          </a:xfrm>
          <a:prstGeom prst="rect">
            <a:avLst/>
          </a:prstGeom>
        </p:spPr>
      </p:pic>
      <p:pic>
        <p:nvPicPr>
          <p:cNvPr id="10" name="그림 9">
            <a:extLst>
              <a:ext uri="{FF2B5EF4-FFF2-40B4-BE49-F238E27FC236}">
                <a16:creationId xmlns:a16="http://schemas.microsoft.com/office/drawing/2014/main" id="{D99148E1-1B72-7F25-6D73-784D72B37488}"/>
              </a:ext>
            </a:extLst>
          </p:cNvPr>
          <p:cNvPicPr>
            <a:picLocks noChangeAspect="1"/>
          </p:cNvPicPr>
          <p:nvPr/>
        </p:nvPicPr>
        <p:blipFill>
          <a:blip r:embed="rId10"/>
          <a:stretch>
            <a:fillRect/>
          </a:stretch>
        </p:blipFill>
        <p:spPr>
          <a:xfrm>
            <a:off x="1854175" y="21198880"/>
            <a:ext cx="2951762" cy="2499038"/>
          </a:xfrm>
          <a:prstGeom prst="rect">
            <a:avLst/>
          </a:prstGeom>
        </p:spPr>
      </p:pic>
      <p:sp>
        <p:nvSpPr>
          <p:cNvPr id="11" name="TextBox 10">
            <a:extLst>
              <a:ext uri="{FF2B5EF4-FFF2-40B4-BE49-F238E27FC236}">
                <a16:creationId xmlns:a16="http://schemas.microsoft.com/office/drawing/2014/main" id="{0D61A216-1317-6A48-D6A0-D8AD9491BBD1}"/>
              </a:ext>
            </a:extLst>
          </p:cNvPr>
          <p:cNvSpPr txBox="1"/>
          <p:nvPr/>
        </p:nvSpPr>
        <p:spPr>
          <a:xfrm>
            <a:off x="2122188" y="32751309"/>
            <a:ext cx="13164174" cy="3108543"/>
          </a:xfrm>
          <a:prstGeom prst="rect">
            <a:avLst/>
          </a:prstGeom>
          <a:noFill/>
        </p:spPr>
        <p:txBody>
          <a:bodyPr wrap="square" rtlCol="0">
            <a:spAutoFit/>
          </a:bodyPr>
          <a:lstStyle/>
          <a:p>
            <a:r>
              <a:rPr lang="en-US" altLang="ko-KR" sz="3600" b="1" dirty="0"/>
              <a:t>Sorting criterion</a:t>
            </a:r>
            <a:r>
              <a:rPr lang="en-US" altLang="ko-KR" sz="3600" dirty="0"/>
              <a:t>: Whether there was direct communication with others, such as conversations or message exchanges.</a:t>
            </a:r>
          </a:p>
          <a:p>
            <a:r>
              <a:rPr lang="ko-KR" altLang="en-US" sz="1600" dirty="0"/>
              <a:t> </a:t>
            </a:r>
            <a:endParaRPr lang="en-US" altLang="ko-KR" sz="1600" dirty="0"/>
          </a:p>
          <a:p>
            <a:r>
              <a:rPr lang="en-US" altLang="ko-KR" sz="3600" dirty="0"/>
              <a:t>✓ Memories such as being late for an appointment, which involve interaction as a background but are experienced alone, were excluded from the analysis.</a:t>
            </a:r>
          </a:p>
        </p:txBody>
      </p:sp>
      <p:grpSp>
        <p:nvGrpSpPr>
          <p:cNvPr id="73" name="그룹 72">
            <a:extLst>
              <a:ext uri="{FF2B5EF4-FFF2-40B4-BE49-F238E27FC236}">
                <a16:creationId xmlns:a16="http://schemas.microsoft.com/office/drawing/2014/main" id="{9A20B068-CAD9-DA85-5D56-6C7A2D38E932}"/>
              </a:ext>
            </a:extLst>
          </p:cNvPr>
          <p:cNvGrpSpPr/>
          <p:nvPr/>
        </p:nvGrpSpPr>
        <p:grpSpPr>
          <a:xfrm>
            <a:off x="16733652" y="8203561"/>
            <a:ext cx="5908408" cy="6062531"/>
            <a:chOff x="23630190" y="15971004"/>
            <a:chExt cx="6026639" cy="6235510"/>
          </a:xfrm>
        </p:grpSpPr>
        <p:pic>
          <p:nvPicPr>
            <p:cNvPr id="69" name="그림 68">
              <a:extLst>
                <a:ext uri="{FF2B5EF4-FFF2-40B4-BE49-F238E27FC236}">
                  <a16:creationId xmlns:a16="http://schemas.microsoft.com/office/drawing/2014/main" id="{007FFC75-4FDD-1A3B-FAEB-D92A4A9B94F1}"/>
                </a:ext>
              </a:extLst>
            </p:cNvPr>
            <p:cNvPicPr>
              <a:picLocks noChangeAspect="1"/>
            </p:cNvPicPr>
            <p:nvPr/>
          </p:nvPicPr>
          <p:blipFill>
            <a:blip r:embed="rId11"/>
            <a:srcRect b="9409"/>
            <a:stretch/>
          </p:blipFill>
          <p:spPr>
            <a:xfrm>
              <a:off x="23630190" y="15971004"/>
              <a:ext cx="6026639" cy="6235510"/>
            </a:xfrm>
            <a:prstGeom prst="rect">
              <a:avLst/>
            </a:prstGeom>
          </p:spPr>
        </p:pic>
        <p:pic>
          <p:nvPicPr>
            <p:cNvPr id="70" name="그림 69">
              <a:extLst>
                <a:ext uri="{FF2B5EF4-FFF2-40B4-BE49-F238E27FC236}">
                  <a16:creationId xmlns:a16="http://schemas.microsoft.com/office/drawing/2014/main" id="{B734BD18-D407-A769-3EF4-5E27998624FA}"/>
                </a:ext>
              </a:extLst>
            </p:cNvPr>
            <p:cNvPicPr>
              <a:picLocks noChangeAspect="1"/>
            </p:cNvPicPr>
            <p:nvPr/>
          </p:nvPicPr>
          <p:blipFill>
            <a:blip r:embed="rId12"/>
            <a:stretch>
              <a:fillRect/>
            </a:stretch>
          </p:blipFill>
          <p:spPr>
            <a:xfrm>
              <a:off x="25290795" y="21466455"/>
              <a:ext cx="420846" cy="241694"/>
            </a:xfrm>
            <a:prstGeom prst="rect">
              <a:avLst/>
            </a:prstGeom>
          </p:spPr>
        </p:pic>
        <p:pic>
          <p:nvPicPr>
            <p:cNvPr id="71" name="그림 70">
              <a:extLst>
                <a:ext uri="{FF2B5EF4-FFF2-40B4-BE49-F238E27FC236}">
                  <a16:creationId xmlns:a16="http://schemas.microsoft.com/office/drawing/2014/main" id="{AA543B47-42F4-5210-4A62-AF34D0BB425C}"/>
                </a:ext>
              </a:extLst>
            </p:cNvPr>
            <p:cNvPicPr>
              <a:picLocks noChangeAspect="1"/>
            </p:cNvPicPr>
            <p:nvPr/>
          </p:nvPicPr>
          <p:blipFill>
            <a:blip r:embed="rId13"/>
            <a:stretch>
              <a:fillRect/>
            </a:stretch>
          </p:blipFill>
          <p:spPr>
            <a:xfrm>
              <a:off x="26919857" y="21201077"/>
              <a:ext cx="381772" cy="265378"/>
            </a:xfrm>
            <a:prstGeom prst="rect">
              <a:avLst/>
            </a:prstGeom>
          </p:spPr>
        </p:pic>
      </p:grpSp>
      <p:grpSp>
        <p:nvGrpSpPr>
          <p:cNvPr id="108" name="그룹 107">
            <a:extLst>
              <a:ext uri="{FF2B5EF4-FFF2-40B4-BE49-F238E27FC236}">
                <a16:creationId xmlns:a16="http://schemas.microsoft.com/office/drawing/2014/main" id="{308F253F-56FA-2670-F778-D28A7F2B2709}"/>
              </a:ext>
            </a:extLst>
          </p:cNvPr>
          <p:cNvGrpSpPr/>
          <p:nvPr/>
        </p:nvGrpSpPr>
        <p:grpSpPr>
          <a:xfrm>
            <a:off x="22539549" y="8153505"/>
            <a:ext cx="6056761" cy="6071856"/>
            <a:chOff x="21461097" y="7688965"/>
            <a:chExt cx="6861020" cy="6696225"/>
          </a:xfrm>
        </p:grpSpPr>
        <p:pic>
          <p:nvPicPr>
            <p:cNvPr id="105" name="그림 104" descr="텍스트, 스크린샷, 도표, 번호이(가) 표시된 사진&#10;&#10;자동 생성된 설명">
              <a:extLst>
                <a:ext uri="{FF2B5EF4-FFF2-40B4-BE49-F238E27FC236}">
                  <a16:creationId xmlns:a16="http://schemas.microsoft.com/office/drawing/2014/main" id="{1FA1B9AE-C798-0915-73EE-99A34D69FD4A}"/>
                </a:ext>
              </a:extLst>
            </p:cNvPr>
            <p:cNvPicPr>
              <a:picLocks noChangeAspect="1"/>
            </p:cNvPicPr>
            <p:nvPr/>
          </p:nvPicPr>
          <p:blipFill>
            <a:blip r:embed="rId14"/>
            <a:srcRect b="8991"/>
            <a:stretch/>
          </p:blipFill>
          <p:spPr>
            <a:xfrm>
              <a:off x="21461097" y="7688965"/>
              <a:ext cx="6861020" cy="6696225"/>
            </a:xfrm>
            <a:prstGeom prst="rect">
              <a:avLst/>
            </a:prstGeom>
          </p:spPr>
        </p:pic>
        <p:pic>
          <p:nvPicPr>
            <p:cNvPr id="106" name="그림 105" descr="텍스트, 스크린샷, 도표, 폰트이(가) 표시된 사진&#10;&#10;자동 생성된 설명">
              <a:extLst>
                <a:ext uri="{FF2B5EF4-FFF2-40B4-BE49-F238E27FC236}">
                  <a16:creationId xmlns:a16="http://schemas.microsoft.com/office/drawing/2014/main" id="{FEB39A62-D4E1-90B6-5800-3A2D07F5FFB2}"/>
                </a:ext>
              </a:extLst>
            </p:cNvPr>
            <p:cNvPicPr>
              <a:picLocks noChangeAspect="1"/>
            </p:cNvPicPr>
            <p:nvPr/>
          </p:nvPicPr>
          <p:blipFill>
            <a:blip r:embed="rId15"/>
            <a:srcRect l="23256" t="62493" r="69098" b="31836"/>
            <a:stretch/>
          </p:blipFill>
          <p:spPr>
            <a:xfrm>
              <a:off x="23200821" y="13461303"/>
              <a:ext cx="522711" cy="333788"/>
            </a:xfrm>
            <a:prstGeom prst="rect">
              <a:avLst/>
            </a:prstGeom>
          </p:spPr>
        </p:pic>
        <p:pic>
          <p:nvPicPr>
            <p:cNvPr id="107" name="그림 106" descr="텍스트, 스크린샷, 도표, 폰트이(가) 표시된 사진&#10;&#10;자동 생성된 설명">
              <a:extLst>
                <a:ext uri="{FF2B5EF4-FFF2-40B4-BE49-F238E27FC236}">
                  <a16:creationId xmlns:a16="http://schemas.microsoft.com/office/drawing/2014/main" id="{24A8F06D-FFD8-DAEC-2E84-0C53B7CCE872}"/>
                </a:ext>
              </a:extLst>
            </p:cNvPr>
            <p:cNvPicPr>
              <a:picLocks noChangeAspect="1"/>
            </p:cNvPicPr>
            <p:nvPr/>
          </p:nvPicPr>
          <p:blipFill>
            <a:blip r:embed="rId15"/>
            <a:srcRect l="23256" t="62493" r="69098" b="32377"/>
            <a:stretch/>
          </p:blipFill>
          <p:spPr>
            <a:xfrm>
              <a:off x="24908749" y="11735187"/>
              <a:ext cx="522711" cy="301899"/>
            </a:xfrm>
            <a:prstGeom prst="rect">
              <a:avLst/>
            </a:prstGeom>
          </p:spPr>
        </p:pic>
      </p:grpSp>
      <p:grpSp>
        <p:nvGrpSpPr>
          <p:cNvPr id="12" name="그룹 11">
            <a:extLst>
              <a:ext uri="{FF2B5EF4-FFF2-40B4-BE49-F238E27FC236}">
                <a16:creationId xmlns:a16="http://schemas.microsoft.com/office/drawing/2014/main" id="{C3E3EFF2-4E51-3620-171B-0ADCCFFCD6B8}"/>
              </a:ext>
            </a:extLst>
          </p:cNvPr>
          <p:cNvGrpSpPr/>
          <p:nvPr/>
        </p:nvGrpSpPr>
        <p:grpSpPr>
          <a:xfrm>
            <a:off x="28086541" y="10781259"/>
            <a:ext cx="2492318" cy="1843421"/>
            <a:chOff x="28100493" y="10089018"/>
            <a:chExt cx="2492318" cy="1843421"/>
          </a:xfrm>
        </p:grpSpPr>
        <p:grpSp>
          <p:nvGrpSpPr>
            <p:cNvPr id="62" name="그룹 61">
              <a:extLst>
                <a:ext uri="{FF2B5EF4-FFF2-40B4-BE49-F238E27FC236}">
                  <a16:creationId xmlns:a16="http://schemas.microsoft.com/office/drawing/2014/main" id="{35FEA871-3792-8A34-E03D-55B2309A5B73}"/>
                </a:ext>
              </a:extLst>
            </p:cNvPr>
            <p:cNvGrpSpPr/>
            <p:nvPr/>
          </p:nvGrpSpPr>
          <p:grpSpPr>
            <a:xfrm>
              <a:off x="28100493" y="10089018"/>
              <a:ext cx="2492318" cy="1467682"/>
              <a:chOff x="27953666" y="9169145"/>
              <a:chExt cx="2406328" cy="1384142"/>
            </a:xfrm>
          </p:grpSpPr>
          <p:pic>
            <p:nvPicPr>
              <p:cNvPr id="37" name="그림 36">
                <a:extLst>
                  <a:ext uri="{FF2B5EF4-FFF2-40B4-BE49-F238E27FC236}">
                    <a16:creationId xmlns:a16="http://schemas.microsoft.com/office/drawing/2014/main" id="{1767CD5B-1840-6EEF-F4A3-1BCDC3720CE5}"/>
                  </a:ext>
                </a:extLst>
              </p:cNvPr>
              <p:cNvPicPr>
                <a:picLocks noChangeAspect="1"/>
              </p:cNvPicPr>
              <p:nvPr/>
            </p:nvPicPr>
            <p:blipFill>
              <a:blip r:embed="rId16"/>
              <a:stretch>
                <a:fillRect/>
              </a:stretch>
            </p:blipFill>
            <p:spPr>
              <a:xfrm>
                <a:off x="27953666" y="9169145"/>
                <a:ext cx="2406328" cy="980356"/>
              </a:xfrm>
              <a:prstGeom prst="rect">
                <a:avLst/>
              </a:prstGeom>
            </p:spPr>
          </p:pic>
          <p:sp>
            <p:nvSpPr>
              <p:cNvPr id="40" name="TextBox 39">
                <a:extLst>
                  <a:ext uri="{FF2B5EF4-FFF2-40B4-BE49-F238E27FC236}">
                    <a16:creationId xmlns:a16="http://schemas.microsoft.com/office/drawing/2014/main" id="{58260EC9-2C4C-24D7-D149-30C0467A9988}"/>
                  </a:ext>
                </a:extLst>
              </p:cNvPr>
              <p:cNvSpPr txBox="1"/>
              <p:nvPr/>
            </p:nvSpPr>
            <p:spPr>
              <a:xfrm>
                <a:off x="27953666" y="10153177"/>
                <a:ext cx="2406328" cy="400110"/>
              </a:xfrm>
              <a:prstGeom prst="rect">
                <a:avLst/>
              </a:prstGeom>
              <a:noFill/>
            </p:spPr>
            <p:txBody>
              <a:bodyPr wrap="square" rtlCol="0">
                <a:spAutoFit/>
              </a:bodyPr>
              <a:lstStyle/>
              <a:p>
                <a:pPr algn="ctr"/>
                <a:r>
                  <a:rPr kumimoji="1" lang="en-US" altLang="ko-KR" sz="2000" dirty="0">
                    <a:solidFill>
                      <a:srgbClr val="FF0000"/>
                    </a:solidFill>
                  </a:rPr>
                  <a:t>*</a:t>
                </a:r>
                <a:r>
                  <a:rPr kumimoji="1" lang="en-US" altLang="ko-KR" sz="2000" dirty="0"/>
                  <a:t> p&lt;0.1, </a:t>
                </a:r>
                <a:r>
                  <a:rPr kumimoji="1" lang="en-US" altLang="ko-KR" sz="2000" dirty="0">
                    <a:solidFill>
                      <a:srgbClr val="FF0000"/>
                    </a:solidFill>
                  </a:rPr>
                  <a:t>**</a:t>
                </a:r>
                <a:r>
                  <a:rPr kumimoji="1" lang="en-US" altLang="ko-KR" sz="2000" dirty="0"/>
                  <a:t> p&lt;0.05</a:t>
                </a:r>
                <a:endParaRPr kumimoji="1" lang="ko-KR" altLang="en-US" sz="2000" dirty="0"/>
              </a:p>
            </p:txBody>
          </p:sp>
        </p:grpSp>
        <p:sp>
          <p:nvSpPr>
            <p:cNvPr id="2" name="TextBox 1">
              <a:extLst>
                <a:ext uri="{FF2B5EF4-FFF2-40B4-BE49-F238E27FC236}">
                  <a16:creationId xmlns:a16="http://schemas.microsoft.com/office/drawing/2014/main" id="{DF92E1C5-BEBB-9944-4524-354D4EBD778D}"/>
                </a:ext>
              </a:extLst>
            </p:cNvPr>
            <p:cNvSpPr txBox="1"/>
            <p:nvPr/>
          </p:nvSpPr>
          <p:spPr>
            <a:xfrm>
              <a:off x="28100493" y="11532329"/>
              <a:ext cx="2492318" cy="400110"/>
            </a:xfrm>
            <a:prstGeom prst="rect">
              <a:avLst/>
            </a:prstGeom>
            <a:noFill/>
          </p:spPr>
          <p:txBody>
            <a:bodyPr wrap="square" rtlCol="0">
              <a:spAutoFit/>
            </a:bodyPr>
            <a:lstStyle/>
            <a:p>
              <a:pPr algn="ctr"/>
              <a:r>
                <a:rPr kumimoji="1" lang="en-US" altLang="ko-KR" sz="2000" dirty="0">
                  <a:solidFill>
                    <a:schemeClr val="tx1"/>
                  </a:solidFill>
                </a:rPr>
                <a:t>Two-tailed T-test</a:t>
              </a:r>
              <a:endParaRPr kumimoji="1" lang="ko-KR" altLang="en-US" sz="2000" dirty="0">
                <a:solidFill>
                  <a:schemeClr val="tx1"/>
                </a:solidFill>
              </a:endParaRPr>
            </a:p>
          </p:txBody>
        </p:sp>
      </p:grpSp>
      <p:sp>
        <p:nvSpPr>
          <p:cNvPr id="3" name="TextBox 2">
            <a:extLst>
              <a:ext uri="{FF2B5EF4-FFF2-40B4-BE49-F238E27FC236}">
                <a16:creationId xmlns:a16="http://schemas.microsoft.com/office/drawing/2014/main" id="{5803B739-576D-EA31-E051-48949F2423D5}"/>
              </a:ext>
            </a:extLst>
          </p:cNvPr>
          <p:cNvSpPr txBox="1"/>
          <p:nvPr/>
        </p:nvSpPr>
        <p:spPr>
          <a:xfrm>
            <a:off x="1819245" y="36630471"/>
            <a:ext cx="7945328" cy="707886"/>
          </a:xfrm>
          <a:prstGeom prst="rect">
            <a:avLst/>
          </a:prstGeom>
          <a:noFill/>
        </p:spPr>
        <p:txBody>
          <a:bodyPr wrap="square" rtlCol="0">
            <a:spAutoFit/>
          </a:bodyPr>
          <a:lstStyle/>
          <a:p>
            <a:r>
              <a:rPr kumimoji="1" lang="en-US" altLang="ko-KR" sz="4000" b="1" dirty="0"/>
              <a:t>3) fMRI Data Analysis</a:t>
            </a:r>
          </a:p>
        </p:txBody>
      </p:sp>
      <p:sp>
        <p:nvSpPr>
          <p:cNvPr id="7" name="TextBox 6">
            <a:extLst>
              <a:ext uri="{FF2B5EF4-FFF2-40B4-BE49-F238E27FC236}">
                <a16:creationId xmlns:a16="http://schemas.microsoft.com/office/drawing/2014/main" id="{EB646B7A-023F-C5CD-35FB-08F3AE70AB0A}"/>
              </a:ext>
            </a:extLst>
          </p:cNvPr>
          <p:cNvSpPr txBox="1"/>
          <p:nvPr/>
        </p:nvSpPr>
        <p:spPr>
          <a:xfrm>
            <a:off x="2122188" y="37413565"/>
            <a:ext cx="13164174" cy="2308324"/>
          </a:xfrm>
          <a:prstGeom prst="rect">
            <a:avLst/>
          </a:prstGeom>
          <a:noFill/>
        </p:spPr>
        <p:txBody>
          <a:bodyPr wrap="square" rtlCol="0">
            <a:spAutoFit/>
          </a:bodyPr>
          <a:lstStyle/>
          <a:p>
            <a:r>
              <a:rPr lang="en-US" altLang="ko-KR" sz="3600" dirty="0"/>
              <a:t>Mean activation for memories with and without interaction was analyzed for each participant. Furthermore, multivoxel pattern analysis (MVPA) was conducted to examine shared representations of social interaction.</a:t>
            </a:r>
          </a:p>
        </p:txBody>
      </p:sp>
      <p:pic>
        <p:nvPicPr>
          <p:cNvPr id="9" name="그림 8">
            <a:extLst>
              <a:ext uri="{FF2B5EF4-FFF2-40B4-BE49-F238E27FC236}">
                <a16:creationId xmlns:a16="http://schemas.microsoft.com/office/drawing/2014/main" id="{DC0BEBC1-7B5B-2455-F3E9-E30BD48DC8FC}"/>
              </a:ext>
            </a:extLst>
          </p:cNvPr>
          <p:cNvPicPr>
            <a:picLocks noChangeAspect="1"/>
          </p:cNvPicPr>
          <p:nvPr/>
        </p:nvPicPr>
        <p:blipFill>
          <a:blip r:embed="rId17"/>
          <a:stretch>
            <a:fillRect/>
          </a:stretch>
        </p:blipFill>
        <p:spPr>
          <a:xfrm>
            <a:off x="17376012" y="17019369"/>
            <a:ext cx="5000317" cy="6456832"/>
          </a:xfrm>
          <a:prstGeom prst="rect">
            <a:avLst/>
          </a:prstGeom>
        </p:spPr>
      </p:pic>
      <p:sp>
        <p:nvSpPr>
          <p:cNvPr id="14" name="TextBox 13">
            <a:extLst>
              <a:ext uri="{FF2B5EF4-FFF2-40B4-BE49-F238E27FC236}">
                <a16:creationId xmlns:a16="http://schemas.microsoft.com/office/drawing/2014/main" id="{F873F71B-8939-7098-AF14-7F6B169B8C5A}"/>
              </a:ext>
            </a:extLst>
          </p:cNvPr>
          <p:cNvSpPr txBox="1"/>
          <p:nvPr/>
        </p:nvSpPr>
        <p:spPr>
          <a:xfrm>
            <a:off x="16697538" y="7429657"/>
            <a:ext cx="8725015" cy="707886"/>
          </a:xfrm>
          <a:prstGeom prst="rect">
            <a:avLst/>
          </a:prstGeom>
          <a:noFill/>
        </p:spPr>
        <p:txBody>
          <a:bodyPr wrap="square" rtlCol="0">
            <a:spAutoFit/>
          </a:bodyPr>
          <a:lstStyle/>
          <a:p>
            <a:pPr marL="514350" indent="-514350">
              <a:buAutoNum type="arabicParenR"/>
            </a:pPr>
            <a:r>
              <a:rPr lang="ko-KR" altLang="en-US" sz="4000" b="1" dirty="0"/>
              <a:t> </a:t>
            </a:r>
            <a:r>
              <a:rPr lang="en-US" altLang="ko-KR" sz="4000" b="1" dirty="0"/>
              <a:t>Comparison of Neural Activity</a:t>
            </a:r>
            <a:endParaRPr kumimoji="1" lang="en-US" altLang="ko-KR" sz="3600" b="1" dirty="0"/>
          </a:p>
        </p:txBody>
      </p:sp>
      <p:sp>
        <p:nvSpPr>
          <p:cNvPr id="15" name="TextBox 14">
            <a:extLst>
              <a:ext uri="{FF2B5EF4-FFF2-40B4-BE49-F238E27FC236}">
                <a16:creationId xmlns:a16="http://schemas.microsoft.com/office/drawing/2014/main" id="{19E956DD-3E80-6295-314D-7015662D784C}"/>
              </a:ext>
            </a:extLst>
          </p:cNvPr>
          <p:cNvSpPr txBox="1"/>
          <p:nvPr/>
        </p:nvSpPr>
        <p:spPr>
          <a:xfrm>
            <a:off x="16778337" y="16267893"/>
            <a:ext cx="8725015" cy="707886"/>
          </a:xfrm>
          <a:prstGeom prst="rect">
            <a:avLst/>
          </a:prstGeom>
          <a:noFill/>
        </p:spPr>
        <p:txBody>
          <a:bodyPr wrap="square" rtlCol="0">
            <a:spAutoFit/>
          </a:bodyPr>
          <a:lstStyle/>
          <a:p>
            <a:r>
              <a:rPr lang="en-US" altLang="ko-KR" sz="4000" b="1" dirty="0"/>
              <a:t>2)</a:t>
            </a:r>
            <a:r>
              <a:rPr lang="ko-KR" altLang="en-US" sz="4000" b="1" dirty="0"/>
              <a:t> </a:t>
            </a:r>
            <a:r>
              <a:rPr lang="en-US" altLang="ko-KR" sz="4000" b="1" dirty="0"/>
              <a:t>Comparison of Correlations</a:t>
            </a:r>
            <a:endParaRPr kumimoji="1" lang="en-US" altLang="ko-KR" sz="3600" b="1" dirty="0"/>
          </a:p>
        </p:txBody>
      </p:sp>
      <p:grpSp>
        <p:nvGrpSpPr>
          <p:cNvPr id="29" name="그룹 28">
            <a:extLst>
              <a:ext uri="{FF2B5EF4-FFF2-40B4-BE49-F238E27FC236}">
                <a16:creationId xmlns:a16="http://schemas.microsoft.com/office/drawing/2014/main" id="{FE8F6527-757F-3323-1F68-E527DBBF4531}"/>
              </a:ext>
            </a:extLst>
          </p:cNvPr>
          <p:cNvGrpSpPr/>
          <p:nvPr/>
        </p:nvGrpSpPr>
        <p:grpSpPr>
          <a:xfrm>
            <a:off x="22934642" y="17159335"/>
            <a:ext cx="6559358" cy="6980796"/>
            <a:chOff x="23206875" y="16813084"/>
            <a:chExt cx="6793304" cy="6980796"/>
          </a:xfrm>
        </p:grpSpPr>
        <p:grpSp>
          <p:nvGrpSpPr>
            <p:cNvPr id="99" name="그룹 98">
              <a:extLst>
                <a:ext uri="{FF2B5EF4-FFF2-40B4-BE49-F238E27FC236}">
                  <a16:creationId xmlns:a16="http://schemas.microsoft.com/office/drawing/2014/main" id="{9117B1FF-88BC-F586-EE47-5BB766D97F8A}"/>
                </a:ext>
              </a:extLst>
            </p:cNvPr>
            <p:cNvGrpSpPr/>
            <p:nvPr/>
          </p:nvGrpSpPr>
          <p:grpSpPr>
            <a:xfrm>
              <a:off x="23206875" y="16813084"/>
              <a:ext cx="6793304" cy="6176900"/>
              <a:chOff x="19024326" y="16106758"/>
              <a:chExt cx="5308600" cy="5092700"/>
            </a:xfrm>
          </p:grpSpPr>
          <p:pic>
            <p:nvPicPr>
              <p:cNvPr id="83" name="그림 82" descr="텍스트, 스크린샷, 도표, 라인이(가) 표시된 사진&#10;&#10;자동 생성된 설명">
                <a:extLst>
                  <a:ext uri="{FF2B5EF4-FFF2-40B4-BE49-F238E27FC236}">
                    <a16:creationId xmlns:a16="http://schemas.microsoft.com/office/drawing/2014/main" id="{F1E196AB-11F2-A252-703A-BCEBE10F796A}"/>
                  </a:ext>
                </a:extLst>
              </p:cNvPr>
              <p:cNvPicPr>
                <a:picLocks noChangeAspect="1"/>
              </p:cNvPicPr>
              <p:nvPr/>
            </p:nvPicPr>
            <p:blipFill>
              <a:blip r:embed="rId18"/>
              <a:stretch>
                <a:fillRect/>
              </a:stretch>
            </p:blipFill>
            <p:spPr>
              <a:xfrm>
                <a:off x="19024326" y="16106758"/>
                <a:ext cx="5308600" cy="5092700"/>
              </a:xfrm>
              <a:prstGeom prst="rect">
                <a:avLst/>
              </a:prstGeom>
            </p:spPr>
          </p:pic>
          <p:pic>
            <p:nvPicPr>
              <p:cNvPr id="98" name="그림 97">
                <a:extLst>
                  <a:ext uri="{FF2B5EF4-FFF2-40B4-BE49-F238E27FC236}">
                    <a16:creationId xmlns:a16="http://schemas.microsoft.com/office/drawing/2014/main" id="{A23B2F87-D34F-A5C5-2021-CFE6A2715F27}"/>
                  </a:ext>
                </a:extLst>
              </p:cNvPr>
              <p:cNvPicPr>
                <a:picLocks noChangeAspect="1"/>
              </p:cNvPicPr>
              <p:nvPr/>
            </p:nvPicPr>
            <p:blipFill>
              <a:blip r:embed="rId19"/>
              <a:stretch>
                <a:fillRect/>
              </a:stretch>
            </p:blipFill>
            <p:spPr>
              <a:xfrm>
                <a:off x="20360320" y="16855670"/>
                <a:ext cx="562023" cy="423408"/>
              </a:xfrm>
              <a:prstGeom prst="rect">
                <a:avLst/>
              </a:prstGeom>
            </p:spPr>
          </p:pic>
        </p:grpSp>
        <p:sp>
          <p:nvSpPr>
            <p:cNvPr id="27" name="TextBox 26">
              <a:extLst>
                <a:ext uri="{FF2B5EF4-FFF2-40B4-BE49-F238E27FC236}">
                  <a16:creationId xmlns:a16="http://schemas.microsoft.com/office/drawing/2014/main" id="{25965D58-68BC-D7A6-5E3C-6EA77F429E56}"/>
                </a:ext>
              </a:extLst>
            </p:cNvPr>
            <p:cNvSpPr txBox="1"/>
            <p:nvPr/>
          </p:nvSpPr>
          <p:spPr>
            <a:xfrm>
              <a:off x="25635727" y="22993882"/>
              <a:ext cx="2492318" cy="424259"/>
            </a:xfrm>
            <a:prstGeom prst="rect">
              <a:avLst/>
            </a:prstGeom>
            <a:noFill/>
          </p:spPr>
          <p:txBody>
            <a:bodyPr wrap="square" rtlCol="0">
              <a:spAutoFit/>
            </a:bodyPr>
            <a:lstStyle/>
            <a:p>
              <a:pPr algn="ctr"/>
              <a:r>
                <a:rPr kumimoji="1" lang="en-US" altLang="ko-KR" sz="2000" dirty="0">
                  <a:solidFill>
                    <a:srgbClr val="FF0000"/>
                  </a:solidFill>
                </a:rPr>
                <a:t>*</a:t>
              </a:r>
              <a:r>
                <a:rPr kumimoji="1" lang="en-US" altLang="ko-KR" sz="2000" dirty="0"/>
                <a:t> p&lt;0.1, </a:t>
              </a:r>
              <a:r>
                <a:rPr kumimoji="1" lang="en-US" altLang="ko-KR" sz="2000" dirty="0">
                  <a:solidFill>
                    <a:srgbClr val="FF0000"/>
                  </a:solidFill>
                </a:rPr>
                <a:t>**</a:t>
              </a:r>
              <a:r>
                <a:rPr kumimoji="1" lang="en-US" altLang="ko-KR" sz="2000" dirty="0"/>
                <a:t> p&lt;0.05</a:t>
              </a:r>
              <a:endParaRPr kumimoji="1" lang="ko-KR" altLang="en-US" sz="2000" dirty="0"/>
            </a:p>
          </p:txBody>
        </p:sp>
        <p:sp>
          <p:nvSpPr>
            <p:cNvPr id="28" name="TextBox 27">
              <a:extLst>
                <a:ext uri="{FF2B5EF4-FFF2-40B4-BE49-F238E27FC236}">
                  <a16:creationId xmlns:a16="http://schemas.microsoft.com/office/drawing/2014/main" id="{DA079DEB-D426-0741-EB00-FC473B5B3AED}"/>
                </a:ext>
              </a:extLst>
            </p:cNvPr>
            <p:cNvSpPr txBox="1"/>
            <p:nvPr/>
          </p:nvSpPr>
          <p:spPr>
            <a:xfrm>
              <a:off x="25635727" y="23393770"/>
              <a:ext cx="2492318" cy="400110"/>
            </a:xfrm>
            <a:prstGeom prst="rect">
              <a:avLst/>
            </a:prstGeom>
            <a:noFill/>
          </p:spPr>
          <p:txBody>
            <a:bodyPr wrap="square" rtlCol="0">
              <a:spAutoFit/>
            </a:bodyPr>
            <a:lstStyle/>
            <a:p>
              <a:pPr algn="ctr"/>
              <a:r>
                <a:rPr kumimoji="1" lang="en-US" altLang="ko-KR" sz="2000" dirty="0">
                  <a:solidFill>
                    <a:schemeClr val="tx1"/>
                  </a:solidFill>
                </a:rPr>
                <a:t>Two-tailed T-test</a:t>
              </a:r>
              <a:endParaRPr kumimoji="1" lang="ko-KR" altLang="en-US" sz="2000" dirty="0">
                <a:solidFill>
                  <a:schemeClr val="tx1"/>
                </a:solidFill>
              </a:endParaRPr>
            </a:p>
          </p:txBody>
        </p:sp>
      </p:grpSp>
      <p:sp>
        <p:nvSpPr>
          <p:cNvPr id="30" name="TextBox 29">
            <a:extLst>
              <a:ext uri="{FF2B5EF4-FFF2-40B4-BE49-F238E27FC236}">
                <a16:creationId xmlns:a16="http://schemas.microsoft.com/office/drawing/2014/main" id="{8C28976B-E698-DBF3-8916-78A5EA0D37AA}"/>
              </a:ext>
            </a:extLst>
          </p:cNvPr>
          <p:cNvSpPr txBox="1"/>
          <p:nvPr/>
        </p:nvSpPr>
        <p:spPr>
          <a:xfrm>
            <a:off x="17204339" y="14448261"/>
            <a:ext cx="12851703" cy="1384995"/>
          </a:xfrm>
          <a:prstGeom prst="rect">
            <a:avLst/>
          </a:prstGeom>
          <a:noFill/>
        </p:spPr>
        <p:txBody>
          <a:bodyPr wrap="square" rtlCol="0">
            <a:spAutoFit/>
          </a:bodyPr>
          <a:lstStyle/>
          <a:p>
            <a:pPr algn="ctr"/>
            <a:r>
              <a:rPr kumimoji="1" lang="en-US" altLang="ko-KR" sz="2800" dirty="0">
                <a:solidFill>
                  <a:schemeClr val="tx1"/>
                </a:solidFill>
              </a:rPr>
              <a:t>Neural Activity data for posterior cingulate cortex (PCC), </a:t>
            </a:r>
          </a:p>
          <a:p>
            <a:pPr algn="ctr"/>
            <a:r>
              <a:rPr kumimoji="1" lang="en-US" altLang="ko-KR" sz="2800" dirty="0">
                <a:solidFill>
                  <a:schemeClr val="tx1"/>
                </a:solidFill>
              </a:rPr>
              <a:t>inferior parietal lobule (IPL), medial prefrontal cortex (</a:t>
            </a:r>
            <a:r>
              <a:rPr kumimoji="1" lang="en-US" altLang="ko-KR" sz="2800" dirty="0" err="1">
                <a:solidFill>
                  <a:schemeClr val="tx1"/>
                </a:solidFill>
              </a:rPr>
              <a:t>mPFC</a:t>
            </a:r>
            <a:r>
              <a:rPr kumimoji="1" lang="en-US" altLang="ko-KR" sz="2800" dirty="0">
                <a:solidFill>
                  <a:schemeClr val="tx1"/>
                </a:solidFill>
              </a:rPr>
              <a:t>), </a:t>
            </a:r>
          </a:p>
          <a:p>
            <a:pPr algn="ctr"/>
            <a:r>
              <a:rPr kumimoji="1" lang="en-US" altLang="ko-KR" sz="2800" dirty="0">
                <a:solidFill>
                  <a:schemeClr val="tx1"/>
                </a:solidFill>
              </a:rPr>
              <a:t>supramarginal gyrus (SMG), and BA44/BA45 of Broca’s area</a:t>
            </a:r>
            <a:endParaRPr kumimoji="1" lang="ko-KR" altLang="en-US" sz="2800" dirty="0">
              <a:solidFill>
                <a:schemeClr val="tx1"/>
              </a:solidFill>
            </a:endParaRPr>
          </a:p>
        </p:txBody>
      </p:sp>
      <p:sp>
        <p:nvSpPr>
          <p:cNvPr id="31" name="TextBox 30">
            <a:extLst>
              <a:ext uri="{FF2B5EF4-FFF2-40B4-BE49-F238E27FC236}">
                <a16:creationId xmlns:a16="http://schemas.microsoft.com/office/drawing/2014/main" id="{FF9BB951-C42C-520A-3944-47CD3C314703}"/>
              </a:ext>
            </a:extLst>
          </p:cNvPr>
          <p:cNvSpPr txBox="1"/>
          <p:nvPr/>
        </p:nvSpPr>
        <p:spPr>
          <a:xfrm>
            <a:off x="17303445" y="24207100"/>
            <a:ext cx="12851703" cy="523220"/>
          </a:xfrm>
          <a:prstGeom prst="rect">
            <a:avLst/>
          </a:prstGeom>
          <a:noFill/>
        </p:spPr>
        <p:txBody>
          <a:bodyPr wrap="square" rtlCol="0">
            <a:spAutoFit/>
          </a:bodyPr>
          <a:lstStyle/>
          <a:p>
            <a:pPr algn="ctr"/>
            <a:r>
              <a:rPr kumimoji="1" lang="en-US" altLang="ko-KR" sz="2800" dirty="0">
                <a:solidFill>
                  <a:schemeClr val="tx1"/>
                </a:solidFill>
              </a:rPr>
              <a:t>Correlation data for lateral orbitofrontal cortex (</a:t>
            </a:r>
            <a:r>
              <a:rPr kumimoji="1" lang="en-US" altLang="ko-KR" sz="2800" dirty="0" err="1">
                <a:solidFill>
                  <a:schemeClr val="tx1"/>
                </a:solidFill>
              </a:rPr>
              <a:t>lOFC</a:t>
            </a:r>
            <a:r>
              <a:rPr kumimoji="1" lang="en-US" altLang="ko-KR" sz="2800" dirty="0">
                <a:solidFill>
                  <a:schemeClr val="tx1"/>
                </a:solidFill>
              </a:rPr>
              <a:t>), insula, and amygdala</a:t>
            </a:r>
            <a:endParaRPr kumimoji="1" lang="ko-KR" altLang="en-US" sz="2800" dirty="0">
              <a:solidFill>
                <a:schemeClr val="tx1"/>
              </a:solidFill>
            </a:endParaRPr>
          </a:p>
        </p:txBody>
      </p:sp>
      <p:pic>
        <p:nvPicPr>
          <p:cNvPr id="34" name="그림 33">
            <a:extLst>
              <a:ext uri="{FF2B5EF4-FFF2-40B4-BE49-F238E27FC236}">
                <a16:creationId xmlns:a16="http://schemas.microsoft.com/office/drawing/2014/main" id="{8B7C2FA1-325B-CF88-7220-8B5444D9C43D}"/>
              </a:ext>
            </a:extLst>
          </p:cNvPr>
          <p:cNvPicPr>
            <a:picLocks noChangeAspect="1"/>
          </p:cNvPicPr>
          <p:nvPr/>
        </p:nvPicPr>
        <p:blipFill>
          <a:blip r:embed="rId20"/>
          <a:stretch>
            <a:fillRect/>
          </a:stretch>
        </p:blipFill>
        <p:spPr>
          <a:xfrm>
            <a:off x="2187405" y="16494059"/>
            <a:ext cx="13102815" cy="1723508"/>
          </a:xfrm>
          <a:prstGeom prst="rect">
            <a:avLst/>
          </a:prstGeom>
        </p:spPr>
      </p:pic>
      <p:sp>
        <p:nvSpPr>
          <p:cNvPr id="35" name="TextBox 34">
            <a:extLst>
              <a:ext uri="{FF2B5EF4-FFF2-40B4-BE49-F238E27FC236}">
                <a16:creationId xmlns:a16="http://schemas.microsoft.com/office/drawing/2014/main" id="{FB4AD648-7FD3-E890-0481-BCEC446C204A}"/>
              </a:ext>
            </a:extLst>
          </p:cNvPr>
          <p:cNvSpPr txBox="1"/>
          <p:nvPr/>
        </p:nvSpPr>
        <p:spPr>
          <a:xfrm>
            <a:off x="16577301" y="38974857"/>
            <a:ext cx="14170178" cy="2554545"/>
          </a:xfrm>
          <a:prstGeom prst="rect">
            <a:avLst/>
          </a:prstGeom>
          <a:noFill/>
        </p:spPr>
        <p:txBody>
          <a:bodyPr wrap="square" rtlCol="0">
            <a:spAutoFit/>
          </a:bodyPr>
          <a:lstStyle/>
          <a:p>
            <a:r>
              <a:rPr lang="en-US" altLang="ko-KR" sz="3200" dirty="0" err="1"/>
              <a:t>Adolphs</a:t>
            </a:r>
            <a:r>
              <a:rPr lang="en-US" altLang="ko-KR" sz="3200" dirty="0"/>
              <a:t>, R. (2009). The social brain: Neural basis of social knowledge. 	</a:t>
            </a:r>
            <a:r>
              <a:rPr lang="en-US" altLang="ko-KR" sz="3200" i="1" dirty="0"/>
              <a:t>Annual Review of</a:t>
            </a:r>
            <a:r>
              <a:rPr lang="ko-KR" altLang="en-US" sz="3200" i="1" dirty="0"/>
              <a:t> </a:t>
            </a:r>
            <a:r>
              <a:rPr lang="en-US" altLang="ko-KR" sz="3200" i="1" dirty="0"/>
              <a:t>Psychology, 60</a:t>
            </a:r>
            <a:r>
              <a:rPr lang="en-US" altLang="ko-KR" sz="3200" dirty="0"/>
              <a:t>, 693–716.</a:t>
            </a:r>
          </a:p>
          <a:p>
            <a:r>
              <a:rPr lang="en-US" altLang="ko-KR" sz="3200" dirty="0"/>
              <a:t>Buckner, R. L., Andrews-Hanna, J. R., &amp; Schacter, D. L. (2008). The brain’s 	default network: Anatomy, function, and relevance to disease. </a:t>
            </a:r>
            <a:r>
              <a:rPr lang="en-US" altLang="ko-KR" sz="3200" i="1" dirty="0"/>
              <a:t>Annals of 	the New York Academy of Sciences, 1124</a:t>
            </a:r>
            <a:r>
              <a:rPr lang="en-US" altLang="ko-KR" sz="3200" dirty="0"/>
              <a:t>(1), 1–38.</a:t>
            </a:r>
            <a:endParaRPr lang="en-US" altLang="ko-KR" sz="3200" dirty="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914210264"/>
      </p:ext>
    </p:extLst>
  </p:cSld>
  <p:clrMapOvr>
    <a:masterClrMapping/>
  </p:clrMapOvr>
</p:sld>
</file>

<file path=ppt/theme/theme1.xml><?xml version="1.0" encoding="utf-8"?>
<a:theme xmlns:a="http://schemas.openxmlformats.org/drawingml/2006/main" name="Office 테마">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2246</TotalTime>
  <Words>579</Words>
  <Application>Microsoft Macintosh PowerPoint</Application>
  <PresentationFormat>사용자 지정</PresentationFormat>
  <Paragraphs>48</Paragraphs>
  <Slides>1</Slides>
  <Notes>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vt:i4>
      </vt:variant>
    </vt:vector>
  </HeadingPairs>
  <TitlesOfParts>
    <vt:vector size="5" baseType="lpstr">
      <vt:lpstr>Batang</vt:lpstr>
      <vt:lpstr>Arial</vt:lpstr>
      <vt:lpstr>Calibri</vt:lpstr>
      <vt:lpstr>Office 테마</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Brain</dc:creator>
  <cp:lastModifiedBy>조현희</cp:lastModifiedBy>
  <cp:revision>123</cp:revision>
  <dcterms:created xsi:type="dcterms:W3CDTF">2016-10-11T09:46:40Z</dcterms:created>
  <dcterms:modified xsi:type="dcterms:W3CDTF">2024-12-13T14:57:11Z</dcterms:modified>
</cp:coreProperties>
</file>